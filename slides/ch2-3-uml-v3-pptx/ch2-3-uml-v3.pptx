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notesMasterIdLst>
    <p:notesMasterId r:id="rId7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285" r:id="rId69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260"/>
  </p:normalViewPr>
  <p:slideViewPr>
    <p:cSldViewPr snapToGrid="0" snapToObjects="1">
      <p:cViewPr varScale="1">
        <p:scale>
          <a:sx n="129" d="100"/>
          <a:sy n="129" d="100"/>
        </p:scale>
        <p:origin x="1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建立本节学习预期：用选课记录解释类图。</a:t>
            </a:r>
          </a:p>
          <a:p>
            <a:endParaRPr/>
          </a:p>
          <a:p>
            <a:r>
              <a:t>【讲解与活动】</a:t>
            </a:r>
          </a:p>
          <a:p>
            <a:r>
              <a:t>只说明本节会共同构建一张小类图。给学生准备空白纸，不预先发完整答案。</a:t>
            </a:r>
          </a:p>
          <a:p>
            <a:endParaRPr/>
          </a:p>
          <a:p>
            <a:r>
              <a:t>【检查问题】</a:t>
            </a:r>
          </a:p>
          <a:p>
            <a:r>
              <a:t>选课成功后，系统至少要记住什么？</a:t>
            </a:r>
          </a:p>
          <a:p>
            <a:endParaRPr/>
          </a:p>
          <a:p>
            <a:r>
              <a:t>【参考回答】</a:t>
            </a:r>
          </a:p>
          <a:p>
            <a:r>
              <a:t>某个学生选入某个具体开课班这一事实。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学生知道后面需要自己画图和解释。</a:t>
            </a:r>
          </a:p>
          <a:p>
            <a:endParaRPr/>
          </a:p>
          <a:p>
            <a:r>
              <a:t>【未达标时】</a:t>
            </a:r>
          </a:p>
          <a:p>
            <a:r>
              <a:t>不用补讲完整UML分类，下一页用熟悉用例唤起经验。</a:t>
            </a:r>
          </a:p>
          <a:p>
            <a:endParaRPr/>
          </a:p>
          <a:p>
            <a:r>
              <a:t>【依据】</a:t>
            </a:r>
          </a:p>
          <a:p>
            <a:r>
              <a:t>前版P1；本次教学组织。本页建议用时1分钟，可根据学生回答延长。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回顾用例图的主要概念，与本节结构建模衔接。</a:t>
            </a:r>
          </a:p>
          <a:p>
            <a:endParaRPr/>
          </a:p>
          <a:p>
            <a:r>
              <a:t>【讲解与活动】</a:t>
            </a:r>
          </a:p>
          <a:p>
            <a:r>
              <a:t>用本班上一节的选课例子口头提问：谁使用系统？要完成什么目标？系统边界在哪里？请学生回答后指向本页相应概念。用例图概括参与者与功能关系，具体交互步骤仍需用例描述。本页作为总结呈现，不是答案隐藏式测验。随后翻到P3提出新问题。</a:t>
            </a:r>
          </a:p>
          <a:p>
            <a:endParaRPr/>
          </a:p>
          <a:p>
            <a:r>
              <a:t>【检查问题】</a:t>
            </a:r>
          </a:p>
          <a:p>
            <a:r>
              <a:t>选课系统中“学生”与“选课”分别属于什么？</a:t>
            </a:r>
          </a:p>
          <a:p>
            <a:endParaRPr/>
          </a:p>
          <a:p>
            <a:r>
              <a:t>【参考回答】</a:t>
            </a:r>
          </a:p>
          <a:p>
            <a:r>
              <a:t>学生是外部参与者角色，选课是用例。作为参与者的学生与之后类图中的学生类承担不同建模角色。</a:t>
            </a:r>
          </a:p>
          <a:p>
            <a:endParaRPr/>
          </a:p>
          <a:p>
            <a:r>
              <a:t>【继续条件】</a:t>
            </a:r>
          </a:p>
          <a:p>
            <a:r>
              <a:t>能辨别参与者与用例。</a:t>
            </a:r>
          </a:p>
          <a:p>
            <a:endParaRPr/>
          </a:p>
          <a:p>
            <a:r>
              <a:t>【未达标时】</a:t>
            </a:r>
          </a:p>
          <a:p>
            <a:r>
              <a:t>回到系统边界，用“谁使用／系统做什么”解释。</a:t>
            </a:r>
          </a:p>
          <a:p>
            <a:endParaRPr/>
          </a:p>
          <a:p>
            <a:r>
              <a:t>【依据】</a:t>
            </a:r>
          </a:p>
          <a:p>
            <a:r>
              <a:t>孙海英老师Ch2.2用例图课件，沿用已学术语，不在此复讲包含与扩展细节。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从选课用例的结果发现结构建模问题。</a:t>
            </a:r>
          </a:p>
          <a:p>
            <a:endParaRPr/>
          </a:p>
          <a:p>
            <a:r>
              <a:t>【讲解与活动】</a:t>
            </a:r>
          </a:p>
          <a:p>
            <a:r>
              <a:t>先呈现选课情境和问题，学生写一句话，再交流。不要显示下一页。根据回答归纳具体学生、具体开课班以及双方的对应。随后翻到P4，说明仅有功能需求还不足以表达这些结构信息。</a:t>
            </a:r>
          </a:p>
          <a:p>
            <a:endParaRPr/>
          </a:p>
          <a:p>
            <a:r>
              <a:t>【检查问题】</a:t>
            </a:r>
          </a:p>
          <a:p>
            <a:r>
              <a:t>只有“选课成功”提示，是否足以查询谁选了哪个班？</a:t>
            </a:r>
          </a:p>
          <a:p>
            <a:endParaRPr/>
          </a:p>
          <a:p>
            <a:r>
              <a:t>【参考回答】</a:t>
            </a:r>
          </a:p>
          <a:p>
            <a:r>
              <a:t>需要保存具体学生、具体开课班及二者的对应信息。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学生能指出双方及联系。</a:t>
            </a:r>
          </a:p>
          <a:p>
            <a:endParaRPr/>
          </a:p>
          <a:p>
            <a:r>
              <a:t>【未达标时】</a:t>
            </a:r>
          </a:p>
          <a:p>
            <a:r>
              <a:t>让学生补全“哪位学生选了哪个班”，再归纳。</a:t>
            </a:r>
          </a:p>
          <a:p>
            <a:endParaRPr/>
          </a:p>
          <a:p>
            <a:r>
              <a:t>【依据】</a:t>
            </a:r>
          </a:p>
          <a:p>
            <a:r>
              <a:t>前版P2情境与问题。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说明从用例图学习进入类图学习的必要性。</a:t>
            </a:r>
          </a:p>
          <a:p>
            <a:endParaRPr/>
          </a:p>
          <a:p>
            <a:r>
              <a:t>【讲解与活动】</a:t>
            </a:r>
          </a:p>
          <a:p>
            <a:r>
              <a:t>承接P3的回答：功能要求明确了“要做什么”，为了分析与设计，还要研究有关对象的信息与关系。以学生、具体开课班及其对应关系为例，不提前给出完整三类答案。操作在拓展中学习，此处只说明类图可以表示的内容。用例与类图相互补充，并非画完一张即可机械转换出另一张。</a:t>
            </a:r>
          </a:p>
          <a:p>
            <a:endParaRPr/>
          </a:p>
          <a:p>
            <a:r>
              <a:t>【检查问题】</a:t>
            </a:r>
          </a:p>
          <a:p>
            <a:r>
              <a:t>仅有“选课”用例椭圆，能否充分说明成绩应属于哪个对象？</a:t>
            </a:r>
          </a:p>
          <a:p>
            <a:endParaRPr/>
          </a:p>
          <a:p>
            <a:r>
              <a:t>【参考回答】</a:t>
            </a:r>
          </a:p>
          <a:p>
            <a:r>
              <a:t>不能，需要进一步分析对象、信息与关系。后面用数据和反例作出建模决定。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学生能说明功能视角与结构视角各自关注什么。</a:t>
            </a:r>
          </a:p>
          <a:p>
            <a:endParaRPr/>
          </a:p>
          <a:p>
            <a:r>
              <a:t>【未达标时】</a:t>
            </a:r>
          </a:p>
          <a:p>
            <a:r>
              <a:t>对照“我要选课”与“系统如何记录谁选了哪个班”两句话。</a:t>
            </a:r>
          </a:p>
          <a:p>
            <a:endParaRPr/>
          </a:p>
          <a:p>
            <a:r>
              <a:t>【依据】</a:t>
            </a:r>
          </a:p>
          <a:p>
            <a:r>
              <a:t>孙海英老师Ch2.2、Ch2.3课程材料及本次选课情境。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G1–G3：明确本节的可观察目标。</a:t>
            </a:r>
          </a:p>
          <a:p>
            <a:endParaRPr/>
          </a:p>
          <a:p>
            <a:r>
              <a:t>【讲解与活动】</a:t>
            </a:r>
          </a:p>
          <a:p>
            <a:r>
              <a:t>说明三个目标将在分类、补图、纠错和迁移中反复检查。符号清单放在课后查阅，不要求一节课全部掌握。</a:t>
            </a:r>
          </a:p>
          <a:p>
            <a:endParaRPr/>
          </a:p>
          <a:p>
            <a:r>
              <a:t>【检查问题】</a:t>
            </a:r>
          </a:p>
          <a:p>
            <a:r>
              <a:t>画得像参考图，是否已经证明理解？</a:t>
            </a:r>
          </a:p>
          <a:p>
            <a:endParaRPr/>
          </a:p>
          <a:p>
            <a:r>
              <a:t>【参考回答】</a:t>
            </a:r>
          </a:p>
          <a:p>
            <a:r>
              <a:t>还需要能解释端点、属性归属，并用规则判断具体记录。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学生能复述自己要交什么。</a:t>
            </a:r>
          </a:p>
          <a:p>
            <a:endParaRPr/>
          </a:p>
          <a:p>
            <a:r>
              <a:t>【未达标时】</a:t>
            </a:r>
          </a:p>
          <a:p>
            <a:r>
              <a:t>直接指向“图、解释、反例”三项产出，不增加新术语。</a:t>
            </a:r>
          </a:p>
          <a:p>
            <a:endParaRPr/>
          </a:p>
          <a:p>
            <a:r>
              <a:t>【依据】</a:t>
            </a:r>
          </a:p>
          <a:p>
            <a:r>
              <a:t>前版P3；IES示例与练习交替建议。本页建议用时2分钟，可根据学生回答延长。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G1：知道选课指向具体开课班，并允许零条联系。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/>
              <a:t>说明同一课程可以在不同学期开班，主线只处理SE26-A这样的具体班。此处只引入R1、R2，后面分别加入记录归属、唯一性和成绩规则。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 err="1"/>
              <a:t>新入学学生尚未选课，是否属于本例允许的情况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/>
              <a:t>属于，R2允许。开课班刚建立无人选也允许。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学生能举出两侧都允许零条联系的情形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/>
              <a:t>用“学生刚入学、班刚创建”两个具体情景解释0，再停留一分钟。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前版R1–R2；显式课堂设定。本页建议用时2分钟，可根据学生回答延长。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G1：从重复出现的记录中识别同一对象。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 err="1"/>
              <a:t>这些是虚构记录。让学生分别圈出重复学号和班号；先不讨论成绩的放置位置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/>
              <a:t>S01出现两次，是两名学生吗？总共有几个学生、几个班？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/>
              <a:t>同一个S01出现在两条记录里。共有2名学生、2个开课班、3条选课记录。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学生能区分对象数量和记录行数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 err="1"/>
              <a:t>用两张学生卡和两张开课班卡摆出三对联系，不急于讲类框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前版P5虚构记录；内容聚焦。本页建议用时3分钟，可根据学生回答延长。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G1：区分类与对象，并知道姓名不能决定身份。</a:t>
            </a:r>
          </a:p>
          <a:p>
            <a:endParaRPr/>
          </a:p>
          <a:p>
            <a:r>
              <a:t>【讲解与活动】</a:t>
            </a:r>
          </a:p>
          <a:p>
            <a:r>
              <a:t>先指类框，再指带下划线的两个对象名。让学生说“哪一框是共同结构，哪一框是具体的人”。英文名称同时口头对应中文。</a:t>
            </a:r>
          </a:p>
          <a:p>
            <a:endParaRPr/>
          </a:p>
          <a:p>
            <a:r>
              <a:t>【检查问题】</a:t>
            </a:r>
          </a:p>
          <a:p>
            <a:r>
              <a:t>第三位学生也叫张同学，是否必须和s01是同一对象？</a:t>
            </a:r>
          </a:p>
          <a:p>
            <a:endParaRPr/>
          </a:p>
          <a:p>
            <a:r>
              <a:t>【参考回答】</a:t>
            </a:r>
          </a:p>
          <a:p>
            <a:r>
              <a:t>不一定。相同姓名不能证明对象身份相同。本例用学号区分学生；UML对象身份不等于必须采用某种数据库主键。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学生能自己举出一组“类／对象”，并解释同名不等于同一身份。</a:t>
            </a:r>
          </a:p>
          <a:p>
            <a:endParaRPr/>
          </a:p>
          <a:p>
            <a:r>
              <a:t>【未达标时】</a:t>
            </a:r>
          </a:p>
          <a:p>
            <a:r>
              <a:t>换成“手机／手里这部手机”一次，再回到Student核对。</a:t>
            </a:r>
          </a:p>
          <a:p>
            <a:endParaRPr/>
          </a:p>
          <a:p>
            <a:r>
              <a:t>【依据】</a:t>
            </a:r>
          </a:p>
          <a:p>
            <a:r>
              <a:t>原稿P7、P14；OMG 9.8、11.4。本页建议用时3分钟，可根据学生回答延长。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G1：把属性定义和属性值分开。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 err="1"/>
              <a:t>只展示学生类的名称与两个属性。说明冒号后是类型，String在这里表示文本。本页不再同时引入操作与可见性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 err="1"/>
              <a:t>把“李同学”作为另一个学生的姓名，是否需要新建一个学生类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/>
              <a:t>不需要，仍使用Student类，让另一个对象的name取“</a:t>
            </a:r>
            <a:r>
              <a:rPr dirty="0" err="1"/>
              <a:t>李同学</a:t>
            </a:r>
            <a:r>
              <a:rPr dirty="0"/>
              <a:t>”。</a:t>
            </a:r>
            <a:r>
              <a:rPr dirty="0" err="1"/>
              <a:t>具体姓名写在对象值中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学生能把“姓名是张同学”拆成属性name与具体值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/>
              <a:t>对照P8对象框指认name与等号后的值，完成一例后继续。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原稿P7–12；OMG 9.5、11.4。本页建议用时2分钟，可根据学生回答延长。 https://</a:t>
            </a:r>
            <a:r>
              <a:rPr dirty="0" err="1"/>
              <a:t>www.omg.org</a:t>
            </a:r>
            <a:r>
              <a:rPr dirty="0"/>
              <a:t>/spec/UML/2.5.1/PDF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G1：依业务范围选择类与属性。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/>
              <a:t>独立判断40秒，同桌交流40秒，最后抽查解释。暂不展示P11答案，不要求学生凭名词词性分类。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 err="1"/>
              <a:t>容量需要成为一个与学生并列的业务类吗？为什么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 err="1"/>
              <a:t>本例只需知道某个班的容量值，作为开课班属性即可。学生和开课班需要区分具体对象并建立联系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每人做出分类，至少能解释一项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/>
              <a:t>追问“</a:t>
            </a:r>
            <a:r>
              <a:rPr dirty="0" err="1"/>
              <a:t>我们要区分许多容量对象，还是记录一个班能容纳多少人</a:t>
            </a:r>
            <a:r>
              <a:rPr dirty="0"/>
              <a:t>？”</a:t>
            </a:r>
            <a:r>
              <a:rPr dirty="0" err="1"/>
              <a:t>帮助判断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原稿P36；前版P8；本例建模范围。本页建议用时3分钟，可根据学生回答延长。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G1：能根据理由修改自己的分类。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/>
              <a:t>学生用不同颜色改P10答案。让一名分类不同的学生说出假设，再按本案例范围比较。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 err="1"/>
              <a:t>是不是所有名词都必须建类？有独立编号才可以建类吗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 err="1"/>
              <a:t>两者都不是通用规则。词语只是候选，需要结合身份、信息、关联和范围判断。本页只决定本例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学生能用本例理由说明一项选择，而非只抄答案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 err="1"/>
              <a:t>给出“姓名管理若成为独立业务，可能采用其他模型”的边界，但不展开新领域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原稿P36–37；前版P8。本页建议用时2分钟，可根据学生回答延长。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G2：将关联读成静态业务联系。</a:t>
            </a:r>
          </a:p>
          <a:p>
            <a:endParaRPr/>
          </a:p>
          <a:p>
            <a:r>
              <a:t>【讲解与活动】</a:t>
            </a:r>
          </a:p>
          <a:p>
            <a:r>
              <a:t>先让学生用S01与SE26-A读出一个具体联系，再把视角提升到两个类。多重性稍后补充。</a:t>
            </a:r>
          </a:p>
          <a:p>
            <a:endParaRPr/>
          </a:p>
          <a:p>
            <a:r>
              <a:t>【检查问题】</a:t>
            </a:r>
          </a:p>
          <a:p>
            <a:r>
              <a:t>先执行Student，再执行CourseOffering，这样读对吗？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不对，类图这条线表达对象之间的联系，不表达步骤先后。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学生能用具体对象举例，并辨别静态联系与执行顺序。</a:t>
            </a:r>
          </a:p>
          <a:p>
            <a:endParaRPr/>
          </a:p>
          <a:p>
            <a:r>
              <a:t>【未达标时】</a:t>
            </a:r>
          </a:p>
          <a:p>
            <a:r>
              <a:t>回到P7，用一行记录对应一条具体联系。</a:t>
            </a:r>
          </a:p>
          <a:p>
            <a:endParaRPr/>
          </a:p>
          <a:p>
            <a:r>
              <a:t>【依据】</a:t>
            </a:r>
          </a:p>
          <a:p>
            <a:r>
              <a:t>原稿P22–26；OMG 11.5；本图省略多重性且未指定导航性。本页建议用时2分钟，可根据学生回答延长。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G2：先掌握固定一端、读取另一端的动作。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/>
              <a:t>教师手指固定Student，沿线移到CourseOffering一端读0..*。用R2说明0，用P7说明多于一个。问号是课堂待填标记，不是合法UML多重性。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/>
              <a:t>对s01来说，右端的0允许什么情况？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/>
              <a:t>允许s01尚未选入任何开课班。这里的*</a:t>
            </a:r>
            <a:r>
              <a:rPr dirty="0" err="1"/>
              <a:t>没有写出固定上界，后续容量等约束仍可另行规定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/>
              <a:t>学生能用“一名学生”开头说完整读法，并解释0的来源。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 err="1"/>
              <a:t>只摆一张学生卡，把两张班卡逐一连上再拿掉，重读数字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原稿P15、P27；OMG 7.5、11.5；R2。本页建议用时3分钟，可根据学生回答延长。 https://</a:t>
            </a:r>
            <a:r>
              <a:rPr dirty="0" err="1"/>
              <a:t>www.omg.org</a:t>
            </a:r>
            <a:r>
              <a:rPr dirty="0"/>
              <a:t>/spec/UML/2.5.1/PDF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G2：独立把读法迁移到另一方向。</a:t>
            </a:r>
          </a:p>
          <a:p>
            <a:endParaRPr/>
          </a:p>
          <a:p>
            <a:r>
              <a:t>【讲解与活动】</a:t>
            </a:r>
          </a:p>
          <a:p>
            <a:r>
              <a:t>不直接报答案。要求每人先在纸上填左端，再用“对一个开课班”开头读。教师查看学生是否把系统总人数当答案。</a:t>
            </a:r>
          </a:p>
          <a:p>
            <a:endParaRPr/>
          </a:p>
          <a:p>
            <a:r>
              <a:t>【检查问题】</a:t>
            </a:r>
          </a:p>
          <a:p>
            <a:r>
              <a:t>系统总共有38名学生，就应该写38吗？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不应这样推导；数字来自一个班允许关联多少学生的业务规则，而非系统当前总人数。本例左端0..*。38仅为反例输入，不指本班实际人数。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学生填对0..*，并能从R2说明允许暂无学生选班。</a:t>
            </a:r>
          </a:p>
          <a:p>
            <a:endParaRPr/>
          </a:p>
          <a:p>
            <a:r>
              <a:t>【未达标时】</a:t>
            </a:r>
          </a:p>
          <a:p>
            <a:r>
              <a:t>固定SE26-A只看与它相连的人，拿走其他无关对象后再问。</a:t>
            </a:r>
          </a:p>
          <a:p>
            <a:endParaRPr/>
          </a:p>
          <a:p>
            <a:r>
              <a:t>【依据】</a:t>
            </a:r>
          </a:p>
          <a:p>
            <a:r>
              <a:t>原稿P27；OMG 7.5、11.5；R2。本页建议用时3分钟，可根据学生回答延长。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G2：用反例解释多重性选择。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 err="1"/>
              <a:t>先请学生自查两句读法，再改变左端数字做反例。不要引入所有多重性写法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/>
              <a:t>学生端改为1，会怎样限制每个开课班？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 err="1"/>
              <a:t>每个开课班必须恰好关联一名学生，既排除无人选，也排除两名及以上学生选同一班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能同时解释两个被排除的情况；教师查看全班短答，再抽样讲理由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/>
              <a:t>对比“无人、1人、2人”三种具体班情况。仍普遍读反就返回P13，不进入记录类。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原稿P27；OMG 7.5、11.5；R2。本页建议用时2分钟，可根据学生回答延长。 https://</a:t>
            </a:r>
            <a:r>
              <a:rPr dirty="0" err="1"/>
              <a:t>www.omg.org</a:t>
            </a:r>
            <a:r>
              <a:rPr dirty="0"/>
              <a:t>/spec/UML/2.5.1/PDF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G1、G3：用具体事实判断属性归属。</a:t>
            </a:r>
          </a:p>
          <a:p>
            <a:endParaRPr/>
          </a:p>
          <a:p>
            <a:r>
              <a:t>【讲解与活动】</a:t>
            </a:r>
          </a:p>
          <a:p>
            <a:r>
              <a:t>回到P7数据，给学生40秒找反例，先不揭示Enrollment。学生指出问题后，再口头追问：如果改放在开课班里，又会怎样？明确这是故意设计的待检验模型。</a:t>
            </a:r>
          </a:p>
          <a:p>
            <a:endParaRPr/>
          </a:p>
          <a:p>
            <a:r>
              <a:t>【检查问题】</a:t>
            </a:r>
          </a:p>
          <a:p>
            <a:r>
              <a:t>把grade改成数组是否已经解决问题？</a:t>
            </a:r>
          </a:p>
          <a:p>
            <a:endParaRPr/>
          </a:p>
          <a:p>
            <a:r>
              <a:t>【参考回答】</a:t>
            </a:r>
          </a:p>
          <a:p>
            <a:r>
              <a:t>单个值无法区分同一学生不同班的成绩；数组也仍需说明每个值与哪个班对应。放在班上不能区分不同学生。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学生能指出成绩依赖“学生与某个班的对应”，而非只说画法错。</a:t>
            </a:r>
          </a:p>
          <a:p>
            <a:endParaRPr/>
          </a:p>
          <a:p>
            <a:r>
              <a:t>【未达标时】</a:t>
            </a:r>
          </a:p>
          <a:p>
            <a:r>
              <a:t>分别固定学生、固定班，追问“谁的哪一门成绩”。</a:t>
            </a:r>
          </a:p>
          <a:p>
            <a:endParaRPr/>
          </a:p>
          <a:p>
            <a:r>
              <a:t>【依据】</a:t>
            </a:r>
          </a:p>
          <a:p>
            <a:r>
              <a:t>前版P13；原稿P30；本例记录。本页建议用时3分钟，可根据学生回答延长。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G1：为关系自身的信息找到明确归属。</a:t>
            </a:r>
          </a:p>
          <a:p>
            <a:endParaRPr/>
          </a:p>
          <a:p>
            <a:r>
              <a:t>【讲解与活动】</a:t>
            </a:r>
          </a:p>
          <a:p>
            <a:r>
              <a:t>教师加入Enrollment并移入grade。暂不展示日期、状态、可选类型与正式关联类符号；属性区仅显示grade是允许的简略表示。用E01对应S01与SE26-A解释。</a:t>
            </a:r>
          </a:p>
          <a:p>
            <a:endParaRPr/>
          </a:p>
          <a:p>
            <a:r>
              <a:t>【检查问题】</a:t>
            </a:r>
          </a:p>
          <a:p>
            <a:r>
              <a:t>如果换成S02与同一个SE26-A，需要和S01共用同一条记录吗？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不共用，两条记录分别保存两位学生在该班的信息。R3限制单条记录的归属。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学生能说明Enrollment表示什么，以及为什么grade放这里。</a:t>
            </a:r>
          </a:p>
          <a:p>
            <a:endParaRPr/>
          </a:p>
          <a:p>
            <a:r>
              <a:t>【未达标时】</a:t>
            </a:r>
          </a:p>
          <a:p>
            <a:r>
              <a:t>把一条“学生—班—成绩”纸条作为一个整体记录，让学生指认两端。</a:t>
            </a:r>
          </a:p>
          <a:p>
            <a:endParaRPr/>
          </a:p>
          <a:p>
            <a:r>
              <a:t>【依据】</a:t>
            </a:r>
          </a:p>
          <a:p>
            <a:r>
              <a:t>前版P14；原稿P30；R3；本页未使用正式关联类符号。本页建议用时3分钟，可根据学生回答延长。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G2：把多重性读法用于三类模型。</a:t>
            </a:r>
          </a:p>
          <a:p>
            <a:endParaRPr/>
          </a:p>
          <a:p>
            <a:r>
              <a:t>【讲解与活动】</a:t>
            </a:r>
          </a:p>
          <a:p>
            <a:r>
              <a:t>学生独立填1分钟，同桌解释1分钟，教师抽看并追问。字母是题目占位，不是UML标记。此题只补数字，不同时修改其他知识点。</a:t>
            </a:r>
          </a:p>
          <a:p>
            <a:endParaRPr/>
          </a:p>
          <a:p>
            <a:r>
              <a:t>【检查问题】</a:t>
            </a:r>
          </a:p>
          <a:p>
            <a:r>
              <a:t>A与B为何不同？</a:t>
            </a:r>
          </a:p>
          <a:p>
            <a:endParaRPr/>
          </a:p>
          <a:p>
            <a:r>
              <a:t>【参考回答】</a:t>
            </a:r>
          </a:p>
          <a:p>
            <a:r>
              <a:t>A=1、B=0..*、C=0..*、D=1。A限制一条记录对应的学生，B限制一个学生对应的记录数量。</a:t>
            </a:r>
          </a:p>
          <a:p>
            <a:endParaRPr/>
          </a:p>
          <a:p>
            <a:r>
              <a:t>【继续条件】</a:t>
            </a:r>
          </a:p>
          <a:p>
            <a:r>
              <a:t>四个端点填写后，能至少对相反方向各说一句理由。</a:t>
            </a:r>
          </a:p>
          <a:p>
            <a:endParaRPr/>
          </a:p>
          <a:p>
            <a:r>
              <a:t>【未达标时】</a:t>
            </a:r>
          </a:p>
          <a:p>
            <a:r>
              <a:t>将Student与Enrollment单独圈出，暂时遮住开课班，先完成两端再恢复全图。</a:t>
            </a:r>
          </a:p>
          <a:p>
            <a:endParaRPr/>
          </a:p>
          <a:p>
            <a:r>
              <a:t>【依据】</a:t>
            </a:r>
          </a:p>
          <a:p>
            <a:r>
              <a:t>前版P22；原稿P27；R2–R3。本页建议用时4分钟，可根据学生回答延长。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G2：根据解释修正端点错误。</a:t>
            </a:r>
          </a:p>
          <a:p>
            <a:endParaRPr/>
          </a:p>
          <a:p>
            <a:r>
              <a:t>【讲解与活动】</a:t>
            </a:r>
          </a:p>
          <a:p>
            <a:r>
              <a:t>学生用另一种颜色修改P18答案，并圈出改动。教师先示范“固定记录”一句，再让学生说反向句。不要只要求把四个数字背下来。</a:t>
            </a:r>
          </a:p>
          <a:p>
            <a:endParaRPr/>
          </a:p>
          <a:p>
            <a:r>
              <a:t>【检查问题】</a:t>
            </a:r>
          </a:p>
          <a:p>
            <a:r>
              <a:t>一个学生能有多条记录，为什么Student端仍写1？</a:t>
            </a:r>
          </a:p>
          <a:p>
            <a:endParaRPr/>
          </a:p>
          <a:p>
            <a:r>
              <a:t>【参考回答】</a:t>
            </a:r>
          </a:p>
          <a:p>
            <a:r>
              <a:t>因为Student端的1，是从一条Enrollment出发看对应的学生数量。</a:t>
            </a:r>
          </a:p>
          <a:p>
            <a:endParaRPr/>
          </a:p>
          <a:p>
            <a:r>
              <a:t>【继续条件】</a:t>
            </a:r>
          </a:p>
          <a:p>
            <a:r>
              <a:t>收看四端数字与两句解释。若仍反向混淆，安排补救而不提前讲唯一约束。</a:t>
            </a:r>
          </a:p>
          <a:p>
            <a:endParaRPr/>
          </a:p>
          <a:p>
            <a:r>
              <a:t>【未达标时】</a:t>
            </a:r>
          </a:p>
          <a:p>
            <a:r>
              <a:t>让学生手指从Enrollment出发读到Student，再换方向，各读一次。</a:t>
            </a:r>
          </a:p>
          <a:p>
            <a:endParaRPr/>
          </a:p>
          <a:p>
            <a:r>
              <a:t>【依据】</a:t>
            </a:r>
          </a:p>
          <a:p>
            <a:r>
              <a:t>前版P14；原稿P27；OMG 7.5、11.5；R2–R3。本页建议用时3分钟，可根据学生回答延长。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/>
              <a:t>G3：发现多重性不能单独排除配对重复。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/>
              <a:t>告诉学生目前仅使用R2、R3。让他们逐条核对：E01和E02是否各自都恰好连一名学生和一个班？再问我们是否希望保留这样的重复。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/>
              <a:t>哪一个端点数字能够自动拒绝E02？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 err="1"/>
              <a:t>当前这两条二元关联的多重性不能自动拒绝它。是否允许重复需要补充业务规则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学生能区分“通过多重性检查”和“符合全部业务规则</a:t>
            </a:r>
            <a:r>
              <a:rPr dirty="0"/>
              <a:t>”。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 err="1"/>
              <a:t>用两张不同记录卡分别连到相同学生和班，逐张点数。不要把两个记录对象说成同一对象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</a:t>
            </a:r>
            <a:r>
              <a:rPr dirty="0"/>
              <a:t>】</a:t>
            </a:r>
          </a:p>
          <a:p>
            <a:r>
              <a:rPr dirty="0"/>
              <a:t>前版P15–16；OMG 11.5；本次反例。本页建议用时3分钟，可根据学生回答延长。 https://</a:t>
            </a:r>
            <a:r>
              <a:rPr dirty="0" err="1"/>
              <a:t>www.omg.org</a:t>
            </a:r>
            <a:r>
              <a:rPr dirty="0"/>
              <a:t>/spec/UML/2.5.1/PDF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放映安排</a:t>
            </a:r>
            <a:r>
              <a:rPr dirty="0"/>
              <a:t>】</a:t>
            </a:r>
          </a:p>
          <a:p>
            <a:r>
              <a:rPr dirty="0" err="1"/>
              <a:t>课堂提问、等待和交流由教师控制。练习题先呈现，参考页在讨论结束后翻页显示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G3：用配对唯一规则判断重复。</a:t>
            </a:r>
          </a:p>
          <a:p>
            <a:endParaRPr/>
          </a:p>
          <a:p>
            <a:r>
              <a:t>【讲解与活动】</a:t>
            </a:r>
          </a:p>
          <a:p>
            <a:r>
              <a:t>说明R4是本例业务规则，不是所有选课系统的规定。让学生先用R4拒绝P20重复，再判断不同学生选同一个班。</a:t>
            </a:r>
          </a:p>
          <a:p>
            <a:endParaRPr/>
          </a:p>
          <a:p>
            <a:r>
              <a:t>【检查问题】</a:t>
            </a:r>
          </a:p>
          <a:p>
            <a:r>
              <a:t>同一个班出现两次就违反R4吗？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不是。需要学生和班这两个对象都相同才构成被R4排除的重复；S01和S02可分别选同班。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学生能够自行举出一个允许和一个拒绝的配对。</a:t>
            </a:r>
          </a:p>
          <a:p>
            <a:endParaRPr/>
          </a:p>
          <a:p>
            <a:r>
              <a:t>【未达标时】</a:t>
            </a:r>
          </a:p>
          <a:p>
            <a:r>
              <a:t>画两列表，逐行比较“学生、班”两个值，两个都相同才标重复。</a:t>
            </a:r>
          </a:p>
          <a:p>
            <a:endParaRPr/>
          </a:p>
          <a:p>
            <a:r>
              <a:t>【依据】</a:t>
            </a:r>
          </a:p>
          <a:p>
            <a:r>
              <a:t>前版R4及退选约定；OMG 7.6允许文字约束。本页建议用时3分钟，可根据学生回答延长。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G1、G3：区分可选属性、零值与数值范围。</a:t>
            </a:r>
          </a:p>
          <a:p>
            <a:endParaRPr/>
          </a:p>
          <a:p>
            <a:r>
              <a:t>【讲解与活动】</a:t>
            </a:r>
          </a:p>
          <a:p>
            <a:r>
              <a:t>此时才给grade加入类型和[0..1]。Real在这里表示实数成绩，0..1指值的数量。先只比较无值、0、85三个情况。</a:t>
            </a:r>
          </a:p>
          <a:p>
            <a:endParaRPr/>
          </a:p>
          <a:p>
            <a:r>
              <a:t>【检查问题】</a:t>
            </a:r>
          </a:p>
          <a:p>
            <a:r>
              <a:t>[0..1]是否表示成绩只能在0分到1分之间？</a:t>
            </a:r>
          </a:p>
          <a:p>
            <a:endParaRPr/>
          </a:p>
          <a:p>
            <a:r>
              <a:t>【参考回答】</a:t>
            </a:r>
          </a:p>
          <a:p>
            <a:r>
              <a:t>不表示；它允许零个或一个值。成绩是多少分还要另外规定。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学生能解释0分与无值不同，并明确数量与范围的区别。</a:t>
            </a:r>
          </a:p>
          <a:p>
            <a:endParaRPr/>
          </a:p>
          <a:p>
            <a:r>
              <a:t>【未达标时】</a:t>
            </a:r>
          </a:p>
          <a:p>
            <a:r>
              <a:t>画一个可空小格：空着表示0个值，填0表示1个值。再次让学生读[0..1]。</a:t>
            </a:r>
          </a:p>
          <a:p>
            <a:endParaRPr/>
          </a:p>
          <a:p>
            <a:r>
              <a:t>【依据】</a:t>
            </a:r>
          </a:p>
          <a:p>
            <a:r>
              <a:t>前版R5；原稿P15；OMG 7.5。本页建议用时3分钟，可根据学生回答延长。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G3：将可选性与数值范围分别用于判断。</a:t>
            </a:r>
          </a:p>
          <a:p>
            <a:endParaRPr/>
          </a:p>
          <a:p>
            <a:r>
              <a:t>【讲解与活动】</a:t>
            </a:r>
          </a:p>
          <a:p>
            <a:r>
              <a:t>先独立写四个判断，教师收看后口头反馈。每个回答必须注明依据，不仅选对错。本页只取R6的成绩范围部分；容量检查保留到拓展指南中。</a:t>
            </a:r>
          </a:p>
          <a:p>
            <a:endParaRPr/>
          </a:p>
          <a:p>
            <a:r>
              <a:t>【检查问题】</a:t>
            </a:r>
          </a:p>
          <a:p>
            <a:r>
              <a:t>101分为何被拒绝？是否因为出现了101个值？</a:t>
            </a:r>
          </a:p>
          <a:p>
            <a:endParaRPr/>
          </a:p>
          <a:p>
            <a:r>
              <a:t>【参考回答】</a:t>
            </a:r>
          </a:p>
          <a:p>
            <a:r>
              <a:t>未评分、0分、85分允许；101分是一个值，满足值的数量要求，但违反0至100分的范围规则。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学生说明101的问题在取值范围，未评分符合0个值。</a:t>
            </a:r>
          </a:p>
          <a:p>
            <a:endParaRPr/>
          </a:p>
          <a:p>
            <a:r>
              <a:t>【未达标时】</a:t>
            </a:r>
          </a:p>
          <a:p>
            <a:r>
              <a:t>将“个数”和“分数”写成两列，分别填“1个、101分”，逐项核对。</a:t>
            </a:r>
          </a:p>
          <a:p>
            <a:endParaRPr/>
          </a:p>
          <a:p>
            <a:r>
              <a:t>【依据】</a:t>
            </a:r>
          </a:p>
          <a:p>
            <a:r>
              <a:t>前版P16；R5、R6成绩约定；OMG 7.5。本页建议用时3分钟，可根据学生回答延长。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G1–G3：综合检查已学知识，不引入新符号。</a:t>
            </a:r>
          </a:p>
          <a:p>
            <a:endParaRPr/>
          </a:p>
          <a:p>
            <a:r>
              <a:t>【讲解与活动】</a:t>
            </a:r>
          </a:p>
          <a:p>
            <a:r>
              <a:t>独立2分钟、同桌讨论1分钟、教师抽查2分钟。明确左图为故意设置的错误模型：Student带grade，记录与学生／班两边的数字相反，缺少R4。不要求记忆完整答案版图。</a:t>
            </a:r>
          </a:p>
          <a:p>
            <a:endParaRPr/>
          </a:p>
          <a:p>
            <a:r>
              <a:t>【检查问题】</a:t>
            </a:r>
          </a:p>
          <a:p>
            <a:r>
              <a:t>为什么把Student端的0..*改为1？</a:t>
            </a:r>
          </a:p>
          <a:p>
            <a:endParaRPr/>
          </a:p>
          <a:p>
            <a:r>
              <a:t>【参考回答】</a:t>
            </a:r>
          </a:p>
          <a:p>
            <a:r>
              <a:t>按R3，一条记录必须对应一个学生；Enrollment两端改为0..*。grade移入Enrollment，并允许无值；补学生与班配对唯一约束。</a:t>
            </a:r>
          </a:p>
          <a:p>
            <a:endParaRPr/>
          </a:p>
          <a:p>
            <a:r>
              <a:t>【继续条件】</a:t>
            </a:r>
          </a:p>
          <a:p>
            <a:r>
              <a:t>能指出属性归属、端点方向、额外约束三类问题，至少独立解释其中两类。</a:t>
            </a:r>
          </a:p>
          <a:p>
            <a:endParaRPr/>
          </a:p>
          <a:p>
            <a:r>
              <a:t>【未达标时】</a:t>
            </a:r>
          </a:p>
          <a:p>
            <a:r>
              <a:t>选择学生最不确定的一类返回P16、P18或P20，纠正后再看反馈。</a:t>
            </a:r>
          </a:p>
          <a:p>
            <a:endParaRPr/>
          </a:p>
          <a:p>
            <a:r>
              <a:t>【依据】</a:t>
            </a:r>
          </a:p>
          <a:p>
            <a:r>
              <a:t>前版P22；R2–R5；本次综合练习。本页建议用时5分钟，可根据学生回答延长。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G1–G3：完成对自己模型的解释和修正。</a:t>
            </a:r>
          </a:p>
          <a:p>
            <a:endParaRPr/>
          </a:p>
          <a:p>
            <a:r>
              <a:t>【讲解与活动】</a:t>
            </a:r>
          </a:p>
          <a:p>
            <a:r>
              <a:t>先请学生指出自己改动的一处，再显示参考。让他们圈出仍无法解释的部分，作为接下来是否进入迁移的依据。图省略不在当前重点的日期、状态等属性，并非否定这些需求。</a:t>
            </a:r>
          </a:p>
          <a:p>
            <a:endParaRPr/>
          </a:p>
          <a:p>
            <a:r>
              <a:t>【检查问题】</a:t>
            </a:r>
          </a:p>
          <a:p>
            <a:r>
              <a:t>不用“规范就是这样”作答，你能解释自己的一处修改吗？</a:t>
            </a:r>
          </a:p>
          <a:p>
            <a:endParaRPr/>
          </a:p>
          <a:p>
            <a:r>
              <a:t>【参考回答】</a:t>
            </a:r>
          </a:p>
          <a:p>
            <a:r>
              <a:t>例如：同一学生有不同班的成绩，因此grade属于Enrollment；两个1只规定单条记录归属，R4才拒绝配对重复。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学生能解释修改，模型数字和规则相符。若仍普遍混淆，不进入P26，继续完成纠错。</a:t>
            </a:r>
          </a:p>
          <a:p>
            <a:endParaRPr/>
          </a:p>
          <a:p>
            <a:r>
              <a:t>【未达标时】</a:t>
            </a:r>
          </a:p>
          <a:p>
            <a:r>
              <a:t>保留参考图后再遮住关键数字，让学生用一句规则重建，不能只照抄。</a:t>
            </a:r>
          </a:p>
          <a:p>
            <a:endParaRPr/>
          </a:p>
          <a:p>
            <a:r>
              <a:t>【依据】</a:t>
            </a:r>
          </a:p>
          <a:p>
            <a:r>
              <a:t>前版P14–15；OMG 7.5、11.5；R2–R5。本页建议用时3分钟，可根据学生回答延长。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G1–G3：在相近新情境中独立应用已学方法。</a:t>
            </a:r>
          </a:p>
          <a:p>
            <a:endParaRPr/>
          </a:p>
          <a:p>
            <a:r>
              <a:t>【讲解与活动】</a:t>
            </a:r>
          </a:p>
          <a:p>
            <a:r>
              <a:t>学生独立画4分钟，教师巡看2分钟，不提前展示P27。允许中文类名，避免英文命名影响概念检查。题目暂不引入取消报名与历史事件。</a:t>
            </a:r>
          </a:p>
          <a:p>
            <a:endParaRPr/>
          </a:p>
          <a:p>
            <a:r>
              <a:t>【检查问题】</a:t>
            </a:r>
          </a:p>
          <a:p>
            <a:r>
              <a:t>报名时间为什么不宜直接放在学生或社团上？</a:t>
            </a:r>
          </a:p>
          <a:p>
            <a:endParaRPr/>
          </a:p>
          <a:p>
            <a:r>
              <a:t>【参考回答】</a:t>
            </a:r>
          </a:p>
          <a:p>
            <a:r>
              <a:t>同一学生可报名不同社团，同一社团也有不同学生，因此每次明确配对的报名时间属于报名记录。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学生能够独立产出三类、两条关联、正确多重性和配对唯一约束。</a:t>
            </a:r>
          </a:p>
          <a:p>
            <a:endParaRPr/>
          </a:p>
          <a:p>
            <a:r>
              <a:t>【未达标时】</a:t>
            </a:r>
          </a:p>
          <a:p>
            <a:r>
              <a:t>给出“学生—报名记录—社团”的三个空框，但仍让学生自己填端点及规则。记录其是否需要提示。</a:t>
            </a:r>
          </a:p>
          <a:p>
            <a:endParaRPr/>
          </a:p>
          <a:p>
            <a:r>
              <a:t>【依据】</a:t>
            </a:r>
          </a:p>
          <a:p>
            <a:r>
              <a:t>新课堂练习；对应R2–R4结构；IES示例与独立练习交替。本页建议用时6分钟，可根据学生回答延长。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G1–G3：对照迁移产出，确认已掌握与待补之处。</a:t>
            </a:r>
          </a:p>
          <a:p>
            <a:endParaRPr/>
          </a:p>
          <a:p>
            <a:r>
              <a:t>【讲解与活动】</a:t>
            </a:r>
          </a:p>
          <a:p>
            <a:r>
              <a:t>展示参考后，每人标记“独立完成／经提示完成／仍不清楚”，并写一条修正理由。接受中文命名或其他含义一致的名称，不要求和图逐字相同。</a:t>
            </a:r>
          </a:p>
          <a:p>
            <a:endParaRPr/>
          </a:p>
          <a:p>
            <a:r>
              <a:t>【检查问题】</a:t>
            </a:r>
          </a:p>
          <a:p>
            <a:r>
              <a:t>如果只有线条和多重性，没有最后一条约束，能拒绝重复报名吗？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不能自动拒绝，需要配对唯一规则。registeredAt只是属性名称简写，类型在设计细化时补充。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学生能给出一条自己的理由，教师收取独立作品再安排补救。</a:t>
            </a:r>
          </a:p>
          <a:p>
            <a:endParaRPr/>
          </a:p>
          <a:p>
            <a:r>
              <a:t>【未达标时】</a:t>
            </a:r>
          </a:p>
          <a:p>
            <a:r>
              <a:t>若只会套三个框，追问同一学生报名两个社团的时间如何区分，让其指出记录对象。</a:t>
            </a:r>
          </a:p>
          <a:p>
            <a:endParaRPr/>
          </a:p>
          <a:p>
            <a:r>
              <a:t>【依据】</a:t>
            </a:r>
          </a:p>
          <a:p>
            <a:r>
              <a:t>本次练习参考；OMG 7.5、11.5。本页建议用时4分钟，可根据学生回答延长。 https://www.omg.org/spec/UML/2.5.1/PDF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G1–G3：收集不依赖答案页的个人理解证据。</a:t>
            </a:r>
          </a:p>
          <a:p>
            <a:endParaRPr/>
          </a:p>
          <a:p>
            <a:r>
              <a:t>【讲解与活动】</a:t>
            </a:r>
          </a:p>
          <a:p>
            <a:r>
              <a:t>关闭上一页，不给选项，学生独立写3分钟，最后1分钟说明下次课如何反馈。此页兼作本节收束，不增加新知识。</a:t>
            </a:r>
          </a:p>
          <a:p>
            <a:endParaRPr/>
          </a:p>
          <a:p>
            <a:r>
              <a:t>【检查问题】</a:t>
            </a:r>
          </a:p>
          <a:p>
            <a:r>
              <a:t>学生最不确定的是对象、端点读法，还是额外规则？</a:t>
            </a:r>
          </a:p>
          <a:p>
            <a:endParaRPr/>
          </a:p>
          <a:p>
            <a:r>
              <a:t>【参考回答】</a:t>
            </a:r>
          </a:p>
          <a:p>
            <a:r>
              <a:t>类描述共同结构，对象是具体实例；记录到学生的1与学生到记录的0..*方向不同；E01和E02均连S01与SE26-A构成配对重复。</a:t>
            </a:r>
          </a:p>
          <a:p>
            <a:endParaRPr/>
          </a:p>
          <a:p>
            <a:r>
              <a:t>【继续条件】</a:t>
            </a:r>
          </a:p>
          <a:p>
            <a:r>
              <a:t>按三项分别记录“能独立解释／需提示／待补”，不把点头或课堂热闹当成掌握。</a:t>
            </a:r>
          </a:p>
          <a:p>
            <a:endParaRPr/>
          </a:p>
          <a:p>
            <a:r>
              <a:t>【未达标时】</a:t>
            </a:r>
          </a:p>
          <a:p>
            <a:r>
              <a:t>下次开课先用一例复查集中错误。若本节只讲到P19，离堂只做前两题，把第三题留待讲完约束后。</a:t>
            </a:r>
          </a:p>
          <a:p>
            <a:endParaRPr/>
          </a:p>
          <a:p>
            <a:r>
              <a:t>【依据】</a:t>
            </a:r>
          </a:p>
          <a:p>
            <a:r>
              <a:t>前版P25–26；IES主动提取与解释性提问。本页建议用时4分钟，可根据学生回答延长。</a:t>
            </a:r>
          </a:p>
          <a:p>
            <a:endParaRPr/>
          </a:p>
          <a:p>
            <a:r>
              <a:t>【放映安排】</a:t>
            </a:r>
          </a:p>
          <a:p>
            <a:r>
              <a:t>课堂提问、等待和交流由教师控制。练习题先呈现，参考页在讨论结束后翻页显示。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课堂主线到P28结束。P30–36为选讲拓展，P37为原稿查阅导航，P38–65为原稿查阅，P66为参考资料。依据学生作品决定是否进入拓展，未达标先补练。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【拓展定位】本页移至主线之后，待基础评估达标再选讲，不属于首次课堂必达目标。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本页承接原稿P30，作为选讲。Enrollment通过虚线连接Student与CourseOffering之间的关联线，这是关联类表示；虚线不是“调用”或普通依赖。</a:t>
            </a:r>
          </a:p>
          <a:p>
            <a:r>
              <a:rPr lang="zh-CN" sz="1400">
                <a:latin typeface="Noto Sans SC"/>
                <a:ea typeface="Noto Sans SC"/>
              </a:rPr>
              <a:t>与P25对照：P25采用普通类和两条关联；本页采用关联类，它同时是类与关联。二者可能表达相近业务意图，但不能在不检查语义和约束的情况下宣称完全等价。</a:t>
            </a:r>
          </a:p>
          <a:p>
            <a:r>
              <a:rPr lang="zh-CN" sz="1400">
                <a:latin typeface="Noto Sans SC"/>
                <a:ea typeface="Noto Sans SC"/>
              </a:rPr>
              <a:t>特别说明：OMG UML 2.5.1第11.5.3.2明确指出，即使关联类各端isUnique=true，也可能存在连接同一组端对象的多个实例。因此“同一学生同一班最多一条”仍明确写作R4，不讲“关联类天然保证配对唯一”。</a:t>
            </a:r>
          </a:p>
          <a:p>
            <a:r>
              <a:rPr lang="zh-CN" sz="1400">
                <a:latin typeface="Noto Sans SC"/>
                <a:ea typeface="Noto Sans SC"/>
              </a:rPr>
              <a:t>初学者如果已能解释P25，可将本页留作课后查阅，不要求把主线模型换成关联类。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【来源与讲解依据】原稿P30；OMG 11.5.3.2、11.5.4（印刷页200–201）。 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【拓展定位】本页移至主线之后，待基础评估达标再选讲，不属于首次课堂必达目标。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本页进入设计表达，给Enrollment增加recordGrade(value:Real)操作，仅示范如何把“记录成绩”这一职责写入操作分区。它不是完整实现，也不自动解决教师权限、重复评分等未纳入本节的需求。</a:t>
            </a:r>
          </a:p>
          <a:p>
            <a:r>
              <a:rPr lang="zh-CN" sz="1400">
                <a:latin typeface="Noto Sans SC"/>
                <a:ea typeface="Noto Sans SC"/>
              </a:rPr>
              <a:t>让学生区分属性grade和操作recordGrade：前者描述信息，后者描述对外提供的行为。+和-表示UML可见性，不能替代系统用户授权。</a:t>
            </a:r>
          </a:p>
          <a:p>
            <a:r>
              <a:rPr lang="zh-CN" sz="1400">
                <a:latin typeface="Noto Sans SC"/>
                <a:ea typeface="Noto Sans SC"/>
              </a:rPr>
              <a:t>原稿的参数方向、返回类型、静态特征保留在附录。本页没有返回参数，重点观察操作名、参数名和参数类型。不要为了画完整三格而给每个业务类编造方法。</a:t>
            </a:r>
          </a:p>
          <a:p>
            <a:r>
              <a:rPr lang="zh-CN" sz="1400">
                <a:latin typeface="Noto Sans SC"/>
                <a:ea typeface="Noto Sans SC"/>
              </a:rPr>
              <a:t>扩展讨论：跨对象的选课检查可能由服务协调；具体职责分配应在设计阶段结合用例确定。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【来源与讲解依据】原稿P10、P18–21；OMG 9.4–9.6；本次设计示例。 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【拓展定位】本页移至主线之后，待基础评估达标再选讲，不属于首次课堂必达目标。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使用原稿Person与Student的例子，只讲一条泛化关系。先问学生：某个Student对象是否也可以被视为Person？这帮助理解三角方向。</a:t>
            </a:r>
          </a:p>
          <a:p>
            <a:r>
              <a:rPr lang="zh-CN" sz="1400">
                <a:latin typeface="Noto Sans SC"/>
                <a:ea typeface="Noto Sans SC"/>
              </a:rPr>
              <a:t>不因为两类都有name就强行建立继承。例如开课班也有名称，但开课班不是Person。</a:t>
            </a:r>
          </a:p>
          <a:p>
            <a:r>
              <a:rPr lang="zh-CN" sz="1400">
                <a:latin typeface="Noto Sans SC"/>
                <a:ea typeface="Noto Sans SC"/>
              </a:rPr>
              <a:t>边界：学生、教师在真实系统中可能是同一个人的可变角色，是否采用子类取决于建模目的。这里是分类示例，不把它强制加入选课主线。</a:t>
            </a:r>
          </a:p>
          <a:p>
            <a:r>
              <a:rPr lang="zh-CN" sz="1400">
                <a:latin typeface="Noto Sans SC"/>
                <a:ea typeface="Noto Sans SC"/>
              </a:rPr>
              <a:t>原稿泛化中的私有成员细节仍留在附录解释。不要把某一种编程语言的继承访问规则直接推广成全部UML语义。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【来源与讲解依据】原稿P33；OMG 9.2.3、9.2.4、9.9.7。 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【拓展定位】本页移至主线之后，待基础评估达标再选讲，不属于首次课堂必达目标。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选课主线不需要强加组合。使用订单与订单项作为独立短例：本例订单项归属于一个订单，订单可以是尚无明细的草稿。模型中删除订单对象时，其仍归属的订单项对象随之删除。</a:t>
            </a:r>
          </a:p>
          <a:p>
            <a:r>
              <a:rPr lang="zh-CN" sz="1400">
                <a:latin typeface="Noto Sans SC"/>
                <a:ea typeface="Noto Sans SC"/>
              </a:rPr>
              <a:t>注意：取消订单是业务状态变化，不自动等于删除对象。组合也不规定整体与部分必须同时创建。UML允许在其他约束允许时先移除部分，再删除整体。</a:t>
            </a:r>
          </a:p>
          <a:p>
            <a:r>
              <a:rPr lang="zh-CN" sz="1400">
                <a:latin typeface="Noto Sans SC"/>
                <a:ea typeface="Noto Sans SC"/>
              </a:rPr>
              <a:t>共享聚合的精确语义由应用领域和建模者决定，不把“有一个/包含”都画成空心或实心菱形。普通关联已足够表达时无需添加聚合含义。</a:t>
            </a:r>
          </a:p>
          <a:p>
            <a:r>
              <a:rPr lang="zh-CN" sz="1400">
                <a:latin typeface="Noto Sans SC"/>
                <a:ea typeface="Noto Sans SC"/>
              </a:rPr>
              <a:t>检查：学生能指出菱形应放在Order端，并说出使用该符号的业务前提。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【来源与讲解依据】原稿P31–32；OMG 9.5.3（印刷页112）。 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【拓展定位】本页移至主线之后，待基础评估达标再选讲，不属于首次课堂必达目标。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保留原稿“概念层、说明层、实现层”的教学分层名称。用同一选课问题解释观察角度：概念层关心谁与什么有关；说明层进一步讨论系统责任；实现层落实技术细节。</a:t>
            </a:r>
          </a:p>
          <a:p>
            <a:r>
              <a:rPr lang="zh-CN" sz="1400">
                <a:latin typeface="Noto Sans SC"/>
                <a:ea typeface="Noto Sans SC"/>
              </a:rPr>
              <a:t>这是本课件采用的分析与设计组织方式，不宣称UML强制每个项目必须有这三种固定类别。原稿的边界类、控制类、实体类及三层示例原样保留在附录。</a:t>
            </a:r>
          </a:p>
          <a:p>
            <a:r>
              <a:rPr lang="zh-CN" sz="1400">
                <a:latin typeface="Noto Sans SC"/>
                <a:ea typeface="Noto Sans SC"/>
              </a:rPr>
              <a:t>说明层的职责举例：选课界面接收请求，选课协调职责检查资格和容量，选课记录保存结果。这是候选设计，不是一条用例对应一个控制类的硬规则。</a:t>
            </a:r>
          </a:p>
          <a:p>
            <a:r>
              <a:rPr lang="zh-CN" sz="1400">
                <a:latin typeface="Noto Sans SC"/>
                <a:ea typeface="Noto Sans SC"/>
              </a:rPr>
              <a:t>课堂目标仍以概念层模型为主，不要求第一次画图就加入数据库、Controller、Repository等技术对象。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【来源与讲解依据】原稿P35、P38–41；本次同案例解释。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【拓展定位】本页移至主线之后，待基础评估达标再选讲，不属于首次课堂必达目标。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用新增Course类解释范围扩展：Course保存课程代码、名称、学分，CourseOffering保存班号、学期、容量。每个开课班对应一门课程，一门课程可以暂未开班或有多个开课班。</a:t>
            </a:r>
          </a:p>
          <a:p>
            <a:r>
              <a:rPr lang="zh-CN" sz="1400">
                <a:latin typeface="Noto Sans SC"/>
                <a:ea typeface="Noto Sans SC"/>
              </a:rPr>
              <a:t>此图为课程目录局部扩展，没有画全学生与记录，P25关系仍适用。课程名称从开课班移到Course，避免在完整模型中重复维护同一事实。</a:t>
            </a:r>
          </a:p>
          <a:p>
            <a:r>
              <a:rPr lang="zh-CN" sz="1400">
                <a:latin typeface="Noto Sans SC"/>
                <a:ea typeface="Noto Sans SC"/>
              </a:rPr>
              <a:t>重修是新学期的新开课班，所以S01可以分别拥有E01和E04，R4未被破坏。若需求改为同一班内保留多次选退事件，则需另建事件或调整记录定义和唯一约束，不能仅改变一个*。</a:t>
            </a:r>
          </a:p>
          <a:p>
            <a:r>
              <a:rPr lang="zh-CN" sz="1400">
                <a:latin typeface="Noto Sans SC"/>
                <a:ea typeface="Noto Sans SC"/>
              </a:rPr>
              <a:t>检查：学生能说明“需求变了哪一条”“模型对应改了什么”。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【来源与讲解依据】原稿P8、P35–36；本次R1、R4扩展。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【拓展定位】本页移至主线之后，待基础评估达标再选讲，不属于首次课堂必达目标。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安排7分钟，要求学生独立完成。题目补充口头明确：读者、副本都允许暂时没有借阅记录；同一读者可在不同时间重复借阅同一副本。</a:t>
            </a:r>
          </a:p>
          <a:p>
            <a:r>
              <a:rPr lang="zh-CN" sz="1400">
                <a:latin typeface="Noto Sans SC"/>
                <a:ea typeface="Noto Sans SC"/>
              </a:rPr>
              <a:t>参考模型：Reader 1—0..* Loan，BookCopy 1—0..* Loan；Loan包含borrowedAt和returnedAt[0..1]。每条Loan必须连接一名读者和一个副本。</a:t>
            </a:r>
          </a:p>
          <a:p>
            <a:r>
              <a:rPr lang="zh-CN" sz="1400">
                <a:latin typeface="Noto Sans SC"/>
                <a:ea typeface="Noto Sans SC"/>
              </a:rPr>
              <a:t>关键差异：保留历史时，副本端对应的Loan是0..*，不能因为当前最多借给一个人，就把全部历史记录限制成0..1。另写“对每个副本，returnedAt无值的借阅记录数≤1”。不要照抄选课R4的永久配对唯一，同一读者可以多次借同一本副本。</a:t>
            </a:r>
          </a:p>
          <a:p>
            <a:r>
              <a:rPr lang="zh-CN" sz="1400">
                <a:latin typeface="Noto Sans SC"/>
                <a:ea typeface="Noto Sans SC"/>
              </a:rPr>
              <a:t>教师用这题区分机械套图和理解业务。答案只在Notes与教师指南中给出。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【来源与讲解依据】本次迁移练习；多重性依据OMG 7.5、11.5。 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原稿查阅区，不列入单次课堂必须完成的进度。新P38–40查类表示与类/对象，P41–53查属性及操作，P54–55查导航，P56–57查多元关联，P58–60查聚合与泛化，P61–65查建模层次。保留原文与既有语义限定；例子的上下文条件不应推广为普遍规则。资料来源：孙海英老师；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按表逐行辨认普通类、抽象类和关联。抽象类不能直接创建实例，具体子类可以承担其共同约定。斜体类名或 {abstract} 是常见表示方式。</a:t>
            </a:r>
          </a:p>
          <a:p>
            <a:r>
              <a:t>案例：Payment 表达支付的一般概念，CardPayment 与 BankTransfer 表达具体支付方式。客户与订单之间的实线表达关联。</a:t>
            </a:r>
          </a:p>
          <a:p>
            <a:r>
              <a:t>提醒：关联端箭头表示导航，叉号表示不可导航。只有实线而无端部标记时，不能脱离图的约定擅自推断为双向导航。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查阅定位：本页保留原稿P4的内容。作为主线后的补充材料，教师按学生问题选讲，并结合以上限定条件解释。资料来源：孙海英老师Ch2.3课件；语义核对参考OMG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本页区分多元关联、关联类和共享聚合。多元关联描述多个角色共同组成的一次联系；关联类为联系本身增加属性；空心菱形表达共享聚合，放在整体端。</a:t>
            </a:r>
          </a:p>
          <a:p>
            <a:r>
              <a:t>案例：学生、考试、教师共同构成一次评分关系。学生选某门课的选课日期属于 Enrollment 这一联系，不能简单放到 Student 或 Course 上。</a:t>
            </a:r>
          </a:p>
          <a:p>
            <a:r>
              <a:t>共享聚合的具体约束要写明，不能仅凭空心菱形推出生命周期规则。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查阅定位：本页保留原稿P5的内容。作为主线后的补充材料，教师按学生问题选讲，并结合以上限定条件解释。资料来源：孙海英老师Ch2.3课件；语义核对参考OMG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实心菱形表示组合，放在整体端；泛化的空心三角指向一般类。对象写作“对象名:类名”并加下划线，对象间具体联系称为链接。</a:t>
            </a:r>
          </a:p>
          <a:p>
            <a:r>
              <a:t>案例：在约定的订单模型中，Order 组合 OrderLine，订单项同一时刻至多属于一个订单。Student 泛化到 Person，表示每个 Student 实例也是 Person。</a:t>
            </a:r>
          </a:p>
          <a:p>
            <a:r>
              <a:t>对象示例：alice:Student 与 se2026:Course 的链接是某次具体选课事实，类间关联描述的是允许出现哪些事实。</a:t>
            </a:r>
          </a:p>
          <a:p>
            <a:r>
              <a:t>语义参考：OMG UML 2.5.1，9.5.3、11.5。https://www.omg.org/spec/UML/2.5.1/PDF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查阅定位：本页保留原稿P6的内容。作为主线后的补充材料，教师按学生问题选讲，并结合以上限定条件解释。资料来源：孙海英老师Ch2.3课件；语义核对参考OMG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把属性语法图当作阅读顺序：可见性、派生标记、名称、类型、多重性、默认值和约束。先找到名称和类型，再看附加信息。</a:t>
            </a:r>
          </a:p>
          <a:p>
            <a:r>
              <a:t>教学例子：- contacts: String[0..*] {unique}，读成私有属性 contacts，保存零个或多个不重复字符串。</a:t>
            </a:r>
          </a:p>
          <a:p>
            <a:r>
              <a:t>请学生解释 /age:Integer。参考回答：age 是派生属性，其计算规则还需要说明。并非每个属性都必须写全所有可选标记。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查阅定位：本页保留原稿P9的内容。作为主线后的补充材料，教师按学生问题选讲，并结合以上限定条件解释。资料来源：孙海英老师Ch2.3课件；语义核对参考OMG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可见性描述哪些建模元素能够访问某项特征。+ 为 public，- 为 private，# 为 protected，~ 为 package。</a:t>
            </a:r>
          </a:p>
          <a:p>
            <a:r>
              <a:t>案例：Person 对外提供 getDob()，出生日期字段设为 private，让调用方通过约定的操作获取所需信息。</a:t>
            </a:r>
          </a:p>
          <a:p>
            <a:r>
              <a:t>讲解限定：原页“only the object itself”是便于入门的简化。private 涉及拥有该特征的分类器的可见性规则，落到 Java 等语言时还应遵守语言自身规则。可见性也不替代系统的用户权限与授权检查。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查阅定位：本页保留原稿P10的内容。作为主线后的补充材料，教师按学生问题选讲，并结合以上限定条件解释。资料来源：孙海英老师Ch2.3课件；语义核对参考OMG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斜杠标识派生属性。它的值可以从其他信息计算，模型应给出派生约束，避免同时维护多份相互矛盾的数据。</a:t>
            </a:r>
          </a:p>
          <a:p>
            <a:r>
              <a:t>案例：age 根据出生日期和当前日期计算。简单用“当前年份减出生年份”在生日尚未到来时会多算一岁，教学时请学生找出这个边界情况。</a:t>
            </a:r>
          </a:p>
          <a:p>
            <a:r>
              <a:t>派生不强制规定实现一定不存储；可以缓存，但需要保持与派生规则一致。斜杠本身也不自动等于只读。</a:t>
            </a:r>
          </a:p>
          <a:p>
            <a:r>
              <a:t>语义参考：OMG UML 2.5.1，9.5.3。https://www.omg.org/spec/UML/2.5.1/PDF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查阅定位：本页保留原稿P11的内容。作为主线后的补充材料，教师按学生问题选讲，并结合以上限定条件解释。资料来源：孙海英老师Ch2.3课件；语义核对参考OMG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属性名称应该表达业务含义，避免只有类型名或含糊缩写。多个建模者应对同一个概念使用一致名称。</a:t>
            </a:r>
          </a:p>
          <a:p>
            <a:r>
              <a:t>案例：把课程的 name 与开课班的 sectionCode 区分开，避免都叫 id 或 number 而没有说明含义。学生编号 studentNumber 与学生姓名 name 也承担不同职责。</a:t>
            </a:r>
          </a:p>
          <a:p>
            <a:r>
              <a:t>课堂小问：orderDate 与 date 哪个更容易理解？参考回答：前者说明日期的角色，但最终命名还应结合所属类的上下文。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查阅定位：本页保留原稿P12的内容。作为主线后的补充材料，教师按学生问题选讲，并结合以上限定条件解释。资料来源：孙海英老师Ch2.3课件；语义核对参考OMG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属性的类型既可以是用户定义的类，也可以是数据类型。数据类型按值来理解，可进一步区分基本类型、具有内部结构的数据类型和枚举。</a:t>
            </a:r>
          </a:p>
          <a:p>
            <a:r>
              <a:t>案例：Student 的状态可用 StudentStatus 枚举；Money 可作为包含 amount 与 currency 的复合数据类型；导师 advisor 的类型则可为 Professor。</a:t>
            </a:r>
          </a:p>
          <a:p>
            <a:r>
              <a:t>提醒：枚举是具有命名文字值的数据类型。原页以 Float 为自定义基本类型示例，不表示所有工具都只提供这一组预定义类型。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查阅定位：本页保留原稿P13的内容。作为主线后的补充材料，教师按学生问题选讲，并结合以上限定条件解释。资料来源：孙海英老师Ch2.3课件；语义核对参考OMG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本表主要比较值与对象身份。两个金额值都为 100 CNY，通常可认为值相等；两个姓名相同的学生仍可能是不同对象。</a:t>
            </a:r>
          </a:p>
          <a:p>
            <a:r>
              <a:t>案例：把 Student 建为类，把其联系地址建为 Address 数据类型，表示这里关心地址内容。若地址还要独立管理版本、服务范围或投递记录，则可能需要更丰富的模型。</a:t>
            </a:r>
          </a:p>
          <a:p>
            <a:r>
              <a:t>讲解限定：数据类型可以有属性和操作，不能简单用“行为复杂不复杂”判断。泛化发生在分类器之间，原表“实例间建立继承”应按实例所属类的泛化来理解。表中的 enumration 指 enumeration。</a:t>
            </a:r>
          </a:p>
          <a:p>
            <a:r>
              <a:t>语义参考：OMG UML 2.5.1，第 10 章 DataTypes、第 11 章 Classes。https://www.omg.org/spec/UML/2.5.1/PDF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查阅定位：本页保留原稿P14的内容。作为主线后的补充材料，教师按学生问题选讲，并结合以上限定条件解释。资料来源：孙海英老师Ch2.3课件；语义核对参考OMG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多重性规定一个属性允许包含多少个值。1 表示恰好一个，0..1 表示可选的一个，0..* 或 * 表示零个或多个，1..* 表示至少一个。</a:t>
            </a:r>
          </a:p>
          <a:p>
            <a:r>
              <a:t>案例：学生可以没有备用电话，因此 backupPhone:String[0..1]；若课程必须至少有一名教师，可对教师集合使用 [1..*]，这必须来自确认的业务规则。</a:t>
            </a:r>
          </a:p>
          <a:p>
            <a:r>
              <a:t>提问：没有填写 phone 的学生是否违反模型？先看下界是 0 还是 1，再检查当前模型是否允许该状态。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查阅定位：本页保留原稿P15的内容。作为主线后的补充材料，教师按学生问题选讲，并结合以上限定条件解释。资料来源：孙海英老师Ch2.3课件；语义核对参考OMG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默认值是实例创建时，在没有显式设置或其他约束要求特定值的情况下采用的初始值。它不等于以后始终保持不变。</a:t>
            </a:r>
          </a:p>
          <a:p>
            <a:r>
              <a:t>案例：新建 Enrollment 的状态默认为 Pending，审核后仍可变成 Confirmed。</a:t>
            </a:r>
          </a:p>
          <a:p>
            <a:r>
              <a:t>原图的 password="pw123" 仅用于展示语法。实际系统不应把这个示例当成密码设计方案；可改用 status 或 retryCount 解释默认值，避免学生照抄示例字符串。</a:t>
            </a:r>
          </a:p>
          <a:p>
            <a:r>
              <a:t>语义参考：OMG UML 2.5.1，9.5.3。https://www.omg.org/spec/UML/2.5.1/PDF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查阅定位：本页保留原稿P16的内容。作为主线后的补充材料，教师按学生问题选讲，并结合以上限定条件解释。资料来源：孙海英老师Ch2.3课件；语义核对参考OMG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多值属性还要说明是否有序、是否允许重复。把 unique 与 ordered 组合起来，就能描述 Set、Multi-set、Ordered set 和 List 的差异。</a:t>
            </a:r>
          </a:p>
          <a:p>
            <a:r>
              <a:t>案例：已选课程集合不允许重复且通常不关心顺序，可用 {unordered, unique}；课程播放列表既要保留顺序，又允许同一片段出现多次，可用 {ordered, non-unique}。</a:t>
            </a:r>
          </a:p>
          <a:p>
            <a:r>
              <a:t>讲解限定：ordered 表示次序有意义，不是以后不能调整顺序。readOnly 表示初始化后不能改写该特征的值，也不能直接推导其引用对象的全部内部状态都不可变。</a:t>
            </a:r>
          </a:p>
          <a:p>
            <a:r>
              <a:t>原稿提示：预定义属性的组合对多值属性尤为重要。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查阅定位：本页保留原稿P17的内容。作为主线后的补充材料，教师按学生问题选讲，并结合以上限定条件解释。资料来源：孙海英老师Ch2.3课件；语义核对参考OMG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操作签名描述可见性、名称、参数、返回类型及约束。操作说明对外提供什么行为，具体方法体是后续实现问题。</a:t>
            </a:r>
          </a:p>
          <a:p>
            <a:r>
              <a:t>案例：+ enroll(in student:Student):Boolean，说明外部可调用 enroll，需要学生参数并返回布尔结果。是否允许重复选课、容量已满时如何处理，要写入约束或行为描述。</a:t>
            </a:r>
          </a:p>
          <a:p>
            <a:r>
              <a:t>请学生对比属性 credits:Integer 与操作 getCredits():Integer，括号和参数是快速识别线索。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查阅定位：本页保留原稿P18的内容。作为主线后的补充材料，教师按学生问题选讲，并结合以上限定条件解释。资料来源：孙海英老师Ch2.3课件；语义核对参考OMG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参数为操作提供输入，out 参数在完成时向调用方提供输出，inout 同时承担输入和输出。方向表达数据在调用边界上的作用。</a:t>
            </a:r>
          </a:p>
          <a:p>
            <a:r>
              <a:t>案例：calculateFee(in weight:Real, out fee:Money) 根据重量给出邮资。normalize(inout address:Address) 接收地址并返回规范化后的值，是教学假设。</a:t>
            </a:r>
          </a:p>
          <a:p>
            <a:r>
              <a:t>不要直接把 UML 的 inout 等同于某种语言的“引用传递”。映射到 Java、C++ 等语言时，需选择返回对象、参数对象或语言支持的其他机制。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查阅定位：本页保留原稿P19的内容。作为主线后的补充材料，教师按学生问题选讲，并结合以上限定条件解释。资料来源：孙海英老师Ch2.3课件；语义核对参考OMG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返回类型说明调用方可以获得什么结果。void 表示这里没有返回值，不代表操作没有任何副作用，也不表示一定没有 out 参数。</a:t>
            </a:r>
          </a:p>
          <a:p>
            <a:r>
              <a:t>案例：getCredits():Integer 返回学分；updateLastName(newName:String):Boolean 用布尔值报告是否成功。若失败原因需要区分，可以进一步设计结果类型。</a:t>
            </a:r>
          </a:p>
          <a:p>
            <a:r>
              <a:t>追问：返回 true 是否足以表达课程容量已满和资格不符？参考回答：不足，应结合调用方需要决定返回契约和异常处理。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查阅定位：本页保留原稿P20的内容。作为主线后的补充材料，教师按学生问题选讲，并结合以上限定条件解释。资料来源：孙海英老师Ch2.3课件；语义核对参考OMG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实例属性每个对象各有一份，类属性在类层次共享。类操作在类层次调用，通常不要求先有该类的某个实例。UML 用下划线标识静态特征。</a:t>
            </a:r>
          </a:p>
          <a:p>
            <a:r>
              <a:t>案例：Person 的 firstName 随实例不同而不同，pNumber 作为示例计数器在多个实例之间共享，getPNumber() 返回这个共享值。</a:t>
            </a:r>
          </a:p>
          <a:p>
            <a:r>
              <a:t>讲解限定：原页把构造器列为类操作示例，是建模层面的表达。不要据此断言 Java 构造器带 static；Java 的静态工厂方法与构造器是不同机制。图示也不说明计数器的并发安全或持久化策略。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查阅定位：本页保留原稿P21的内容。作为主线后的补充材料，教师按学生问题选讲，并结合以上限定条件解释。资料来源：孙海英老师Ch2.3课件；语义核对参考OMG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导航表示能否从一端实例有效找到关联另一端的实例。开口箭头指向可导航端，叉号表示该端不可导航；它不等于整个系统在任何情况下都无法获得该对象。</a:t>
            </a:r>
          </a:p>
          <a:p>
            <a:r>
              <a:t>案例：Student 保存 lecturer 引用，因此可从学生找到教师；教师类不保存学生列表时，可以不提供这条反向导航。</a:t>
            </a:r>
          </a:p>
          <a:p>
            <a:r>
              <a:t>讲解限定：原页“未定义导航时假定双向”只能在明确约定的图法中使用。按 UML 标准，省略导航标记可能是未说明或被隐藏，不能普遍当成双向。</a:t>
            </a:r>
          </a:p>
          <a:p>
            <a:r>
              <a:t>语义参考：OMG UML 2.5.1，11.5.4。https://www.omg.org/spec/UML/2.5.1/PDF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查阅定位：本页保留原稿P24的内容。作为主线后的补充材料，教师按学生问题选讲，并结合以上限定条件解释。资料来源：孙海英老师Ch2.3课件；语义核对参考OMG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本页对比完整端部标记与常见简化画法。讲解前先声明图例约定，否则相同的无箭头实线可能被不同读者解释成不同含义。</a:t>
            </a:r>
          </a:p>
          <a:p>
            <a:r>
              <a:t>案例：团队约定设计类图中的单箭头表示单向引用，双向关联省略箭头。这可以作为项目记法，但阅读其他团队的 UML 图时仍要核对约定。</a:t>
            </a:r>
          </a:p>
          <a:p>
            <a:r>
              <a:t>不能把左侧“没有标记”与“明确双向”的两种图在任何情境下都判为严格等价。需要精确表达时，显式标注比依靠默契更可靠。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查阅定位：本页保留原稿P25的内容。作为主线后的补充材料，教师按学生问题选讲，并结合以上限定条件解释。资料来源：孙海英老师Ch2.3课件；语义核对参考OMG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三元关联记录三个对象共同构成的联系。它的中心菱形是多元关联符号，不是贴在整体端的聚合菱形。</a:t>
            </a:r>
          </a:p>
          <a:p>
            <a:r>
              <a:t>案例：学生小王参加数据库考试，由李老师评分。这个三元组保留“谁在什么考试中由谁评分”的对应关系。</a:t>
            </a:r>
          </a:p>
          <a:p>
            <a:r>
              <a:t>仅记录学生认识某教师、教师负责某考试、学生参加某考试，未必能恢复原来的三元组。请学生构造两场考试、两名教师的反例，体验信息丢失。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查阅定位：本页保留原稿P28的内容。作为主线后的补充材料，教师按学生问题选讲，并结合以上限定条件解释。资料来源：孙海英老师Ch2.3课件；语义核对参考OMG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多元关联的读法是固定其余各端的对象组合，再读取当前端的多重性。不要沿用二元关联中只固定一个对象的习惯。</a:t>
            </a:r>
          </a:p>
          <a:p>
            <a:r>
              <a:t>沿图说明：固定某学生和某考试，教师端 0..1 表示零位或一位教师。固定某考试和某教师，学生端 * 表示任意多个学生。固定某学生和某教师，考试端 * 表示任意多场考试。</a:t>
            </a:r>
          </a:p>
          <a:p>
            <a:r>
              <a:t>右图的若干二元关联缺少三者共同配对的信息，因此通常不能替代左图。教师分配尚未完成时，0 的意义也应结合业务确认。</a:t>
            </a:r>
          </a:p>
          <a:p>
            <a:r>
              <a:t>语义参考：OMG UML 2.5.1，11.5.3.1。https://www.omg.org/spec/UML/2.5.1/PDF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查阅定位：本页保留原稿P29的内容。作为主线后的补充材料，教师按学生问题选讲，并结合以上限定条件解释。资料来源：孙海英老师Ch2.3课件；语义核对参考OMG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聚合用于讨论整体与部分。空心菱形为共享聚合，实心菱形为组合，菱形均放在整体端。先讲业务含义，再选符号。</a:t>
            </a:r>
          </a:p>
          <a:p>
            <a:r>
              <a:t>案例：订单与订单项若采用组合，订单项同一时刻至多属于一个订单；团队与成员是否需要共享聚合，则应说明团队模型的实际约束，普通关联也可能足够。</a:t>
            </a:r>
          </a:p>
          <a:p>
            <a:r>
              <a:t>讲解限定：原页将传递性、非对称性概括为聚合特征，不能直接把这一整组性质套给所有共享聚合。UML 对 shared 的精确语义留给应用领域和建模者，组合的约束更明确。</a:t>
            </a:r>
          </a:p>
          <a:p>
            <a:r>
              <a:t>语义参考：OMG UML 2.5.1，9.5.3。https://www.omg.org/spec/UML/2.5.1/PDF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查阅定位：本页保留原稿P31的内容。作为主线后的补充材料，教师按学生问题选讲，并结合以上限定条件解释。资料来源：孙海英老师Ch2.3课件；语义核对参考OMG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本页重点辨别具体轮胎与轮胎类型。一个具体轮胎同一时刻至多装在一辆车上，而同一轮胎类型可以被许多车采用。类的名称和实例身份会直接影响模型是否合理。</a:t>
            </a:r>
          </a:p>
          <a:p>
            <a:r>
              <a:t>沿图解释：Car 端为 0..1 时，具体轮胎允许暂时不属于任何车。设为 1，则在模型允许的状态里每个轮胎都必须属于一辆车；这不等于现实中轮胎离车就物理消失。</a:t>
            </a:r>
          </a:p>
          <a:p>
            <a:r>
              <a:t>讲解限定：图中 Yes/No 依赖示例的业务假设，不是把所有实心菱形加 1 的画法判为 UML 语法错误。组合允许在约束许可时先移除部分，再删除整体，不能简单说两者必须同时创建。</a:t>
            </a:r>
          </a:p>
          <a:p>
            <a:r>
              <a:t>语义参考：OMG UML 2.5.1，9.5.3。https://www.omg.org/spec/UML/2.5.1/PDF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查阅定位：本页保留原稿P32的内容。作为主线后的补充材料，教师按学生问题选讲，并结合以上限定条件解释。资料来源：孙海英老师Ch2.3课件；语义核对参考OMG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泛化表达更具体分类器与一般分类器之间的关系。空心三角指向一般类；子类实例同时也是一般类的实例。沿图读 Secretary 是 Employee，也属于 Person。</a:t>
            </a:r>
          </a:p>
          <a:p>
            <a:r>
              <a:t>案例：若 Professor 和 Secretary 都是 Employee，可以提取共同结构；但不能仅为了复用几个字段，就把语义上不存在“是一种”关系的两个类放进继承层次。</a:t>
            </a:r>
          </a:p>
          <a:p>
            <a:r>
              <a:t>关于 private：应区分 UML 的成员继承与访问规则，以及目标语言的对象状态和成员访问机制。子类代码不能直接访问父类私有字段，不等于父类部分的状态不存在。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查阅定位：本页保留原稿P33的内容。作为主线后的补充材料，教师按学生问题选讲，并结合以上限定条件解释。资料来源：孙海英老师Ch2.3课件；语义核对参考OMG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概念层类图围绕业务领域的概念建立共同理解，尽量使用业务语言。它不要求先选编程语言、数据库或框架。</a:t>
            </a:r>
          </a:p>
          <a:p>
            <a:r>
              <a:t>案例：购物业务中的商品、订单与支付卡先描述各自含义和业务联系；不要一开始就加入 Controller、Mapper 或数据库主键生成器。</a:t>
            </a:r>
          </a:p>
          <a:p>
            <a:r>
              <a:t>业务行为可以作为职责讨论，但一般不急于展开方法签名。本页黄色业务实体符号属于采用的方法或工具的扩展记法，应向学生说明图例，不能当成普通 UML 类唯一画法。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查阅定位：本页保留原稿P35的内容。作为主线后的补充材料，教师按学生问题选讲，并结合以上限定条件解释。资料来源：孙海英老师Ch2.3课件；语义核对参考OMG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沿寄信流程先找候选概念，再讨论保留、合并或作为属性。原图中的删减是针对这一业务范围的示例选择。</a:t>
            </a:r>
          </a:p>
          <a:p>
            <a:r>
              <a:t>案例：如果只讨论一次柜面寄信，邮局可能只是背景；若要比较网点营业时间、服务能力和流转情况，就需要把邮局或网点纳入模型。地址可作为信封的值属性，也可在地址服务场景中独立管理。</a:t>
            </a:r>
          </a:p>
          <a:p>
            <a:r>
              <a:t>讲解限定：“只能经由某对象访问”不足以单独证明一个概念只能做属性；还要考察身份、复用、规则和独立关系。邮资也不一定等于某一张邮票的面额，若允许多张邮票，应核对总额与资费规则。</a:t>
            </a:r>
          </a:p>
          <a:p>
            <a:r>
              <a:t>原稿以对象访问关系辅助判断属性与实体，本页补充其适用边界。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查阅定位：本页保留原稿P37的内容。作为主线后的补充材料，教师按学生问题选讲，并结合以上限定条件解释。资料来源：孙海英老师Ch2.3课件；语义核对参考OMG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说明层在本课件中侧重分析职责，连接业务概念与后续设计。先看商品、购物订单、支付记录等实体，再看“购买”怎样协调业务，以及网站和支付中心怎样跨边界交互。</a:t>
            </a:r>
          </a:p>
          <a:p>
            <a:r>
              <a:t>案例：客户在网站提交购买请求，购买控制职责检查订单并协调支付，支付记录保存结果。这里的每个分析职责未必一一对应最终代码类。</a:t>
            </a:r>
          </a:p>
          <a:p>
            <a:r>
              <a:t>三个层次是教学和建模方法中的组织方式，不是 UML 强制规定的三个开发阶段。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查阅定位：本页保留原稿P38的内容。作为主线后的补充材料，教师按学生问题选讲，并结合以上限定条件解释。资料来源：孙海英老师Ch2.3课件；语义核对参考OMG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边界类负责与外部角色或系统交互，控制类组织用例步骤，实体类承载业务信息及相关规则。它们帮助讨论职责分配，不是要求所有业务都必须套同一框架。</a:t>
            </a:r>
          </a:p>
          <a:p>
            <a:r>
              <a:t>案例：在选课用例中，选课页面接收请求，选课控制职责协调资格和容量检查，学生、开课班和选课记录承载领域状态。避免把全部业务判断都塞进页面，也避免控制类独占所有领域规则。</a:t>
            </a:r>
          </a:p>
          <a:p>
            <a:r>
              <a:t>讲解限定：边界不只指图形界面，也可能是系统接口；实体不等于数据库表。分析类可以演化为多个设计类或子系统。</a:t>
            </a:r>
          </a:p>
          <a:p>
            <a:r>
              <a:t>原稿提示：分析类是从业务需求向实现转化的首步抽象，并非最终实现类。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查阅定位：本页保留原稿P39的内容。作为主线后的补充材料，教师按学生问题选讲，并结合以上限定条件解释。资料来源：孙海英老师Ch2.3课件；语义核对参考OMG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实现层需要明确语言类型、接口签名、可见性、导航、集合选择以及设计约束。读图时仍要回到业务语义检查，不能只看代码形式是否完整。</a:t>
            </a:r>
          </a:p>
          <a:p>
            <a:r>
              <a:t>沿原图追问：Faculty 与 Institute 的组合表示什么约束？Participation.hours 为什么属于参与关系？哪些端部多重性需要实现检查？</a:t>
            </a:r>
          </a:p>
          <a:p>
            <a:r>
              <a:t>补充案例：把 Enrollment 设计成包含 Student、CourseOffering、enrolledAt 和 status 的类，并说明如何防止同一学期开课班中的重复选课。唯一性规则可由领域逻辑与持久化约束协同实现，具体方案在设计时选择。</a:t>
            </a:r>
          </a:p>
          <a:p>
            <a:r>
              <a:rPr lang="zh-CN" sz="1400">
                <a:latin typeface="Noto Sans SC"/>
                <a:ea typeface="Noto Sans SC"/>
              </a:rPr>
              <a:t>查阅定位：本页保留原稿P40的内容。作为主线后的补充材料，教师按学生问题选讲，并结合以上限定条件解释。资料来源：孙海英老师Ch2.3课件；语义核对参考OMG UML 2.5.1。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感谢孙海英老师、苏亭老师提供的课程教学资料。原稿主体与原始示例来源于孙海英老师Ch2.3课件；苏亭老师资料是本课程共同参考，不将本次新增选课图逐项归因于苏亭老师。新增选课案例、练习及课堂讲解为本次教学设计。</a:t>
            </a:r>
          </a:p>
          <a:p>
            <a:r>
              <a:t>语义依据：OMG UML 2.5.1，7.5、7.6、9.2、9.5、9.6、9.8、11.4、11.5。https://www.omg.org/spec/UML/2.5.1/PDF</a:t>
            </a:r>
          </a:p>
          <a:p>
            <a:r>
              <a:t>图形工具说明：https://plantuml.com/class-diagram</a:t>
            </a:r>
          </a:p>
          <a:p>
            <a:r>
              <a:t>教学方法参考：https://ies.ed.gov/ncee/wwc/PracticeGuide/1</a:t>
            </a:r>
          </a:p>
          <a:p>
            <a:r>
              <a:t>课堂案例的容量、成绩、唯一性等规则均为显式教学设定，不是UML标准或真实教务制度。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40908-4285-1B75-20D3-0AC0877CD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505BB6-74C6-FDC7-2590-9C4750A9A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1BE73-D5B9-0A16-8BC3-80AEC60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5CA4-F8B9-463C-A337-8431B29307B5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838FE-7CB3-4BFC-414B-99FDF3F1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F8ABF-F9F7-19D5-44CE-95C863DB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6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483B-FC2E-ABD9-BF22-1D41341F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933"/>
            <a:ext cx="10515600" cy="4636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CAAF27E6-0DE1-5C7C-D7F6-31AD0F53C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13CDDD80-6AF5-1769-4FC8-3F287C5C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2484B68-FBFF-8907-42D5-89F614D6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68F0886-BA36-1CA6-5F50-F8F80D1E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6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545A1-EB48-1157-8D2E-30B891CD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B67ABD-BFBE-5B23-B1EA-D8AE76AC8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F526C-9D86-D0BA-124E-315B0B9E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9ACE-4D67-4365-91A0-0B2F6DEE33AA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EF0FB-124B-2B81-E497-DCD55B36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9D2EB-929F-F66E-BEDF-8784E7C9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3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2E61E-D508-D0EA-1A21-FA2DC5CA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987DA-B2C6-EB6F-F0C6-EA921FE3E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26CEE-022E-6A65-68B3-B146A3081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6F93CF-8979-5A50-CB52-A5FF2519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C3B4-5945-40D6-B204-548D6DE14641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39D27-BE1B-27F1-EA6F-46FAFAB4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60ED8A-F1EE-1CDD-C857-BB31C794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65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0339E-83F4-F80D-51E7-B106FB5C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C37695-0EFB-85E8-6B5E-0FDB69CF0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DCEF15-2648-FA25-EED9-3564DF2B7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448B2C-FA09-FBB8-5C08-2763B7BCF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B20275-3497-A3CD-0963-7538655ED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3B66E9-DCEE-8B7D-2C3B-C22EC2BB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A373-77FA-47D7-8ABD-B27D00F169AD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BF35F1-D089-727D-7CB5-D5378AF1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8D0445-D247-9AAE-B1CB-810D6FED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49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4B732-94AB-2623-1FF9-BAFD4443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4DBB1-E1DE-DE50-93EE-87ABD307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4D12-F9D1-47C0-9A12-B89DD9EAF26D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9A1763-A926-3BE3-33FE-74FD0D0B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2C6324-BDAB-9E21-63A5-AACD08A8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C6FDF5-9CC6-FC40-050D-E14EDC3E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639C-DBB3-4F4F-8304-7D6466F4EFE2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16F6D5-F55F-4A72-40BD-3970B289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3F0A0E-A3A9-70BD-BDF9-13CF498E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06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0012E-ADC7-9D92-567C-558DCC9D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141A8-5A16-918F-81B9-47D010047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1DBCA2-A0CA-9735-5BDD-B4597AFE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878B7C-7EFF-6206-11A6-7B5D5E40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41A1-B167-41A6-9889-73F79C3F5F15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032A1-C9E7-2522-172F-7703C036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E07FC2-0676-EFC1-71EF-C5D71AAD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50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BE532-3D9A-8E0E-36EF-769FC16C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439108-341E-15AD-3C05-BC37EBA0A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6512C-31CD-287C-786E-9CBCA1324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AD0D75-8C2E-F7FB-0872-9297CDBB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D0D-5821-44D4-8C9A-063584D38F54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0C1226-4A61-C1B2-FEFD-3A263768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211A6-F7FC-1F6F-A07A-A72977A4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17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B244E-9D3C-2583-7649-5FE25B92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41C52-9AD2-7E2C-9448-6BDCA8437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A685AE-B28C-799C-1BCC-F0DC70D6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4A7-9CFF-464C-8A57-5B1B1EB511D9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676C9-6CF3-3D64-33A4-67346DA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BF006-E318-77DA-CB34-8126091A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5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B2587C-85C2-CA07-7331-72A8D8720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1BD9F-261A-5FCA-7D20-125A83B2C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D696B5-CB50-EA69-CB68-7BE57342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ACFC-E357-47F2-9D79-E7497BD9B806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12E4F-3F17-BCE5-29A7-6CBE06CA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4FF14C-B06D-2465-A9A0-7EDE371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58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1840" y="152400"/>
            <a:ext cx="113792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432000" y="1144800"/>
            <a:ext cx="1137904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A27A2-62FB-48B7-A924-1BB8CC709EB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4267" y="6096000"/>
            <a:ext cx="631613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526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CCA320-3E79-1D7E-11BC-C38B149F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7F01-961D-92C0-2325-03B42C185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2767"/>
            <a:ext cx="10515600" cy="478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9B729C-10DB-7DF5-1F30-DE5F5EAA3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B205E-D944-4F18-9033-9CEC3C356EA2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D7D31-F95F-6AAF-CE9E-88BC053FC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97D41-037E-10EA-5732-3031BEA13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ame-1">
            <a:extLst>
              <a:ext uri="{FF2B5EF4-FFF2-40B4-BE49-F238E27FC236}">
                <a16:creationId xmlns:a16="http://schemas.microsoft.com/office/drawing/2014/main" id="{50D82FEB-DCCC-49A9-A2D2-6C2E8A55AE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124200" cy="5143500"/>
          </a:xfrm>
          <a:prstGeom prst="rect">
            <a:avLst/>
          </a:prstGeom>
          <a:solidFill>
            <a:srgbClr val="1F2A44"/>
          </a:solidFill>
          <a:ln w="0">
            <a:noFill/>
          </a:ln>
        </p:spPr>
      </p:sp>
      <p:sp>
        <p:nvSpPr>
          <p:cNvPr id="2" name="content-2">
            <a:extLst>
              <a:ext uri="{FF2B5EF4-FFF2-40B4-BE49-F238E27FC236}">
                <a16:creationId xmlns:a16="http://schemas.microsoft.com/office/drawing/2014/main" id="{643FBFE3-480D-4170-ACC2-0D9A2D50B4B4}"/>
              </a:ext>
            </a:extLst>
          </p:cNvPr>
          <p:cNvSpPr>
            <a:spLocks noGrp="1"/>
          </p:cNvSpPr>
          <p:nvPr/>
        </p:nvSpPr>
        <p:spPr>
          <a:xfrm>
            <a:off x="419100" y="4476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FACULTY OF IT</a:t>
            </a:r>
          </a:p>
        </p:txBody>
      </p:sp>
      <p:sp>
        <p:nvSpPr>
          <p:cNvPr id="3" name="content-3">
            <a:extLst>
              <a:ext uri="{FF2B5EF4-FFF2-40B4-BE49-F238E27FC236}">
                <a16:creationId xmlns:a16="http://schemas.microsoft.com/office/drawing/2014/main" id="{3519DBAE-A63A-40EB-BF8D-698A1ED4C10B}"/>
              </a:ext>
            </a:extLst>
          </p:cNvPr>
          <p:cNvSpPr>
            <a:spLocks noGrp="1"/>
          </p:cNvSpPr>
          <p:nvPr/>
        </p:nvSpPr>
        <p:spPr>
          <a:xfrm>
            <a:off x="419100" y="723900"/>
            <a:ext cx="25336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SOFTWARE ENGINEERING</a:t>
            </a:r>
          </a:p>
        </p:txBody>
      </p:sp>
      <p:sp>
        <p:nvSpPr>
          <p:cNvPr id="4" name="content-4">
            <a:extLst>
              <a:ext uri="{FF2B5EF4-FFF2-40B4-BE49-F238E27FC236}">
                <a16:creationId xmlns:a16="http://schemas.microsoft.com/office/drawing/2014/main" id="{E53E5EC3-F592-4646-8785-CC8FF2AB2062}"/>
              </a:ext>
            </a:extLst>
          </p:cNvPr>
          <p:cNvSpPr>
            <a:spLocks noGrp="1"/>
          </p:cNvSpPr>
          <p:nvPr/>
        </p:nvSpPr>
        <p:spPr>
          <a:xfrm>
            <a:off x="419100" y="24288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UML FOUNDATIONS</a:t>
            </a:r>
          </a:p>
        </p:txBody>
      </p:sp>
      <p:sp>
        <p:nvSpPr>
          <p:cNvPr id="5" name="content-5">
            <a:extLst>
              <a:ext uri="{FF2B5EF4-FFF2-40B4-BE49-F238E27FC236}">
                <a16:creationId xmlns:a16="http://schemas.microsoft.com/office/drawing/2014/main" id="{FFC7E7D2-833C-4CE5-B312-D94A9177A7C1}"/>
              </a:ext>
            </a:extLst>
          </p:cNvPr>
          <p:cNvSpPr>
            <a:spLocks noGrp="1"/>
          </p:cNvSpPr>
          <p:nvPr/>
        </p:nvSpPr>
        <p:spPr>
          <a:xfrm>
            <a:off x="419100" y="2705100"/>
            <a:ext cx="2524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CLASS DIAGRAMS</a:t>
            </a:r>
          </a:p>
        </p:txBody>
      </p:sp>
      <p:sp>
        <p:nvSpPr>
          <p:cNvPr id="6" name="content-6">
            <a:extLst>
              <a:ext uri="{FF2B5EF4-FFF2-40B4-BE49-F238E27FC236}">
                <a16:creationId xmlns:a16="http://schemas.microsoft.com/office/drawing/2014/main" id="{B64E66F2-A589-4F5F-8765-654EA01BAB17}"/>
              </a:ext>
            </a:extLst>
          </p:cNvPr>
          <p:cNvSpPr>
            <a:spLocks noGrp="1"/>
          </p:cNvSpPr>
          <p:nvPr/>
        </p:nvSpPr>
        <p:spPr>
          <a:xfrm>
            <a:off x="419100" y="4543425"/>
            <a:ext cx="2619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华东师范大学 · 2026 秋季课程</a:t>
            </a:r>
          </a:p>
        </p:txBody>
      </p:sp>
      <p:sp>
        <p:nvSpPr>
          <p:cNvPr id="7" name="content-7">
            <a:extLst>
              <a:ext uri="{FF2B5EF4-FFF2-40B4-BE49-F238E27FC236}">
                <a16:creationId xmlns:a16="http://schemas.microsoft.com/office/drawing/2014/main" id="{49F43815-267B-4B07-8FBE-FADCFDCF159A}"/>
              </a:ext>
            </a:extLst>
          </p:cNvPr>
          <p:cNvSpPr>
            <a:spLocks noGrp="1"/>
          </p:cNvSpPr>
          <p:nvPr/>
        </p:nvSpPr>
        <p:spPr>
          <a:xfrm>
            <a:off x="3762375" y="1200150"/>
            <a:ext cx="4857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8" name="content-8">
            <a:extLst>
              <a:ext uri="{FF2B5EF4-FFF2-40B4-BE49-F238E27FC236}">
                <a16:creationId xmlns:a16="http://schemas.microsoft.com/office/drawing/2014/main" id="{AC7D9524-E85D-4ED1-B520-F28E383B1E2B}"/>
              </a:ext>
            </a:extLst>
          </p:cNvPr>
          <p:cNvSpPr>
            <a:spLocks noGrp="1"/>
          </p:cNvSpPr>
          <p:nvPr/>
        </p:nvSpPr>
        <p:spPr>
          <a:xfrm>
            <a:off x="3762375" y="1838325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4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34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UML 基础</a:t>
            </a:r>
          </a:p>
        </p:txBody>
      </p:sp>
      <p:sp>
        <p:nvSpPr>
          <p:cNvPr id="9" name="content-9">
            <a:extLst>
              <a:ext uri="{FF2B5EF4-FFF2-40B4-BE49-F238E27FC236}">
                <a16:creationId xmlns:a16="http://schemas.microsoft.com/office/drawing/2014/main" id="{2CB2403B-6D81-4F46-A0B6-F8345A0C9F58}"/>
              </a:ext>
            </a:extLst>
          </p:cNvPr>
          <p:cNvSpPr>
            <a:spLocks noGrp="1"/>
          </p:cNvSpPr>
          <p:nvPr/>
        </p:nvSpPr>
        <p:spPr>
          <a:xfrm>
            <a:off x="3762375" y="2600325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70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rPr>
              <a:t>类图</a:t>
            </a:r>
          </a:p>
        </p:txBody>
      </p:sp>
      <p:sp>
        <p:nvSpPr>
          <p:cNvPr id="10" name="content-10">
            <a:extLst>
              <a:ext uri="{FF2B5EF4-FFF2-40B4-BE49-F238E27FC236}">
                <a16:creationId xmlns:a16="http://schemas.microsoft.com/office/drawing/2014/main" id="{B72DEBB6-0066-428D-A8C9-A9A48AE4BA11}"/>
              </a:ext>
            </a:extLst>
          </p:cNvPr>
          <p:cNvSpPr>
            <a:spLocks noGrp="1"/>
          </p:cNvSpPr>
          <p:nvPr/>
        </p:nvSpPr>
        <p:spPr>
          <a:xfrm>
            <a:off x="3781425" y="32289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学生选课案例</a:t>
            </a:r>
          </a:p>
        </p:txBody>
      </p:sp>
      <p:sp>
        <p:nvSpPr>
          <p:cNvPr id="11" name="content-11">
            <a:extLst>
              <a:ext uri="{FF2B5EF4-FFF2-40B4-BE49-F238E27FC236}">
                <a16:creationId xmlns:a16="http://schemas.microsoft.com/office/drawing/2014/main" id="{2E0EFDDD-76F4-40F2-9A6D-6F2D9FD56280}"/>
              </a:ext>
            </a:extLst>
          </p:cNvPr>
          <p:cNvSpPr>
            <a:spLocks noGrp="1"/>
          </p:cNvSpPr>
          <p:nvPr/>
        </p:nvSpPr>
        <p:spPr>
          <a:xfrm>
            <a:off x="3762375" y="3714750"/>
            <a:ext cx="44291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肖宇</a:t>
            </a:r>
          </a:p>
        </p:txBody>
      </p:sp>
      <p:sp>
        <p:nvSpPr>
          <p:cNvPr id="12" name="content-12">
            <a:extLst>
              <a:ext uri="{FF2B5EF4-FFF2-40B4-BE49-F238E27FC236}">
                <a16:creationId xmlns:a16="http://schemas.microsoft.com/office/drawing/2014/main" id="{8643D894-DFEC-48C4-ABCF-DC63007F4638}"/>
              </a:ext>
            </a:extLst>
          </p:cNvPr>
          <p:cNvSpPr>
            <a:spLocks noGrp="1"/>
          </p:cNvSpPr>
          <p:nvPr/>
        </p:nvSpPr>
        <p:spPr>
          <a:xfrm>
            <a:off x="3762375" y="410527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yxiao@sei.ecnu.edu.cn  ·  理科楼 B209</a:t>
            </a:r>
          </a:p>
        </p:txBody>
      </p:sp>
      <p:sp>
        <p:nvSpPr>
          <p:cNvPr id="13" name="content-13">
            <a:extLst>
              <a:ext uri="{FF2B5EF4-FFF2-40B4-BE49-F238E27FC236}">
                <a16:creationId xmlns:a16="http://schemas.microsoft.com/office/drawing/2014/main" id="{5E95946C-6C12-404A-AF05-C80F3CD7AD4D}"/>
              </a:ext>
            </a:extLst>
          </p:cNvPr>
          <p:cNvSpPr>
            <a:spLocks noGrp="1"/>
          </p:cNvSpPr>
          <p:nvPr/>
        </p:nvSpPr>
        <p:spPr>
          <a:xfrm>
            <a:off x="3762375" y="4400550"/>
            <a:ext cx="4714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邮件或微信预约答疑时间</a:t>
            </a:r>
          </a:p>
        </p:txBody>
      </p:sp>
      <p:sp>
        <p:nvSpPr>
          <p:cNvPr id="14" name="content-14">
            <a:extLst>
              <a:ext uri="{FF2B5EF4-FFF2-40B4-BE49-F238E27FC236}">
                <a16:creationId xmlns:a16="http://schemas.microsoft.com/office/drawing/2014/main" id="{0F959F0D-BD9B-4641-AE4B-52350C0645E9}"/>
              </a:ext>
            </a:extLst>
          </p:cNvPr>
          <p:cNvSpPr>
            <a:spLocks noGrp="1"/>
          </p:cNvSpPr>
          <p:nvPr/>
        </p:nvSpPr>
        <p:spPr>
          <a:xfrm>
            <a:off x="7781925" y="4819650"/>
            <a:ext cx="8572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15">
            <a:extLst>
              <a:ext uri="{FF2B5EF4-FFF2-40B4-BE49-F238E27FC236}">
                <a16:creationId xmlns:a16="http://schemas.microsoft.com/office/drawing/2014/main" id="{A41F5E59-69C3-47D3-BE3C-5EE5B2C40DD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上节回顾：用例图</a:t>
            </a:r>
          </a:p>
        </p:txBody>
      </p:sp>
      <p:sp>
        <p:nvSpPr>
          <p:cNvPr id="2" name="frame-16">
            <a:extLst>
              <a:ext uri="{FF2B5EF4-FFF2-40B4-BE49-F238E27FC236}">
                <a16:creationId xmlns:a16="http://schemas.microsoft.com/office/drawing/2014/main" id="{144E3256-D339-4C1B-A90C-A2B6BA5B522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7">
            <a:extLst>
              <a:ext uri="{FF2B5EF4-FFF2-40B4-BE49-F238E27FC236}">
                <a16:creationId xmlns:a16="http://schemas.microsoft.com/office/drawing/2014/main" id="{779578D9-BC6C-45FF-87A6-69B748DB4BB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A3E07078-2D5B-4C64-B1D8-A58AFC81F12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EC236822-34DD-489E-B80E-60020A5AFF2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02 / 66</a:t>
            </a:r>
          </a:p>
        </p:txBody>
      </p:sp>
      <p:sp>
        <p:nvSpPr>
          <p:cNvPr id="6" name="content-18">
            <a:extLst>
              <a:ext uri="{FF2B5EF4-FFF2-40B4-BE49-F238E27FC236}">
                <a16:creationId xmlns:a16="http://schemas.microsoft.com/office/drawing/2014/main" id="{26A2F428-AAD3-4599-B857-C93950F7DC4E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系统边界</a:t>
            </a:r>
          </a:p>
        </p:txBody>
      </p:sp>
      <p:sp>
        <p:nvSpPr>
          <p:cNvPr id="7" name="content-19">
            <a:extLst>
              <a:ext uri="{FF2B5EF4-FFF2-40B4-BE49-F238E27FC236}">
                <a16:creationId xmlns:a16="http://schemas.microsoft.com/office/drawing/2014/main" id="{73C7B6C6-109A-4AE9-AFC2-18833CFE171D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明确</a:t>
            </a:r>
            <a:r>
              <a:rPr lang="en-AU"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目标</a:t>
            </a:r>
            <a:r>
              <a:rPr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系统的范围</a:t>
            </a:r>
            <a:r>
              <a:rPr sz="1650" b="0" dirty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8" name="frame-20">
            <a:extLst>
              <a:ext uri="{FF2B5EF4-FFF2-40B4-BE49-F238E27FC236}">
                <a16:creationId xmlns:a16="http://schemas.microsoft.com/office/drawing/2014/main" id="{CDD9E622-DCFB-4342-849B-237BFC0DC1A2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1">
            <a:extLst>
              <a:ext uri="{FF2B5EF4-FFF2-40B4-BE49-F238E27FC236}">
                <a16:creationId xmlns:a16="http://schemas.microsoft.com/office/drawing/2014/main" id="{C3C19740-0C1F-42B6-9CD5-1DB127C591ED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参与者</a:t>
            </a:r>
          </a:p>
        </p:txBody>
      </p:sp>
      <p:sp>
        <p:nvSpPr>
          <p:cNvPr id="10" name="content-22">
            <a:extLst>
              <a:ext uri="{FF2B5EF4-FFF2-40B4-BE49-F238E27FC236}">
                <a16:creationId xmlns:a16="http://schemas.microsoft.com/office/drawing/2014/main" id="{D39B62A9-9FD9-48F6-908F-2670B1EDE9FA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与系统交互的外部角色，可以是人或其他系统。</a:t>
            </a:r>
          </a:p>
        </p:txBody>
      </p:sp>
      <p:sp>
        <p:nvSpPr>
          <p:cNvPr id="11" name="frame-23">
            <a:extLst>
              <a:ext uri="{FF2B5EF4-FFF2-40B4-BE49-F238E27FC236}">
                <a16:creationId xmlns:a16="http://schemas.microsoft.com/office/drawing/2014/main" id="{D5FF43FA-88AF-467E-BA1D-0469411A8CCA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4">
            <a:extLst>
              <a:ext uri="{FF2B5EF4-FFF2-40B4-BE49-F238E27FC236}">
                <a16:creationId xmlns:a16="http://schemas.microsoft.com/office/drawing/2014/main" id="{EA0FD821-BF94-41D8-AAC8-B5F64F0E1455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用例</a:t>
            </a:r>
          </a:p>
        </p:txBody>
      </p:sp>
      <p:sp>
        <p:nvSpPr>
          <p:cNvPr id="13" name="content-25">
            <a:extLst>
              <a:ext uri="{FF2B5EF4-FFF2-40B4-BE49-F238E27FC236}">
                <a16:creationId xmlns:a16="http://schemas.microsoft.com/office/drawing/2014/main" id="{EB0C1FE6-0F8A-4F1F-9F8D-EF398EAB7BC8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从参与者的目标出发，描述系统提供的功能。</a:t>
            </a:r>
          </a:p>
        </p:txBody>
      </p:sp>
      <p:sp>
        <p:nvSpPr>
          <p:cNvPr id="14" name="frame-26">
            <a:extLst>
              <a:ext uri="{FF2B5EF4-FFF2-40B4-BE49-F238E27FC236}">
                <a16:creationId xmlns:a16="http://schemas.microsoft.com/office/drawing/2014/main" id="{FAB0EA65-E906-4E67-97D1-86F131F8916B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7">
            <a:extLst>
              <a:ext uri="{FF2B5EF4-FFF2-40B4-BE49-F238E27FC236}">
                <a16:creationId xmlns:a16="http://schemas.microsoft.com/office/drawing/2014/main" id="{6D1DA565-3B23-478E-82C3-D1E61860FF3B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主要关系</a:t>
            </a:r>
          </a:p>
        </p:txBody>
      </p:sp>
      <p:sp>
        <p:nvSpPr>
          <p:cNvPr id="16" name="content-28">
            <a:extLst>
              <a:ext uri="{FF2B5EF4-FFF2-40B4-BE49-F238E27FC236}">
                <a16:creationId xmlns:a16="http://schemas.microsoft.com/office/drawing/2014/main" id="{C79DA32E-28C6-4B4F-8D96-F26317642356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参与者与用例的关联，以及包含、扩展、泛化。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-29">
            <a:extLst>
              <a:ext uri="{FF2B5EF4-FFF2-40B4-BE49-F238E27FC236}">
                <a16:creationId xmlns:a16="http://schemas.microsoft.com/office/drawing/2014/main" id="{7AD2F698-1AEB-460C-8A04-5089C5270C4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选课成功后，系统需要记录什么？</a:t>
            </a:r>
          </a:p>
        </p:txBody>
      </p:sp>
      <p:sp>
        <p:nvSpPr>
          <p:cNvPr id="2" name="frame-30">
            <a:extLst>
              <a:ext uri="{FF2B5EF4-FFF2-40B4-BE49-F238E27FC236}">
                <a16:creationId xmlns:a16="http://schemas.microsoft.com/office/drawing/2014/main" id="{E3BEC158-D415-476B-8F92-9274F114E51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31">
            <a:extLst>
              <a:ext uri="{FF2B5EF4-FFF2-40B4-BE49-F238E27FC236}">
                <a16:creationId xmlns:a16="http://schemas.microsoft.com/office/drawing/2014/main" id="{0DFB49BC-3FED-4CEF-8DB2-44AD9F3AAEB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344874A1-3BB1-4650-B7CE-B4ED6B37AC1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99DDFE8E-5523-4E58-9084-93872EFD14F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03 / 66</a:t>
            </a:r>
          </a:p>
        </p:txBody>
      </p:sp>
      <p:sp>
        <p:nvSpPr>
          <p:cNvPr id="6" name="content-32">
            <a:extLst>
              <a:ext uri="{FF2B5EF4-FFF2-40B4-BE49-F238E27FC236}">
                <a16:creationId xmlns:a16="http://schemas.microsoft.com/office/drawing/2014/main" id="{F99A19E0-F1C2-47B6-8D8B-D988F38F8474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219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情境</a:t>
            </a:r>
          </a:p>
        </p:txBody>
      </p:sp>
      <p:sp>
        <p:nvSpPr>
          <p:cNvPr id="7" name="content-33">
            <a:extLst>
              <a:ext uri="{FF2B5EF4-FFF2-40B4-BE49-F238E27FC236}">
                <a16:creationId xmlns:a16="http://schemas.microsoft.com/office/drawing/2014/main" id="{C5BC5C28-C79B-4B82-828F-D1744AAF3D40}"/>
              </a:ext>
            </a:extLst>
          </p:cNvPr>
          <p:cNvSpPr>
            <a:spLocks noGrp="1"/>
          </p:cNvSpPr>
          <p:nvPr/>
        </p:nvSpPr>
        <p:spPr>
          <a:xfrm>
            <a:off x="1924050" y="1104900"/>
            <a:ext cx="65341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张同学选入“软件工程2026秋01班”。</a:t>
            </a:r>
          </a:p>
        </p:txBody>
      </p:sp>
      <p:sp>
        <p:nvSpPr>
          <p:cNvPr id="8" name="frame-34">
            <a:extLst>
              <a:ext uri="{FF2B5EF4-FFF2-40B4-BE49-F238E27FC236}">
                <a16:creationId xmlns:a16="http://schemas.microsoft.com/office/drawing/2014/main" id="{3C9A23E7-FDCE-41DB-B44B-054A09AC72FA}"/>
              </a:ext>
            </a:extLst>
          </p:cNvPr>
          <p:cNvSpPr>
            <a:spLocks noGrp="1"/>
          </p:cNvSpPr>
          <p:nvPr/>
        </p:nvSpPr>
        <p:spPr>
          <a:xfrm>
            <a:off x="476250" y="24574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35">
            <a:extLst>
              <a:ext uri="{FF2B5EF4-FFF2-40B4-BE49-F238E27FC236}">
                <a16:creationId xmlns:a16="http://schemas.microsoft.com/office/drawing/2014/main" id="{A2D20AE2-2C80-48D0-A94E-66013893A059}"/>
              </a:ext>
            </a:extLst>
          </p:cNvPr>
          <p:cNvSpPr>
            <a:spLocks noGrp="1"/>
          </p:cNvSpPr>
          <p:nvPr/>
        </p:nvSpPr>
        <p:spPr>
          <a:xfrm>
            <a:off x="495300" y="2486025"/>
            <a:ext cx="1219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10" name="content-36">
            <a:extLst>
              <a:ext uri="{FF2B5EF4-FFF2-40B4-BE49-F238E27FC236}">
                <a16:creationId xmlns:a16="http://schemas.microsoft.com/office/drawing/2014/main" id="{1D7FA915-9EB3-4D8B-8FDB-5B8D1894D3FE}"/>
              </a:ext>
            </a:extLst>
          </p:cNvPr>
          <p:cNvSpPr>
            <a:spLocks noGrp="1"/>
          </p:cNvSpPr>
          <p:nvPr/>
        </p:nvSpPr>
        <p:spPr>
          <a:xfrm>
            <a:off x="1924050" y="2486025"/>
            <a:ext cx="65341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为了查询和管理选课结果，系统需要记录哪些信息？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37">
            <a:extLst>
              <a:ext uri="{FF2B5EF4-FFF2-40B4-BE49-F238E27FC236}">
                <a16:creationId xmlns:a16="http://schemas.microsoft.com/office/drawing/2014/main" id="{F5BB0FF1-CA33-4CDD-AB88-1BAF9C40F2A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用例图与类图</a:t>
            </a:r>
          </a:p>
        </p:txBody>
      </p:sp>
      <p:sp>
        <p:nvSpPr>
          <p:cNvPr id="2" name="frame-38">
            <a:extLst>
              <a:ext uri="{FF2B5EF4-FFF2-40B4-BE49-F238E27FC236}">
                <a16:creationId xmlns:a16="http://schemas.microsoft.com/office/drawing/2014/main" id="{60393EDE-5A20-4F3F-A6FC-E94616B725C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39">
            <a:extLst>
              <a:ext uri="{FF2B5EF4-FFF2-40B4-BE49-F238E27FC236}">
                <a16:creationId xmlns:a16="http://schemas.microsoft.com/office/drawing/2014/main" id="{04207A6D-46D1-47EF-AC82-A057081D096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3EE46244-80FA-4A48-9943-0F7A56E9607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A662CF02-DD1C-4C9C-8D6B-BF22B4946DA0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04 / 66</a:t>
            </a:r>
          </a:p>
        </p:txBody>
      </p:sp>
      <p:sp>
        <p:nvSpPr>
          <p:cNvPr id="6" name="content-40">
            <a:extLst>
              <a:ext uri="{FF2B5EF4-FFF2-40B4-BE49-F238E27FC236}">
                <a16:creationId xmlns:a16="http://schemas.microsoft.com/office/drawing/2014/main" id="{57FA12FA-F821-4346-A180-55CDAD55BED1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用例图</a:t>
            </a:r>
          </a:p>
        </p:txBody>
      </p:sp>
      <p:sp>
        <p:nvSpPr>
          <p:cNvPr id="7" name="content-41">
            <a:extLst>
              <a:ext uri="{FF2B5EF4-FFF2-40B4-BE49-F238E27FC236}">
                <a16:creationId xmlns:a16="http://schemas.microsoft.com/office/drawing/2014/main" id="{850C6ECC-3552-4C33-A456-904D79A45DBF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关注参与者的目标，以及系统应提供哪些功能。</a:t>
            </a:r>
          </a:p>
        </p:txBody>
      </p:sp>
      <p:sp>
        <p:nvSpPr>
          <p:cNvPr id="8" name="frame-42">
            <a:extLst>
              <a:ext uri="{FF2B5EF4-FFF2-40B4-BE49-F238E27FC236}">
                <a16:creationId xmlns:a16="http://schemas.microsoft.com/office/drawing/2014/main" id="{7CFA3130-6395-4590-A0B2-068DC1759E46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43">
            <a:extLst>
              <a:ext uri="{FF2B5EF4-FFF2-40B4-BE49-F238E27FC236}">
                <a16:creationId xmlns:a16="http://schemas.microsoft.com/office/drawing/2014/main" id="{AD8DA162-6585-4B00-80E3-036BBDEE259D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结构问题</a:t>
            </a:r>
          </a:p>
        </p:txBody>
      </p:sp>
      <p:sp>
        <p:nvSpPr>
          <p:cNvPr id="10" name="content-44">
            <a:extLst>
              <a:ext uri="{FF2B5EF4-FFF2-40B4-BE49-F238E27FC236}">
                <a16:creationId xmlns:a16="http://schemas.microsoft.com/office/drawing/2014/main" id="{70F2D6A4-8C45-4FC9-85BA-2FF2F15F1B79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这些功能涉及哪些业务对象？需要记录哪些信息？</a:t>
            </a:r>
          </a:p>
        </p:txBody>
      </p:sp>
      <p:sp>
        <p:nvSpPr>
          <p:cNvPr id="11" name="frame-45">
            <a:extLst>
              <a:ext uri="{FF2B5EF4-FFF2-40B4-BE49-F238E27FC236}">
                <a16:creationId xmlns:a16="http://schemas.microsoft.com/office/drawing/2014/main" id="{605510F5-8334-4B13-BB3B-8C050C62F807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46">
            <a:extLst>
              <a:ext uri="{FF2B5EF4-FFF2-40B4-BE49-F238E27FC236}">
                <a16:creationId xmlns:a16="http://schemas.microsoft.com/office/drawing/2014/main" id="{B05AF570-B03A-4518-8A69-3E9599947C73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类图</a:t>
            </a:r>
          </a:p>
        </p:txBody>
      </p:sp>
      <p:sp>
        <p:nvSpPr>
          <p:cNvPr id="13" name="content-47">
            <a:extLst>
              <a:ext uri="{FF2B5EF4-FFF2-40B4-BE49-F238E27FC236}">
                <a16:creationId xmlns:a16="http://schemas.microsoft.com/office/drawing/2014/main" id="{C182789C-EAD2-4EB7-8997-FDFDC6A39EE0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描述类、属性、操作以及类之间的关系。</a:t>
            </a:r>
          </a:p>
        </p:txBody>
      </p:sp>
      <p:sp>
        <p:nvSpPr>
          <p:cNvPr id="14" name="frame-48">
            <a:extLst>
              <a:ext uri="{FF2B5EF4-FFF2-40B4-BE49-F238E27FC236}">
                <a16:creationId xmlns:a16="http://schemas.microsoft.com/office/drawing/2014/main" id="{5BB6B418-31CB-4279-BF6C-D945424B0DF9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49">
            <a:extLst>
              <a:ext uri="{FF2B5EF4-FFF2-40B4-BE49-F238E27FC236}">
                <a16:creationId xmlns:a16="http://schemas.microsoft.com/office/drawing/2014/main" id="{E8B59D6E-645B-484B-B4E1-084F63F12067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相互补充</a:t>
            </a:r>
          </a:p>
        </p:txBody>
      </p:sp>
      <p:sp>
        <p:nvSpPr>
          <p:cNvPr id="16" name="content-50">
            <a:extLst>
              <a:ext uri="{FF2B5EF4-FFF2-40B4-BE49-F238E27FC236}">
                <a16:creationId xmlns:a16="http://schemas.microsoft.com/office/drawing/2014/main" id="{C1F4EA59-7F15-48B8-A788-A22F60E6CA3C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用例帮助发现结构需求，类图为功能分析与设计提供结构依据。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51">
            <a:extLst>
              <a:ext uri="{FF2B5EF4-FFF2-40B4-BE49-F238E27FC236}">
                <a16:creationId xmlns:a16="http://schemas.microsoft.com/office/drawing/2014/main" id="{02BE8046-BAB3-4C5D-9D6D-5413E83FB33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本节学习目标</a:t>
            </a:r>
          </a:p>
        </p:txBody>
      </p:sp>
      <p:sp>
        <p:nvSpPr>
          <p:cNvPr id="2" name="frame-52">
            <a:extLst>
              <a:ext uri="{FF2B5EF4-FFF2-40B4-BE49-F238E27FC236}">
                <a16:creationId xmlns:a16="http://schemas.microsoft.com/office/drawing/2014/main" id="{5D0E7618-DBE4-413D-AC0E-7331057BC46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53">
            <a:extLst>
              <a:ext uri="{FF2B5EF4-FFF2-40B4-BE49-F238E27FC236}">
                <a16:creationId xmlns:a16="http://schemas.microsoft.com/office/drawing/2014/main" id="{E754E17B-DDCC-4C23-A799-DA024D0366D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427504BD-B0EA-4C5A-9403-693DAF9E796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3F40806D-100B-41B7-A9C0-8678BB859BB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05 / 66</a:t>
            </a:r>
          </a:p>
        </p:txBody>
      </p:sp>
      <p:sp>
        <p:nvSpPr>
          <p:cNvPr id="6" name="content-54">
            <a:extLst>
              <a:ext uri="{FF2B5EF4-FFF2-40B4-BE49-F238E27FC236}">
                <a16:creationId xmlns:a16="http://schemas.microsoft.com/office/drawing/2014/main" id="{5CF62377-9D9E-4A57-9493-966B23DB3B84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类与对象</a:t>
            </a:r>
          </a:p>
        </p:txBody>
      </p:sp>
      <p:sp>
        <p:nvSpPr>
          <p:cNvPr id="7" name="content-55">
            <a:extLst>
              <a:ext uri="{FF2B5EF4-FFF2-40B4-BE49-F238E27FC236}">
                <a16:creationId xmlns:a16="http://schemas.microsoft.com/office/drawing/2014/main" id="{1EEAEE2A-9ABE-4EF6-8839-D4EC0D8B04AF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区分类、具体对象和属性，说明判断依据。</a:t>
            </a:r>
          </a:p>
        </p:txBody>
      </p:sp>
      <p:sp>
        <p:nvSpPr>
          <p:cNvPr id="8" name="frame-56">
            <a:extLst>
              <a:ext uri="{FF2B5EF4-FFF2-40B4-BE49-F238E27FC236}">
                <a16:creationId xmlns:a16="http://schemas.microsoft.com/office/drawing/2014/main" id="{AAE404FE-C460-4684-9061-619EF144083A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57">
            <a:extLst>
              <a:ext uri="{FF2B5EF4-FFF2-40B4-BE49-F238E27FC236}">
                <a16:creationId xmlns:a16="http://schemas.microsoft.com/office/drawing/2014/main" id="{4C71FBC8-FFF6-4D17-93CF-0847F5E9BF45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关联与多重性</a:t>
            </a:r>
          </a:p>
        </p:txBody>
      </p:sp>
      <p:sp>
        <p:nvSpPr>
          <p:cNvPr id="10" name="content-58">
            <a:extLst>
              <a:ext uri="{FF2B5EF4-FFF2-40B4-BE49-F238E27FC236}">
                <a16:creationId xmlns:a16="http://schemas.microsoft.com/office/drawing/2014/main" id="{EFE490CA-6460-44BF-9674-D51DA6BCFE1F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解释关联两端的多重性，并与业务规则对应。</a:t>
            </a:r>
          </a:p>
        </p:txBody>
      </p:sp>
      <p:sp>
        <p:nvSpPr>
          <p:cNvPr id="11" name="frame-59">
            <a:extLst>
              <a:ext uri="{FF2B5EF4-FFF2-40B4-BE49-F238E27FC236}">
                <a16:creationId xmlns:a16="http://schemas.microsoft.com/office/drawing/2014/main" id="{6DC012E2-0311-447E-A352-BE384B4B4997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60">
            <a:extLst>
              <a:ext uri="{FF2B5EF4-FFF2-40B4-BE49-F238E27FC236}">
                <a16:creationId xmlns:a16="http://schemas.microsoft.com/office/drawing/2014/main" id="{96F42D9D-5362-420A-87A9-57DE794ACCC9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业务约束</a:t>
            </a:r>
          </a:p>
        </p:txBody>
      </p:sp>
      <p:sp>
        <p:nvSpPr>
          <p:cNvPr id="13" name="content-61">
            <a:extLst>
              <a:ext uri="{FF2B5EF4-FFF2-40B4-BE49-F238E27FC236}">
                <a16:creationId xmlns:a16="http://schemas.microsoft.com/office/drawing/2014/main" id="{14C991FE-FF66-4721-B8D7-180496D8E048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用具体记录检查模型，识别需要补充的约束。</a:t>
            </a:r>
          </a:p>
        </p:txBody>
      </p:sp>
      <p:sp>
        <p:nvSpPr>
          <p:cNvPr id="14" name="frame-62">
            <a:extLst>
              <a:ext uri="{FF2B5EF4-FFF2-40B4-BE49-F238E27FC236}">
                <a16:creationId xmlns:a16="http://schemas.microsoft.com/office/drawing/2014/main" id="{76E0081B-D8E8-4E5C-AB24-6E633DE848F3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63">
            <a:extLst>
              <a:ext uri="{FF2B5EF4-FFF2-40B4-BE49-F238E27FC236}">
                <a16:creationId xmlns:a16="http://schemas.microsoft.com/office/drawing/2014/main" id="{80595279-55D3-420A-8DD3-3286210A712F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学习要求</a:t>
            </a:r>
          </a:p>
        </p:txBody>
      </p:sp>
      <p:sp>
        <p:nvSpPr>
          <p:cNvPr id="16" name="content-64">
            <a:extLst>
              <a:ext uri="{FF2B5EF4-FFF2-40B4-BE49-F238E27FC236}">
                <a16:creationId xmlns:a16="http://schemas.microsoft.com/office/drawing/2014/main" id="{A1AFE2A9-A434-48AF-8981-AB8DB6A5ED7D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绘制选课类图，解释主要关系，举例检验模型。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65">
            <a:extLst>
              <a:ext uri="{FF2B5EF4-FFF2-40B4-BE49-F238E27FC236}">
                <a16:creationId xmlns:a16="http://schemas.microsoft.com/office/drawing/2014/main" id="{F6D01666-E93C-453E-A7AD-D0DBAE7C08A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学生选课：建模范围与业务规则</a:t>
            </a:r>
          </a:p>
        </p:txBody>
      </p:sp>
      <p:sp>
        <p:nvSpPr>
          <p:cNvPr id="2" name="frame-66">
            <a:extLst>
              <a:ext uri="{FF2B5EF4-FFF2-40B4-BE49-F238E27FC236}">
                <a16:creationId xmlns:a16="http://schemas.microsoft.com/office/drawing/2014/main" id="{614033F8-64E3-4272-8173-4AAFECF32EC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67">
            <a:extLst>
              <a:ext uri="{FF2B5EF4-FFF2-40B4-BE49-F238E27FC236}">
                <a16:creationId xmlns:a16="http://schemas.microsoft.com/office/drawing/2014/main" id="{DC0DE6E6-48EF-40B0-9E60-EFF78B89981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17B5DC4C-253A-414E-A047-45F3AF517ED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3FC91BC0-6BCE-4A74-B1EC-83DE630ADEA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06 / 66</a:t>
            </a:r>
          </a:p>
        </p:txBody>
      </p:sp>
      <p:sp>
        <p:nvSpPr>
          <p:cNvPr id="6" name="content-68">
            <a:extLst>
              <a:ext uri="{FF2B5EF4-FFF2-40B4-BE49-F238E27FC236}">
                <a16:creationId xmlns:a16="http://schemas.microsoft.com/office/drawing/2014/main" id="{567D3C6A-76C3-4355-8B30-2CCFE010D097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具体开课班</a:t>
            </a:r>
          </a:p>
        </p:txBody>
      </p:sp>
      <p:sp>
        <p:nvSpPr>
          <p:cNvPr id="7" name="content-69">
            <a:extLst>
              <a:ext uri="{FF2B5EF4-FFF2-40B4-BE49-F238E27FC236}">
                <a16:creationId xmlns:a16="http://schemas.microsoft.com/office/drawing/2014/main" id="{DE77519D-8BFE-461D-ADD4-84BFA6E672C1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SE26-A指“软件工程 2026秋01班”。</a:t>
            </a:r>
          </a:p>
        </p:txBody>
      </p:sp>
      <p:sp>
        <p:nvSpPr>
          <p:cNvPr id="8" name="frame-70">
            <a:extLst>
              <a:ext uri="{FF2B5EF4-FFF2-40B4-BE49-F238E27FC236}">
                <a16:creationId xmlns:a16="http://schemas.microsoft.com/office/drawing/2014/main" id="{36FC17D1-A1EE-46EE-9098-44D497BF4B07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71">
            <a:extLst>
              <a:ext uri="{FF2B5EF4-FFF2-40B4-BE49-F238E27FC236}">
                <a16:creationId xmlns:a16="http://schemas.microsoft.com/office/drawing/2014/main" id="{BBCD53E0-CBF6-4727-9CA4-24EA37E714B6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R1</a:t>
            </a:r>
          </a:p>
        </p:txBody>
      </p:sp>
      <p:sp>
        <p:nvSpPr>
          <p:cNvPr id="10" name="content-72">
            <a:extLst>
              <a:ext uri="{FF2B5EF4-FFF2-40B4-BE49-F238E27FC236}">
                <a16:creationId xmlns:a16="http://schemas.microsoft.com/office/drawing/2014/main" id="{D0BC4457-D9E8-46FE-B9C1-DBC71A276729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lang="en-AU"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可查询</a:t>
            </a:r>
            <a:r>
              <a:rPr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学生选入具体开课班的情况</a:t>
            </a:r>
            <a:r>
              <a:rPr sz="1650" b="0" dirty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1" name="frame-73">
            <a:extLst>
              <a:ext uri="{FF2B5EF4-FFF2-40B4-BE49-F238E27FC236}">
                <a16:creationId xmlns:a16="http://schemas.microsoft.com/office/drawing/2014/main" id="{53E1F390-FFDF-45CE-8F58-529048175F94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74">
            <a:extLst>
              <a:ext uri="{FF2B5EF4-FFF2-40B4-BE49-F238E27FC236}">
                <a16:creationId xmlns:a16="http://schemas.microsoft.com/office/drawing/2014/main" id="{F126C4C0-9247-48D1-B315-9014726D9B69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R2</a:t>
            </a:r>
          </a:p>
        </p:txBody>
      </p:sp>
      <p:sp>
        <p:nvSpPr>
          <p:cNvPr id="13" name="content-75">
            <a:extLst>
              <a:ext uri="{FF2B5EF4-FFF2-40B4-BE49-F238E27FC236}">
                <a16:creationId xmlns:a16="http://schemas.microsoft.com/office/drawing/2014/main" id="{827BF005-3539-4922-ABBE-E3CC6B7C9C9F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学生可选0到多个开课班；每个班可有0到多名学生。</a:t>
            </a:r>
          </a:p>
        </p:txBody>
      </p:sp>
      <p:sp>
        <p:nvSpPr>
          <p:cNvPr id="14" name="frame-76">
            <a:extLst>
              <a:ext uri="{FF2B5EF4-FFF2-40B4-BE49-F238E27FC236}">
                <a16:creationId xmlns:a16="http://schemas.microsoft.com/office/drawing/2014/main" id="{B42B563B-4186-4BC8-B676-A6D91CA74ED0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77">
            <a:extLst>
              <a:ext uri="{FF2B5EF4-FFF2-40B4-BE49-F238E27FC236}">
                <a16:creationId xmlns:a16="http://schemas.microsoft.com/office/drawing/2014/main" id="{8FCAA402-232E-4A79-8D2D-CE28D7F4A9EB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案例说明</a:t>
            </a:r>
          </a:p>
        </p:txBody>
      </p:sp>
      <p:sp>
        <p:nvSpPr>
          <p:cNvPr id="16" name="content-78">
            <a:extLst>
              <a:ext uri="{FF2B5EF4-FFF2-40B4-BE49-F238E27FC236}">
                <a16:creationId xmlns:a16="http://schemas.microsoft.com/office/drawing/2014/main" id="{F5A4B43C-D7D0-467C-95DA-40B054436AA5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以</a:t>
            </a:r>
            <a:r>
              <a:rPr lang="en-AU"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上</a:t>
            </a:r>
            <a:r>
              <a:rPr sz="1650" b="0" dirty="0" err="1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规则为教学案例设定</a:t>
            </a:r>
            <a:r>
              <a:rPr sz="1650" b="0" dirty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-79">
            <a:extLst>
              <a:ext uri="{FF2B5EF4-FFF2-40B4-BE49-F238E27FC236}">
                <a16:creationId xmlns:a16="http://schemas.microsoft.com/office/drawing/2014/main" id="{7534A594-8032-41F1-A25E-3AF05C071FB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三条记录，涉及几个学生和几个班？</a:t>
            </a:r>
          </a:p>
        </p:txBody>
      </p:sp>
      <p:sp>
        <p:nvSpPr>
          <p:cNvPr id="2" name="frame-80">
            <a:extLst>
              <a:ext uri="{FF2B5EF4-FFF2-40B4-BE49-F238E27FC236}">
                <a16:creationId xmlns:a16="http://schemas.microsoft.com/office/drawing/2014/main" id="{43D9F52F-B724-42A1-955F-9AC9CB0DBF4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81">
            <a:extLst>
              <a:ext uri="{FF2B5EF4-FFF2-40B4-BE49-F238E27FC236}">
                <a16:creationId xmlns:a16="http://schemas.microsoft.com/office/drawing/2014/main" id="{AD23F5CA-E0C5-49D0-B87F-27DE30954A8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BC98BA85-889D-4515-B356-E5270D04087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D97688C7-5019-4022-BC4F-83CD72E7FA6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07 / 66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76250" y="1209675"/>
          <a:ext cx="8191500" cy="28575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学生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开课班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成绩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S01 张同学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SE26-A 软件工程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90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S02 李同学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SE26-A 软件工程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未评分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S01 张同学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MA26-A 高等数学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85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-82">
            <a:extLst>
              <a:ext uri="{FF2B5EF4-FFF2-40B4-BE49-F238E27FC236}">
                <a16:creationId xmlns:a16="http://schemas.microsoft.com/office/drawing/2014/main" id="{27B1197F-4D14-4858-B340-92571DFBAB82}"/>
              </a:ext>
            </a:extLst>
          </p:cNvPr>
          <p:cNvSpPr>
            <a:spLocks noGrp="1"/>
          </p:cNvSpPr>
          <p:nvPr/>
        </p:nvSpPr>
        <p:spPr>
          <a:xfrm>
            <a:off x="495300" y="4391025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案例数据：同一学生或开课班可以出现在多条记录中。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83">
            <a:extLst>
              <a:ext uri="{FF2B5EF4-FFF2-40B4-BE49-F238E27FC236}">
                <a16:creationId xmlns:a16="http://schemas.microsoft.com/office/drawing/2014/main" id="{104400AB-A70D-4160-9EF9-273E5D23272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类与对象</a:t>
            </a:r>
          </a:p>
        </p:txBody>
      </p:sp>
      <p:sp>
        <p:nvSpPr>
          <p:cNvPr id="2" name="frame-84">
            <a:extLst>
              <a:ext uri="{FF2B5EF4-FFF2-40B4-BE49-F238E27FC236}">
                <a16:creationId xmlns:a16="http://schemas.microsoft.com/office/drawing/2014/main" id="{76831A1E-552A-47BB-A78B-7072E925DDC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85">
            <a:extLst>
              <a:ext uri="{FF2B5EF4-FFF2-40B4-BE49-F238E27FC236}">
                <a16:creationId xmlns:a16="http://schemas.microsoft.com/office/drawing/2014/main" id="{14068D55-EBEC-4FBA-9FED-B9E7529C659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76825DE8-FE41-4CB1-829C-7B43CEC5C38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F371CF64-4345-4061-B65B-06A178C3247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08 / 66</a:t>
            </a:r>
          </a:p>
        </p:txBody>
      </p:sp>
      <p:sp>
        <p:nvSpPr>
          <p:cNvPr id="21" name="UML objects box 21"/>
          <p:cNvSpPr/>
          <p:nvPr/>
        </p:nvSpPr>
        <p:spPr>
          <a:xfrm>
            <a:off x="652759" y="1729497"/>
            <a:ext cx="2226621" cy="1279746"/>
          </a:xfrm>
          <a:prstGeom prst="rect">
            <a:avLst/>
          </a:prstGeom>
          <a:solidFill>
            <a:srgbClr val="FFFFFF"/>
          </a:solidFill>
          <a:ln w="11717">
            <a:solidFill>
              <a:srgbClr val="1F2A44"/>
            </a:solidFill>
          </a:ln>
        </p:spPr>
      </p:sp>
      <p:sp>
        <p:nvSpPr>
          <p:cNvPr id="22" name="UML objects label 22"/>
          <p:cNvSpPr/>
          <p:nvPr/>
        </p:nvSpPr>
        <p:spPr>
          <a:xfrm>
            <a:off x="1301724" y="1807765"/>
            <a:ext cx="1006595" cy="359234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37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1937"/>
          </a:p>
        </p:txBody>
      </p:sp>
      <p:sp>
        <p:nvSpPr>
          <p:cNvPr id="23" name="UML objects divider 23"/>
          <p:cNvSpPr/>
          <p:nvPr/>
        </p:nvSpPr>
        <p:spPr>
          <a:xfrm>
            <a:off x="664476" y="2202946"/>
            <a:ext cx="2203188" cy="1172"/>
          </a:xfrm>
          <a:custGeom>
            <a:avLst/>
            <a:gdLst/>
            <a:ahLst/>
            <a:cxnLst/>
            <a:rect l="0" t="0" r="r" b="b"/>
            <a:pathLst>
              <a:path w="1791062" h="952" fill="none" extrusionOk="0">
                <a:moveTo>
                  <a:pt x="0" y="0"/>
                </a:moveTo>
                <a:lnTo>
                  <a:pt x="1791062" y="0"/>
                </a:lnTo>
              </a:path>
            </a:pathLst>
          </a:custGeom>
          <a:noFill/>
          <a:ln w="11717">
            <a:solidFill>
              <a:srgbClr val="1F2A44"/>
            </a:solidFill>
          </a:ln>
        </p:spPr>
      </p:sp>
      <p:sp>
        <p:nvSpPr>
          <p:cNvPr id="24" name="UML objects label 24"/>
          <p:cNvSpPr/>
          <p:nvPr/>
        </p:nvSpPr>
        <p:spPr>
          <a:xfrm>
            <a:off x="718958" y="2269497"/>
            <a:ext cx="2172138" cy="359234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37" dirty="0">
                <a:solidFill>
                  <a:srgbClr val="000000"/>
                </a:solidFill>
                <a:latin typeface="Noto Sans SC"/>
                <a:ea typeface="Noto Sans SC"/>
              </a:rPr>
              <a:t>studentNo : String</a:t>
            </a:r>
            <a:endParaRPr lang="zh-CN" sz="1937"/>
          </a:p>
        </p:txBody>
      </p:sp>
      <p:sp>
        <p:nvSpPr>
          <p:cNvPr id="25" name="UML objects label 25"/>
          <p:cNvSpPr/>
          <p:nvPr/>
        </p:nvSpPr>
        <p:spPr>
          <a:xfrm>
            <a:off x="718958" y="2625779"/>
            <a:ext cx="1608928" cy="359234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37" dirty="0">
                <a:solidFill>
                  <a:srgbClr val="000000"/>
                </a:solidFill>
                <a:latin typeface="Noto Sans SC"/>
                <a:ea typeface="Noto Sans SC"/>
              </a:rPr>
              <a:t>name : String</a:t>
            </a:r>
            <a:endParaRPr lang="zh-CN" sz="1937"/>
          </a:p>
        </p:txBody>
      </p:sp>
      <p:sp>
        <p:nvSpPr>
          <p:cNvPr id="26" name="UML objects box 26"/>
          <p:cNvSpPr/>
          <p:nvPr/>
        </p:nvSpPr>
        <p:spPr>
          <a:xfrm>
            <a:off x="3300736" y="1735356"/>
            <a:ext cx="2357145" cy="1260344"/>
          </a:xfrm>
          <a:prstGeom prst="rect">
            <a:avLst/>
          </a:prstGeom>
          <a:solidFill>
            <a:srgbClr val="FFFFFF"/>
          </a:solidFill>
          <a:ln w="11717">
            <a:solidFill>
              <a:srgbClr val="000000"/>
            </a:solidFill>
          </a:ln>
        </p:spPr>
      </p:sp>
      <p:sp>
        <p:nvSpPr>
          <p:cNvPr id="27" name="UML objects label 27"/>
          <p:cNvSpPr/>
          <p:nvPr/>
        </p:nvSpPr>
        <p:spPr>
          <a:xfrm>
            <a:off x="3696105" y="1779411"/>
            <a:ext cx="1648425" cy="376341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30" u="sng" dirty="0">
                <a:solidFill>
                  <a:srgbClr val="000000"/>
                </a:solidFill>
                <a:latin typeface="Noto Sans SC"/>
                <a:ea typeface="Noto Sans SC"/>
              </a:rPr>
              <a:t>s01 : Student</a:t>
            </a:r>
            <a:endParaRPr lang="zh-CN" sz="2030"/>
          </a:p>
        </p:txBody>
      </p:sp>
      <p:sp>
        <p:nvSpPr>
          <p:cNvPr id="28" name="UML objects divider 28"/>
          <p:cNvSpPr/>
          <p:nvPr/>
        </p:nvSpPr>
        <p:spPr>
          <a:xfrm>
            <a:off x="3312453" y="2155470"/>
            <a:ext cx="2333712" cy="1172"/>
          </a:xfrm>
          <a:custGeom>
            <a:avLst/>
            <a:gdLst/>
            <a:ahLst/>
            <a:cxnLst/>
            <a:rect l="0" t="0" r="r" b="b"/>
            <a:pathLst>
              <a:path w="1897170" h="952" fill="none" extrusionOk="0">
                <a:moveTo>
                  <a:pt x="0" y="0"/>
                </a:moveTo>
                <a:lnTo>
                  <a:pt x="1897170" y="0"/>
                </a:lnTo>
              </a:path>
            </a:pathLst>
          </a:custGeom>
          <a:noFill/>
          <a:ln w="11717">
            <a:solidFill>
              <a:srgbClr val="000000"/>
            </a:solidFill>
          </a:ln>
        </p:spPr>
      </p:sp>
      <p:sp>
        <p:nvSpPr>
          <p:cNvPr id="29" name="UML objects label 29"/>
          <p:cNvSpPr/>
          <p:nvPr/>
        </p:nvSpPr>
        <p:spPr>
          <a:xfrm>
            <a:off x="3366936" y="2222959"/>
            <a:ext cx="2306763" cy="376341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30" dirty="0">
                <a:solidFill>
                  <a:srgbClr val="000000"/>
                </a:solidFill>
                <a:latin typeface="Noto Sans SC"/>
                <a:ea typeface="Noto Sans SC"/>
              </a:rPr>
              <a:t>studentNo = "S01"</a:t>
            </a:r>
            <a:endParaRPr lang="zh-CN" sz="2030"/>
          </a:p>
        </p:txBody>
      </p:sp>
      <p:sp>
        <p:nvSpPr>
          <p:cNvPr id="30" name="UML objects label 30"/>
          <p:cNvSpPr/>
          <p:nvPr/>
        </p:nvSpPr>
        <p:spPr>
          <a:xfrm>
            <a:off x="3366936" y="2596206"/>
            <a:ext cx="2050285" cy="376341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30" dirty="0">
                <a:solidFill>
                  <a:srgbClr val="000000"/>
                </a:solidFill>
                <a:latin typeface="Noto Sans SC"/>
                <a:ea typeface="Noto Sans SC"/>
              </a:rPr>
              <a:t>name = "张同学"</a:t>
            </a:r>
            <a:endParaRPr lang="zh-CN" sz="2030"/>
          </a:p>
        </p:txBody>
      </p:sp>
      <p:sp>
        <p:nvSpPr>
          <p:cNvPr id="31" name="UML objects box 31"/>
          <p:cNvSpPr/>
          <p:nvPr/>
        </p:nvSpPr>
        <p:spPr>
          <a:xfrm>
            <a:off x="6077598" y="1735356"/>
            <a:ext cx="2357145" cy="1260344"/>
          </a:xfrm>
          <a:prstGeom prst="rect">
            <a:avLst/>
          </a:prstGeom>
          <a:solidFill>
            <a:srgbClr val="FFFFFF"/>
          </a:solidFill>
          <a:ln w="11717">
            <a:solidFill>
              <a:srgbClr val="000000"/>
            </a:solidFill>
          </a:ln>
        </p:spPr>
      </p:sp>
      <p:sp>
        <p:nvSpPr>
          <p:cNvPr id="32" name="UML objects label 32"/>
          <p:cNvSpPr/>
          <p:nvPr/>
        </p:nvSpPr>
        <p:spPr>
          <a:xfrm>
            <a:off x="6472967" y="1779411"/>
            <a:ext cx="1648425" cy="376341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30" u="sng" dirty="0">
                <a:solidFill>
                  <a:srgbClr val="000000"/>
                </a:solidFill>
                <a:latin typeface="Noto Sans SC"/>
                <a:ea typeface="Noto Sans SC"/>
              </a:rPr>
              <a:t>s02 : Student</a:t>
            </a:r>
            <a:endParaRPr lang="zh-CN" sz="2030"/>
          </a:p>
        </p:txBody>
      </p:sp>
      <p:sp>
        <p:nvSpPr>
          <p:cNvPr id="33" name="UML objects divider 33"/>
          <p:cNvSpPr/>
          <p:nvPr/>
        </p:nvSpPr>
        <p:spPr>
          <a:xfrm>
            <a:off x="6089315" y="2155470"/>
            <a:ext cx="2333712" cy="1172"/>
          </a:xfrm>
          <a:custGeom>
            <a:avLst/>
            <a:gdLst/>
            <a:ahLst/>
            <a:cxnLst/>
            <a:rect l="0" t="0" r="r" b="b"/>
            <a:pathLst>
              <a:path w="1897170" h="952" fill="none" extrusionOk="0">
                <a:moveTo>
                  <a:pt x="0" y="0"/>
                </a:moveTo>
                <a:lnTo>
                  <a:pt x="1897170" y="0"/>
                </a:lnTo>
              </a:path>
            </a:pathLst>
          </a:custGeom>
          <a:noFill/>
          <a:ln w="11717">
            <a:solidFill>
              <a:srgbClr val="000000"/>
            </a:solidFill>
          </a:ln>
        </p:spPr>
      </p:sp>
      <p:sp>
        <p:nvSpPr>
          <p:cNvPr id="34" name="UML objects label 34"/>
          <p:cNvSpPr/>
          <p:nvPr/>
        </p:nvSpPr>
        <p:spPr>
          <a:xfrm>
            <a:off x="6143797" y="2222959"/>
            <a:ext cx="2306763" cy="376341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30" dirty="0">
                <a:solidFill>
                  <a:srgbClr val="000000"/>
                </a:solidFill>
                <a:latin typeface="Noto Sans SC"/>
                <a:ea typeface="Noto Sans SC"/>
              </a:rPr>
              <a:t>studentNo = "S02"</a:t>
            </a:r>
            <a:endParaRPr lang="zh-CN" sz="2030"/>
          </a:p>
        </p:txBody>
      </p:sp>
      <p:sp>
        <p:nvSpPr>
          <p:cNvPr id="35" name="UML objects label 35"/>
          <p:cNvSpPr/>
          <p:nvPr/>
        </p:nvSpPr>
        <p:spPr>
          <a:xfrm>
            <a:off x="6143797" y="2596206"/>
            <a:ext cx="2050285" cy="376341"/>
          </a:xfrm>
          <a:prstGeom prst="rect">
            <a:avLst/>
          </a:prstGeom>
          <a:noFill/>
          <a:ln w="1171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30" dirty="0">
                <a:solidFill>
                  <a:srgbClr val="000000"/>
                </a:solidFill>
                <a:latin typeface="Noto Sans SC"/>
                <a:ea typeface="Noto Sans SC"/>
              </a:rPr>
              <a:t>name = "李同学"</a:t>
            </a:r>
            <a:endParaRPr lang="zh-CN" sz="2030"/>
          </a:p>
        </p:txBody>
      </p:sp>
      <p:sp>
        <p:nvSpPr>
          <p:cNvPr id="7" name="content-86">
            <a:extLst>
              <a:ext uri="{FF2B5EF4-FFF2-40B4-BE49-F238E27FC236}">
                <a16:creationId xmlns:a16="http://schemas.microsoft.com/office/drawing/2014/main" id="{E5F59A0C-0C2E-4850-9F76-07664EA425C0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Student（学生）描述共同结构；s01、s02是具体对象。</a:t>
            </a:r>
          </a:p>
        </p:txBody>
      </p:sp>
      <p:sp>
        <p:nvSpPr>
          <p:cNvPr id="8" name="content-87">
            <a:extLst>
              <a:ext uri="{FF2B5EF4-FFF2-40B4-BE49-F238E27FC236}">
                <a16:creationId xmlns:a16="http://schemas.microsoft.com/office/drawing/2014/main" id="{1E4F9436-D08D-4D58-B85D-73C0C8F4A761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对象中的姓名是具体值，类中写的是属性名称与类型。</a:t>
            </a:r>
          </a:p>
        </p:txBody>
      </p:sp>
      <p:sp>
        <p:nvSpPr>
          <p:cNvPr id="9" name="content-88">
            <a:extLst>
              <a:ext uri="{FF2B5EF4-FFF2-40B4-BE49-F238E27FC236}">
                <a16:creationId xmlns:a16="http://schemas.microsoft.com/office/drawing/2014/main" id="{4AAF1044-F5C7-424E-BBFE-76B26A60ED5D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换一个姓名也叫“张同学”的学生，会是同一对象吗？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89">
            <a:extLst>
              <a:ext uri="{FF2B5EF4-FFF2-40B4-BE49-F238E27FC236}">
                <a16:creationId xmlns:a16="http://schemas.microsoft.com/office/drawing/2014/main" id="{C318CE10-4EAB-47A7-BB70-07DD667C779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类的属性</a:t>
            </a:r>
          </a:p>
        </p:txBody>
      </p:sp>
      <p:sp>
        <p:nvSpPr>
          <p:cNvPr id="2" name="frame-90">
            <a:extLst>
              <a:ext uri="{FF2B5EF4-FFF2-40B4-BE49-F238E27FC236}">
                <a16:creationId xmlns:a16="http://schemas.microsoft.com/office/drawing/2014/main" id="{344A7F4A-8F95-4106-BB02-03002A93DCA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91">
            <a:extLst>
              <a:ext uri="{FF2B5EF4-FFF2-40B4-BE49-F238E27FC236}">
                <a16:creationId xmlns:a16="http://schemas.microsoft.com/office/drawing/2014/main" id="{27B4DA1D-85EE-44D7-9337-E0F8E839D89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CE089CC-0CEA-4433-882F-28E1DE74371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DAD50F75-59B1-441C-86D6-4B16DAA638E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09 / 66</a:t>
            </a:r>
          </a:p>
        </p:txBody>
      </p:sp>
      <p:sp>
        <p:nvSpPr>
          <p:cNvPr id="21" name="UML attributes box 21"/>
          <p:cNvSpPr/>
          <p:nvPr/>
        </p:nvSpPr>
        <p:spPr>
          <a:xfrm>
            <a:off x="3225403" y="1616393"/>
            <a:ext cx="2624662" cy="1508520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attributes label 22"/>
          <p:cNvSpPr/>
          <p:nvPr/>
        </p:nvSpPr>
        <p:spPr>
          <a:xfrm>
            <a:off x="3990381" y="1708652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3" name="UML attributes divider 23"/>
          <p:cNvSpPr/>
          <p:nvPr/>
        </p:nvSpPr>
        <p:spPr>
          <a:xfrm>
            <a:off x="3239214" y="2174477"/>
            <a:ext cx="2597040" cy="1381"/>
          </a:xfrm>
          <a:custGeom>
            <a:avLst/>
            <a:gdLst/>
            <a:ahLst/>
            <a:cxnLst/>
            <a:rect l="0" t="0" r="r" b="b"/>
            <a:pathLst>
              <a:path w="1791062" h="952" fill="none" extrusionOk="0">
                <a:moveTo>
                  <a:pt x="0" y="0"/>
                </a:moveTo>
                <a:lnTo>
                  <a:pt x="1791062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attributes label 24"/>
          <p:cNvSpPr/>
          <p:nvPr/>
        </p:nvSpPr>
        <p:spPr>
          <a:xfrm>
            <a:off x="3303437" y="2252925"/>
            <a:ext cx="2560440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studentNo : String</a:t>
            </a:r>
            <a:endParaRPr lang="zh-CN" sz="2284"/>
          </a:p>
        </p:txBody>
      </p:sp>
      <p:sp>
        <p:nvSpPr>
          <p:cNvPr id="25" name="UML attributes label 25"/>
          <p:cNvSpPr/>
          <p:nvPr/>
        </p:nvSpPr>
        <p:spPr>
          <a:xfrm>
            <a:off x="3303437" y="2672898"/>
            <a:ext cx="1896547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name : String</a:t>
            </a:r>
            <a:endParaRPr lang="zh-CN" sz="2284"/>
          </a:p>
        </p:txBody>
      </p:sp>
      <p:sp>
        <p:nvSpPr>
          <p:cNvPr id="7" name="content-92">
            <a:extLst>
              <a:ext uri="{FF2B5EF4-FFF2-40B4-BE49-F238E27FC236}">
                <a16:creationId xmlns:a16="http://schemas.microsoft.com/office/drawing/2014/main" id="{F9F401D5-538E-408A-8B47-A92AAE4F5FB0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studentNo : String，表示学号是文本。</a:t>
            </a:r>
          </a:p>
        </p:txBody>
      </p:sp>
      <p:sp>
        <p:nvSpPr>
          <p:cNvPr id="8" name="content-93">
            <a:extLst>
              <a:ext uri="{FF2B5EF4-FFF2-40B4-BE49-F238E27FC236}">
                <a16:creationId xmlns:a16="http://schemas.microsoft.com/office/drawing/2014/main" id="{951ED894-6098-4348-AB53-7A2574414D55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name : String，表示姓名是文本。</a:t>
            </a:r>
          </a:p>
        </p:txBody>
      </p:sp>
      <p:sp>
        <p:nvSpPr>
          <p:cNvPr id="9" name="content-94">
            <a:extLst>
              <a:ext uri="{FF2B5EF4-FFF2-40B4-BE49-F238E27FC236}">
                <a16:creationId xmlns:a16="http://schemas.microsoft.com/office/drawing/2014/main" id="{059D720A-3310-4FA5-8CCF-B866F76DAA9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“张同学”应该写在类的属性定义里，还是具体对象里？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-95">
            <a:extLst>
              <a:ext uri="{FF2B5EF4-FFF2-40B4-BE49-F238E27FC236}">
                <a16:creationId xmlns:a16="http://schemas.microsoft.com/office/drawing/2014/main" id="{2C8DA194-53D0-4970-9286-5F74C766B09E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练习：类与属性</a:t>
            </a:r>
          </a:p>
        </p:txBody>
      </p:sp>
      <p:sp>
        <p:nvSpPr>
          <p:cNvPr id="2" name="frame-96">
            <a:extLst>
              <a:ext uri="{FF2B5EF4-FFF2-40B4-BE49-F238E27FC236}">
                <a16:creationId xmlns:a16="http://schemas.microsoft.com/office/drawing/2014/main" id="{E58440DA-D207-4D70-BD4A-5A302B1A0C2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97">
            <a:extLst>
              <a:ext uri="{FF2B5EF4-FFF2-40B4-BE49-F238E27FC236}">
                <a16:creationId xmlns:a16="http://schemas.microsoft.com/office/drawing/2014/main" id="{FFE9D284-9BF3-49DD-AF13-67BE076FF38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BD447CDF-8607-427A-B1AE-5FA6E58A7E5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0AD53CA3-74AE-4237-8BB8-1EBF9774F82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10 / 66</a:t>
            </a:r>
          </a:p>
        </p:txBody>
      </p:sp>
      <p:sp>
        <p:nvSpPr>
          <p:cNvPr id="6" name="content-98">
            <a:extLst>
              <a:ext uri="{FF2B5EF4-FFF2-40B4-BE49-F238E27FC236}">
                <a16:creationId xmlns:a16="http://schemas.microsoft.com/office/drawing/2014/main" id="{AC107B7B-8DF8-4871-8A61-50826D7EE37F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219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候选内容</a:t>
            </a:r>
          </a:p>
        </p:txBody>
      </p:sp>
      <p:sp>
        <p:nvSpPr>
          <p:cNvPr id="7" name="content-99">
            <a:extLst>
              <a:ext uri="{FF2B5EF4-FFF2-40B4-BE49-F238E27FC236}">
                <a16:creationId xmlns:a16="http://schemas.microsoft.com/office/drawing/2014/main" id="{7B95CB35-722B-4613-9EEF-6C17A511D779}"/>
              </a:ext>
            </a:extLst>
          </p:cNvPr>
          <p:cNvSpPr>
            <a:spLocks noGrp="1"/>
          </p:cNvSpPr>
          <p:nvPr/>
        </p:nvSpPr>
        <p:spPr>
          <a:xfrm>
            <a:off x="1924050" y="1104900"/>
            <a:ext cx="65341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学生、开课班、学生姓名、开课班容量。</a:t>
            </a:r>
          </a:p>
        </p:txBody>
      </p:sp>
      <p:sp>
        <p:nvSpPr>
          <p:cNvPr id="8" name="frame-100">
            <a:extLst>
              <a:ext uri="{FF2B5EF4-FFF2-40B4-BE49-F238E27FC236}">
                <a16:creationId xmlns:a16="http://schemas.microsoft.com/office/drawing/2014/main" id="{A8A8C509-DED3-4E55-9F40-5C0E3BE1C843}"/>
              </a:ext>
            </a:extLst>
          </p:cNvPr>
          <p:cNvSpPr>
            <a:spLocks noGrp="1"/>
          </p:cNvSpPr>
          <p:nvPr/>
        </p:nvSpPr>
        <p:spPr>
          <a:xfrm>
            <a:off x="476250" y="24574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101">
            <a:extLst>
              <a:ext uri="{FF2B5EF4-FFF2-40B4-BE49-F238E27FC236}">
                <a16:creationId xmlns:a16="http://schemas.microsoft.com/office/drawing/2014/main" id="{BE68EF8A-9C41-4B7F-A210-BF920D3E463B}"/>
              </a:ext>
            </a:extLst>
          </p:cNvPr>
          <p:cNvSpPr>
            <a:spLocks noGrp="1"/>
          </p:cNvSpPr>
          <p:nvPr/>
        </p:nvSpPr>
        <p:spPr>
          <a:xfrm>
            <a:off x="495300" y="2486025"/>
            <a:ext cx="1219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10" name="content-102">
            <a:extLst>
              <a:ext uri="{FF2B5EF4-FFF2-40B4-BE49-F238E27FC236}">
                <a16:creationId xmlns:a16="http://schemas.microsoft.com/office/drawing/2014/main" id="{FE68EC15-009D-4C87-BAFD-7586A33B8F48}"/>
              </a:ext>
            </a:extLst>
          </p:cNvPr>
          <p:cNvSpPr>
            <a:spLocks noGrp="1"/>
          </p:cNvSpPr>
          <p:nvPr/>
        </p:nvSpPr>
        <p:spPr>
          <a:xfrm>
            <a:off x="1924050" y="2486025"/>
            <a:ext cx="653415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哪些应作为类，哪些应作为属性？请说明理由。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-103">
            <a:extLst>
              <a:ext uri="{FF2B5EF4-FFF2-40B4-BE49-F238E27FC236}">
                <a16:creationId xmlns:a16="http://schemas.microsoft.com/office/drawing/2014/main" id="{B5E9F20F-393A-4E0E-B072-F4CDB339393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类与属性的划分依据</a:t>
            </a:r>
          </a:p>
        </p:txBody>
      </p:sp>
      <p:sp>
        <p:nvSpPr>
          <p:cNvPr id="2" name="frame-104">
            <a:extLst>
              <a:ext uri="{FF2B5EF4-FFF2-40B4-BE49-F238E27FC236}">
                <a16:creationId xmlns:a16="http://schemas.microsoft.com/office/drawing/2014/main" id="{EE379A8B-07C4-4C91-9283-43264CD0CA3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05">
            <a:extLst>
              <a:ext uri="{FF2B5EF4-FFF2-40B4-BE49-F238E27FC236}">
                <a16:creationId xmlns:a16="http://schemas.microsoft.com/office/drawing/2014/main" id="{211994AE-8AB8-4225-945B-4885198E40F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727BE4B8-F3EA-4FE4-9F2F-1A63F650614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79B6AFDF-A597-4572-A8F9-9644780BF35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11 / 66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76250" y="1209675"/>
          <a:ext cx="8191500" cy="2857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内容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本例处理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业务理由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学生、开课班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分别作为类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需要区分对象，并持续建立联系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学生姓名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Student的属性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记录某名学生的一个文本值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开课班容量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CourseOffering的属性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记录某个班的容量值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-106">
            <a:extLst>
              <a:ext uri="{FF2B5EF4-FFF2-40B4-BE49-F238E27FC236}">
                <a16:creationId xmlns:a16="http://schemas.microsoft.com/office/drawing/2014/main" id="{6B9CB196-456E-453B-9CB5-763FD2332A84}"/>
              </a:ext>
            </a:extLst>
          </p:cNvPr>
          <p:cNvSpPr>
            <a:spLocks noGrp="1"/>
          </p:cNvSpPr>
          <p:nvPr/>
        </p:nvSpPr>
        <p:spPr>
          <a:xfrm>
            <a:off x="495300" y="4391025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本例划分依据：对象的身份、信息及其业务联系。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07">
            <a:extLst>
              <a:ext uri="{FF2B5EF4-FFF2-40B4-BE49-F238E27FC236}">
                <a16:creationId xmlns:a16="http://schemas.microsoft.com/office/drawing/2014/main" id="{DF3BB138-C345-420C-B89D-0E9BFDDEDDB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关联关系</a:t>
            </a:r>
          </a:p>
        </p:txBody>
      </p:sp>
      <p:sp>
        <p:nvSpPr>
          <p:cNvPr id="2" name="frame-108">
            <a:extLst>
              <a:ext uri="{FF2B5EF4-FFF2-40B4-BE49-F238E27FC236}">
                <a16:creationId xmlns:a16="http://schemas.microsoft.com/office/drawing/2014/main" id="{339D7089-8E55-45D2-868F-1C76EC5026A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09">
            <a:extLst>
              <a:ext uri="{FF2B5EF4-FFF2-40B4-BE49-F238E27FC236}">
                <a16:creationId xmlns:a16="http://schemas.microsoft.com/office/drawing/2014/main" id="{2F0C9A22-6FEA-47EC-8B1C-B26866C3EC08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853ACB32-B351-42F5-92FC-100C926ED72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6148F609-91AA-4EAB-B6DE-03FF7C156A5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12 / 66</a:t>
            </a:r>
          </a:p>
        </p:txBody>
      </p:sp>
      <p:sp>
        <p:nvSpPr>
          <p:cNvPr id="21" name="UML association box 21"/>
          <p:cNvSpPr/>
          <p:nvPr/>
        </p:nvSpPr>
        <p:spPr>
          <a:xfrm>
            <a:off x="2334578" y="2110283"/>
            <a:ext cx="116789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association label 22"/>
          <p:cNvSpPr/>
          <p:nvPr/>
        </p:nvSpPr>
        <p:spPr>
          <a:xfrm>
            <a:off x="2371177" y="2202542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3" name="UML association box 23"/>
          <p:cNvSpPr/>
          <p:nvPr/>
        </p:nvSpPr>
        <p:spPr>
          <a:xfrm>
            <a:off x="4613434" y="2110283"/>
            <a:ext cx="212588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4" name="UML association label 24"/>
          <p:cNvSpPr/>
          <p:nvPr/>
        </p:nvSpPr>
        <p:spPr>
          <a:xfrm>
            <a:off x="4650034" y="2202542"/>
            <a:ext cx="214452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84"/>
          </a:p>
        </p:txBody>
      </p:sp>
      <p:sp>
        <p:nvSpPr>
          <p:cNvPr id="25" name="UML association connection 25"/>
          <p:cNvSpPr/>
          <p:nvPr/>
        </p:nvSpPr>
        <p:spPr>
          <a:xfrm>
            <a:off x="3513851" y="2386508"/>
            <a:ext cx="1098050" cy="1381"/>
          </a:xfrm>
          <a:custGeom>
            <a:avLst/>
            <a:gdLst/>
            <a:ahLst/>
            <a:cxnLst/>
            <a:rect l="0" t="0" r="r" b="b"/>
            <a:pathLst>
              <a:path w="757276" h="952" fill="none" extrusionOk="0">
                <a:moveTo>
                  <a:pt x="0" y="0"/>
                </a:moveTo>
                <a:cubicBezTo>
                  <a:pt x="220018" y="0"/>
                  <a:pt x="500015" y="0"/>
                  <a:pt x="757276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6" name="UML association label 26"/>
          <p:cNvSpPr/>
          <p:nvPr/>
        </p:nvSpPr>
        <p:spPr>
          <a:xfrm>
            <a:off x="3779925" y="1994268"/>
            <a:ext cx="649129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选课</a:t>
            </a:r>
            <a:endParaRPr lang="zh-CN" sz="2175"/>
          </a:p>
        </p:txBody>
      </p:sp>
      <p:sp>
        <p:nvSpPr>
          <p:cNvPr id="7" name="content-110">
            <a:extLst>
              <a:ext uri="{FF2B5EF4-FFF2-40B4-BE49-F238E27FC236}">
                <a16:creationId xmlns:a16="http://schemas.microsoft.com/office/drawing/2014/main" id="{F682B1B2-8FED-43D4-A6B2-13DA056CC1A8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Student是学生，CourseOffering是具体开课班。</a:t>
            </a:r>
          </a:p>
        </p:txBody>
      </p:sp>
      <p:sp>
        <p:nvSpPr>
          <p:cNvPr id="8" name="content-111">
            <a:extLst>
              <a:ext uri="{FF2B5EF4-FFF2-40B4-BE49-F238E27FC236}">
                <a16:creationId xmlns:a16="http://schemas.microsoft.com/office/drawing/2014/main" id="{206024E7-9DA1-40B8-8322-29CB75039A9D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沿线读：“某个学生选入某个开课班”。</a:t>
            </a:r>
          </a:p>
        </p:txBody>
      </p:sp>
      <p:sp>
        <p:nvSpPr>
          <p:cNvPr id="9" name="content-112">
            <a:extLst>
              <a:ext uri="{FF2B5EF4-FFF2-40B4-BE49-F238E27FC236}">
                <a16:creationId xmlns:a16="http://schemas.microsoft.com/office/drawing/2014/main" id="{9A17087D-C063-454A-B843-62D36E934ECA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这条线表示业务联系，还是两个执行步骤的先后？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13">
            <a:extLst>
              <a:ext uri="{FF2B5EF4-FFF2-40B4-BE49-F238E27FC236}">
                <a16:creationId xmlns:a16="http://schemas.microsoft.com/office/drawing/2014/main" id="{C9ADAA30-9CB4-46A1-BC6D-53E36EFFC13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关联的多重性</a:t>
            </a:r>
          </a:p>
        </p:txBody>
      </p:sp>
      <p:sp>
        <p:nvSpPr>
          <p:cNvPr id="2" name="frame-114">
            <a:extLst>
              <a:ext uri="{FF2B5EF4-FFF2-40B4-BE49-F238E27FC236}">
                <a16:creationId xmlns:a16="http://schemas.microsoft.com/office/drawing/2014/main" id="{36BA698C-B797-4238-988D-2874AB78820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15">
            <a:extLst>
              <a:ext uri="{FF2B5EF4-FFF2-40B4-BE49-F238E27FC236}">
                <a16:creationId xmlns:a16="http://schemas.microsoft.com/office/drawing/2014/main" id="{C4F70C8B-7EC8-4355-91A4-DC2490702FC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4AD51199-26F4-4BBA-B1AE-61210CCBAB1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BCA0429A-C79A-4B10-B642-36C01F02495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13 / 66</a:t>
            </a:r>
          </a:p>
        </p:txBody>
      </p:sp>
      <p:sp>
        <p:nvSpPr>
          <p:cNvPr id="19" name="UML oneend box 19"/>
          <p:cNvSpPr/>
          <p:nvPr/>
        </p:nvSpPr>
        <p:spPr>
          <a:xfrm>
            <a:off x="1809750" y="2041227"/>
            <a:ext cx="116789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0" name="UML oneend label 20"/>
          <p:cNvSpPr/>
          <p:nvPr/>
        </p:nvSpPr>
        <p:spPr>
          <a:xfrm>
            <a:off x="1846350" y="2133486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1" name="UML oneend box 21"/>
          <p:cNvSpPr/>
          <p:nvPr/>
        </p:nvSpPr>
        <p:spPr>
          <a:xfrm>
            <a:off x="5138261" y="2041227"/>
            <a:ext cx="212588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oneend label 22"/>
          <p:cNvSpPr/>
          <p:nvPr/>
        </p:nvSpPr>
        <p:spPr>
          <a:xfrm>
            <a:off x="5174861" y="2133486"/>
            <a:ext cx="214452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84"/>
          </a:p>
        </p:txBody>
      </p:sp>
      <p:sp>
        <p:nvSpPr>
          <p:cNvPr id="23" name="UML oneend connection 23"/>
          <p:cNvSpPr/>
          <p:nvPr/>
        </p:nvSpPr>
        <p:spPr>
          <a:xfrm>
            <a:off x="2984245" y="2317452"/>
            <a:ext cx="2152249" cy="1381"/>
          </a:xfrm>
          <a:custGeom>
            <a:avLst/>
            <a:gdLst/>
            <a:ahLst/>
            <a:cxnLst/>
            <a:rect l="0" t="0" r="r" b="b"/>
            <a:pathLst>
              <a:path w="1484309" h="952" fill="none" extrusionOk="0">
                <a:moveTo>
                  <a:pt x="0" y="0"/>
                </a:moveTo>
                <a:cubicBezTo>
                  <a:pt x="392849" y="0"/>
                  <a:pt x="1004192" y="0"/>
                  <a:pt x="1484309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oneend label 24"/>
          <p:cNvSpPr/>
          <p:nvPr/>
        </p:nvSpPr>
        <p:spPr>
          <a:xfrm>
            <a:off x="3779925" y="1925212"/>
            <a:ext cx="649129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选课</a:t>
            </a:r>
            <a:endParaRPr lang="zh-CN" sz="2175"/>
          </a:p>
        </p:txBody>
      </p:sp>
      <p:sp>
        <p:nvSpPr>
          <p:cNvPr id="25" name="UML oneend label 25"/>
          <p:cNvSpPr/>
          <p:nvPr/>
        </p:nvSpPr>
        <p:spPr>
          <a:xfrm>
            <a:off x="4689699" y="2353361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26" name="UML oneend label 26"/>
          <p:cNvSpPr/>
          <p:nvPr/>
        </p:nvSpPr>
        <p:spPr>
          <a:xfrm>
            <a:off x="2993222" y="2353361"/>
            <a:ext cx="372904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?</a:t>
            </a:r>
            <a:endParaRPr lang="zh-CN" sz="2175"/>
          </a:p>
        </p:txBody>
      </p:sp>
      <p:sp>
        <p:nvSpPr>
          <p:cNvPr id="7" name="content-116">
            <a:extLst>
              <a:ext uri="{FF2B5EF4-FFF2-40B4-BE49-F238E27FC236}">
                <a16:creationId xmlns:a16="http://schemas.microsoft.com/office/drawing/2014/main" id="{58F66E1B-1D58-4941-9203-7923C6ADA777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对一名学生，可以选入0到多个开课班。</a:t>
            </a:r>
          </a:p>
        </p:txBody>
      </p:sp>
      <p:sp>
        <p:nvSpPr>
          <p:cNvPr id="8" name="content-117">
            <a:extLst>
              <a:ext uri="{FF2B5EF4-FFF2-40B4-BE49-F238E27FC236}">
                <a16:creationId xmlns:a16="http://schemas.microsoft.com/office/drawing/2014/main" id="{8A83FE4B-60CB-4567-940F-64E0DCED383C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0表示可以尚未选课，*表示未指定固定上界。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18">
            <a:extLst>
              <a:ext uri="{FF2B5EF4-FFF2-40B4-BE49-F238E27FC236}">
                <a16:creationId xmlns:a16="http://schemas.microsoft.com/office/drawing/2014/main" id="{C051B54C-AE41-4B9D-93A6-A984D4119C4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练习：开课班对应的学生数量</a:t>
            </a:r>
          </a:p>
        </p:txBody>
      </p:sp>
      <p:sp>
        <p:nvSpPr>
          <p:cNvPr id="2" name="frame-119">
            <a:extLst>
              <a:ext uri="{FF2B5EF4-FFF2-40B4-BE49-F238E27FC236}">
                <a16:creationId xmlns:a16="http://schemas.microsoft.com/office/drawing/2014/main" id="{8841F4F3-D1EB-42FE-AA02-9737F76012C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20">
            <a:extLst>
              <a:ext uri="{FF2B5EF4-FFF2-40B4-BE49-F238E27FC236}">
                <a16:creationId xmlns:a16="http://schemas.microsoft.com/office/drawing/2014/main" id="{06F6949B-46EC-481B-B548-A4AE5A0A3A8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75C3FC33-71AE-48D3-90D0-D023E6661F7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070FF645-E603-48D9-9AE3-5078512A408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14 / 66</a:t>
            </a:r>
          </a:p>
        </p:txBody>
      </p:sp>
      <p:sp>
        <p:nvSpPr>
          <p:cNvPr id="19" name="UML oneend box 19"/>
          <p:cNvSpPr/>
          <p:nvPr/>
        </p:nvSpPr>
        <p:spPr>
          <a:xfrm>
            <a:off x="1809750" y="2041227"/>
            <a:ext cx="116789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0" name="UML oneend label 20"/>
          <p:cNvSpPr/>
          <p:nvPr/>
        </p:nvSpPr>
        <p:spPr>
          <a:xfrm>
            <a:off x="1846350" y="2133486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1" name="UML oneend box 21"/>
          <p:cNvSpPr/>
          <p:nvPr/>
        </p:nvSpPr>
        <p:spPr>
          <a:xfrm>
            <a:off x="5138261" y="2041227"/>
            <a:ext cx="212588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oneend label 22"/>
          <p:cNvSpPr/>
          <p:nvPr/>
        </p:nvSpPr>
        <p:spPr>
          <a:xfrm>
            <a:off x="5174861" y="2133486"/>
            <a:ext cx="214452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84"/>
          </a:p>
        </p:txBody>
      </p:sp>
      <p:sp>
        <p:nvSpPr>
          <p:cNvPr id="23" name="UML oneend connection 23"/>
          <p:cNvSpPr/>
          <p:nvPr/>
        </p:nvSpPr>
        <p:spPr>
          <a:xfrm>
            <a:off x="2984245" y="2317452"/>
            <a:ext cx="2152249" cy="1381"/>
          </a:xfrm>
          <a:custGeom>
            <a:avLst/>
            <a:gdLst/>
            <a:ahLst/>
            <a:cxnLst/>
            <a:rect l="0" t="0" r="r" b="b"/>
            <a:pathLst>
              <a:path w="1484309" h="952" fill="none" extrusionOk="0">
                <a:moveTo>
                  <a:pt x="0" y="0"/>
                </a:moveTo>
                <a:cubicBezTo>
                  <a:pt x="392849" y="0"/>
                  <a:pt x="1004192" y="0"/>
                  <a:pt x="1484309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oneend label 24"/>
          <p:cNvSpPr/>
          <p:nvPr/>
        </p:nvSpPr>
        <p:spPr>
          <a:xfrm>
            <a:off x="3779925" y="1925212"/>
            <a:ext cx="649129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选课</a:t>
            </a:r>
            <a:endParaRPr lang="zh-CN" sz="2175"/>
          </a:p>
        </p:txBody>
      </p:sp>
      <p:sp>
        <p:nvSpPr>
          <p:cNvPr id="25" name="UML oneend label 25"/>
          <p:cNvSpPr/>
          <p:nvPr/>
        </p:nvSpPr>
        <p:spPr>
          <a:xfrm>
            <a:off x="4689699" y="2353361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26" name="UML oneend label 26"/>
          <p:cNvSpPr/>
          <p:nvPr/>
        </p:nvSpPr>
        <p:spPr>
          <a:xfrm>
            <a:off x="2993222" y="2353361"/>
            <a:ext cx="372904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?</a:t>
            </a:r>
            <a:endParaRPr lang="zh-CN" sz="2175"/>
          </a:p>
        </p:txBody>
      </p:sp>
      <p:sp>
        <p:nvSpPr>
          <p:cNvPr id="7" name="content-121">
            <a:extLst>
              <a:ext uri="{FF2B5EF4-FFF2-40B4-BE49-F238E27FC236}">
                <a16:creationId xmlns:a16="http://schemas.microsoft.com/office/drawing/2014/main" id="{E6CC4C22-749A-4DDB-B6C3-338ED473D930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一个开课班可以关联多少名学生？</a:t>
            </a:r>
          </a:p>
        </p:txBody>
      </p:sp>
      <p:sp>
        <p:nvSpPr>
          <p:cNvPr id="8" name="content-122">
            <a:extLst>
              <a:ext uri="{FF2B5EF4-FFF2-40B4-BE49-F238E27FC236}">
                <a16:creationId xmlns:a16="http://schemas.microsoft.com/office/drawing/2014/main" id="{C3319FEE-3309-4AD8-8C02-6E771DB4B857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在学生端填写多重性，并说明其业务含义。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23">
            <a:extLst>
              <a:ext uri="{FF2B5EF4-FFF2-40B4-BE49-F238E27FC236}">
                <a16:creationId xmlns:a16="http://schemas.microsoft.com/office/drawing/2014/main" id="{3E479263-1235-4B9D-8932-0BEE30FD64B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多重性的双向含义</a:t>
            </a:r>
          </a:p>
        </p:txBody>
      </p:sp>
      <p:sp>
        <p:nvSpPr>
          <p:cNvPr id="2" name="frame-124">
            <a:extLst>
              <a:ext uri="{FF2B5EF4-FFF2-40B4-BE49-F238E27FC236}">
                <a16:creationId xmlns:a16="http://schemas.microsoft.com/office/drawing/2014/main" id="{3675A474-0EAC-403F-ACF2-589BC20CB03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25">
            <a:extLst>
              <a:ext uri="{FF2B5EF4-FFF2-40B4-BE49-F238E27FC236}">
                <a16:creationId xmlns:a16="http://schemas.microsoft.com/office/drawing/2014/main" id="{3D982280-E756-46BB-ADA5-7B4825EC2EE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93E84BE4-6C6B-4125-85DE-A6AD77D5789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B0DD511F-EEEA-4E23-8662-011963A84D20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15 / 66</a:t>
            </a:r>
          </a:p>
        </p:txBody>
      </p:sp>
      <p:sp>
        <p:nvSpPr>
          <p:cNvPr id="21" name="UML multiplicity box 21"/>
          <p:cNvSpPr/>
          <p:nvPr/>
        </p:nvSpPr>
        <p:spPr>
          <a:xfrm>
            <a:off x="2334578" y="2041227"/>
            <a:ext cx="116789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multiplicity label 22"/>
          <p:cNvSpPr/>
          <p:nvPr/>
        </p:nvSpPr>
        <p:spPr>
          <a:xfrm>
            <a:off x="2371177" y="2133486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3" name="UML multiplicity box 23"/>
          <p:cNvSpPr/>
          <p:nvPr/>
        </p:nvSpPr>
        <p:spPr>
          <a:xfrm>
            <a:off x="4613434" y="2041227"/>
            <a:ext cx="212588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4" name="UML multiplicity label 24"/>
          <p:cNvSpPr/>
          <p:nvPr/>
        </p:nvSpPr>
        <p:spPr>
          <a:xfrm>
            <a:off x="4650034" y="2133486"/>
            <a:ext cx="214452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84"/>
          </a:p>
        </p:txBody>
      </p:sp>
      <p:sp>
        <p:nvSpPr>
          <p:cNvPr id="25" name="UML multiplicity connection 25"/>
          <p:cNvSpPr/>
          <p:nvPr/>
        </p:nvSpPr>
        <p:spPr>
          <a:xfrm>
            <a:off x="3513851" y="2317452"/>
            <a:ext cx="1098050" cy="1381"/>
          </a:xfrm>
          <a:custGeom>
            <a:avLst/>
            <a:gdLst/>
            <a:ahLst/>
            <a:cxnLst/>
            <a:rect l="0" t="0" r="r" b="b"/>
            <a:pathLst>
              <a:path w="757276" h="952" fill="none" extrusionOk="0">
                <a:moveTo>
                  <a:pt x="0" y="0"/>
                </a:moveTo>
                <a:cubicBezTo>
                  <a:pt x="220018" y="0"/>
                  <a:pt x="500015" y="0"/>
                  <a:pt x="757276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6" name="UML multiplicity label 26"/>
          <p:cNvSpPr/>
          <p:nvPr/>
        </p:nvSpPr>
        <p:spPr>
          <a:xfrm>
            <a:off x="3779925" y="1925212"/>
            <a:ext cx="649129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选课</a:t>
            </a:r>
            <a:endParaRPr lang="zh-CN" sz="2175"/>
          </a:p>
        </p:txBody>
      </p:sp>
      <p:sp>
        <p:nvSpPr>
          <p:cNvPr id="27" name="UML multiplicity label 27"/>
          <p:cNvSpPr/>
          <p:nvPr/>
        </p:nvSpPr>
        <p:spPr>
          <a:xfrm>
            <a:off x="4165107" y="2353361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28" name="UML multiplicity label 28"/>
          <p:cNvSpPr/>
          <p:nvPr/>
        </p:nvSpPr>
        <p:spPr>
          <a:xfrm>
            <a:off x="3522828" y="2353361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7" name="content-126">
            <a:extLst>
              <a:ext uri="{FF2B5EF4-FFF2-40B4-BE49-F238E27FC236}">
                <a16:creationId xmlns:a16="http://schemas.microsoft.com/office/drawing/2014/main" id="{6E23A360-7D71-4E28-A444-2C54A181410A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对一名学生，可以关联0到多个开课班。</a:t>
            </a:r>
          </a:p>
        </p:txBody>
      </p:sp>
      <p:sp>
        <p:nvSpPr>
          <p:cNvPr id="8" name="content-127">
            <a:extLst>
              <a:ext uri="{FF2B5EF4-FFF2-40B4-BE49-F238E27FC236}">
                <a16:creationId xmlns:a16="http://schemas.microsoft.com/office/drawing/2014/main" id="{C100BAA6-7D67-4F81-B8CC-8F116CE499AF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对一个开课班，可以关联0到多名学生。</a:t>
            </a:r>
          </a:p>
        </p:txBody>
      </p:sp>
      <p:sp>
        <p:nvSpPr>
          <p:cNvPr id="9" name="content-128">
            <a:extLst>
              <a:ext uri="{FF2B5EF4-FFF2-40B4-BE49-F238E27FC236}">
                <a16:creationId xmlns:a16="http://schemas.microsoft.com/office/drawing/2014/main" id="{5BA5F3ED-164A-4EC0-BD35-8AE35A3A1331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若把学生端改为1，哪些原本允许的情形会被排除？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29">
            <a:extLst>
              <a:ext uri="{FF2B5EF4-FFF2-40B4-BE49-F238E27FC236}">
                <a16:creationId xmlns:a16="http://schemas.microsoft.com/office/drawing/2014/main" id="{E3B09C87-77ED-4477-AAEE-11FA128FCEE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成绩属性应属于哪个类？</a:t>
            </a:r>
          </a:p>
        </p:txBody>
      </p:sp>
      <p:sp>
        <p:nvSpPr>
          <p:cNvPr id="2" name="frame-130">
            <a:extLst>
              <a:ext uri="{FF2B5EF4-FFF2-40B4-BE49-F238E27FC236}">
                <a16:creationId xmlns:a16="http://schemas.microsoft.com/office/drawing/2014/main" id="{6E82FC7A-4753-45D1-B39F-5899DFCD219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31">
            <a:extLst>
              <a:ext uri="{FF2B5EF4-FFF2-40B4-BE49-F238E27FC236}">
                <a16:creationId xmlns:a16="http://schemas.microsoft.com/office/drawing/2014/main" id="{85181BD4-13D8-407D-BB1B-7AA41D8C706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CA869D6B-1B30-47AB-B4B7-F1BD1D92697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6AC96822-D459-44A0-8F8F-B079D88FC37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16 / 66</a:t>
            </a:r>
          </a:p>
        </p:txBody>
      </p:sp>
      <p:sp>
        <p:nvSpPr>
          <p:cNvPr id="19" name="UML wronggrade box 19"/>
          <p:cNvSpPr/>
          <p:nvPr/>
        </p:nvSpPr>
        <p:spPr>
          <a:xfrm>
            <a:off x="1809750" y="1823561"/>
            <a:ext cx="1167893" cy="1088547"/>
          </a:xfrm>
          <a:prstGeom prst="rect">
            <a:avLst/>
          </a:prstGeom>
          <a:solidFill>
            <a:srgbClr val="F5E4E7"/>
          </a:solidFill>
          <a:ln w="13811">
            <a:solidFill>
              <a:srgbClr val="1F2A44"/>
            </a:solidFill>
          </a:ln>
        </p:spPr>
      </p:sp>
      <p:sp>
        <p:nvSpPr>
          <p:cNvPr id="20" name="UML wronggrade label 20"/>
          <p:cNvSpPr/>
          <p:nvPr/>
        </p:nvSpPr>
        <p:spPr>
          <a:xfrm>
            <a:off x="1846350" y="1915820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1" name="UML wronggrade divider 21"/>
          <p:cNvSpPr/>
          <p:nvPr/>
        </p:nvSpPr>
        <p:spPr>
          <a:xfrm>
            <a:off x="1823561" y="2381646"/>
            <a:ext cx="1140271" cy="1381"/>
          </a:xfrm>
          <a:custGeom>
            <a:avLst/>
            <a:gdLst/>
            <a:ahLst/>
            <a:cxnLst/>
            <a:rect l="0" t="0" r="r" b="b"/>
            <a:pathLst>
              <a:path w="786394" h="952" fill="none" extrusionOk="0">
                <a:moveTo>
                  <a:pt x="0" y="0"/>
                </a:moveTo>
                <a:lnTo>
                  <a:pt x="786394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2" name="UML wronggrade label 22"/>
          <p:cNvSpPr/>
          <p:nvPr/>
        </p:nvSpPr>
        <p:spPr>
          <a:xfrm>
            <a:off x="1887784" y="2460094"/>
            <a:ext cx="881420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grade</a:t>
            </a:r>
            <a:endParaRPr lang="zh-CN" sz="2284"/>
          </a:p>
        </p:txBody>
      </p:sp>
      <p:sp>
        <p:nvSpPr>
          <p:cNvPr id="23" name="UML wronggrade box 23"/>
          <p:cNvSpPr/>
          <p:nvPr/>
        </p:nvSpPr>
        <p:spPr>
          <a:xfrm>
            <a:off x="5138261" y="2092881"/>
            <a:ext cx="212588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4" name="UML wronggrade label 24"/>
          <p:cNvSpPr/>
          <p:nvPr/>
        </p:nvSpPr>
        <p:spPr>
          <a:xfrm>
            <a:off x="5174861" y="2185140"/>
            <a:ext cx="214452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84"/>
          </a:p>
        </p:txBody>
      </p:sp>
      <p:sp>
        <p:nvSpPr>
          <p:cNvPr id="25" name="UML wronggrade connection 25"/>
          <p:cNvSpPr/>
          <p:nvPr/>
        </p:nvSpPr>
        <p:spPr>
          <a:xfrm>
            <a:off x="2984245" y="2369106"/>
            <a:ext cx="2152249" cy="1381"/>
          </a:xfrm>
          <a:custGeom>
            <a:avLst/>
            <a:gdLst/>
            <a:ahLst/>
            <a:cxnLst/>
            <a:rect l="0" t="0" r="r" b="b"/>
            <a:pathLst>
              <a:path w="1484309" h="952" fill="none" extrusionOk="0">
                <a:moveTo>
                  <a:pt x="0" y="0"/>
                </a:moveTo>
                <a:cubicBezTo>
                  <a:pt x="392849" y="0"/>
                  <a:pt x="1004192" y="0"/>
                  <a:pt x="1484309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6" name="UML wronggrade label 26"/>
          <p:cNvSpPr/>
          <p:nvPr/>
        </p:nvSpPr>
        <p:spPr>
          <a:xfrm>
            <a:off x="3779925" y="1976866"/>
            <a:ext cx="649129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选课</a:t>
            </a:r>
            <a:endParaRPr lang="zh-CN" sz="2175"/>
          </a:p>
        </p:txBody>
      </p:sp>
      <p:sp>
        <p:nvSpPr>
          <p:cNvPr id="27" name="UML wronggrade label 27"/>
          <p:cNvSpPr/>
          <p:nvPr/>
        </p:nvSpPr>
        <p:spPr>
          <a:xfrm>
            <a:off x="4689699" y="2405015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28" name="UML wronggrade label 28"/>
          <p:cNvSpPr/>
          <p:nvPr/>
        </p:nvSpPr>
        <p:spPr>
          <a:xfrm>
            <a:off x="2993222" y="2405015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7" name="content-132">
            <a:extLst>
              <a:ext uri="{FF2B5EF4-FFF2-40B4-BE49-F238E27FC236}">
                <a16:creationId xmlns:a16="http://schemas.microsoft.com/office/drawing/2014/main" id="{77C943E0-F7E8-4F6D-8F80-43EC77C7F3E6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待检验模型：Student中只有一个grade（成绩）值。</a:t>
            </a:r>
          </a:p>
        </p:txBody>
      </p:sp>
      <p:sp>
        <p:nvSpPr>
          <p:cNvPr id="8" name="content-133">
            <a:extLst>
              <a:ext uri="{FF2B5EF4-FFF2-40B4-BE49-F238E27FC236}">
                <a16:creationId xmlns:a16="http://schemas.microsoft.com/office/drawing/2014/main" id="{308A9AC0-C121-481D-BC29-33789A30169C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S01的软件工程90分，高等数学85分，应如何表达？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34">
            <a:extLst>
              <a:ext uri="{FF2B5EF4-FFF2-40B4-BE49-F238E27FC236}">
                <a16:creationId xmlns:a16="http://schemas.microsoft.com/office/drawing/2014/main" id="{21D1B766-96AD-4418-B5E8-248CC3FA35B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选课记录及其信息</a:t>
            </a:r>
          </a:p>
        </p:txBody>
      </p:sp>
      <p:sp>
        <p:nvSpPr>
          <p:cNvPr id="2" name="frame-135">
            <a:extLst>
              <a:ext uri="{FF2B5EF4-FFF2-40B4-BE49-F238E27FC236}">
                <a16:creationId xmlns:a16="http://schemas.microsoft.com/office/drawing/2014/main" id="{F4D8BBD2-5408-4283-80EC-BC61E0A7456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36">
            <a:extLst>
              <a:ext uri="{FF2B5EF4-FFF2-40B4-BE49-F238E27FC236}">
                <a16:creationId xmlns:a16="http://schemas.microsoft.com/office/drawing/2014/main" id="{A7109DD8-AB30-434B-B074-3F3F4680E1A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7EE0D879-6B44-46D4-B34E-9C1D58D139E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FBF6EBF5-1045-4F46-A867-F4889324D800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17 / 66</a:t>
            </a:r>
          </a:p>
        </p:txBody>
      </p:sp>
      <p:sp>
        <p:nvSpPr>
          <p:cNvPr id="21" name="UML recordbare box 21"/>
          <p:cNvSpPr/>
          <p:nvPr/>
        </p:nvSpPr>
        <p:spPr>
          <a:xfrm>
            <a:off x="671813" y="2099946"/>
            <a:ext cx="1137254" cy="543444"/>
          </a:xfrm>
          <a:prstGeom prst="rect">
            <a:avLst/>
          </a:prstGeom>
          <a:solidFill>
            <a:srgbClr val="FFFFFF"/>
          </a:solidFill>
          <a:ln w="13449">
            <a:solidFill>
              <a:srgbClr val="1F2A44"/>
            </a:solidFill>
          </a:ln>
        </p:spPr>
      </p:sp>
      <p:sp>
        <p:nvSpPr>
          <p:cNvPr id="22" name="UML recordbare label 22"/>
          <p:cNvSpPr/>
          <p:nvPr/>
        </p:nvSpPr>
        <p:spPr>
          <a:xfrm>
            <a:off x="707453" y="2189785"/>
            <a:ext cx="1155410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24"/>
          </a:p>
        </p:txBody>
      </p:sp>
      <p:sp>
        <p:nvSpPr>
          <p:cNvPr id="23" name="UML recordbare box 23"/>
          <p:cNvSpPr/>
          <p:nvPr/>
        </p:nvSpPr>
        <p:spPr>
          <a:xfrm>
            <a:off x="3294353" y="1837692"/>
            <a:ext cx="1557224" cy="1059990"/>
          </a:xfrm>
          <a:prstGeom prst="rect">
            <a:avLst/>
          </a:prstGeom>
          <a:solidFill>
            <a:srgbClr val="F5E4E7"/>
          </a:solidFill>
          <a:ln w="13449">
            <a:solidFill>
              <a:srgbClr val="1F2A44"/>
            </a:solidFill>
          </a:ln>
        </p:spPr>
      </p:sp>
      <p:sp>
        <p:nvSpPr>
          <p:cNvPr id="24" name="UML recordbare label 24"/>
          <p:cNvSpPr/>
          <p:nvPr/>
        </p:nvSpPr>
        <p:spPr>
          <a:xfrm>
            <a:off x="3329992" y="1927531"/>
            <a:ext cx="1575380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2224"/>
          </a:p>
        </p:txBody>
      </p:sp>
      <p:sp>
        <p:nvSpPr>
          <p:cNvPr id="25" name="UML recordbare divider 25"/>
          <p:cNvSpPr/>
          <p:nvPr/>
        </p:nvSpPr>
        <p:spPr>
          <a:xfrm>
            <a:off x="3307801" y="2381136"/>
            <a:ext cx="1530326" cy="1345"/>
          </a:xfrm>
          <a:custGeom>
            <a:avLst/>
            <a:gdLst/>
            <a:ahLst/>
            <a:cxnLst/>
            <a:rect l="0" t="0" r="r" b="b"/>
            <a:pathLst>
              <a:path w="1083831" h="952" fill="none" extrusionOk="0">
                <a:moveTo>
                  <a:pt x="0" y="0"/>
                </a:moveTo>
                <a:lnTo>
                  <a:pt x="1083831" y="0"/>
                </a:ln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26" name="UML recordbare label 26"/>
          <p:cNvSpPr/>
          <p:nvPr/>
        </p:nvSpPr>
        <p:spPr>
          <a:xfrm>
            <a:off x="3370339" y="2457526"/>
            <a:ext cx="858297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000000"/>
                </a:solidFill>
                <a:latin typeface="Noto Sans SC"/>
                <a:ea typeface="Noto Sans SC"/>
              </a:rPr>
              <a:t>grade</a:t>
            </a:r>
            <a:endParaRPr lang="zh-CN" sz="2224"/>
          </a:p>
        </p:txBody>
      </p:sp>
      <p:sp>
        <p:nvSpPr>
          <p:cNvPr id="27" name="UML recordbare box 27"/>
          <p:cNvSpPr/>
          <p:nvPr/>
        </p:nvSpPr>
        <p:spPr>
          <a:xfrm>
            <a:off x="6333809" y="2099946"/>
            <a:ext cx="2070112" cy="543444"/>
          </a:xfrm>
          <a:prstGeom prst="rect">
            <a:avLst/>
          </a:prstGeom>
          <a:solidFill>
            <a:srgbClr val="FFFFFF"/>
          </a:solidFill>
          <a:ln w="13449">
            <a:solidFill>
              <a:srgbClr val="1F2A44"/>
            </a:solidFill>
          </a:ln>
        </p:spPr>
      </p:sp>
      <p:sp>
        <p:nvSpPr>
          <p:cNvPr id="28" name="UML recordbare label 28"/>
          <p:cNvSpPr/>
          <p:nvPr/>
        </p:nvSpPr>
        <p:spPr>
          <a:xfrm>
            <a:off x="6369448" y="2189785"/>
            <a:ext cx="2088268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24"/>
          </a:p>
        </p:txBody>
      </p:sp>
      <p:sp>
        <p:nvSpPr>
          <p:cNvPr id="29" name="UML recordbare connection 29"/>
          <p:cNvSpPr/>
          <p:nvPr/>
        </p:nvSpPr>
        <p:spPr>
          <a:xfrm>
            <a:off x="1817554" y="2368924"/>
            <a:ext cx="1476530" cy="1345"/>
          </a:xfrm>
          <a:custGeom>
            <a:avLst/>
            <a:gdLst/>
            <a:ahLst/>
            <a:cxnLst/>
            <a:rect l="0" t="0" r="r" b="b"/>
            <a:pathLst>
              <a:path w="1045731" h="952" fill="none" extrusionOk="0">
                <a:moveTo>
                  <a:pt x="0" y="0"/>
                </a:moveTo>
                <a:cubicBezTo>
                  <a:pt x="299961" y="0"/>
                  <a:pt x="715051" y="0"/>
                  <a:pt x="1045731" y="0"/>
                </a:cubicBez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30" name="UML recordbare connection 30"/>
          <p:cNvSpPr/>
          <p:nvPr/>
        </p:nvSpPr>
        <p:spPr>
          <a:xfrm>
            <a:off x="4858193" y="2368924"/>
            <a:ext cx="1472697" cy="1345"/>
          </a:xfrm>
          <a:custGeom>
            <a:avLst/>
            <a:gdLst/>
            <a:ahLst/>
            <a:cxnLst/>
            <a:rect l="0" t="0" r="r" b="b"/>
            <a:pathLst>
              <a:path w="1043016" h="952" fill="none" extrusionOk="0">
                <a:moveTo>
                  <a:pt x="0" y="0"/>
                </a:moveTo>
                <a:cubicBezTo>
                  <a:pt x="311401" y="0"/>
                  <a:pt x="705736" y="0"/>
                  <a:pt x="1043016" y="0"/>
                </a:cubicBez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7" name="content-137">
            <a:extLst>
              <a:ext uri="{FF2B5EF4-FFF2-40B4-BE49-F238E27FC236}">
                <a16:creationId xmlns:a16="http://schemas.microsoft.com/office/drawing/2014/main" id="{4299F11B-027D-4CE2-A780-AC2EA82E8AC8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Enrollment表示一条选课记录，grade属于这条记录。</a:t>
            </a:r>
          </a:p>
        </p:txBody>
      </p:sp>
      <p:sp>
        <p:nvSpPr>
          <p:cNvPr id="8" name="content-138">
            <a:extLst>
              <a:ext uri="{FF2B5EF4-FFF2-40B4-BE49-F238E27FC236}">
                <a16:creationId xmlns:a16="http://schemas.microsoft.com/office/drawing/2014/main" id="{AAE85E58-C372-485F-891D-0C20D144C229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R3：每条记录恰好关联一名学生和一个开课班。</a:t>
            </a:r>
          </a:p>
        </p:txBody>
      </p:sp>
      <p:sp>
        <p:nvSpPr>
          <p:cNvPr id="9" name="content-139">
            <a:extLst>
              <a:ext uri="{FF2B5EF4-FFF2-40B4-BE49-F238E27FC236}">
                <a16:creationId xmlns:a16="http://schemas.microsoft.com/office/drawing/2014/main" id="{37C6BA34-AE88-4BFE-8241-195702999DAA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成绩描述某名学生在某个开课班的学习结果。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40">
            <a:extLst>
              <a:ext uri="{FF2B5EF4-FFF2-40B4-BE49-F238E27FC236}">
                <a16:creationId xmlns:a16="http://schemas.microsoft.com/office/drawing/2014/main" id="{E3F1D686-D4A5-482D-ACE1-E69405EC135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练习：选课记录的多重性</a:t>
            </a:r>
          </a:p>
        </p:txBody>
      </p:sp>
      <p:sp>
        <p:nvSpPr>
          <p:cNvPr id="2" name="frame-141">
            <a:extLst>
              <a:ext uri="{FF2B5EF4-FFF2-40B4-BE49-F238E27FC236}">
                <a16:creationId xmlns:a16="http://schemas.microsoft.com/office/drawing/2014/main" id="{447A3E21-177F-45F9-82F4-2C3AD0A0B8B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42">
            <a:extLst>
              <a:ext uri="{FF2B5EF4-FFF2-40B4-BE49-F238E27FC236}">
                <a16:creationId xmlns:a16="http://schemas.microsoft.com/office/drawing/2014/main" id="{C7568D9F-2EFE-4C01-B148-17838400248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DBE7E983-4AAA-4CA7-A50C-12AD737A4C7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EB94399E-60F1-4A45-801B-9B345525E39C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18 / 66</a:t>
            </a:r>
          </a:p>
        </p:txBody>
      </p:sp>
      <p:sp>
        <p:nvSpPr>
          <p:cNvPr id="21" name="UML recordquiz box 21"/>
          <p:cNvSpPr/>
          <p:nvPr/>
        </p:nvSpPr>
        <p:spPr>
          <a:xfrm>
            <a:off x="671813" y="2099946"/>
            <a:ext cx="1137254" cy="543444"/>
          </a:xfrm>
          <a:prstGeom prst="rect">
            <a:avLst/>
          </a:prstGeom>
          <a:solidFill>
            <a:srgbClr val="FFFFFF"/>
          </a:solidFill>
          <a:ln w="13449">
            <a:solidFill>
              <a:srgbClr val="1F2A44"/>
            </a:solidFill>
          </a:ln>
        </p:spPr>
      </p:sp>
      <p:sp>
        <p:nvSpPr>
          <p:cNvPr id="22" name="UML recordquiz label 22"/>
          <p:cNvSpPr/>
          <p:nvPr/>
        </p:nvSpPr>
        <p:spPr>
          <a:xfrm>
            <a:off x="707453" y="2189785"/>
            <a:ext cx="1155410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24"/>
          </a:p>
        </p:txBody>
      </p:sp>
      <p:sp>
        <p:nvSpPr>
          <p:cNvPr id="23" name="UML recordquiz box 23"/>
          <p:cNvSpPr/>
          <p:nvPr/>
        </p:nvSpPr>
        <p:spPr>
          <a:xfrm>
            <a:off x="3294353" y="1837692"/>
            <a:ext cx="1557224" cy="1059990"/>
          </a:xfrm>
          <a:prstGeom prst="rect">
            <a:avLst/>
          </a:prstGeom>
          <a:solidFill>
            <a:srgbClr val="F5E4E7"/>
          </a:solidFill>
          <a:ln w="13449">
            <a:solidFill>
              <a:srgbClr val="1F2A44"/>
            </a:solidFill>
          </a:ln>
        </p:spPr>
      </p:sp>
      <p:sp>
        <p:nvSpPr>
          <p:cNvPr id="24" name="UML recordquiz label 24"/>
          <p:cNvSpPr/>
          <p:nvPr/>
        </p:nvSpPr>
        <p:spPr>
          <a:xfrm>
            <a:off x="3329992" y="1927531"/>
            <a:ext cx="1575380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2224"/>
          </a:p>
        </p:txBody>
      </p:sp>
      <p:sp>
        <p:nvSpPr>
          <p:cNvPr id="25" name="UML recordquiz divider 25"/>
          <p:cNvSpPr/>
          <p:nvPr/>
        </p:nvSpPr>
        <p:spPr>
          <a:xfrm>
            <a:off x="3307801" y="2381136"/>
            <a:ext cx="1530326" cy="1345"/>
          </a:xfrm>
          <a:custGeom>
            <a:avLst/>
            <a:gdLst/>
            <a:ahLst/>
            <a:cxnLst/>
            <a:rect l="0" t="0" r="r" b="b"/>
            <a:pathLst>
              <a:path w="1083831" h="952" fill="none" extrusionOk="0">
                <a:moveTo>
                  <a:pt x="0" y="0"/>
                </a:moveTo>
                <a:lnTo>
                  <a:pt x="1083831" y="0"/>
                </a:ln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26" name="UML recordquiz label 26"/>
          <p:cNvSpPr/>
          <p:nvPr/>
        </p:nvSpPr>
        <p:spPr>
          <a:xfrm>
            <a:off x="3370339" y="2457526"/>
            <a:ext cx="858297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000000"/>
                </a:solidFill>
                <a:latin typeface="Noto Sans SC"/>
                <a:ea typeface="Noto Sans SC"/>
              </a:rPr>
              <a:t>grade</a:t>
            </a:r>
            <a:endParaRPr lang="zh-CN" sz="2224"/>
          </a:p>
        </p:txBody>
      </p:sp>
      <p:sp>
        <p:nvSpPr>
          <p:cNvPr id="27" name="UML recordquiz box 27"/>
          <p:cNvSpPr/>
          <p:nvPr/>
        </p:nvSpPr>
        <p:spPr>
          <a:xfrm>
            <a:off x="6333809" y="2099946"/>
            <a:ext cx="2070112" cy="543444"/>
          </a:xfrm>
          <a:prstGeom prst="rect">
            <a:avLst/>
          </a:prstGeom>
          <a:solidFill>
            <a:srgbClr val="FFFFFF"/>
          </a:solidFill>
          <a:ln w="13449">
            <a:solidFill>
              <a:srgbClr val="1F2A44"/>
            </a:solidFill>
          </a:ln>
        </p:spPr>
      </p:sp>
      <p:sp>
        <p:nvSpPr>
          <p:cNvPr id="28" name="UML recordquiz label 28"/>
          <p:cNvSpPr/>
          <p:nvPr/>
        </p:nvSpPr>
        <p:spPr>
          <a:xfrm>
            <a:off x="6369448" y="2189785"/>
            <a:ext cx="2088268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24"/>
          </a:p>
        </p:txBody>
      </p:sp>
      <p:sp>
        <p:nvSpPr>
          <p:cNvPr id="29" name="UML recordquiz connection 29"/>
          <p:cNvSpPr/>
          <p:nvPr/>
        </p:nvSpPr>
        <p:spPr>
          <a:xfrm>
            <a:off x="1817554" y="2368924"/>
            <a:ext cx="1476530" cy="1345"/>
          </a:xfrm>
          <a:custGeom>
            <a:avLst/>
            <a:gdLst/>
            <a:ahLst/>
            <a:cxnLst/>
            <a:rect l="0" t="0" r="r" b="b"/>
            <a:pathLst>
              <a:path w="1045731" h="952" fill="none" extrusionOk="0">
                <a:moveTo>
                  <a:pt x="0" y="0"/>
                </a:moveTo>
                <a:cubicBezTo>
                  <a:pt x="299961" y="0"/>
                  <a:pt x="715051" y="0"/>
                  <a:pt x="1045731" y="0"/>
                </a:cubicBez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30" name="UML recordquiz label 30"/>
          <p:cNvSpPr/>
          <p:nvPr/>
        </p:nvSpPr>
        <p:spPr>
          <a:xfrm>
            <a:off x="3101092" y="2403892"/>
            <a:ext cx="363121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B</a:t>
            </a:r>
            <a:endParaRPr lang="zh-CN" sz="2118"/>
          </a:p>
        </p:txBody>
      </p:sp>
      <p:sp>
        <p:nvSpPr>
          <p:cNvPr id="31" name="UML recordquiz label 31"/>
          <p:cNvSpPr/>
          <p:nvPr/>
        </p:nvSpPr>
        <p:spPr>
          <a:xfrm>
            <a:off x="1826295" y="2403892"/>
            <a:ext cx="363121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A</a:t>
            </a:r>
            <a:endParaRPr lang="zh-CN" sz="2118"/>
          </a:p>
        </p:txBody>
      </p:sp>
      <p:sp>
        <p:nvSpPr>
          <p:cNvPr id="32" name="UML recordquiz connection 32"/>
          <p:cNvSpPr/>
          <p:nvPr/>
        </p:nvSpPr>
        <p:spPr>
          <a:xfrm>
            <a:off x="4858193" y="2368924"/>
            <a:ext cx="1472697" cy="1345"/>
          </a:xfrm>
          <a:custGeom>
            <a:avLst/>
            <a:gdLst/>
            <a:ahLst/>
            <a:cxnLst/>
            <a:rect l="0" t="0" r="r" b="b"/>
            <a:pathLst>
              <a:path w="1043016" h="952" fill="none" extrusionOk="0">
                <a:moveTo>
                  <a:pt x="0" y="0"/>
                </a:moveTo>
                <a:cubicBezTo>
                  <a:pt x="311401" y="0"/>
                  <a:pt x="705736" y="0"/>
                  <a:pt x="1043016" y="0"/>
                </a:cubicBez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33" name="UML recordquiz label 33"/>
          <p:cNvSpPr/>
          <p:nvPr/>
        </p:nvSpPr>
        <p:spPr>
          <a:xfrm>
            <a:off x="6137898" y="2403892"/>
            <a:ext cx="363121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D</a:t>
            </a:r>
            <a:endParaRPr lang="zh-CN" sz="2118"/>
          </a:p>
        </p:txBody>
      </p:sp>
      <p:sp>
        <p:nvSpPr>
          <p:cNvPr id="34" name="UML recordquiz label 34"/>
          <p:cNvSpPr/>
          <p:nvPr/>
        </p:nvSpPr>
        <p:spPr>
          <a:xfrm>
            <a:off x="4866935" y="2403892"/>
            <a:ext cx="363121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C</a:t>
            </a:r>
            <a:endParaRPr lang="zh-CN" sz="2118"/>
          </a:p>
        </p:txBody>
      </p:sp>
      <p:sp>
        <p:nvSpPr>
          <p:cNvPr id="7" name="content-143">
            <a:extLst>
              <a:ext uri="{FF2B5EF4-FFF2-40B4-BE49-F238E27FC236}">
                <a16:creationId xmlns:a16="http://schemas.microsoft.com/office/drawing/2014/main" id="{A8378FFB-BF7B-450F-8DB5-0A0C4B5FB2A4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按R2、R3填写A、B、C、D处的多重性，并说明理由。</a:t>
            </a:r>
          </a:p>
        </p:txBody>
      </p:sp>
      <p:sp>
        <p:nvSpPr>
          <p:cNvPr id="8" name="content-144">
            <a:extLst>
              <a:ext uri="{FF2B5EF4-FFF2-40B4-BE49-F238E27FC236}">
                <a16:creationId xmlns:a16="http://schemas.microsoft.com/office/drawing/2014/main" id="{05B80022-CB81-4D76-9AA3-6A20C5381780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R2：学生或开课班可以暂时没有记录，也可以有多条记录。</a:t>
            </a:r>
          </a:p>
        </p:txBody>
      </p:sp>
      <p:sp>
        <p:nvSpPr>
          <p:cNvPr id="9" name="content-145">
            <a:extLst>
              <a:ext uri="{FF2B5EF4-FFF2-40B4-BE49-F238E27FC236}">
                <a16:creationId xmlns:a16="http://schemas.microsoft.com/office/drawing/2014/main" id="{5BF0DDDF-C4EF-4849-8207-CDD78B43B56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R3：每条记录对应一名学生和一个开课班。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46">
            <a:extLst>
              <a:ext uri="{FF2B5EF4-FFF2-40B4-BE49-F238E27FC236}">
                <a16:creationId xmlns:a16="http://schemas.microsoft.com/office/drawing/2014/main" id="{09E99485-1157-44B2-9238-0B1D0CDE9AA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选课记录的多重性（参考）</a:t>
            </a:r>
          </a:p>
        </p:txBody>
      </p:sp>
      <p:sp>
        <p:nvSpPr>
          <p:cNvPr id="2" name="frame-147">
            <a:extLst>
              <a:ext uri="{FF2B5EF4-FFF2-40B4-BE49-F238E27FC236}">
                <a16:creationId xmlns:a16="http://schemas.microsoft.com/office/drawing/2014/main" id="{7B2F159C-0171-4B5F-8A36-3E025542872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48">
            <a:extLst>
              <a:ext uri="{FF2B5EF4-FFF2-40B4-BE49-F238E27FC236}">
                <a16:creationId xmlns:a16="http://schemas.microsoft.com/office/drawing/2014/main" id="{D666FADF-846B-4D6F-B662-7D63B270FED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B4D11F05-05A4-4A0E-B40D-B9E0C6BEC437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D778C489-88B6-4112-A6EF-F2B0D20B994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19 / 66</a:t>
            </a:r>
          </a:p>
        </p:txBody>
      </p:sp>
      <p:sp>
        <p:nvSpPr>
          <p:cNvPr id="21" name="UML recordcomplete box 21"/>
          <p:cNvSpPr/>
          <p:nvPr/>
        </p:nvSpPr>
        <p:spPr>
          <a:xfrm>
            <a:off x="671813" y="2099946"/>
            <a:ext cx="1137254" cy="543444"/>
          </a:xfrm>
          <a:prstGeom prst="rect">
            <a:avLst/>
          </a:prstGeom>
          <a:solidFill>
            <a:srgbClr val="FFFFFF"/>
          </a:solidFill>
          <a:ln w="13449">
            <a:solidFill>
              <a:srgbClr val="1F2A44"/>
            </a:solidFill>
          </a:ln>
        </p:spPr>
      </p:sp>
      <p:sp>
        <p:nvSpPr>
          <p:cNvPr id="22" name="UML recordcomplete label 22"/>
          <p:cNvSpPr/>
          <p:nvPr/>
        </p:nvSpPr>
        <p:spPr>
          <a:xfrm>
            <a:off x="707453" y="2189785"/>
            <a:ext cx="1155410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24"/>
          </a:p>
        </p:txBody>
      </p:sp>
      <p:sp>
        <p:nvSpPr>
          <p:cNvPr id="23" name="UML recordcomplete box 23"/>
          <p:cNvSpPr/>
          <p:nvPr/>
        </p:nvSpPr>
        <p:spPr>
          <a:xfrm>
            <a:off x="3294353" y="1837692"/>
            <a:ext cx="1557224" cy="1059990"/>
          </a:xfrm>
          <a:prstGeom prst="rect">
            <a:avLst/>
          </a:prstGeom>
          <a:solidFill>
            <a:srgbClr val="F5E4E7"/>
          </a:solidFill>
          <a:ln w="13449">
            <a:solidFill>
              <a:srgbClr val="1F2A44"/>
            </a:solidFill>
          </a:ln>
        </p:spPr>
      </p:sp>
      <p:sp>
        <p:nvSpPr>
          <p:cNvPr id="24" name="UML recordcomplete label 24"/>
          <p:cNvSpPr/>
          <p:nvPr/>
        </p:nvSpPr>
        <p:spPr>
          <a:xfrm>
            <a:off x="3329992" y="1927531"/>
            <a:ext cx="1575380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2224"/>
          </a:p>
        </p:txBody>
      </p:sp>
      <p:sp>
        <p:nvSpPr>
          <p:cNvPr id="25" name="UML recordcomplete divider 25"/>
          <p:cNvSpPr/>
          <p:nvPr/>
        </p:nvSpPr>
        <p:spPr>
          <a:xfrm>
            <a:off x="3307801" y="2381136"/>
            <a:ext cx="1530326" cy="1345"/>
          </a:xfrm>
          <a:custGeom>
            <a:avLst/>
            <a:gdLst/>
            <a:ahLst/>
            <a:cxnLst/>
            <a:rect l="0" t="0" r="r" b="b"/>
            <a:pathLst>
              <a:path w="1083831" h="952" fill="none" extrusionOk="0">
                <a:moveTo>
                  <a:pt x="0" y="0"/>
                </a:moveTo>
                <a:lnTo>
                  <a:pt x="1083831" y="0"/>
                </a:ln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26" name="UML recordcomplete label 26"/>
          <p:cNvSpPr/>
          <p:nvPr/>
        </p:nvSpPr>
        <p:spPr>
          <a:xfrm>
            <a:off x="3370339" y="2457526"/>
            <a:ext cx="858297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000000"/>
                </a:solidFill>
                <a:latin typeface="Noto Sans SC"/>
                <a:ea typeface="Noto Sans SC"/>
              </a:rPr>
              <a:t>grade</a:t>
            </a:r>
            <a:endParaRPr lang="zh-CN" sz="2224"/>
          </a:p>
        </p:txBody>
      </p:sp>
      <p:sp>
        <p:nvSpPr>
          <p:cNvPr id="27" name="UML recordcomplete box 27"/>
          <p:cNvSpPr/>
          <p:nvPr/>
        </p:nvSpPr>
        <p:spPr>
          <a:xfrm>
            <a:off x="6333809" y="2099946"/>
            <a:ext cx="2070112" cy="543444"/>
          </a:xfrm>
          <a:prstGeom prst="rect">
            <a:avLst/>
          </a:prstGeom>
          <a:solidFill>
            <a:srgbClr val="FFFFFF"/>
          </a:solidFill>
          <a:ln w="13449">
            <a:solidFill>
              <a:srgbClr val="1F2A44"/>
            </a:solidFill>
          </a:ln>
        </p:spPr>
      </p:sp>
      <p:sp>
        <p:nvSpPr>
          <p:cNvPr id="28" name="UML recordcomplete label 28"/>
          <p:cNvSpPr/>
          <p:nvPr/>
        </p:nvSpPr>
        <p:spPr>
          <a:xfrm>
            <a:off x="6369448" y="2189785"/>
            <a:ext cx="2088268" cy="412344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2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24"/>
          </a:p>
        </p:txBody>
      </p:sp>
      <p:sp>
        <p:nvSpPr>
          <p:cNvPr id="29" name="UML recordcomplete connection 29"/>
          <p:cNvSpPr/>
          <p:nvPr/>
        </p:nvSpPr>
        <p:spPr>
          <a:xfrm>
            <a:off x="1817554" y="2368924"/>
            <a:ext cx="1476530" cy="1345"/>
          </a:xfrm>
          <a:custGeom>
            <a:avLst/>
            <a:gdLst/>
            <a:ahLst/>
            <a:cxnLst/>
            <a:rect l="0" t="0" r="r" b="b"/>
            <a:pathLst>
              <a:path w="1045731" h="952" fill="none" extrusionOk="0">
                <a:moveTo>
                  <a:pt x="0" y="0"/>
                </a:moveTo>
                <a:cubicBezTo>
                  <a:pt x="299961" y="0"/>
                  <a:pt x="715051" y="0"/>
                  <a:pt x="1045731" y="0"/>
                </a:cubicBez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30" name="UML recordcomplete label 30"/>
          <p:cNvSpPr/>
          <p:nvPr/>
        </p:nvSpPr>
        <p:spPr>
          <a:xfrm>
            <a:off x="2859011" y="2403892"/>
            <a:ext cx="518590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18"/>
          </a:p>
        </p:txBody>
      </p:sp>
      <p:sp>
        <p:nvSpPr>
          <p:cNvPr id="31" name="UML recordcomplete label 31"/>
          <p:cNvSpPr/>
          <p:nvPr/>
        </p:nvSpPr>
        <p:spPr>
          <a:xfrm>
            <a:off x="1826295" y="2403892"/>
            <a:ext cx="363121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2118"/>
          </a:p>
        </p:txBody>
      </p:sp>
      <p:sp>
        <p:nvSpPr>
          <p:cNvPr id="32" name="UML recordcomplete connection 32"/>
          <p:cNvSpPr/>
          <p:nvPr/>
        </p:nvSpPr>
        <p:spPr>
          <a:xfrm>
            <a:off x="4858193" y="2368924"/>
            <a:ext cx="1472697" cy="1345"/>
          </a:xfrm>
          <a:custGeom>
            <a:avLst/>
            <a:gdLst/>
            <a:ahLst/>
            <a:cxnLst/>
            <a:rect l="0" t="0" r="r" b="b"/>
            <a:pathLst>
              <a:path w="1043016" h="952" fill="none" extrusionOk="0">
                <a:moveTo>
                  <a:pt x="0" y="0"/>
                </a:moveTo>
                <a:cubicBezTo>
                  <a:pt x="311401" y="0"/>
                  <a:pt x="705736" y="0"/>
                  <a:pt x="1043016" y="0"/>
                </a:cubicBezTo>
              </a:path>
            </a:pathLst>
          </a:custGeom>
          <a:noFill/>
          <a:ln w="13449">
            <a:solidFill>
              <a:srgbClr val="1F2A44"/>
            </a:solidFill>
          </a:ln>
        </p:spPr>
      </p:sp>
      <p:sp>
        <p:nvSpPr>
          <p:cNvPr id="33" name="UML recordcomplete label 33"/>
          <p:cNvSpPr/>
          <p:nvPr/>
        </p:nvSpPr>
        <p:spPr>
          <a:xfrm>
            <a:off x="6164796" y="2403892"/>
            <a:ext cx="363121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2118"/>
          </a:p>
        </p:txBody>
      </p:sp>
      <p:sp>
        <p:nvSpPr>
          <p:cNvPr id="34" name="UML recordcomplete label 34"/>
          <p:cNvSpPr/>
          <p:nvPr/>
        </p:nvSpPr>
        <p:spPr>
          <a:xfrm>
            <a:off x="4866935" y="2403892"/>
            <a:ext cx="518590" cy="392708"/>
          </a:xfrm>
          <a:prstGeom prst="rect">
            <a:avLst/>
          </a:prstGeom>
          <a:noFill/>
          <a:ln w="13449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18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18"/>
          </a:p>
        </p:txBody>
      </p:sp>
      <p:sp>
        <p:nvSpPr>
          <p:cNvPr id="7" name="content-149">
            <a:extLst>
              <a:ext uri="{FF2B5EF4-FFF2-40B4-BE49-F238E27FC236}">
                <a16:creationId xmlns:a16="http://schemas.microsoft.com/office/drawing/2014/main" id="{5ACB9AF0-8045-4486-BBC3-C70293292D3B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一条记录对应1名学生、1个开课班。</a:t>
            </a:r>
          </a:p>
        </p:txBody>
      </p:sp>
      <p:sp>
        <p:nvSpPr>
          <p:cNvPr id="8" name="content-150">
            <a:extLst>
              <a:ext uri="{FF2B5EF4-FFF2-40B4-BE49-F238E27FC236}">
                <a16:creationId xmlns:a16="http://schemas.microsoft.com/office/drawing/2014/main" id="{8E1A6311-EA24-4574-AA2A-84B3063034C5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一个学生或开课班可以对应0到多条记录。</a:t>
            </a:r>
          </a:p>
        </p:txBody>
      </p:sp>
      <p:sp>
        <p:nvSpPr>
          <p:cNvPr id="9" name="content-151">
            <a:extLst>
              <a:ext uri="{FF2B5EF4-FFF2-40B4-BE49-F238E27FC236}">
                <a16:creationId xmlns:a16="http://schemas.microsoft.com/office/drawing/2014/main" id="{ADF62832-6AB8-48AD-80A1-ABAA68ACDD2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同一条关联，从不同方向读取时含义不同。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-152">
            <a:extLst>
              <a:ext uri="{FF2B5EF4-FFF2-40B4-BE49-F238E27FC236}">
                <a16:creationId xmlns:a16="http://schemas.microsoft.com/office/drawing/2014/main" id="{76A5475B-56E6-4ED6-9D98-5D54C041B3A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多重性能够排除重复选课记录吗？</a:t>
            </a:r>
          </a:p>
        </p:txBody>
      </p:sp>
      <p:sp>
        <p:nvSpPr>
          <p:cNvPr id="2" name="frame-153">
            <a:extLst>
              <a:ext uri="{FF2B5EF4-FFF2-40B4-BE49-F238E27FC236}">
                <a16:creationId xmlns:a16="http://schemas.microsoft.com/office/drawing/2014/main" id="{B836BD0D-D463-440D-BFC2-DC1BCE56FE1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54">
            <a:extLst>
              <a:ext uri="{FF2B5EF4-FFF2-40B4-BE49-F238E27FC236}">
                <a16:creationId xmlns:a16="http://schemas.microsoft.com/office/drawing/2014/main" id="{F2CFAE33-0F92-4417-B1E6-D91B74645FE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D06BA10A-1963-47EB-AFDF-25E266B96752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FF17FE39-666B-4829-A110-AE14ED8BF9C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20 / 66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76250" y="1209675"/>
          <a:ext cx="8191500" cy="2286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学生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开课班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E01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S01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SE26-A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E02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S01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SE26-A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ontent-155">
            <a:extLst>
              <a:ext uri="{FF2B5EF4-FFF2-40B4-BE49-F238E27FC236}">
                <a16:creationId xmlns:a16="http://schemas.microsoft.com/office/drawing/2014/main" id="{BEEA4787-EED0-41B5-90EB-9368131CDE94}"/>
              </a:ext>
            </a:extLst>
          </p:cNvPr>
          <p:cNvSpPr>
            <a:spLocks noGrp="1"/>
          </p:cNvSpPr>
          <p:nvPr/>
        </p:nvSpPr>
        <p:spPr>
          <a:xfrm>
            <a:off x="495300" y="4391025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问题：E01和E02是否都满足每条记录的归属要求？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156">
            <a:extLst>
              <a:ext uri="{FF2B5EF4-FFF2-40B4-BE49-F238E27FC236}">
                <a16:creationId xmlns:a16="http://schemas.microsoft.com/office/drawing/2014/main" id="{37794888-9C8E-4657-9D55-451D7C61F3D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选课记录的唯一性约束</a:t>
            </a:r>
          </a:p>
        </p:txBody>
      </p:sp>
      <p:sp>
        <p:nvSpPr>
          <p:cNvPr id="2" name="frame-157">
            <a:extLst>
              <a:ext uri="{FF2B5EF4-FFF2-40B4-BE49-F238E27FC236}">
                <a16:creationId xmlns:a16="http://schemas.microsoft.com/office/drawing/2014/main" id="{A0274016-C4BA-46B8-8BBC-601F1FCCEA9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58">
            <a:extLst>
              <a:ext uri="{FF2B5EF4-FFF2-40B4-BE49-F238E27FC236}">
                <a16:creationId xmlns:a16="http://schemas.microsoft.com/office/drawing/2014/main" id="{0DDA6396-11F7-45DB-9DE0-365A9DAB8AF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36D2A268-DE7D-444F-A540-9EFF6EB58E9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FD4675E7-62AE-439A-A48E-72B875D4B37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21 / 66</a:t>
            </a:r>
          </a:p>
        </p:txBody>
      </p:sp>
      <p:sp>
        <p:nvSpPr>
          <p:cNvPr id="6" name="content-159">
            <a:extLst>
              <a:ext uri="{FF2B5EF4-FFF2-40B4-BE49-F238E27FC236}">
                <a16:creationId xmlns:a16="http://schemas.microsoft.com/office/drawing/2014/main" id="{1081716B-A385-4CE7-99D8-6C0E374424D7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R4</a:t>
            </a:r>
          </a:p>
        </p:txBody>
      </p:sp>
      <p:sp>
        <p:nvSpPr>
          <p:cNvPr id="7" name="content-160">
            <a:extLst>
              <a:ext uri="{FF2B5EF4-FFF2-40B4-BE49-F238E27FC236}">
                <a16:creationId xmlns:a16="http://schemas.microsoft.com/office/drawing/2014/main" id="{AD84CF2A-E90D-4CE6-A38B-47EA827C23E7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同一学生与同一开课班，最多一条选课记录。</a:t>
            </a:r>
          </a:p>
        </p:txBody>
      </p:sp>
      <p:sp>
        <p:nvSpPr>
          <p:cNvPr id="8" name="frame-161">
            <a:extLst>
              <a:ext uri="{FF2B5EF4-FFF2-40B4-BE49-F238E27FC236}">
                <a16:creationId xmlns:a16="http://schemas.microsoft.com/office/drawing/2014/main" id="{C8881CF7-03AA-4C2A-A595-DCA24ADB2B91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162">
            <a:extLst>
              <a:ext uri="{FF2B5EF4-FFF2-40B4-BE49-F238E27FC236}">
                <a16:creationId xmlns:a16="http://schemas.microsoft.com/office/drawing/2014/main" id="{3F421DA2-B7A9-445B-B15A-307915FAE6C6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不允许的情况</a:t>
            </a:r>
          </a:p>
        </p:txBody>
      </p:sp>
      <p:sp>
        <p:nvSpPr>
          <p:cNvPr id="10" name="content-163">
            <a:extLst>
              <a:ext uri="{FF2B5EF4-FFF2-40B4-BE49-F238E27FC236}">
                <a16:creationId xmlns:a16="http://schemas.microsoft.com/office/drawing/2014/main" id="{86C2696D-F925-448B-BF04-162D318908A6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E01、E02都连接S01与SE26-A。</a:t>
            </a:r>
          </a:p>
        </p:txBody>
      </p:sp>
      <p:sp>
        <p:nvSpPr>
          <p:cNvPr id="11" name="frame-164">
            <a:extLst>
              <a:ext uri="{FF2B5EF4-FFF2-40B4-BE49-F238E27FC236}">
                <a16:creationId xmlns:a16="http://schemas.microsoft.com/office/drawing/2014/main" id="{6B0BC541-EC3D-45C0-9282-786FCF1FD684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165">
            <a:extLst>
              <a:ext uri="{FF2B5EF4-FFF2-40B4-BE49-F238E27FC236}">
                <a16:creationId xmlns:a16="http://schemas.microsoft.com/office/drawing/2014/main" id="{E354CF64-85B5-41F5-8D67-36DB3AB8ED4F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13" name="content-166">
            <a:extLst>
              <a:ext uri="{FF2B5EF4-FFF2-40B4-BE49-F238E27FC236}">
                <a16:creationId xmlns:a16="http://schemas.microsoft.com/office/drawing/2014/main" id="{D8B94204-B711-467B-9900-14A87C3E299D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S01选SE26-A，S02也选SE26-A，是否违反R4？</a:t>
            </a:r>
          </a:p>
        </p:txBody>
      </p:sp>
      <p:sp>
        <p:nvSpPr>
          <p:cNvPr id="14" name="frame-167">
            <a:extLst>
              <a:ext uri="{FF2B5EF4-FFF2-40B4-BE49-F238E27FC236}">
                <a16:creationId xmlns:a16="http://schemas.microsoft.com/office/drawing/2014/main" id="{55F3CF14-0EE3-4F4B-BFE3-1FF18377F59D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168">
            <a:extLst>
              <a:ext uri="{FF2B5EF4-FFF2-40B4-BE49-F238E27FC236}">
                <a16:creationId xmlns:a16="http://schemas.microsoft.com/office/drawing/2014/main" id="{C642B04F-DF73-47BB-868B-6884EB441B8C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本例范围</a:t>
            </a:r>
          </a:p>
        </p:txBody>
      </p:sp>
      <p:sp>
        <p:nvSpPr>
          <p:cNvPr id="16" name="content-169">
            <a:extLst>
              <a:ext uri="{FF2B5EF4-FFF2-40B4-BE49-F238E27FC236}">
                <a16:creationId xmlns:a16="http://schemas.microsoft.com/office/drawing/2014/main" id="{D7BDCA3B-EE55-418B-AB81-A94BB54B182A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退选更新原记录，不保存每次选退事件的历史。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70">
            <a:extLst>
              <a:ext uri="{FF2B5EF4-FFF2-40B4-BE49-F238E27FC236}">
                <a16:creationId xmlns:a16="http://schemas.microsoft.com/office/drawing/2014/main" id="{F1A12E1E-D0AA-4546-B045-7779A0D2895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成绩的可选性：未评分与0分</a:t>
            </a:r>
          </a:p>
        </p:txBody>
      </p:sp>
      <p:sp>
        <p:nvSpPr>
          <p:cNvPr id="2" name="frame-171">
            <a:extLst>
              <a:ext uri="{FF2B5EF4-FFF2-40B4-BE49-F238E27FC236}">
                <a16:creationId xmlns:a16="http://schemas.microsoft.com/office/drawing/2014/main" id="{F722F58A-E23D-40AF-99CD-088C3EEEA4B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72">
            <a:extLst>
              <a:ext uri="{FF2B5EF4-FFF2-40B4-BE49-F238E27FC236}">
                <a16:creationId xmlns:a16="http://schemas.microsoft.com/office/drawing/2014/main" id="{37994D68-C043-463F-9986-F96888A9933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EEDCBBCB-FCE4-4B02-A177-6C483523AC0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69572906-01B7-4F68-BFFC-34ADE50EF55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22 / 66</a:t>
            </a:r>
          </a:p>
        </p:txBody>
      </p:sp>
      <p:sp>
        <p:nvSpPr>
          <p:cNvPr id="21" name="UML optionalgrade box 21"/>
          <p:cNvSpPr/>
          <p:nvPr/>
        </p:nvSpPr>
        <p:spPr>
          <a:xfrm>
            <a:off x="3294459" y="1823561"/>
            <a:ext cx="2490956" cy="1088547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optionalgrade label 22"/>
          <p:cNvSpPr/>
          <p:nvPr/>
        </p:nvSpPr>
        <p:spPr>
          <a:xfrm>
            <a:off x="3776942" y="1915820"/>
            <a:ext cx="1617822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2284"/>
          </a:p>
        </p:txBody>
      </p:sp>
      <p:sp>
        <p:nvSpPr>
          <p:cNvPr id="23" name="UML optionalgrade divider 23"/>
          <p:cNvSpPr/>
          <p:nvPr/>
        </p:nvSpPr>
        <p:spPr>
          <a:xfrm>
            <a:off x="3308271" y="2381646"/>
            <a:ext cx="2463333" cy="1381"/>
          </a:xfrm>
          <a:custGeom>
            <a:avLst/>
            <a:gdLst/>
            <a:ahLst/>
            <a:cxnLst/>
            <a:rect l="0" t="0" r="r" b="b"/>
            <a:pathLst>
              <a:path w="1698850" h="952" fill="none" extrusionOk="0">
                <a:moveTo>
                  <a:pt x="0" y="0"/>
                </a:moveTo>
                <a:lnTo>
                  <a:pt x="1698850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optionalgrade label 24"/>
          <p:cNvSpPr/>
          <p:nvPr/>
        </p:nvSpPr>
        <p:spPr>
          <a:xfrm>
            <a:off x="3372493" y="2460094"/>
            <a:ext cx="2426733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grade : Real [0..1]</a:t>
            </a:r>
            <a:endParaRPr lang="zh-CN" sz="2284"/>
          </a:p>
        </p:txBody>
      </p:sp>
      <p:sp>
        <p:nvSpPr>
          <p:cNvPr id="7" name="content-173">
            <a:extLst>
              <a:ext uri="{FF2B5EF4-FFF2-40B4-BE49-F238E27FC236}">
                <a16:creationId xmlns:a16="http://schemas.microsoft.com/office/drawing/2014/main" id="{18FA2BDE-831A-4F7B-BFCD-79DB28DB8789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grade : Real [0..1]，允许没有成绩值，或有一个成绩值。</a:t>
            </a:r>
          </a:p>
        </p:txBody>
      </p:sp>
      <p:sp>
        <p:nvSpPr>
          <p:cNvPr id="8" name="content-174">
            <a:extLst>
              <a:ext uri="{FF2B5EF4-FFF2-40B4-BE49-F238E27FC236}">
                <a16:creationId xmlns:a16="http://schemas.microsoft.com/office/drawing/2014/main" id="{5C83DA04-421F-416E-9F34-DC9A62FFE806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R5：未评分时没有值；0分是一个有效值。</a:t>
            </a:r>
          </a:p>
        </p:txBody>
      </p:sp>
      <p:sp>
        <p:nvSpPr>
          <p:cNvPr id="9" name="content-175">
            <a:extLst>
              <a:ext uri="{FF2B5EF4-FFF2-40B4-BE49-F238E27FC236}">
                <a16:creationId xmlns:a16="http://schemas.microsoft.com/office/drawing/2014/main" id="{37CF74F5-B7F1-450E-8635-EDDD9C235F35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[0..1]规定值的数量，成绩范围还需要另一条规则。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-176">
            <a:extLst>
              <a:ext uri="{FF2B5EF4-FFF2-40B4-BE49-F238E27FC236}">
                <a16:creationId xmlns:a16="http://schemas.microsoft.com/office/drawing/2014/main" id="{B1F38698-613B-4CAE-9FBB-907260B85B7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练习：成绩的可选性与取值范围</a:t>
            </a:r>
          </a:p>
        </p:txBody>
      </p:sp>
      <p:sp>
        <p:nvSpPr>
          <p:cNvPr id="2" name="frame-177">
            <a:extLst>
              <a:ext uri="{FF2B5EF4-FFF2-40B4-BE49-F238E27FC236}">
                <a16:creationId xmlns:a16="http://schemas.microsoft.com/office/drawing/2014/main" id="{8C32535A-79B4-44FC-A860-DE90366DF75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78">
            <a:extLst>
              <a:ext uri="{FF2B5EF4-FFF2-40B4-BE49-F238E27FC236}">
                <a16:creationId xmlns:a16="http://schemas.microsoft.com/office/drawing/2014/main" id="{30D28132-9D16-4DB4-B953-1B707ECBB0C6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92F9E1B9-6DAD-4E3B-9886-EBA4F9E11787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B0A18035-4692-477D-97AC-D98BC9FB42F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23 / 66</a:t>
            </a:r>
          </a:p>
        </p:txBody>
      </p:sp>
      <p:sp>
        <p:nvSpPr>
          <p:cNvPr id="6" name="content-179">
            <a:extLst>
              <a:ext uri="{FF2B5EF4-FFF2-40B4-BE49-F238E27FC236}">
                <a16:creationId xmlns:a16="http://schemas.microsoft.com/office/drawing/2014/main" id="{15325678-8126-499A-A6B1-BDA14E2C1D58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R6</a:t>
            </a:r>
          </a:p>
        </p:txBody>
      </p:sp>
      <p:sp>
        <p:nvSpPr>
          <p:cNvPr id="7" name="content-180">
            <a:extLst>
              <a:ext uri="{FF2B5EF4-FFF2-40B4-BE49-F238E27FC236}">
                <a16:creationId xmlns:a16="http://schemas.microsoft.com/office/drawing/2014/main" id="{1C7500BD-318E-4D5F-BAA2-4AE6658E4A61}"/>
              </a:ext>
            </a:extLst>
          </p:cNvPr>
          <p:cNvSpPr>
            <a:spLocks noGrp="1"/>
          </p:cNvSpPr>
          <p:nvPr/>
        </p:nvSpPr>
        <p:spPr>
          <a:xfrm>
            <a:off x="1924050" y="1104900"/>
            <a:ext cx="65341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本例有成绩时，分数必须在0至100之间。</a:t>
            </a:r>
          </a:p>
        </p:txBody>
      </p:sp>
      <p:sp>
        <p:nvSpPr>
          <p:cNvPr id="8" name="frame-181">
            <a:extLst>
              <a:ext uri="{FF2B5EF4-FFF2-40B4-BE49-F238E27FC236}">
                <a16:creationId xmlns:a16="http://schemas.microsoft.com/office/drawing/2014/main" id="{DCE9609B-2467-4FB5-B2D9-C5E1E6A97280}"/>
              </a:ext>
            </a:extLst>
          </p:cNvPr>
          <p:cNvSpPr>
            <a:spLocks noGrp="1"/>
          </p:cNvSpPr>
          <p:nvPr/>
        </p:nvSpPr>
        <p:spPr>
          <a:xfrm>
            <a:off x="476250" y="21431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182">
            <a:extLst>
              <a:ext uri="{FF2B5EF4-FFF2-40B4-BE49-F238E27FC236}">
                <a16:creationId xmlns:a16="http://schemas.microsoft.com/office/drawing/2014/main" id="{C34F00D4-6E6F-4ADF-96EB-BE4BCB672887}"/>
              </a:ext>
            </a:extLst>
          </p:cNvPr>
          <p:cNvSpPr>
            <a:spLocks noGrp="1"/>
          </p:cNvSpPr>
          <p:nvPr/>
        </p:nvSpPr>
        <p:spPr>
          <a:xfrm>
            <a:off x="495300" y="21717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10" name="content-183">
            <a:extLst>
              <a:ext uri="{FF2B5EF4-FFF2-40B4-BE49-F238E27FC236}">
                <a16:creationId xmlns:a16="http://schemas.microsoft.com/office/drawing/2014/main" id="{276B41FA-D281-4CFC-AEAC-828D1AC18763}"/>
              </a:ext>
            </a:extLst>
          </p:cNvPr>
          <p:cNvSpPr>
            <a:spLocks noGrp="1"/>
          </p:cNvSpPr>
          <p:nvPr/>
        </p:nvSpPr>
        <p:spPr>
          <a:xfrm>
            <a:off x="1924050" y="2171700"/>
            <a:ext cx="65341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未评分、0分、85分、101分，哪些允许？</a:t>
            </a:r>
          </a:p>
        </p:txBody>
      </p:sp>
      <p:sp>
        <p:nvSpPr>
          <p:cNvPr id="11" name="frame-184">
            <a:extLst>
              <a:ext uri="{FF2B5EF4-FFF2-40B4-BE49-F238E27FC236}">
                <a16:creationId xmlns:a16="http://schemas.microsoft.com/office/drawing/2014/main" id="{8476B32D-9C87-423B-8BD0-F4233FB8E73C}"/>
              </a:ext>
            </a:extLst>
          </p:cNvPr>
          <p:cNvSpPr>
            <a:spLocks noGrp="1"/>
          </p:cNvSpPr>
          <p:nvPr/>
        </p:nvSpPr>
        <p:spPr>
          <a:xfrm>
            <a:off x="476250" y="32099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185">
            <a:extLst>
              <a:ext uri="{FF2B5EF4-FFF2-40B4-BE49-F238E27FC236}">
                <a16:creationId xmlns:a16="http://schemas.microsoft.com/office/drawing/2014/main" id="{B301789D-D10D-472A-8BAA-78BF884B3F27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判断依据</a:t>
            </a:r>
          </a:p>
        </p:txBody>
      </p:sp>
      <p:sp>
        <p:nvSpPr>
          <p:cNvPr id="13" name="content-186">
            <a:extLst>
              <a:ext uri="{FF2B5EF4-FFF2-40B4-BE49-F238E27FC236}">
                <a16:creationId xmlns:a16="http://schemas.microsoft.com/office/drawing/2014/main" id="{C49834F7-6723-4E6D-A8B4-FA5FBEA9D7F0}"/>
              </a:ext>
            </a:extLst>
          </p:cNvPr>
          <p:cNvSpPr>
            <a:spLocks noGrp="1"/>
          </p:cNvSpPr>
          <p:nvPr/>
        </p:nvSpPr>
        <p:spPr>
          <a:xfrm>
            <a:off x="1924050" y="3238500"/>
            <a:ext cx="65341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分别说明值的数量与取值范围是否符合要求。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87">
            <a:extLst>
              <a:ext uri="{FF2B5EF4-FFF2-40B4-BE49-F238E27FC236}">
                <a16:creationId xmlns:a16="http://schemas.microsoft.com/office/drawing/2014/main" id="{46C74343-0A1B-450B-A227-5E54980DE5E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综合练习：选课类图纠错</a:t>
            </a:r>
          </a:p>
        </p:txBody>
      </p:sp>
      <p:sp>
        <p:nvSpPr>
          <p:cNvPr id="2" name="frame-188">
            <a:extLst>
              <a:ext uri="{FF2B5EF4-FFF2-40B4-BE49-F238E27FC236}">
                <a16:creationId xmlns:a16="http://schemas.microsoft.com/office/drawing/2014/main" id="{69E74338-F98D-4132-B2E7-D81D479E70D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89">
            <a:extLst>
              <a:ext uri="{FF2B5EF4-FFF2-40B4-BE49-F238E27FC236}">
                <a16:creationId xmlns:a16="http://schemas.microsoft.com/office/drawing/2014/main" id="{C670C216-A4EA-45F8-B717-8B8068DCDE18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807DA1E5-EBBE-443F-A0C0-7D2F24A8C1A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064EF403-8A1A-46D6-95CB-D302E32BF62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24 / 66</a:t>
            </a:r>
          </a:p>
        </p:txBody>
      </p:sp>
      <p:sp>
        <p:nvSpPr>
          <p:cNvPr id="21" name="UML wrongmodel box 21"/>
          <p:cNvSpPr/>
          <p:nvPr/>
        </p:nvSpPr>
        <p:spPr>
          <a:xfrm>
            <a:off x="651649" y="1909182"/>
            <a:ext cx="2095001" cy="915515"/>
          </a:xfrm>
          <a:prstGeom prst="rect">
            <a:avLst/>
          </a:prstGeom>
          <a:solidFill>
            <a:srgbClr val="F5E4E7"/>
          </a:solidFill>
          <a:ln w="11616">
            <a:solidFill>
              <a:srgbClr val="1F2A44"/>
            </a:solidFill>
          </a:ln>
        </p:spPr>
      </p:sp>
      <p:sp>
        <p:nvSpPr>
          <p:cNvPr id="22" name="UML wrongmodel label 22"/>
          <p:cNvSpPr/>
          <p:nvPr/>
        </p:nvSpPr>
        <p:spPr>
          <a:xfrm>
            <a:off x="1238808" y="1986776"/>
            <a:ext cx="997930" cy="356142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21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1921"/>
          </a:p>
        </p:txBody>
      </p:sp>
      <p:sp>
        <p:nvSpPr>
          <p:cNvPr id="23" name="UML wrongmodel divider 23"/>
          <p:cNvSpPr/>
          <p:nvPr/>
        </p:nvSpPr>
        <p:spPr>
          <a:xfrm>
            <a:off x="663265" y="2378555"/>
            <a:ext cx="2071769" cy="1162"/>
          </a:xfrm>
          <a:custGeom>
            <a:avLst/>
            <a:gdLst/>
            <a:ahLst/>
            <a:cxnLst/>
            <a:rect l="0" t="0" r="r" b="b"/>
            <a:pathLst>
              <a:path w="1698850" h="952" fill="none" extrusionOk="0">
                <a:moveTo>
                  <a:pt x="0" y="0"/>
                </a:moveTo>
                <a:lnTo>
                  <a:pt x="1698850" y="0"/>
                </a:lnTo>
              </a:path>
            </a:pathLst>
          </a:custGeom>
          <a:noFill/>
          <a:ln w="11616">
            <a:solidFill>
              <a:srgbClr val="1F2A44"/>
            </a:solidFill>
          </a:ln>
        </p:spPr>
      </p:sp>
      <p:sp>
        <p:nvSpPr>
          <p:cNvPr id="24" name="UML wrongmodel label 24"/>
          <p:cNvSpPr/>
          <p:nvPr/>
        </p:nvSpPr>
        <p:spPr>
          <a:xfrm>
            <a:off x="717279" y="2444533"/>
            <a:ext cx="2040987" cy="356142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21" dirty="0">
                <a:solidFill>
                  <a:srgbClr val="000000"/>
                </a:solidFill>
                <a:latin typeface="Noto Sans SC"/>
                <a:ea typeface="Noto Sans SC"/>
              </a:rPr>
              <a:t>grade : Real [0..1]</a:t>
            </a:r>
            <a:endParaRPr lang="zh-CN" sz="1921"/>
          </a:p>
        </p:txBody>
      </p:sp>
      <p:sp>
        <p:nvSpPr>
          <p:cNvPr id="25" name="UML wrongmodel box 25"/>
          <p:cNvSpPr/>
          <p:nvPr/>
        </p:nvSpPr>
        <p:spPr>
          <a:xfrm>
            <a:off x="4020247" y="2135691"/>
            <a:ext cx="1344976" cy="469373"/>
          </a:xfrm>
          <a:prstGeom prst="rect">
            <a:avLst/>
          </a:prstGeom>
          <a:solidFill>
            <a:srgbClr val="FFFFFF"/>
          </a:solidFill>
          <a:ln w="11616">
            <a:solidFill>
              <a:srgbClr val="1F2A44"/>
            </a:solidFill>
          </a:ln>
        </p:spPr>
      </p:sp>
      <p:sp>
        <p:nvSpPr>
          <p:cNvPr id="26" name="UML wrongmodel label 26"/>
          <p:cNvSpPr/>
          <p:nvPr/>
        </p:nvSpPr>
        <p:spPr>
          <a:xfrm>
            <a:off x="4051029" y="2213285"/>
            <a:ext cx="1360658" cy="356142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21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1921"/>
          </a:p>
        </p:txBody>
      </p:sp>
      <p:sp>
        <p:nvSpPr>
          <p:cNvPr id="27" name="UML wrongmodel box 27"/>
          <p:cNvSpPr/>
          <p:nvPr/>
        </p:nvSpPr>
        <p:spPr>
          <a:xfrm>
            <a:off x="6645430" y="2135691"/>
            <a:ext cx="1787959" cy="469373"/>
          </a:xfrm>
          <a:prstGeom prst="rect">
            <a:avLst/>
          </a:prstGeom>
          <a:solidFill>
            <a:srgbClr val="FFFFFF"/>
          </a:solidFill>
          <a:ln w="11616">
            <a:solidFill>
              <a:srgbClr val="1F2A44"/>
            </a:solidFill>
          </a:ln>
        </p:spPr>
      </p:sp>
      <p:sp>
        <p:nvSpPr>
          <p:cNvPr id="28" name="UML wrongmodel label 28"/>
          <p:cNvSpPr/>
          <p:nvPr/>
        </p:nvSpPr>
        <p:spPr>
          <a:xfrm>
            <a:off x="6676212" y="2213285"/>
            <a:ext cx="1803640" cy="356142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21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1921"/>
          </a:p>
        </p:txBody>
      </p:sp>
      <p:sp>
        <p:nvSpPr>
          <p:cNvPr id="29" name="UML wrongmodel connection 29"/>
          <p:cNvSpPr/>
          <p:nvPr/>
        </p:nvSpPr>
        <p:spPr>
          <a:xfrm>
            <a:off x="2744559" y="2368008"/>
            <a:ext cx="1272958" cy="1162"/>
          </a:xfrm>
          <a:custGeom>
            <a:avLst/>
            <a:gdLst/>
            <a:ahLst/>
            <a:cxnLst/>
            <a:rect l="0" t="0" r="r" b="b"/>
            <a:pathLst>
              <a:path w="1043826" h="952" fill="none" extrusionOk="0">
                <a:moveTo>
                  <a:pt x="0" y="0"/>
                </a:moveTo>
                <a:cubicBezTo>
                  <a:pt x="346358" y="0"/>
                  <a:pt x="736702" y="0"/>
                  <a:pt x="1043826" y="0"/>
                </a:cubicBezTo>
              </a:path>
            </a:pathLst>
          </a:custGeom>
          <a:noFill/>
          <a:ln w="11616">
            <a:solidFill>
              <a:srgbClr val="1F2A44"/>
            </a:solidFill>
          </a:ln>
        </p:spPr>
      </p:sp>
      <p:sp>
        <p:nvSpPr>
          <p:cNvPr id="30" name="UML wrongmodel label 30"/>
          <p:cNvSpPr/>
          <p:nvPr/>
        </p:nvSpPr>
        <p:spPr>
          <a:xfrm>
            <a:off x="3874061" y="2398209"/>
            <a:ext cx="313628" cy="339183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829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1829"/>
          </a:p>
        </p:txBody>
      </p:sp>
      <p:sp>
        <p:nvSpPr>
          <p:cNvPr id="31" name="UML wrongmodel label 31"/>
          <p:cNvSpPr/>
          <p:nvPr/>
        </p:nvSpPr>
        <p:spPr>
          <a:xfrm>
            <a:off x="2752109" y="2398209"/>
            <a:ext cx="447907" cy="339183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829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829"/>
          </a:p>
        </p:txBody>
      </p:sp>
      <p:sp>
        <p:nvSpPr>
          <p:cNvPr id="32" name="UML wrongmodel connection 32"/>
          <p:cNvSpPr/>
          <p:nvPr/>
        </p:nvSpPr>
        <p:spPr>
          <a:xfrm>
            <a:off x="5370938" y="2368008"/>
            <a:ext cx="1271971" cy="1162"/>
          </a:xfrm>
          <a:custGeom>
            <a:avLst/>
            <a:gdLst/>
            <a:ahLst/>
            <a:cxnLst/>
            <a:rect l="0" t="0" r="r" b="b"/>
            <a:pathLst>
              <a:path w="1043016" h="952" fill="none" extrusionOk="0">
                <a:moveTo>
                  <a:pt x="0" y="0"/>
                </a:moveTo>
                <a:cubicBezTo>
                  <a:pt x="311401" y="0"/>
                  <a:pt x="705736" y="0"/>
                  <a:pt x="1043016" y="0"/>
                </a:cubicBezTo>
              </a:path>
            </a:pathLst>
          </a:custGeom>
          <a:noFill/>
          <a:ln w="11616">
            <a:solidFill>
              <a:srgbClr val="1F2A44"/>
            </a:solidFill>
          </a:ln>
        </p:spPr>
      </p:sp>
      <p:sp>
        <p:nvSpPr>
          <p:cNvPr id="33" name="UML wrongmodel label 33"/>
          <p:cNvSpPr/>
          <p:nvPr/>
        </p:nvSpPr>
        <p:spPr>
          <a:xfrm>
            <a:off x="6267136" y="2398209"/>
            <a:ext cx="447907" cy="339183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829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829"/>
          </a:p>
        </p:txBody>
      </p:sp>
      <p:sp>
        <p:nvSpPr>
          <p:cNvPr id="34" name="UML wrongmodel label 34"/>
          <p:cNvSpPr/>
          <p:nvPr/>
        </p:nvSpPr>
        <p:spPr>
          <a:xfrm>
            <a:off x="5378489" y="2398209"/>
            <a:ext cx="313628" cy="339183"/>
          </a:xfrm>
          <a:prstGeom prst="rect">
            <a:avLst/>
          </a:prstGeom>
          <a:noFill/>
          <a:ln w="11616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829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1829"/>
          </a:p>
        </p:txBody>
      </p:sp>
      <p:sp>
        <p:nvSpPr>
          <p:cNvPr id="7" name="content-190">
            <a:extLst>
              <a:ext uri="{FF2B5EF4-FFF2-40B4-BE49-F238E27FC236}">
                <a16:creationId xmlns:a16="http://schemas.microsoft.com/office/drawing/2014/main" id="{9B15A2B8-3B5F-4A78-87D7-F5A6F721F0C4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依据R2至R5检查模型。</a:t>
            </a:r>
          </a:p>
        </p:txBody>
      </p:sp>
      <p:sp>
        <p:nvSpPr>
          <p:cNvPr id="8" name="content-191">
            <a:extLst>
              <a:ext uri="{FF2B5EF4-FFF2-40B4-BE49-F238E27FC236}">
                <a16:creationId xmlns:a16="http://schemas.microsoft.com/office/drawing/2014/main" id="{156B36EC-AEB6-41D2-953F-2D430C1A65E8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检查成绩的归属、关联两端的数量以及重复记录约束。</a:t>
            </a:r>
          </a:p>
        </p:txBody>
      </p:sp>
      <p:sp>
        <p:nvSpPr>
          <p:cNvPr id="9" name="content-192">
            <a:extLst>
              <a:ext uri="{FF2B5EF4-FFF2-40B4-BE49-F238E27FC236}">
                <a16:creationId xmlns:a16="http://schemas.microsoft.com/office/drawing/2014/main" id="{807FDE6F-D072-4C6D-BB9E-B6E572772D1C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标出问题，修改模型，并说明业务依据。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93">
            <a:extLst>
              <a:ext uri="{FF2B5EF4-FFF2-40B4-BE49-F238E27FC236}">
                <a16:creationId xmlns:a16="http://schemas.microsoft.com/office/drawing/2014/main" id="{68025069-7D21-48D3-9854-9E8A3359FBB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选课类图（参考）</a:t>
            </a:r>
          </a:p>
        </p:txBody>
      </p:sp>
      <p:sp>
        <p:nvSpPr>
          <p:cNvPr id="2" name="frame-194">
            <a:extLst>
              <a:ext uri="{FF2B5EF4-FFF2-40B4-BE49-F238E27FC236}">
                <a16:creationId xmlns:a16="http://schemas.microsoft.com/office/drawing/2014/main" id="{90BC142C-B62A-4529-9674-259AC17162D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95">
            <a:extLst>
              <a:ext uri="{FF2B5EF4-FFF2-40B4-BE49-F238E27FC236}">
                <a16:creationId xmlns:a16="http://schemas.microsoft.com/office/drawing/2014/main" id="{5DE6ED2A-B8AF-4115-9034-7C829BA4BD5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1E319BBD-66DF-4632-B595-5D0878D7176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5D61D045-C332-493F-BBF6-AEF1D0D0157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25 / 66</a:t>
            </a:r>
          </a:p>
        </p:txBody>
      </p:sp>
      <p:sp>
        <p:nvSpPr>
          <p:cNvPr id="21" name="UML finalmodel box 21"/>
          <p:cNvSpPr/>
          <p:nvPr/>
        </p:nvSpPr>
        <p:spPr>
          <a:xfrm>
            <a:off x="657597" y="2125148"/>
            <a:ext cx="1027968" cy="491221"/>
          </a:xfrm>
          <a:prstGeom prst="rect">
            <a:avLst/>
          </a:prstGeom>
          <a:solidFill>
            <a:srgbClr val="FFFFFF"/>
          </a:solidFill>
          <a:ln w="12157">
            <a:solidFill>
              <a:srgbClr val="1F2A44"/>
            </a:solidFill>
          </a:ln>
        </p:spPr>
      </p:sp>
      <p:sp>
        <p:nvSpPr>
          <p:cNvPr id="22" name="UML finalmodel label 22"/>
          <p:cNvSpPr/>
          <p:nvPr/>
        </p:nvSpPr>
        <p:spPr>
          <a:xfrm>
            <a:off x="689812" y="2206353"/>
            <a:ext cx="1044380" cy="372719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10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010"/>
          </a:p>
        </p:txBody>
      </p:sp>
      <p:sp>
        <p:nvSpPr>
          <p:cNvPr id="23" name="UML finalmodel box 23"/>
          <p:cNvSpPr/>
          <p:nvPr/>
        </p:nvSpPr>
        <p:spPr>
          <a:xfrm>
            <a:off x="3028120" y="1888095"/>
            <a:ext cx="2192516" cy="958129"/>
          </a:xfrm>
          <a:prstGeom prst="rect">
            <a:avLst/>
          </a:prstGeom>
          <a:solidFill>
            <a:srgbClr val="F5E4E7"/>
          </a:solidFill>
          <a:ln w="12157">
            <a:solidFill>
              <a:srgbClr val="1F2A44"/>
            </a:solidFill>
          </a:ln>
        </p:spPr>
      </p:sp>
      <p:sp>
        <p:nvSpPr>
          <p:cNvPr id="24" name="UML finalmodel label 24"/>
          <p:cNvSpPr/>
          <p:nvPr/>
        </p:nvSpPr>
        <p:spPr>
          <a:xfrm>
            <a:off x="3452797" y="1969301"/>
            <a:ext cx="1423992" cy="372719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10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2010"/>
          </a:p>
        </p:txBody>
      </p:sp>
      <p:sp>
        <p:nvSpPr>
          <p:cNvPr id="25" name="UML finalmodel divider 25"/>
          <p:cNvSpPr/>
          <p:nvPr/>
        </p:nvSpPr>
        <p:spPr>
          <a:xfrm>
            <a:off x="3040277" y="2379316"/>
            <a:ext cx="2168202" cy="1216"/>
          </a:xfrm>
          <a:custGeom>
            <a:avLst/>
            <a:gdLst/>
            <a:ahLst/>
            <a:cxnLst/>
            <a:rect l="0" t="0" r="r" b="b"/>
            <a:pathLst>
              <a:path w="1698850" h="952" fill="none" extrusionOk="0">
                <a:moveTo>
                  <a:pt x="0" y="0"/>
                </a:moveTo>
                <a:lnTo>
                  <a:pt x="1698850" y="0"/>
                </a:lnTo>
              </a:path>
            </a:pathLst>
          </a:custGeom>
          <a:noFill/>
          <a:ln w="12157">
            <a:solidFill>
              <a:srgbClr val="1F2A44"/>
            </a:solidFill>
          </a:ln>
        </p:spPr>
      </p:sp>
      <p:sp>
        <p:nvSpPr>
          <p:cNvPr id="26" name="UML finalmodel label 26"/>
          <p:cNvSpPr/>
          <p:nvPr/>
        </p:nvSpPr>
        <p:spPr>
          <a:xfrm>
            <a:off x="3096805" y="2448365"/>
            <a:ext cx="2135988" cy="372719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10" dirty="0">
                <a:solidFill>
                  <a:srgbClr val="000000"/>
                </a:solidFill>
                <a:latin typeface="Noto Sans SC"/>
                <a:ea typeface="Noto Sans SC"/>
              </a:rPr>
              <a:t>grade : Real [0..1]</a:t>
            </a:r>
            <a:endParaRPr lang="zh-CN" sz="2010"/>
          </a:p>
        </p:txBody>
      </p:sp>
      <p:sp>
        <p:nvSpPr>
          <p:cNvPr id="27" name="UML finalmodel box 27"/>
          <p:cNvSpPr/>
          <p:nvPr/>
        </p:nvSpPr>
        <p:spPr>
          <a:xfrm>
            <a:off x="6553515" y="2125148"/>
            <a:ext cx="1871182" cy="491221"/>
          </a:xfrm>
          <a:prstGeom prst="rect">
            <a:avLst/>
          </a:prstGeom>
          <a:solidFill>
            <a:srgbClr val="FFFFFF"/>
          </a:solidFill>
          <a:ln w="12157">
            <a:solidFill>
              <a:srgbClr val="1F2A44"/>
            </a:solidFill>
          </a:ln>
        </p:spPr>
      </p:sp>
      <p:sp>
        <p:nvSpPr>
          <p:cNvPr id="28" name="UML finalmodel label 28"/>
          <p:cNvSpPr/>
          <p:nvPr/>
        </p:nvSpPr>
        <p:spPr>
          <a:xfrm>
            <a:off x="6585729" y="2206353"/>
            <a:ext cx="1887593" cy="372719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010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010"/>
          </a:p>
        </p:txBody>
      </p:sp>
      <p:sp>
        <p:nvSpPr>
          <p:cNvPr id="29" name="UML finalmodel connection 29"/>
          <p:cNvSpPr/>
          <p:nvPr/>
        </p:nvSpPr>
        <p:spPr>
          <a:xfrm>
            <a:off x="1692324" y="2368278"/>
            <a:ext cx="1333936" cy="1216"/>
          </a:xfrm>
          <a:custGeom>
            <a:avLst/>
            <a:gdLst/>
            <a:ahLst/>
            <a:cxnLst/>
            <a:rect l="0" t="0" r="r" b="b"/>
            <a:pathLst>
              <a:path w="1045178" h="952" fill="none" extrusionOk="0">
                <a:moveTo>
                  <a:pt x="0" y="0"/>
                </a:moveTo>
                <a:cubicBezTo>
                  <a:pt x="287493" y="0"/>
                  <a:pt x="687076" y="0"/>
                  <a:pt x="1045178" y="0"/>
                </a:cubicBezTo>
              </a:path>
            </a:pathLst>
          </a:custGeom>
          <a:noFill/>
          <a:ln w="12157">
            <a:solidFill>
              <a:srgbClr val="1F2A44"/>
            </a:solidFill>
          </a:ln>
        </p:spPr>
      </p:sp>
      <p:sp>
        <p:nvSpPr>
          <p:cNvPr id="30" name="UML finalmodel label 30"/>
          <p:cNvSpPr/>
          <p:nvPr/>
        </p:nvSpPr>
        <p:spPr>
          <a:xfrm>
            <a:off x="2632997" y="2399885"/>
            <a:ext cx="468756" cy="354971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14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914"/>
          </a:p>
        </p:txBody>
      </p:sp>
      <p:sp>
        <p:nvSpPr>
          <p:cNvPr id="31" name="UML finalmodel label 31"/>
          <p:cNvSpPr/>
          <p:nvPr/>
        </p:nvSpPr>
        <p:spPr>
          <a:xfrm>
            <a:off x="1700226" y="2399885"/>
            <a:ext cx="328226" cy="354971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14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1914"/>
          </a:p>
        </p:txBody>
      </p:sp>
      <p:sp>
        <p:nvSpPr>
          <p:cNvPr id="32" name="UML finalmodel connection 32"/>
          <p:cNvSpPr/>
          <p:nvPr/>
        </p:nvSpPr>
        <p:spPr>
          <a:xfrm>
            <a:off x="5219761" y="2368278"/>
            <a:ext cx="1329147" cy="1216"/>
          </a:xfrm>
          <a:custGeom>
            <a:avLst/>
            <a:gdLst/>
            <a:ahLst/>
            <a:cxnLst/>
            <a:rect l="0" t="0" r="r" b="b"/>
            <a:pathLst>
              <a:path w="1041425" h="952" fill="none" extrusionOk="0">
                <a:moveTo>
                  <a:pt x="0" y="0"/>
                </a:moveTo>
                <a:cubicBezTo>
                  <a:pt x="336109" y="0"/>
                  <a:pt x="718423" y="0"/>
                  <a:pt x="1041425" y="0"/>
                </a:cubicBezTo>
              </a:path>
            </a:pathLst>
          </a:custGeom>
          <a:noFill/>
          <a:ln w="12157">
            <a:solidFill>
              <a:srgbClr val="1F2A44"/>
            </a:solidFill>
          </a:ln>
        </p:spPr>
      </p:sp>
      <p:sp>
        <p:nvSpPr>
          <p:cNvPr id="33" name="UML finalmodel label 33"/>
          <p:cNvSpPr/>
          <p:nvPr/>
        </p:nvSpPr>
        <p:spPr>
          <a:xfrm>
            <a:off x="6398774" y="2399885"/>
            <a:ext cx="328226" cy="354971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14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1914"/>
          </a:p>
        </p:txBody>
      </p:sp>
      <p:sp>
        <p:nvSpPr>
          <p:cNvPr id="34" name="UML finalmodel label 34"/>
          <p:cNvSpPr/>
          <p:nvPr/>
        </p:nvSpPr>
        <p:spPr>
          <a:xfrm>
            <a:off x="5227663" y="2399885"/>
            <a:ext cx="468756" cy="354971"/>
          </a:xfrm>
          <a:prstGeom prst="rect">
            <a:avLst/>
          </a:prstGeom>
          <a:noFill/>
          <a:ln w="12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914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914"/>
          </a:p>
        </p:txBody>
      </p:sp>
      <p:sp>
        <p:nvSpPr>
          <p:cNvPr id="7" name="content-196">
            <a:extLst>
              <a:ext uri="{FF2B5EF4-FFF2-40B4-BE49-F238E27FC236}">
                <a16:creationId xmlns:a16="http://schemas.microsoft.com/office/drawing/2014/main" id="{C3409A13-13D5-4224-A2FD-14A233592A26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信息归属：成绩放在具体选课记录中。</a:t>
            </a:r>
          </a:p>
        </p:txBody>
      </p:sp>
      <p:sp>
        <p:nvSpPr>
          <p:cNvPr id="8" name="content-197">
            <a:extLst>
              <a:ext uri="{FF2B5EF4-FFF2-40B4-BE49-F238E27FC236}">
                <a16:creationId xmlns:a16="http://schemas.microsoft.com/office/drawing/2014/main" id="{4611534C-EFDA-49D9-B2C5-A9E316EDE09C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记录归属：每条记录对应1名学生、1个班。</a:t>
            </a:r>
          </a:p>
        </p:txBody>
      </p:sp>
      <p:sp>
        <p:nvSpPr>
          <p:cNvPr id="9" name="content-198">
            <a:extLst>
              <a:ext uri="{FF2B5EF4-FFF2-40B4-BE49-F238E27FC236}">
                <a16:creationId xmlns:a16="http://schemas.microsoft.com/office/drawing/2014/main" id="{87AF2BB2-EE60-4B80-92E8-AB51C90F6E11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额外约束：同一学生与同一班，最多一条记录。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199">
            <a:extLst>
              <a:ext uri="{FF2B5EF4-FFF2-40B4-BE49-F238E27FC236}">
                <a16:creationId xmlns:a16="http://schemas.microsoft.com/office/drawing/2014/main" id="{F324626C-7AE1-4321-817E-FAB3AA35CD4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迁移练习：社团报名</a:t>
            </a:r>
          </a:p>
        </p:txBody>
      </p:sp>
      <p:sp>
        <p:nvSpPr>
          <p:cNvPr id="2" name="frame-200">
            <a:extLst>
              <a:ext uri="{FF2B5EF4-FFF2-40B4-BE49-F238E27FC236}">
                <a16:creationId xmlns:a16="http://schemas.microsoft.com/office/drawing/2014/main" id="{F898C1DF-699F-4D3E-AFCE-5068D67B59B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01">
            <a:extLst>
              <a:ext uri="{FF2B5EF4-FFF2-40B4-BE49-F238E27FC236}">
                <a16:creationId xmlns:a16="http://schemas.microsoft.com/office/drawing/2014/main" id="{878D89E6-FCD2-4129-BD97-6805B5F9365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FE7DEBA-DB2B-4F29-9D89-1E1A9048C4A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ACEF3FD2-4B92-403B-9E67-4CD3F972D76C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26 / 66</a:t>
            </a:r>
          </a:p>
        </p:txBody>
      </p:sp>
      <p:sp>
        <p:nvSpPr>
          <p:cNvPr id="6" name="content-202">
            <a:extLst>
              <a:ext uri="{FF2B5EF4-FFF2-40B4-BE49-F238E27FC236}">
                <a16:creationId xmlns:a16="http://schemas.microsoft.com/office/drawing/2014/main" id="{6B24CBDF-E1BB-4A9F-B616-86657D8427C3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2192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业务情境</a:t>
            </a:r>
          </a:p>
        </p:txBody>
      </p:sp>
      <p:sp>
        <p:nvSpPr>
          <p:cNvPr id="7" name="content-203">
            <a:extLst>
              <a:ext uri="{FF2B5EF4-FFF2-40B4-BE49-F238E27FC236}">
                <a16:creationId xmlns:a16="http://schemas.microsoft.com/office/drawing/2014/main" id="{7676AD11-ED60-4F20-A58E-BFF2E97FB02A}"/>
              </a:ext>
            </a:extLst>
          </p:cNvPr>
          <p:cNvSpPr>
            <a:spLocks noGrp="1"/>
          </p:cNvSpPr>
          <p:nvPr/>
        </p:nvSpPr>
        <p:spPr>
          <a:xfrm>
            <a:off x="1924050" y="1104900"/>
            <a:ext cx="65341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学生可报名多个社团，社团可有多名学生，也都可暂无报名。</a:t>
            </a:r>
          </a:p>
        </p:txBody>
      </p:sp>
      <p:sp>
        <p:nvSpPr>
          <p:cNvPr id="8" name="frame-204">
            <a:extLst>
              <a:ext uri="{FF2B5EF4-FFF2-40B4-BE49-F238E27FC236}">
                <a16:creationId xmlns:a16="http://schemas.microsoft.com/office/drawing/2014/main" id="{B6C0FA16-2539-40A6-B794-708E45111CA5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05">
            <a:extLst>
              <a:ext uri="{FF2B5EF4-FFF2-40B4-BE49-F238E27FC236}">
                <a16:creationId xmlns:a16="http://schemas.microsoft.com/office/drawing/2014/main" id="{CF234E60-EBD4-4DE4-A3DB-980080617DE6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2192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报名记录</a:t>
            </a:r>
          </a:p>
        </p:txBody>
      </p:sp>
      <p:sp>
        <p:nvSpPr>
          <p:cNvPr id="10" name="content-206">
            <a:extLst>
              <a:ext uri="{FF2B5EF4-FFF2-40B4-BE49-F238E27FC236}">
                <a16:creationId xmlns:a16="http://schemas.microsoft.com/office/drawing/2014/main" id="{5B1931D7-ED61-44B8-80CF-CF456ADA3417}"/>
              </a:ext>
            </a:extLst>
          </p:cNvPr>
          <p:cNvSpPr>
            <a:spLocks noGrp="1"/>
          </p:cNvSpPr>
          <p:nvPr/>
        </p:nvSpPr>
        <p:spPr>
          <a:xfrm>
            <a:off x="1924050" y="1933575"/>
            <a:ext cx="65341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每条记录对应1名学生、1个社团，并记录报名时间。</a:t>
            </a:r>
          </a:p>
        </p:txBody>
      </p:sp>
      <p:sp>
        <p:nvSpPr>
          <p:cNvPr id="11" name="frame-207">
            <a:extLst>
              <a:ext uri="{FF2B5EF4-FFF2-40B4-BE49-F238E27FC236}">
                <a16:creationId xmlns:a16="http://schemas.microsoft.com/office/drawing/2014/main" id="{857FB551-619C-4E39-8F6A-97A423F5D7EA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08">
            <a:extLst>
              <a:ext uri="{FF2B5EF4-FFF2-40B4-BE49-F238E27FC236}">
                <a16:creationId xmlns:a16="http://schemas.microsoft.com/office/drawing/2014/main" id="{73F95BC8-D5D9-4091-9AF6-34127235FCC2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2192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业务规则</a:t>
            </a:r>
          </a:p>
        </p:txBody>
      </p:sp>
      <p:sp>
        <p:nvSpPr>
          <p:cNvPr id="13" name="content-209">
            <a:extLst>
              <a:ext uri="{FF2B5EF4-FFF2-40B4-BE49-F238E27FC236}">
                <a16:creationId xmlns:a16="http://schemas.microsoft.com/office/drawing/2014/main" id="{447D4CAB-C228-4B75-BB1D-2EA8215AC1EF}"/>
              </a:ext>
            </a:extLst>
          </p:cNvPr>
          <p:cNvSpPr>
            <a:spLocks noGrp="1"/>
          </p:cNvSpPr>
          <p:nvPr/>
        </p:nvSpPr>
        <p:spPr>
          <a:xfrm>
            <a:off x="1924050" y="2762250"/>
            <a:ext cx="65341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同一学生与同一社团，最多一条报名记录。</a:t>
            </a:r>
          </a:p>
        </p:txBody>
      </p:sp>
      <p:sp>
        <p:nvSpPr>
          <p:cNvPr id="14" name="frame-210">
            <a:extLst>
              <a:ext uri="{FF2B5EF4-FFF2-40B4-BE49-F238E27FC236}">
                <a16:creationId xmlns:a16="http://schemas.microsoft.com/office/drawing/2014/main" id="{ACC110F7-DFFB-4B2B-9E2A-DA174B23DBE5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11">
            <a:extLst>
              <a:ext uri="{FF2B5EF4-FFF2-40B4-BE49-F238E27FC236}">
                <a16:creationId xmlns:a16="http://schemas.microsoft.com/office/drawing/2014/main" id="{EEB08672-360D-4A94-AEF3-4CA4F08BB756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2192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练习要求</a:t>
            </a:r>
          </a:p>
        </p:txBody>
      </p:sp>
      <p:sp>
        <p:nvSpPr>
          <p:cNvPr id="16" name="content-212">
            <a:extLst>
              <a:ext uri="{FF2B5EF4-FFF2-40B4-BE49-F238E27FC236}">
                <a16:creationId xmlns:a16="http://schemas.microsoft.com/office/drawing/2014/main" id="{6804CE89-4B97-403B-8517-5F79A767AED7}"/>
              </a:ext>
            </a:extLst>
          </p:cNvPr>
          <p:cNvSpPr>
            <a:spLocks noGrp="1"/>
          </p:cNvSpPr>
          <p:nvPr/>
        </p:nvSpPr>
        <p:spPr>
          <a:xfrm>
            <a:off x="1924050" y="3590925"/>
            <a:ext cx="653415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绘制类图，标注多重性，并写出额外约束。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213">
            <a:extLst>
              <a:ext uri="{FF2B5EF4-FFF2-40B4-BE49-F238E27FC236}">
                <a16:creationId xmlns:a16="http://schemas.microsoft.com/office/drawing/2014/main" id="{6E8E0E4D-3757-4860-B757-C24C811FBBA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社团报名类图（参考）</a:t>
            </a:r>
          </a:p>
        </p:txBody>
      </p:sp>
      <p:sp>
        <p:nvSpPr>
          <p:cNvPr id="2" name="frame-214">
            <a:extLst>
              <a:ext uri="{FF2B5EF4-FFF2-40B4-BE49-F238E27FC236}">
                <a16:creationId xmlns:a16="http://schemas.microsoft.com/office/drawing/2014/main" id="{FE3241DC-6742-4531-BBC3-D3FB4AC988F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15">
            <a:extLst>
              <a:ext uri="{FF2B5EF4-FFF2-40B4-BE49-F238E27FC236}">
                <a16:creationId xmlns:a16="http://schemas.microsoft.com/office/drawing/2014/main" id="{34A82C8A-A5A9-472A-904B-C89AB0DAEF3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2F382B18-4AD5-4870-AE42-C85504CE05B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D078DFDB-A32F-4FBA-B0B6-0AC3F8EA9B5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27 / 66</a:t>
            </a:r>
          </a:p>
        </p:txBody>
      </p:sp>
      <p:sp>
        <p:nvSpPr>
          <p:cNvPr id="21" name="UML club box 21"/>
          <p:cNvSpPr/>
          <p:nvPr/>
        </p:nvSpPr>
        <p:spPr>
          <a:xfrm>
            <a:off x="1167527" y="2092881"/>
            <a:ext cx="1167893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club label 22"/>
          <p:cNvSpPr/>
          <p:nvPr/>
        </p:nvSpPr>
        <p:spPr>
          <a:xfrm>
            <a:off x="1204127" y="2185140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3" name="UML club box 23"/>
          <p:cNvSpPr/>
          <p:nvPr/>
        </p:nvSpPr>
        <p:spPr>
          <a:xfrm>
            <a:off x="3860721" y="1823561"/>
            <a:ext cx="1826773" cy="1088547"/>
          </a:xfrm>
          <a:prstGeom prst="rect">
            <a:avLst/>
          </a:prstGeom>
          <a:solidFill>
            <a:srgbClr val="F5E4E7"/>
          </a:solidFill>
          <a:ln w="13811">
            <a:solidFill>
              <a:srgbClr val="1F2A44"/>
            </a:solidFill>
          </a:ln>
        </p:spPr>
      </p:sp>
      <p:sp>
        <p:nvSpPr>
          <p:cNvPr id="24" name="UML club label 24"/>
          <p:cNvSpPr/>
          <p:nvPr/>
        </p:nvSpPr>
        <p:spPr>
          <a:xfrm>
            <a:off x="3943837" y="1915820"/>
            <a:ext cx="1752399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Registration</a:t>
            </a:r>
            <a:endParaRPr lang="zh-CN" sz="2284"/>
          </a:p>
        </p:txBody>
      </p:sp>
      <p:sp>
        <p:nvSpPr>
          <p:cNvPr id="25" name="UML club divider 25"/>
          <p:cNvSpPr/>
          <p:nvPr/>
        </p:nvSpPr>
        <p:spPr>
          <a:xfrm>
            <a:off x="3874532" y="2381646"/>
            <a:ext cx="1799150" cy="1381"/>
          </a:xfrm>
          <a:custGeom>
            <a:avLst/>
            <a:gdLst/>
            <a:ahLst/>
            <a:cxnLst/>
            <a:rect l="0" t="0" r="r" b="b"/>
            <a:pathLst>
              <a:path w="1240793" h="952" fill="none" extrusionOk="0">
                <a:moveTo>
                  <a:pt x="0" y="0"/>
                </a:moveTo>
                <a:lnTo>
                  <a:pt x="1240793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6" name="UML club label 26"/>
          <p:cNvSpPr/>
          <p:nvPr/>
        </p:nvSpPr>
        <p:spPr>
          <a:xfrm>
            <a:off x="3938754" y="2460094"/>
            <a:ext cx="1762550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registeredAt</a:t>
            </a:r>
            <a:endParaRPr lang="zh-CN" sz="2284"/>
          </a:p>
        </p:txBody>
      </p:sp>
      <p:sp>
        <p:nvSpPr>
          <p:cNvPr id="27" name="UML club box 27"/>
          <p:cNvSpPr/>
          <p:nvPr/>
        </p:nvSpPr>
        <p:spPr>
          <a:xfrm>
            <a:off x="7203043" y="2092881"/>
            <a:ext cx="705575" cy="558085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8" name="UML club label 28"/>
          <p:cNvSpPr/>
          <p:nvPr/>
        </p:nvSpPr>
        <p:spPr>
          <a:xfrm>
            <a:off x="7239643" y="2185140"/>
            <a:ext cx="724221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Club</a:t>
            </a:r>
            <a:endParaRPr lang="zh-CN" sz="2284"/>
          </a:p>
        </p:txBody>
      </p:sp>
      <p:sp>
        <p:nvSpPr>
          <p:cNvPr id="29" name="UML club connection 29"/>
          <p:cNvSpPr/>
          <p:nvPr/>
        </p:nvSpPr>
        <p:spPr>
          <a:xfrm>
            <a:off x="2344839" y="2369106"/>
            <a:ext cx="1515205" cy="1381"/>
          </a:xfrm>
          <a:custGeom>
            <a:avLst/>
            <a:gdLst/>
            <a:ahLst/>
            <a:cxnLst/>
            <a:rect l="0" t="0" r="r" b="b"/>
            <a:pathLst>
              <a:path w="1044969" h="952" fill="none" extrusionOk="0">
                <a:moveTo>
                  <a:pt x="0" y="0"/>
                </a:moveTo>
                <a:cubicBezTo>
                  <a:pt x="296113" y="0"/>
                  <a:pt x="706022" y="0"/>
                  <a:pt x="1044969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30" name="UML club label 30"/>
          <p:cNvSpPr/>
          <p:nvPr/>
        </p:nvSpPr>
        <p:spPr>
          <a:xfrm>
            <a:off x="3413250" y="2405015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31" name="UML club label 31"/>
          <p:cNvSpPr/>
          <p:nvPr/>
        </p:nvSpPr>
        <p:spPr>
          <a:xfrm>
            <a:off x="2353817" y="2405015"/>
            <a:ext cx="372904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2175"/>
          </a:p>
        </p:txBody>
      </p:sp>
      <p:sp>
        <p:nvSpPr>
          <p:cNvPr id="32" name="UML club connection 32"/>
          <p:cNvSpPr/>
          <p:nvPr/>
        </p:nvSpPr>
        <p:spPr>
          <a:xfrm>
            <a:off x="5684469" y="2369106"/>
            <a:ext cx="1516296" cy="1381"/>
          </a:xfrm>
          <a:custGeom>
            <a:avLst/>
            <a:gdLst/>
            <a:ahLst/>
            <a:cxnLst/>
            <a:rect l="0" t="0" r="r" b="b"/>
            <a:pathLst>
              <a:path w="1045721" h="952" fill="none" extrusionOk="0">
                <a:moveTo>
                  <a:pt x="0" y="0"/>
                </a:moveTo>
                <a:cubicBezTo>
                  <a:pt x="357407" y="0"/>
                  <a:pt x="786108" y="0"/>
                  <a:pt x="1045721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33" name="UML club label 33"/>
          <p:cNvSpPr/>
          <p:nvPr/>
        </p:nvSpPr>
        <p:spPr>
          <a:xfrm>
            <a:off x="7030195" y="2405015"/>
            <a:ext cx="372904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2175"/>
          </a:p>
        </p:txBody>
      </p:sp>
      <p:sp>
        <p:nvSpPr>
          <p:cNvPr id="34" name="UML club label 34"/>
          <p:cNvSpPr/>
          <p:nvPr/>
        </p:nvSpPr>
        <p:spPr>
          <a:xfrm>
            <a:off x="5693446" y="2405015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7" name="content-216">
            <a:extLst>
              <a:ext uri="{FF2B5EF4-FFF2-40B4-BE49-F238E27FC236}">
                <a16:creationId xmlns:a16="http://schemas.microsoft.com/office/drawing/2014/main" id="{A224166D-6F6B-4C06-BAF9-DC1414B0A36D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Registration是报名记录，registeredAt是本记录的报名时间。</a:t>
            </a:r>
          </a:p>
        </p:txBody>
      </p:sp>
      <p:sp>
        <p:nvSpPr>
          <p:cNvPr id="8" name="content-217">
            <a:extLst>
              <a:ext uri="{FF2B5EF4-FFF2-40B4-BE49-F238E27FC236}">
                <a16:creationId xmlns:a16="http://schemas.microsoft.com/office/drawing/2014/main" id="{21D57710-4D9D-4592-8B7F-5ADA4C71BA89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一条记录关联1名学生、1个社团；反向允许0到多条。</a:t>
            </a:r>
          </a:p>
        </p:txBody>
      </p:sp>
      <p:sp>
        <p:nvSpPr>
          <p:cNvPr id="9" name="content-218">
            <a:extLst>
              <a:ext uri="{FF2B5EF4-FFF2-40B4-BE49-F238E27FC236}">
                <a16:creationId xmlns:a16="http://schemas.microsoft.com/office/drawing/2014/main" id="{AB999114-76F8-4748-89C2-3FA2C6A0782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另外写：同一学生与同一社团，最多一条报名记录。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-219">
            <a:extLst>
              <a:ext uri="{FF2B5EF4-FFF2-40B4-BE49-F238E27FC236}">
                <a16:creationId xmlns:a16="http://schemas.microsoft.com/office/drawing/2014/main" id="{FBD2B538-4400-4102-8355-7168B86762E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课堂小结与思考</a:t>
            </a:r>
          </a:p>
        </p:txBody>
      </p:sp>
      <p:sp>
        <p:nvSpPr>
          <p:cNvPr id="2" name="frame-220">
            <a:extLst>
              <a:ext uri="{FF2B5EF4-FFF2-40B4-BE49-F238E27FC236}">
                <a16:creationId xmlns:a16="http://schemas.microsoft.com/office/drawing/2014/main" id="{375B2153-6291-4039-B644-B6006EDFFC85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21">
            <a:extLst>
              <a:ext uri="{FF2B5EF4-FFF2-40B4-BE49-F238E27FC236}">
                <a16:creationId xmlns:a16="http://schemas.microsoft.com/office/drawing/2014/main" id="{C8BA3C8C-B418-427F-9B71-4A13FEA2C17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DC0D54D-5794-4F09-BD80-766A923CACD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881B33C3-4CC7-42DE-9B25-E3348E7D197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28 / 66</a:t>
            </a:r>
          </a:p>
        </p:txBody>
      </p:sp>
      <p:sp>
        <p:nvSpPr>
          <p:cNvPr id="6" name="content-222">
            <a:extLst>
              <a:ext uri="{FF2B5EF4-FFF2-40B4-BE49-F238E27FC236}">
                <a16:creationId xmlns:a16="http://schemas.microsoft.com/office/drawing/2014/main" id="{0193B954-C69C-47AF-89B4-C0AEDD9F595B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类与对象</a:t>
            </a:r>
          </a:p>
        </p:txBody>
      </p:sp>
      <p:sp>
        <p:nvSpPr>
          <p:cNvPr id="7" name="content-223">
            <a:extLst>
              <a:ext uri="{FF2B5EF4-FFF2-40B4-BE49-F238E27FC236}">
                <a16:creationId xmlns:a16="http://schemas.microsoft.com/office/drawing/2014/main" id="{5B0F89C8-E260-424E-90D8-57886C1D5A41}"/>
              </a:ext>
            </a:extLst>
          </p:cNvPr>
          <p:cNvSpPr>
            <a:spLocks noGrp="1"/>
          </p:cNvSpPr>
          <p:nvPr/>
        </p:nvSpPr>
        <p:spPr>
          <a:xfrm>
            <a:off x="1924050" y="1104900"/>
            <a:ext cx="65341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“学生类”与“S01这个对象”有什么区别？</a:t>
            </a:r>
          </a:p>
        </p:txBody>
      </p:sp>
      <p:sp>
        <p:nvSpPr>
          <p:cNvPr id="8" name="frame-224">
            <a:extLst>
              <a:ext uri="{FF2B5EF4-FFF2-40B4-BE49-F238E27FC236}">
                <a16:creationId xmlns:a16="http://schemas.microsoft.com/office/drawing/2014/main" id="{DDF6B668-0A41-4809-872A-99E31872D3C6}"/>
              </a:ext>
            </a:extLst>
          </p:cNvPr>
          <p:cNvSpPr>
            <a:spLocks noGrp="1"/>
          </p:cNvSpPr>
          <p:nvPr/>
        </p:nvSpPr>
        <p:spPr>
          <a:xfrm>
            <a:off x="476250" y="21431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25">
            <a:extLst>
              <a:ext uri="{FF2B5EF4-FFF2-40B4-BE49-F238E27FC236}">
                <a16:creationId xmlns:a16="http://schemas.microsoft.com/office/drawing/2014/main" id="{81D07288-F9E3-4E73-BD98-B61F6E38F6C5}"/>
              </a:ext>
            </a:extLst>
          </p:cNvPr>
          <p:cNvSpPr>
            <a:spLocks noGrp="1"/>
          </p:cNvSpPr>
          <p:nvPr/>
        </p:nvSpPr>
        <p:spPr>
          <a:xfrm>
            <a:off x="495300" y="21717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多重性</a:t>
            </a:r>
          </a:p>
        </p:txBody>
      </p:sp>
      <p:sp>
        <p:nvSpPr>
          <p:cNvPr id="10" name="content-226">
            <a:extLst>
              <a:ext uri="{FF2B5EF4-FFF2-40B4-BE49-F238E27FC236}">
                <a16:creationId xmlns:a16="http://schemas.microsoft.com/office/drawing/2014/main" id="{FEB57EA0-43C8-4D72-B4CF-7474B15EF355}"/>
              </a:ext>
            </a:extLst>
          </p:cNvPr>
          <p:cNvSpPr>
            <a:spLocks noGrp="1"/>
          </p:cNvSpPr>
          <p:nvPr/>
        </p:nvSpPr>
        <p:spPr>
          <a:xfrm>
            <a:off x="1924050" y="2171700"/>
            <a:ext cx="65341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一条记录关联1名学生，为什么学生仍可有多条记录？</a:t>
            </a:r>
          </a:p>
        </p:txBody>
      </p:sp>
      <p:sp>
        <p:nvSpPr>
          <p:cNvPr id="11" name="frame-227">
            <a:extLst>
              <a:ext uri="{FF2B5EF4-FFF2-40B4-BE49-F238E27FC236}">
                <a16:creationId xmlns:a16="http://schemas.microsoft.com/office/drawing/2014/main" id="{658AEF1A-6D57-422B-A4AE-2DE56A31083C}"/>
              </a:ext>
            </a:extLst>
          </p:cNvPr>
          <p:cNvSpPr>
            <a:spLocks noGrp="1"/>
          </p:cNvSpPr>
          <p:nvPr/>
        </p:nvSpPr>
        <p:spPr>
          <a:xfrm>
            <a:off x="476250" y="32099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28">
            <a:extLst>
              <a:ext uri="{FF2B5EF4-FFF2-40B4-BE49-F238E27FC236}">
                <a16:creationId xmlns:a16="http://schemas.microsoft.com/office/drawing/2014/main" id="{BA1F6478-9FDF-494D-810A-E7A4F49DE78D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业务约束</a:t>
            </a:r>
          </a:p>
        </p:txBody>
      </p:sp>
      <p:sp>
        <p:nvSpPr>
          <p:cNvPr id="13" name="content-229">
            <a:extLst>
              <a:ext uri="{FF2B5EF4-FFF2-40B4-BE49-F238E27FC236}">
                <a16:creationId xmlns:a16="http://schemas.microsoft.com/office/drawing/2014/main" id="{C3D9CFAA-39F3-40D0-8942-84E1EFF19275}"/>
              </a:ext>
            </a:extLst>
          </p:cNvPr>
          <p:cNvSpPr>
            <a:spLocks noGrp="1"/>
          </p:cNvSpPr>
          <p:nvPr/>
        </p:nvSpPr>
        <p:spPr>
          <a:xfrm>
            <a:off x="1924050" y="3238500"/>
            <a:ext cx="653415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举出两条满足端点数量、却违反配对唯一规则的记录。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230">
            <a:extLst>
              <a:ext uri="{FF2B5EF4-FFF2-40B4-BE49-F238E27FC236}">
                <a16:creationId xmlns:a16="http://schemas.microsoft.com/office/drawing/2014/main" id="{F952D7B0-37E6-4584-A8F8-09E20258065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拓展：类图的其他表示与应用</a:t>
            </a:r>
          </a:p>
        </p:txBody>
      </p:sp>
      <p:sp>
        <p:nvSpPr>
          <p:cNvPr id="2" name="frame-231">
            <a:extLst>
              <a:ext uri="{FF2B5EF4-FFF2-40B4-BE49-F238E27FC236}">
                <a16:creationId xmlns:a16="http://schemas.microsoft.com/office/drawing/2014/main" id="{6084C342-9ED0-43EA-A9D2-7EC45676F77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32">
            <a:extLst>
              <a:ext uri="{FF2B5EF4-FFF2-40B4-BE49-F238E27FC236}">
                <a16:creationId xmlns:a16="http://schemas.microsoft.com/office/drawing/2014/main" id="{2BC0FA50-C5A7-4DC5-B2D3-F2320559DA3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7EDF7EAE-E4C4-4542-8FE1-430463E4C355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7321ED0E-6C27-4449-A2DB-28E56EA28FF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29 / 66</a:t>
            </a:r>
          </a:p>
        </p:txBody>
      </p:sp>
      <p:sp>
        <p:nvSpPr>
          <p:cNvPr id="6" name="content-233">
            <a:extLst>
              <a:ext uri="{FF2B5EF4-FFF2-40B4-BE49-F238E27FC236}">
                <a16:creationId xmlns:a16="http://schemas.microsoft.com/office/drawing/2014/main" id="{D205C9D7-C139-41F6-95F3-98643D2F72B5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类与关系</a:t>
            </a:r>
          </a:p>
        </p:txBody>
      </p:sp>
      <p:sp>
        <p:nvSpPr>
          <p:cNvPr id="7" name="content-234">
            <a:extLst>
              <a:ext uri="{FF2B5EF4-FFF2-40B4-BE49-F238E27FC236}">
                <a16:creationId xmlns:a16="http://schemas.microsoft.com/office/drawing/2014/main" id="{3F3225A8-C76E-4307-8A76-7A88C7D68DF3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关联类、操作、泛化和组合。</a:t>
            </a:r>
          </a:p>
        </p:txBody>
      </p:sp>
      <p:sp>
        <p:nvSpPr>
          <p:cNvPr id="8" name="frame-235">
            <a:extLst>
              <a:ext uri="{FF2B5EF4-FFF2-40B4-BE49-F238E27FC236}">
                <a16:creationId xmlns:a16="http://schemas.microsoft.com/office/drawing/2014/main" id="{8D5CCD53-58B6-4387-9F51-5CE232691A67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36">
            <a:extLst>
              <a:ext uri="{FF2B5EF4-FFF2-40B4-BE49-F238E27FC236}">
                <a16:creationId xmlns:a16="http://schemas.microsoft.com/office/drawing/2014/main" id="{A13004D3-9CE9-4A07-B556-FFBE395A36A8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建模层次</a:t>
            </a:r>
          </a:p>
        </p:txBody>
      </p:sp>
      <p:sp>
        <p:nvSpPr>
          <p:cNvPr id="10" name="content-237">
            <a:extLst>
              <a:ext uri="{FF2B5EF4-FFF2-40B4-BE49-F238E27FC236}">
                <a16:creationId xmlns:a16="http://schemas.microsoft.com/office/drawing/2014/main" id="{E94A907C-0076-4F71-A8C6-5E367CE4140A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概念层、说明层与实现层。</a:t>
            </a:r>
          </a:p>
        </p:txBody>
      </p:sp>
      <p:sp>
        <p:nvSpPr>
          <p:cNvPr id="11" name="frame-238">
            <a:extLst>
              <a:ext uri="{FF2B5EF4-FFF2-40B4-BE49-F238E27FC236}">
                <a16:creationId xmlns:a16="http://schemas.microsoft.com/office/drawing/2014/main" id="{78F0CE90-541D-48D8-9140-AEAB38685163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39">
            <a:extLst>
              <a:ext uri="{FF2B5EF4-FFF2-40B4-BE49-F238E27FC236}">
                <a16:creationId xmlns:a16="http://schemas.microsoft.com/office/drawing/2014/main" id="{3F0B71B8-FA21-49AB-BC02-C021250B8866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需求变化</a:t>
            </a:r>
          </a:p>
        </p:txBody>
      </p:sp>
      <p:sp>
        <p:nvSpPr>
          <p:cNvPr id="13" name="content-240">
            <a:extLst>
              <a:ext uri="{FF2B5EF4-FFF2-40B4-BE49-F238E27FC236}">
                <a16:creationId xmlns:a16="http://schemas.microsoft.com/office/drawing/2014/main" id="{E87374A3-CCF0-4ED0-8A87-CA51C4BEBF2C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课程目录、跨学期重修与借阅历史。</a:t>
            </a:r>
          </a:p>
        </p:txBody>
      </p:sp>
      <p:sp>
        <p:nvSpPr>
          <p:cNvPr id="14" name="frame-241">
            <a:extLst>
              <a:ext uri="{FF2B5EF4-FFF2-40B4-BE49-F238E27FC236}">
                <a16:creationId xmlns:a16="http://schemas.microsoft.com/office/drawing/2014/main" id="{46457704-B881-4403-AD1F-532FCD822F51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42">
            <a:extLst>
              <a:ext uri="{FF2B5EF4-FFF2-40B4-BE49-F238E27FC236}">
                <a16:creationId xmlns:a16="http://schemas.microsoft.com/office/drawing/2014/main" id="{B532F91C-D8D5-48E9-9FEE-47720B4A473D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表示法查阅</a:t>
            </a:r>
          </a:p>
        </p:txBody>
      </p:sp>
      <p:sp>
        <p:nvSpPr>
          <p:cNvPr id="16" name="content-243">
            <a:extLst>
              <a:ext uri="{FF2B5EF4-FFF2-40B4-BE49-F238E27FC236}">
                <a16:creationId xmlns:a16="http://schemas.microsoft.com/office/drawing/2014/main" id="{2728CFE5-1360-41C8-93FB-B8B148BC29CF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属性与操作语法、导航性、多元关联等。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51">
            <a:extLst>
              <a:ext uri="{FF2B5EF4-FFF2-40B4-BE49-F238E27FC236}">
                <a16:creationId xmlns:a16="http://schemas.microsoft.com/office/drawing/2014/main" id="{6F87D22C-EC0C-406C-A0BF-B9FFE645C7D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关联类</a:t>
            </a:r>
          </a:p>
        </p:txBody>
      </p:sp>
      <p:sp>
        <p:nvSpPr>
          <p:cNvPr id="2" name="frame-152">
            <a:extLst>
              <a:ext uri="{FF2B5EF4-FFF2-40B4-BE49-F238E27FC236}">
                <a16:creationId xmlns:a16="http://schemas.microsoft.com/office/drawing/2014/main" id="{951D7F54-8E32-4CE5-88E7-415709AAB4D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53">
            <a:extLst>
              <a:ext uri="{FF2B5EF4-FFF2-40B4-BE49-F238E27FC236}">
                <a16:creationId xmlns:a16="http://schemas.microsoft.com/office/drawing/2014/main" id="{B6123552-6CFC-46BD-A1C9-D112D24175A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14CFA459-014D-45AA-9C8E-CBB9BE9E2D8A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拓展学习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A847064A-9FE2-4E93-9A25-D29CE4D9F50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30 / 66</a:t>
            </a:r>
          </a:p>
        </p:txBody>
      </p:sp>
      <p:sp>
        <p:nvSpPr>
          <p:cNvPr id="21" name="UML associationclass box 21"/>
          <p:cNvSpPr/>
          <p:nvPr/>
        </p:nvSpPr>
        <p:spPr>
          <a:xfrm>
            <a:off x="1886331" y="1280433"/>
            <a:ext cx="856992" cy="409519"/>
          </a:xfrm>
          <a:prstGeom prst="rect">
            <a:avLst/>
          </a:prstGeom>
          <a:solidFill>
            <a:srgbClr val="FFFFFF"/>
          </a:solidFill>
          <a:ln w="10135">
            <a:solidFill>
              <a:srgbClr val="1F2A44"/>
            </a:solidFill>
          </a:ln>
        </p:spPr>
      </p:sp>
      <p:sp>
        <p:nvSpPr>
          <p:cNvPr id="22" name="UML associationclass label 22"/>
          <p:cNvSpPr/>
          <p:nvPr/>
        </p:nvSpPr>
        <p:spPr>
          <a:xfrm>
            <a:off x="1913188" y="1348132"/>
            <a:ext cx="870674" cy="310727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76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1676"/>
          </a:p>
        </p:txBody>
      </p:sp>
      <p:sp>
        <p:nvSpPr>
          <p:cNvPr id="23" name="UML associationclass box 23"/>
          <p:cNvSpPr/>
          <p:nvPr/>
        </p:nvSpPr>
        <p:spPr>
          <a:xfrm>
            <a:off x="5940171" y="1280433"/>
            <a:ext cx="1559958" cy="409519"/>
          </a:xfrm>
          <a:prstGeom prst="rect">
            <a:avLst/>
          </a:prstGeom>
          <a:solidFill>
            <a:srgbClr val="FFFFFF"/>
          </a:solidFill>
          <a:ln w="10135">
            <a:solidFill>
              <a:srgbClr val="1F2A44"/>
            </a:solidFill>
          </a:ln>
        </p:spPr>
      </p:sp>
      <p:sp>
        <p:nvSpPr>
          <p:cNvPr id="24" name="UML associationclass label 24"/>
          <p:cNvSpPr/>
          <p:nvPr/>
        </p:nvSpPr>
        <p:spPr>
          <a:xfrm>
            <a:off x="5967028" y="1348132"/>
            <a:ext cx="1573640" cy="310727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76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1676"/>
          </a:p>
        </p:txBody>
      </p:sp>
      <p:sp>
        <p:nvSpPr>
          <p:cNvPr id="25" name="UML associationclass box 25"/>
          <p:cNvSpPr/>
          <p:nvPr/>
        </p:nvSpPr>
        <p:spPr>
          <a:xfrm>
            <a:off x="3025055" y="2050662"/>
            <a:ext cx="2633395" cy="1415114"/>
          </a:xfrm>
          <a:prstGeom prst="rect">
            <a:avLst/>
          </a:prstGeom>
          <a:solidFill>
            <a:srgbClr val="F5E4E7"/>
          </a:solidFill>
          <a:ln w="10135">
            <a:solidFill>
              <a:srgbClr val="1F2A44"/>
            </a:solidFill>
          </a:ln>
        </p:spPr>
      </p:sp>
      <p:sp>
        <p:nvSpPr>
          <p:cNvPr id="26" name="UML associationclass label 26"/>
          <p:cNvSpPr/>
          <p:nvPr/>
        </p:nvSpPr>
        <p:spPr>
          <a:xfrm>
            <a:off x="3781876" y="2118362"/>
            <a:ext cx="1187147" cy="310727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76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1676"/>
          </a:p>
        </p:txBody>
      </p:sp>
      <p:sp>
        <p:nvSpPr>
          <p:cNvPr id="27" name="UML associationclass divider 27"/>
          <p:cNvSpPr/>
          <p:nvPr/>
        </p:nvSpPr>
        <p:spPr>
          <a:xfrm>
            <a:off x="3035189" y="2460181"/>
            <a:ext cx="2613126" cy="1013"/>
          </a:xfrm>
          <a:custGeom>
            <a:avLst/>
            <a:gdLst/>
            <a:ahLst/>
            <a:cxnLst/>
            <a:rect l="0" t="0" r="r" b="b"/>
            <a:pathLst>
              <a:path w="2455945" h="952" fill="none" extrusionOk="0">
                <a:moveTo>
                  <a:pt x="0" y="0"/>
                </a:moveTo>
                <a:lnTo>
                  <a:pt x="2455945" y="0"/>
                </a:lnTo>
              </a:path>
            </a:pathLst>
          </a:custGeom>
          <a:noFill/>
          <a:ln w="10135">
            <a:solidFill>
              <a:srgbClr val="1F2A44"/>
            </a:solidFill>
          </a:ln>
        </p:spPr>
      </p:sp>
      <p:sp>
        <p:nvSpPr>
          <p:cNvPr id="28" name="UML associationclass label 28"/>
          <p:cNvSpPr/>
          <p:nvPr/>
        </p:nvSpPr>
        <p:spPr>
          <a:xfrm>
            <a:off x="3082315" y="2517746"/>
            <a:ext cx="2234041" cy="310727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76" dirty="0">
                <a:solidFill>
                  <a:srgbClr val="000000"/>
                </a:solidFill>
                <a:latin typeface="Noto Sans SC"/>
                <a:ea typeface="Noto Sans SC"/>
              </a:rPr>
              <a:t>enrolledAt : DateTime</a:t>
            </a:r>
            <a:endParaRPr lang="zh-CN" sz="1676"/>
          </a:p>
        </p:txBody>
      </p:sp>
      <p:sp>
        <p:nvSpPr>
          <p:cNvPr id="29" name="UML associationclass label 29"/>
          <p:cNvSpPr/>
          <p:nvPr/>
        </p:nvSpPr>
        <p:spPr>
          <a:xfrm>
            <a:off x="3082315" y="2825919"/>
            <a:ext cx="2586269" cy="310727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76" dirty="0">
                <a:solidFill>
                  <a:srgbClr val="000000"/>
                </a:solidFill>
                <a:latin typeface="Noto Sans SC"/>
                <a:ea typeface="Noto Sans SC"/>
              </a:rPr>
              <a:t>status : EnrollmentStatus</a:t>
            </a:r>
            <a:endParaRPr lang="zh-CN" sz="1676"/>
          </a:p>
        </p:txBody>
      </p:sp>
      <p:sp>
        <p:nvSpPr>
          <p:cNvPr id="30" name="UML associationclass label 30"/>
          <p:cNvSpPr/>
          <p:nvPr/>
        </p:nvSpPr>
        <p:spPr>
          <a:xfrm>
            <a:off x="3082315" y="3134092"/>
            <a:ext cx="1780720" cy="310727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76" dirty="0">
                <a:solidFill>
                  <a:srgbClr val="000000"/>
                </a:solidFill>
                <a:latin typeface="Noto Sans SC"/>
                <a:ea typeface="Noto Sans SC"/>
              </a:rPr>
              <a:t>grade : Real [0..1]</a:t>
            </a:r>
            <a:endParaRPr lang="zh-CN" sz="1676"/>
          </a:p>
        </p:txBody>
      </p:sp>
      <p:sp>
        <p:nvSpPr>
          <p:cNvPr id="31" name="UML associationclass label 31"/>
          <p:cNvSpPr/>
          <p:nvPr/>
        </p:nvSpPr>
        <p:spPr>
          <a:xfrm>
            <a:off x="2794898" y="1205437"/>
            <a:ext cx="390790" cy="295930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96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596"/>
          </a:p>
        </p:txBody>
      </p:sp>
      <p:sp>
        <p:nvSpPr>
          <p:cNvPr id="32" name="UML associationclass label 32"/>
          <p:cNvSpPr/>
          <p:nvPr/>
        </p:nvSpPr>
        <p:spPr>
          <a:xfrm>
            <a:off x="5551509" y="1205437"/>
            <a:ext cx="390790" cy="295930"/>
          </a:xfrm>
          <a:prstGeom prst="rect">
            <a:avLst/>
          </a:prstGeom>
          <a:noFill/>
          <a:ln w="1013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96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596"/>
          </a:p>
        </p:txBody>
      </p:sp>
      <p:sp>
        <p:nvSpPr>
          <p:cNvPr id="33" name="UML associationclass connection 33"/>
          <p:cNvSpPr/>
          <p:nvPr/>
        </p:nvSpPr>
        <p:spPr>
          <a:xfrm>
            <a:off x="2743323" y="1485192"/>
            <a:ext cx="3196848" cy="1013"/>
          </a:xfrm>
          <a:custGeom>
            <a:avLst/>
            <a:gdLst/>
            <a:ahLst/>
            <a:cxnLst/>
            <a:rect l="0" t="0" r="r" b="b"/>
            <a:pathLst>
              <a:path w="3004556" h="952" fill="none" extrusionOk="0">
                <a:moveTo>
                  <a:pt x="0" y="0"/>
                </a:moveTo>
                <a:lnTo>
                  <a:pt x="3004556" y="0"/>
                </a:lnTo>
              </a:path>
            </a:pathLst>
          </a:custGeom>
          <a:noFill/>
          <a:ln w="10135">
            <a:solidFill>
              <a:srgbClr val="1F2A44"/>
            </a:solidFill>
          </a:ln>
        </p:spPr>
      </p:sp>
      <p:sp>
        <p:nvSpPr>
          <p:cNvPr id="34" name="UML associationclass connection 34"/>
          <p:cNvSpPr/>
          <p:nvPr/>
        </p:nvSpPr>
        <p:spPr>
          <a:xfrm>
            <a:off x="4341742" y="1485192"/>
            <a:ext cx="1013" cy="565470"/>
          </a:xfrm>
          <a:custGeom>
            <a:avLst/>
            <a:gdLst/>
            <a:ahLst/>
            <a:cxnLst/>
            <a:rect l="0" t="0" r="r" b="b"/>
            <a:pathLst>
              <a:path w="952" h="531457" fill="none" extrusionOk="0">
                <a:moveTo>
                  <a:pt x="0" y="0"/>
                </a:moveTo>
                <a:lnTo>
                  <a:pt x="0" y="531457"/>
                </a:lnTo>
              </a:path>
            </a:pathLst>
          </a:custGeom>
          <a:noFill/>
          <a:ln w="10135">
            <a:solidFill>
              <a:srgbClr val="1F2A44"/>
            </a:solidFill>
            <a:prstDash val="dash"/>
          </a:ln>
        </p:spPr>
      </p:sp>
      <p:sp>
        <p:nvSpPr>
          <p:cNvPr id="7" name="content-154">
            <a:extLst>
              <a:ext uri="{FF2B5EF4-FFF2-40B4-BE49-F238E27FC236}">
                <a16:creationId xmlns:a16="http://schemas.microsoft.com/office/drawing/2014/main" id="{6C6C4B0B-8DAD-4F7E-8FC5-D6D32EF61E4F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正式关联类用虚线连接到关联线。</a:t>
            </a:r>
          </a:p>
        </p:txBody>
      </p:sp>
      <p:sp>
        <p:nvSpPr>
          <p:cNvPr id="8" name="content-155">
            <a:extLst>
              <a:ext uri="{FF2B5EF4-FFF2-40B4-BE49-F238E27FC236}">
                <a16:creationId xmlns:a16="http://schemas.microsoft.com/office/drawing/2014/main" id="{89CFF17E-E30E-42AB-A91D-11BE3B9F4E12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它同时具有类与关联的语义。</a:t>
            </a:r>
          </a:p>
        </p:txBody>
      </p:sp>
      <p:sp>
        <p:nvSpPr>
          <p:cNvPr id="9" name="content-156">
            <a:extLst>
              <a:ext uri="{FF2B5EF4-FFF2-40B4-BE49-F238E27FC236}">
                <a16:creationId xmlns:a16="http://schemas.microsoft.com/office/drawing/2014/main" id="{11F24054-D403-4D9E-9F69-E58E01F5D7E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本例仍需明确R4，不能靠换一种符号自动防止重复。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57">
            <a:extLst>
              <a:ext uri="{FF2B5EF4-FFF2-40B4-BE49-F238E27FC236}">
                <a16:creationId xmlns:a16="http://schemas.microsoft.com/office/drawing/2014/main" id="{3856FA35-2B44-4C68-ADE4-186C9171469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类的操作</a:t>
            </a:r>
          </a:p>
        </p:txBody>
      </p:sp>
      <p:sp>
        <p:nvSpPr>
          <p:cNvPr id="2" name="frame-158">
            <a:extLst>
              <a:ext uri="{FF2B5EF4-FFF2-40B4-BE49-F238E27FC236}">
                <a16:creationId xmlns:a16="http://schemas.microsoft.com/office/drawing/2014/main" id="{1116B4BD-D1A2-49A2-A495-499EC179C76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59">
            <a:extLst>
              <a:ext uri="{FF2B5EF4-FFF2-40B4-BE49-F238E27FC236}">
                <a16:creationId xmlns:a16="http://schemas.microsoft.com/office/drawing/2014/main" id="{387D1A1C-E1F9-4797-B12B-FFBEAAB3B1C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E3AD5B44-684C-4DF3-BAEB-735C6B5B792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拓展学习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0FA031CA-95B9-4C16-9525-B572D33D050C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31 / 66</a:t>
            </a:r>
          </a:p>
        </p:txBody>
      </p:sp>
      <p:sp>
        <p:nvSpPr>
          <p:cNvPr id="21" name="UML operation box 21"/>
          <p:cNvSpPr/>
          <p:nvPr/>
        </p:nvSpPr>
        <p:spPr>
          <a:xfrm>
            <a:off x="2659142" y="1561148"/>
            <a:ext cx="3762765" cy="1619010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operation label 22"/>
          <p:cNvSpPr/>
          <p:nvPr/>
        </p:nvSpPr>
        <p:spPr>
          <a:xfrm>
            <a:off x="3777535" y="1653407"/>
            <a:ext cx="1617822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2284"/>
          </a:p>
        </p:txBody>
      </p:sp>
      <p:sp>
        <p:nvSpPr>
          <p:cNvPr id="23" name="UML operation divider 23"/>
          <p:cNvSpPr/>
          <p:nvPr/>
        </p:nvSpPr>
        <p:spPr>
          <a:xfrm>
            <a:off x="2672953" y="2119232"/>
            <a:ext cx="3735142" cy="1381"/>
          </a:xfrm>
          <a:custGeom>
            <a:avLst/>
            <a:gdLst/>
            <a:ahLst/>
            <a:cxnLst/>
            <a:rect l="0" t="0" r="r" b="b"/>
            <a:pathLst>
              <a:path w="2575960" h="952" fill="none" extrusionOk="0">
                <a:moveTo>
                  <a:pt x="0" y="0"/>
                </a:moveTo>
                <a:lnTo>
                  <a:pt x="2575960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operation label 24"/>
          <p:cNvSpPr/>
          <p:nvPr/>
        </p:nvSpPr>
        <p:spPr>
          <a:xfrm>
            <a:off x="2737175" y="2197680"/>
            <a:ext cx="2527376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-grade : Real [0..1]</a:t>
            </a:r>
            <a:endParaRPr lang="zh-CN" sz="2284"/>
          </a:p>
        </p:txBody>
      </p:sp>
      <p:sp>
        <p:nvSpPr>
          <p:cNvPr id="25" name="UML operation divider 25"/>
          <p:cNvSpPr/>
          <p:nvPr/>
        </p:nvSpPr>
        <p:spPr>
          <a:xfrm>
            <a:off x="2672953" y="2649695"/>
            <a:ext cx="3735142" cy="1381"/>
          </a:xfrm>
          <a:custGeom>
            <a:avLst/>
            <a:gdLst/>
            <a:ahLst/>
            <a:cxnLst/>
            <a:rect l="0" t="0" r="r" b="b"/>
            <a:pathLst>
              <a:path w="2575960" h="952" fill="none" extrusionOk="0">
                <a:moveTo>
                  <a:pt x="0" y="0"/>
                </a:moveTo>
                <a:lnTo>
                  <a:pt x="2575960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6" name="UML operation label 26"/>
          <p:cNvSpPr/>
          <p:nvPr/>
        </p:nvSpPr>
        <p:spPr>
          <a:xfrm>
            <a:off x="2737175" y="2728143"/>
            <a:ext cx="3698542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+recordGrade(value : Real)</a:t>
            </a:r>
            <a:endParaRPr lang="zh-CN" sz="2284"/>
          </a:p>
        </p:txBody>
      </p:sp>
      <p:sp>
        <p:nvSpPr>
          <p:cNvPr id="7" name="content-160">
            <a:extLst>
              <a:ext uri="{FF2B5EF4-FFF2-40B4-BE49-F238E27FC236}">
                <a16:creationId xmlns:a16="http://schemas.microsoft.com/office/drawing/2014/main" id="{6F5E8A2E-9D22-44C2-A7E2-F07D51672201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− grade：私有属性；+ recordGrade：公开操作。</a:t>
            </a:r>
          </a:p>
        </p:txBody>
      </p:sp>
      <p:sp>
        <p:nvSpPr>
          <p:cNvPr id="8" name="content-161">
            <a:extLst>
              <a:ext uri="{FF2B5EF4-FFF2-40B4-BE49-F238E27FC236}">
                <a16:creationId xmlns:a16="http://schemas.microsoft.com/office/drawing/2014/main" id="{68B4DB76-D69E-405A-84EF-50C10D0859C2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recordGrade(value : Real)接收一个成绩值。</a:t>
            </a:r>
          </a:p>
        </p:txBody>
      </p:sp>
      <p:sp>
        <p:nvSpPr>
          <p:cNvPr id="9" name="content-162">
            <a:extLst>
              <a:ext uri="{FF2B5EF4-FFF2-40B4-BE49-F238E27FC236}">
                <a16:creationId xmlns:a16="http://schemas.microsoft.com/office/drawing/2014/main" id="{26AC883B-D2B2-4AE4-991A-52D98B018A6E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调用前仍需检查范围与业务条件。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63">
            <a:extLst>
              <a:ext uri="{FF2B5EF4-FFF2-40B4-BE49-F238E27FC236}">
                <a16:creationId xmlns:a16="http://schemas.microsoft.com/office/drawing/2014/main" id="{AD0C8382-5D47-4965-BDE1-E9D234474E1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泛化关系</a:t>
            </a:r>
          </a:p>
        </p:txBody>
      </p:sp>
      <p:sp>
        <p:nvSpPr>
          <p:cNvPr id="2" name="frame-164">
            <a:extLst>
              <a:ext uri="{FF2B5EF4-FFF2-40B4-BE49-F238E27FC236}">
                <a16:creationId xmlns:a16="http://schemas.microsoft.com/office/drawing/2014/main" id="{F211B76F-CA75-4FC5-B0E5-5D61E6E11DF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65">
            <a:extLst>
              <a:ext uri="{FF2B5EF4-FFF2-40B4-BE49-F238E27FC236}">
                <a16:creationId xmlns:a16="http://schemas.microsoft.com/office/drawing/2014/main" id="{C88C5F7E-BCF3-4845-B9DF-33497D83AA9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E1BD1387-6AC6-44DC-8671-85DAD671B61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拓展学习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D4ECFBEC-D506-41AF-99FB-6CFDBC61555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32 / 66</a:t>
            </a:r>
          </a:p>
        </p:txBody>
      </p:sp>
      <p:sp>
        <p:nvSpPr>
          <p:cNvPr id="21" name="UML generalization box 21"/>
          <p:cNvSpPr/>
          <p:nvPr/>
        </p:nvSpPr>
        <p:spPr>
          <a:xfrm>
            <a:off x="1996202" y="1823561"/>
            <a:ext cx="1960769" cy="1088547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generalization label 22"/>
          <p:cNvSpPr/>
          <p:nvPr/>
        </p:nvSpPr>
        <p:spPr>
          <a:xfrm>
            <a:off x="2499139" y="1915820"/>
            <a:ext cx="1046741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Person</a:t>
            </a:r>
            <a:endParaRPr lang="zh-CN" sz="2284"/>
          </a:p>
        </p:txBody>
      </p:sp>
      <p:sp>
        <p:nvSpPr>
          <p:cNvPr id="23" name="UML generalization divider 23"/>
          <p:cNvSpPr/>
          <p:nvPr/>
        </p:nvSpPr>
        <p:spPr>
          <a:xfrm>
            <a:off x="2010013" y="2381646"/>
            <a:ext cx="1933147" cy="1381"/>
          </a:xfrm>
          <a:custGeom>
            <a:avLst/>
            <a:gdLst/>
            <a:ahLst/>
            <a:cxnLst/>
            <a:rect l="0" t="0" r="r" b="b"/>
            <a:pathLst>
              <a:path w="1333205" h="952" fill="none" extrusionOk="0">
                <a:moveTo>
                  <a:pt x="0" y="0"/>
                </a:moveTo>
                <a:lnTo>
                  <a:pt x="1333205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generalization label 24"/>
          <p:cNvSpPr/>
          <p:nvPr/>
        </p:nvSpPr>
        <p:spPr>
          <a:xfrm>
            <a:off x="2074235" y="2460094"/>
            <a:ext cx="1896547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name : String</a:t>
            </a:r>
            <a:endParaRPr lang="zh-CN" sz="2284"/>
          </a:p>
        </p:txBody>
      </p:sp>
      <p:sp>
        <p:nvSpPr>
          <p:cNvPr id="25" name="UML generalization box 25"/>
          <p:cNvSpPr/>
          <p:nvPr/>
        </p:nvSpPr>
        <p:spPr>
          <a:xfrm>
            <a:off x="4454604" y="1823561"/>
            <a:ext cx="2624662" cy="1088547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6" name="UML generalization label 26"/>
          <p:cNvSpPr/>
          <p:nvPr/>
        </p:nvSpPr>
        <p:spPr>
          <a:xfrm>
            <a:off x="5219582" y="1915820"/>
            <a:ext cx="118653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2284"/>
          </a:p>
        </p:txBody>
      </p:sp>
      <p:sp>
        <p:nvSpPr>
          <p:cNvPr id="27" name="UML generalization divider 27"/>
          <p:cNvSpPr/>
          <p:nvPr/>
        </p:nvSpPr>
        <p:spPr>
          <a:xfrm>
            <a:off x="4468416" y="2381646"/>
            <a:ext cx="2597040" cy="1381"/>
          </a:xfrm>
          <a:custGeom>
            <a:avLst/>
            <a:gdLst/>
            <a:ahLst/>
            <a:cxnLst/>
            <a:rect l="0" t="0" r="r" b="b"/>
            <a:pathLst>
              <a:path w="1791062" h="952" fill="none" extrusionOk="0">
                <a:moveTo>
                  <a:pt x="0" y="0"/>
                </a:moveTo>
                <a:lnTo>
                  <a:pt x="1791062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8" name="UML generalization label 28"/>
          <p:cNvSpPr/>
          <p:nvPr/>
        </p:nvSpPr>
        <p:spPr>
          <a:xfrm>
            <a:off x="4532638" y="2460094"/>
            <a:ext cx="2560440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studentNo : String</a:t>
            </a:r>
            <a:endParaRPr lang="zh-CN" sz="2284"/>
          </a:p>
        </p:txBody>
      </p:sp>
      <p:sp>
        <p:nvSpPr>
          <p:cNvPr id="29" name="UML generalization arrow 29"/>
          <p:cNvSpPr/>
          <p:nvPr/>
        </p:nvSpPr>
        <p:spPr>
          <a:xfrm>
            <a:off x="3960590" y="2286238"/>
            <a:ext cx="248602" cy="165735"/>
          </a:xfrm>
          <a:custGeom>
            <a:avLst/>
            <a:gdLst/>
            <a:ahLst/>
            <a:cxnLst/>
            <a:rect l="0" t="0" r="r" b="b"/>
            <a:pathLst>
              <a:path w="171450" h="114300" fill="none" extrusionOk="0">
                <a:moveTo>
                  <a:pt x="0" y="57150"/>
                </a:moveTo>
                <a:lnTo>
                  <a:pt x="171450" y="114300"/>
                </a:lnTo>
                <a:lnTo>
                  <a:pt x="171450" y="0"/>
                </a:lnTo>
                <a:lnTo>
                  <a:pt x="0" y="57150"/>
                </a:lnTo>
                <a:close/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30" name="UML generalization connection 30"/>
          <p:cNvSpPr/>
          <p:nvPr/>
        </p:nvSpPr>
        <p:spPr>
          <a:xfrm>
            <a:off x="4209192" y="2369106"/>
            <a:ext cx="241490" cy="1381"/>
          </a:xfrm>
          <a:custGeom>
            <a:avLst/>
            <a:gdLst/>
            <a:ahLst/>
            <a:cxnLst/>
            <a:rect l="0" t="0" r="r" b="b"/>
            <a:pathLst>
              <a:path w="166545" h="952" fill="none" extrusionOk="0">
                <a:moveTo>
                  <a:pt x="0" y="0"/>
                </a:moveTo>
                <a:cubicBezTo>
                  <a:pt x="109357" y="0"/>
                  <a:pt x="52740" y="0"/>
                  <a:pt x="166545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7" name="content-166">
            <a:extLst>
              <a:ext uri="{FF2B5EF4-FFF2-40B4-BE49-F238E27FC236}">
                <a16:creationId xmlns:a16="http://schemas.microsoft.com/office/drawing/2014/main" id="{48250A45-274A-4CE8-96CF-BF416C246C89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Student是一种Person，空心三角指向Person。</a:t>
            </a:r>
          </a:p>
        </p:txBody>
      </p:sp>
      <p:sp>
        <p:nvSpPr>
          <p:cNvPr id="8" name="content-167">
            <a:extLst>
              <a:ext uri="{FF2B5EF4-FFF2-40B4-BE49-F238E27FC236}">
                <a16:creationId xmlns:a16="http://schemas.microsoft.com/office/drawing/2014/main" id="{5A3876D9-A98F-4160-9C39-593DB776ADAA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子类对象同时也是一般类的实例。</a:t>
            </a:r>
          </a:p>
        </p:txBody>
      </p:sp>
      <p:sp>
        <p:nvSpPr>
          <p:cNvPr id="9" name="content-168">
            <a:extLst>
              <a:ext uri="{FF2B5EF4-FFF2-40B4-BE49-F238E27FC236}">
                <a16:creationId xmlns:a16="http://schemas.microsoft.com/office/drawing/2014/main" id="{8E0F9B74-122E-4A05-B9B9-ABE0AF01F49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共享字段是线索；业务上的分类关系才是依据。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69">
            <a:extLst>
              <a:ext uri="{FF2B5EF4-FFF2-40B4-BE49-F238E27FC236}">
                <a16:creationId xmlns:a16="http://schemas.microsoft.com/office/drawing/2014/main" id="{132E6F27-6897-4739-8C38-3674EAFCD29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组合关系</a:t>
            </a:r>
          </a:p>
        </p:txBody>
      </p:sp>
      <p:sp>
        <p:nvSpPr>
          <p:cNvPr id="2" name="frame-170">
            <a:extLst>
              <a:ext uri="{FF2B5EF4-FFF2-40B4-BE49-F238E27FC236}">
                <a16:creationId xmlns:a16="http://schemas.microsoft.com/office/drawing/2014/main" id="{2264C6D6-A7D4-428F-9D7F-EB6695CD48A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71">
            <a:extLst>
              <a:ext uri="{FF2B5EF4-FFF2-40B4-BE49-F238E27FC236}">
                <a16:creationId xmlns:a16="http://schemas.microsoft.com/office/drawing/2014/main" id="{F132562B-6E18-4658-AA71-D0D53580AEF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923EF75-D086-484E-9830-EAD6B774CC3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拓展学习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38DD53D8-7076-426F-9FCC-407BBD056B3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33 / 66</a:t>
            </a:r>
          </a:p>
        </p:txBody>
      </p:sp>
      <p:sp>
        <p:nvSpPr>
          <p:cNvPr id="21" name="UML composition box 21"/>
          <p:cNvSpPr/>
          <p:nvPr/>
        </p:nvSpPr>
        <p:spPr>
          <a:xfrm>
            <a:off x="1374696" y="1823561"/>
            <a:ext cx="2318094" cy="1088547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2" name="UML composition label 22"/>
          <p:cNvSpPr/>
          <p:nvPr/>
        </p:nvSpPr>
        <p:spPr>
          <a:xfrm>
            <a:off x="2138513" y="1915820"/>
            <a:ext cx="882290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Order</a:t>
            </a:r>
            <a:endParaRPr lang="zh-CN" sz="2284"/>
          </a:p>
        </p:txBody>
      </p:sp>
      <p:sp>
        <p:nvSpPr>
          <p:cNvPr id="23" name="UML composition divider 23"/>
          <p:cNvSpPr/>
          <p:nvPr/>
        </p:nvSpPr>
        <p:spPr>
          <a:xfrm>
            <a:off x="1388507" y="2381646"/>
            <a:ext cx="2290472" cy="1381"/>
          </a:xfrm>
          <a:custGeom>
            <a:avLst/>
            <a:gdLst/>
            <a:ahLst/>
            <a:cxnLst/>
            <a:rect l="0" t="0" r="r" b="b"/>
            <a:pathLst>
              <a:path w="1579636" h="952" fill="none" extrusionOk="0">
                <a:moveTo>
                  <a:pt x="0" y="0"/>
                </a:moveTo>
                <a:lnTo>
                  <a:pt x="1579636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composition label 24"/>
          <p:cNvSpPr/>
          <p:nvPr/>
        </p:nvSpPr>
        <p:spPr>
          <a:xfrm>
            <a:off x="1452729" y="2460094"/>
            <a:ext cx="2253872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orderNo : String</a:t>
            </a:r>
            <a:endParaRPr lang="zh-CN" sz="2284"/>
          </a:p>
        </p:txBody>
      </p:sp>
      <p:sp>
        <p:nvSpPr>
          <p:cNvPr id="25" name="UML composition box 25"/>
          <p:cNvSpPr/>
          <p:nvPr/>
        </p:nvSpPr>
        <p:spPr>
          <a:xfrm>
            <a:off x="5214223" y="1823561"/>
            <a:ext cx="2490666" cy="1088547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6" name="UML composition label 26"/>
          <p:cNvSpPr/>
          <p:nvPr/>
        </p:nvSpPr>
        <p:spPr>
          <a:xfrm>
            <a:off x="5752544" y="1915820"/>
            <a:ext cx="150586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OrderItem</a:t>
            </a:r>
            <a:endParaRPr lang="zh-CN" sz="2284"/>
          </a:p>
        </p:txBody>
      </p:sp>
      <p:sp>
        <p:nvSpPr>
          <p:cNvPr id="27" name="UML composition divider 27"/>
          <p:cNvSpPr/>
          <p:nvPr/>
        </p:nvSpPr>
        <p:spPr>
          <a:xfrm>
            <a:off x="5228034" y="2381646"/>
            <a:ext cx="2463043" cy="1381"/>
          </a:xfrm>
          <a:custGeom>
            <a:avLst/>
            <a:gdLst/>
            <a:ahLst/>
            <a:cxnLst/>
            <a:rect l="0" t="0" r="r" b="b"/>
            <a:pathLst>
              <a:path w="1698650" h="952" fill="none" extrusionOk="0">
                <a:moveTo>
                  <a:pt x="0" y="0"/>
                </a:moveTo>
                <a:lnTo>
                  <a:pt x="1698650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8" name="UML composition label 28"/>
          <p:cNvSpPr/>
          <p:nvPr/>
        </p:nvSpPr>
        <p:spPr>
          <a:xfrm>
            <a:off x="5292257" y="2460094"/>
            <a:ext cx="2426443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quantity : Integer</a:t>
            </a:r>
            <a:endParaRPr lang="zh-CN" sz="2284"/>
          </a:p>
        </p:txBody>
      </p:sp>
      <p:sp>
        <p:nvSpPr>
          <p:cNvPr id="29" name="UML composition arrow 29"/>
          <p:cNvSpPr/>
          <p:nvPr/>
        </p:nvSpPr>
        <p:spPr>
          <a:xfrm>
            <a:off x="3696146" y="2313861"/>
            <a:ext cx="165735" cy="110490"/>
          </a:xfrm>
          <a:custGeom>
            <a:avLst/>
            <a:gdLst/>
            <a:ahLst/>
            <a:cxnLst/>
            <a:rect l="0" t="0" r="r" b="b"/>
            <a:pathLst>
              <a:path w="114300" h="76200" extrusionOk="0">
                <a:moveTo>
                  <a:pt x="0" y="38100"/>
                </a:moveTo>
                <a:lnTo>
                  <a:pt x="57150" y="76200"/>
                </a:lnTo>
                <a:lnTo>
                  <a:pt x="114300" y="38100"/>
                </a:lnTo>
                <a:lnTo>
                  <a:pt x="5715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1F2A44"/>
          </a:solidFill>
          <a:ln w="13811">
            <a:solidFill>
              <a:srgbClr val="1F2A44"/>
            </a:solidFill>
          </a:ln>
        </p:spPr>
      </p:sp>
      <p:sp>
        <p:nvSpPr>
          <p:cNvPr id="30" name="UML composition connection 30"/>
          <p:cNvSpPr/>
          <p:nvPr/>
        </p:nvSpPr>
        <p:spPr>
          <a:xfrm>
            <a:off x="3861881" y="2369106"/>
            <a:ext cx="1347205" cy="1381"/>
          </a:xfrm>
          <a:custGeom>
            <a:avLst/>
            <a:gdLst/>
            <a:ahLst/>
            <a:cxnLst/>
            <a:rect l="0" t="0" r="r" b="b"/>
            <a:pathLst>
              <a:path w="929107" h="952" fill="none" extrusionOk="0">
                <a:moveTo>
                  <a:pt x="0" y="0"/>
                </a:moveTo>
                <a:cubicBezTo>
                  <a:pt x="328070" y="0"/>
                  <a:pt x="594998" y="0"/>
                  <a:pt x="929107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31" name="UML composition label 31"/>
          <p:cNvSpPr/>
          <p:nvPr/>
        </p:nvSpPr>
        <p:spPr>
          <a:xfrm>
            <a:off x="4762291" y="2405015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32" name="UML composition label 32"/>
          <p:cNvSpPr/>
          <p:nvPr/>
        </p:nvSpPr>
        <p:spPr>
          <a:xfrm>
            <a:off x="3705123" y="2405015"/>
            <a:ext cx="372904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2175"/>
          </a:p>
        </p:txBody>
      </p:sp>
      <p:sp>
        <p:nvSpPr>
          <p:cNvPr id="7" name="content-172">
            <a:extLst>
              <a:ext uri="{FF2B5EF4-FFF2-40B4-BE49-F238E27FC236}">
                <a16:creationId xmlns:a16="http://schemas.microsoft.com/office/drawing/2014/main" id="{8235D762-CB65-4BA0-A55D-CE722FC37A20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示例约定：订单项归属于一个订单。</a:t>
            </a:r>
          </a:p>
        </p:txBody>
      </p:sp>
      <p:sp>
        <p:nvSpPr>
          <p:cNvPr id="8" name="content-173">
            <a:extLst>
              <a:ext uri="{FF2B5EF4-FFF2-40B4-BE49-F238E27FC236}">
                <a16:creationId xmlns:a16="http://schemas.microsoft.com/office/drawing/2014/main" id="{888F617F-52EC-41C0-8AD4-DA477C23A39D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实心菱形放在整体端，部分同一时刻至多属于一个整体。</a:t>
            </a:r>
          </a:p>
        </p:txBody>
      </p:sp>
      <p:sp>
        <p:nvSpPr>
          <p:cNvPr id="9" name="content-174">
            <a:extLst>
              <a:ext uri="{FF2B5EF4-FFF2-40B4-BE49-F238E27FC236}">
                <a16:creationId xmlns:a16="http://schemas.microsoft.com/office/drawing/2014/main" id="{08D70D51-F1E2-4727-BFCA-C05586DFA13E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只有确认归属及删除语义，才采用组合。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175">
            <a:extLst>
              <a:ext uri="{FF2B5EF4-FFF2-40B4-BE49-F238E27FC236}">
                <a16:creationId xmlns:a16="http://schemas.microsoft.com/office/drawing/2014/main" id="{57725243-430A-4F87-9421-60CD5BE5C9B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类图的建模层次</a:t>
            </a:r>
          </a:p>
        </p:txBody>
      </p:sp>
      <p:sp>
        <p:nvSpPr>
          <p:cNvPr id="2" name="frame-176">
            <a:extLst>
              <a:ext uri="{FF2B5EF4-FFF2-40B4-BE49-F238E27FC236}">
                <a16:creationId xmlns:a16="http://schemas.microsoft.com/office/drawing/2014/main" id="{F4A6C016-2B93-4152-A5CD-18AC5EDAE90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77">
            <a:extLst>
              <a:ext uri="{FF2B5EF4-FFF2-40B4-BE49-F238E27FC236}">
                <a16:creationId xmlns:a16="http://schemas.microsoft.com/office/drawing/2014/main" id="{49F74EE1-A714-44EC-9027-444B1016BB3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AFA0F8EF-9B0A-4661-BB06-39CA17217B2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拓展学习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5F817DC4-D8E9-4088-84FD-0A7CD684FED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34 / 66</a:t>
            </a:r>
          </a:p>
        </p:txBody>
      </p:sp>
      <p:sp>
        <p:nvSpPr>
          <p:cNvPr id="6" name="content-178">
            <a:extLst>
              <a:ext uri="{FF2B5EF4-FFF2-40B4-BE49-F238E27FC236}">
                <a16:creationId xmlns:a16="http://schemas.microsoft.com/office/drawing/2014/main" id="{3B48C880-D784-4E9F-9E99-747C64FFEB16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概念层</a:t>
            </a:r>
          </a:p>
        </p:txBody>
      </p:sp>
      <p:sp>
        <p:nvSpPr>
          <p:cNvPr id="7" name="content-179">
            <a:extLst>
              <a:ext uri="{FF2B5EF4-FFF2-40B4-BE49-F238E27FC236}">
                <a16:creationId xmlns:a16="http://schemas.microsoft.com/office/drawing/2014/main" id="{7FB78586-8F39-4BBD-8B6A-F591C15371DC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先表达Student、CourseOffering、Enrollment及业务规则。</a:t>
            </a:r>
          </a:p>
        </p:txBody>
      </p:sp>
      <p:sp>
        <p:nvSpPr>
          <p:cNvPr id="8" name="frame-180">
            <a:extLst>
              <a:ext uri="{FF2B5EF4-FFF2-40B4-BE49-F238E27FC236}">
                <a16:creationId xmlns:a16="http://schemas.microsoft.com/office/drawing/2014/main" id="{CD7BE8E2-0656-4C82-A215-87CCA82AC217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181">
            <a:extLst>
              <a:ext uri="{FF2B5EF4-FFF2-40B4-BE49-F238E27FC236}">
                <a16:creationId xmlns:a16="http://schemas.microsoft.com/office/drawing/2014/main" id="{5A38A312-B658-4C67-83AD-E914CCF48B77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说明层</a:t>
            </a:r>
          </a:p>
        </p:txBody>
      </p:sp>
      <p:sp>
        <p:nvSpPr>
          <p:cNvPr id="10" name="content-182">
            <a:extLst>
              <a:ext uri="{FF2B5EF4-FFF2-40B4-BE49-F238E27FC236}">
                <a16:creationId xmlns:a16="http://schemas.microsoft.com/office/drawing/2014/main" id="{8EDD5B50-4C44-43F6-8343-9CF854376DA8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讨论选课交互、职责分配，以及哪些分析类协作。</a:t>
            </a:r>
          </a:p>
        </p:txBody>
      </p:sp>
      <p:sp>
        <p:nvSpPr>
          <p:cNvPr id="11" name="frame-183">
            <a:extLst>
              <a:ext uri="{FF2B5EF4-FFF2-40B4-BE49-F238E27FC236}">
                <a16:creationId xmlns:a16="http://schemas.microsoft.com/office/drawing/2014/main" id="{5E58EAEA-1733-4893-B81D-14B2D0412499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184">
            <a:extLst>
              <a:ext uri="{FF2B5EF4-FFF2-40B4-BE49-F238E27FC236}">
                <a16:creationId xmlns:a16="http://schemas.microsoft.com/office/drawing/2014/main" id="{D5C14E71-BBA4-4F93-ACF3-AD71DC260BC7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实现层</a:t>
            </a:r>
          </a:p>
        </p:txBody>
      </p:sp>
      <p:sp>
        <p:nvSpPr>
          <p:cNvPr id="13" name="content-185">
            <a:extLst>
              <a:ext uri="{FF2B5EF4-FFF2-40B4-BE49-F238E27FC236}">
                <a16:creationId xmlns:a16="http://schemas.microsoft.com/office/drawing/2014/main" id="{67585E5A-F97E-449A-84E0-E95A202B1B41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结合语言与架构，确定类型、接口和具体操作。</a:t>
            </a:r>
          </a:p>
        </p:txBody>
      </p:sp>
      <p:sp>
        <p:nvSpPr>
          <p:cNvPr id="14" name="frame-186">
            <a:extLst>
              <a:ext uri="{FF2B5EF4-FFF2-40B4-BE49-F238E27FC236}">
                <a16:creationId xmlns:a16="http://schemas.microsoft.com/office/drawing/2014/main" id="{6A52F868-B04B-4771-B2EC-74D95752DD90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187">
            <a:extLst>
              <a:ext uri="{FF2B5EF4-FFF2-40B4-BE49-F238E27FC236}">
                <a16:creationId xmlns:a16="http://schemas.microsoft.com/office/drawing/2014/main" id="{F5FDDA11-E0E5-43A4-8808-6AD7CC966BDC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建模原则</a:t>
            </a:r>
          </a:p>
        </p:txBody>
      </p:sp>
      <p:sp>
        <p:nvSpPr>
          <p:cNvPr id="16" name="content-188">
            <a:extLst>
              <a:ext uri="{FF2B5EF4-FFF2-40B4-BE49-F238E27FC236}">
                <a16:creationId xmlns:a16="http://schemas.microsoft.com/office/drawing/2014/main" id="{D5931646-B4D2-4057-A430-FD6745A2EDDD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类图细化应保持业务语义一致。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95">
            <a:extLst>
              <a:ext uri="{FF2B5EF4-FFF2-40B4-BE49-F238E27FC236}">
                <a16:creationId xmlns:a16="http://schemas.microsoft.com/office/drawing/2014/main" id="{71DD3BA4-97E9-4329-BE6D-128041020DF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需求变化：明年重修如何表达？</a:t>
            </a:r>
          </a:p>
        </p:txBody>
      </p:sp>
      <p:sp>
        <p:nvSpPr>
          <p:cNvPr id="2" name="frame-196">
            <a:extLst>
              <a:ext uri="{FF2B5EF4-FFF2-40B4-BE49-F238E27FC236}">
                <a16:creationId xmlns:a16="http://schemas.microsoft.com/office/drawing/2014/main" id="{A612621C-8BE6-46A7-9762-313F857F5FB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97">
            <a:extLst>
              <a:ext uri="{FF2B5EF4-FFF2-40B4-BE49-F238E27FC236}">
                <a16:creationId xmlns:a16="http://schemas.microsoft.com/office/drawing/2014/main" id="{958E7E5A-373C-4383-BF68-99DB316AA9D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CB42D979-AD68-45C0-931C-3291A3F26BE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拓展学习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8F12CECB-CB3A-4E74-9C10-6FD4529098F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35 / 66</a:t>
            </a:r>
          </a:p>
        </p:txBody>
      </p:sp>
      <p:sp>
        <p:nvSpPr>
          <p:cNvPr id="21" name="UML course box 21"/>
          <p:cNvSpPr/>
          <p:nvPr/>
        </p:nvSpPr>
        <p:spPr>
          <a:xfrm>
            <a:off x="1057037" y="1402318"/>
            <a:ext cx="2801294" cy="1928492"/>
          </a:xfrm>
          <a:prstGeom prst="rect">
            <a:avLst/>
          </a:prstGeom>
          <a:solidFill>
            <a:srgbClr val="F5E4E7"/>
          </a:solidFill>
          <a:ln w="13811">
            <a:solidFill>
              <a:srgbClr val="1F2A44"/>
            </a:solidFill>
          </a:ln>
        </p:spPr>
      </p:sp>
      <p:sp>
        <p:nvSpPr>
          <p:cNvPr id="22" name="UML course label 22"/>
          <p:cNvSpPr/>
          <p:nvPr/>
        </p:nvSpPr>
        <p:spPr>
          <a:xfrm>
            <a:off x="1979946" y="1494577"/>
            <a:ext cx="1047321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Course</a:t>
            </a:r>
            <a:endParaRPr lang="zh-CN" sz="2284"/>
          </a:p>
        </p:txBody>
      </p:sp>
      <p:sp>
        <p:nvSpPr>
          <p:cNvPr id="23" name="UML course divider 23"/>
          <p:cNvSpPr/>
          <p:nvPr/>
        </p:nvSpPr>
        <p:spPr>
          <a:xfrm>
            <a:off x="1070848" y="1960403"/>
            <a:ext cx="2773672" cy="1381"/>
          </a:xfrm>
          <a:custGeom>
            <a:avLst/>
            <a:gdLst/>
            <a:ahLst/>
            <a:cxnLst/>
            <a:rect l="0" t="0" r="r" b="b"/>
            <a:pathLst>
              <a:path w="1912877" h="952" fill="none" extrusionOk="0">
                <a:moveTo>
                  <a:pt x="0" y="0"/>
                </a:moveTo>
                <a:lnTo>
                  <a:pt x="1912877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24" name="UML course label 24"/>
          <p:cNvSpPr/>
          <p:nvPr/>
        </p:nvSpPr>
        <p:spPr>
          <a:xfrm>
            <a:off x="1135070" y="2038851"/>
            <a:ext cx="2737072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courseCode : String</a:t>
            </a:r>
            <a:endParaRPr lang="zh-CN" sz="2284"/>
          </a:p>
        </p:txBody>
      </p:sp>
      <p:sp>
        <p:nvSpPr>
          <p:cNvPr id="25" name="UML course label 25"/>
          <p:cNvSpPr/>
          <p:nvPr/>
        </p:nvSpPr>
        <p:spPr>
          <a:xfrm>
            <a:off x="1135070" y="2458824"/>
            <a:ext cx="1896547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name : String</a:t>
            </a:r>
            <a:endParaRPr lang="zh-CN" sz="2284"/>
          </a:p>
        </p:txBody>
      </p:sp>
      <p:sp>
        <p:nvSpPr>
          <p:cNvPr id="26" name="UML course label 26"/>
          <p:cNvSpPr/>
          <p:nvPr/>
        </p:nvSpPr>
        <p:spPr>
          <a:xfrm>
            <a:off x="1135070" y="2878796"/>
            <a:ext cx="1828389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credits : Real</a:t>
            </a:r>
            <a:endParaRPr lang="zh-CN" sz="2284"/>
          </a:p>
        </p:txBody>
      </p:sp>
      <p:sp>
        <p:nvSpPr>
          <p:cNvPr id="27" name="UML course box 27"/>
          <p:cNvSpPr/>
          <p:nvPr/>
        </p:nvSpPr>
        <p:spPr>
          <a:xfrm>
            <a:off x="5379958" y="1402318"/>
            <a:ext cx="2634524" cy="1928492"/>
          </a:xfrm>
          <a:prstGeom prst="rect">
            <a:avLst/>
          </a:prstGeom>
          <a:solidFill>
            <a:srgbClr val="FFFFFF"/>
          </a:solidFill>
          <a:ln w="13811">
            <a:solidFill>
              <a:srgbClr val="1F2A44"/>
            </a:solidFill>
          </a:ln>
        </p:spPr>
      </p:sp>
      <p:sp>
        <p:nvSpPr>
          <p:cNvPr id="28" name="UML course label 28"/>
          <p:cNvSpPr/>
          <p:nvPr/>
        </p:nvSpPr>
        <p:spPr>
          <a:xfrm>
            <a:off x="5670878" y="1494577"/>
            <a:ext cx="2144528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2284"/>
          </a:p>
        </p:txBody>
      </p:sp>
      <p:sp>
        <p:nvSpPr>
          <p:cNvPr id="29" name="UML course divider 29"/>
          <p:cNvSpPr/>
          <p:nvPr/>
        </p:nvSpPr>
        <p:spPr>
          <a:xfrm>
            <a:off x="5393769" y="1960403"/>
            <a:ext cx="2606901" cy="1381"/>
          </a:xfrm>
          <a:custGeom>
            <a:avLst/>
            <a:gdLst/>
            <a:ahLst/>
            <a:cxnLst/>
            <a:rect l="0" t="0" r="r" b="b"/>
            <a:pathLst>
              <a:path w="1797863" h="952" fill="none" extrusionOk="0">
                <a:moveTo>
                  <a:pt x="0" y="0"/>
                </a:moveTo>
                <a:lnTo>
                  <a:pt x="1797863" y="0"/>
                </a:ln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30" name="UML course label 30"/>
          <p:cNvSpPr/>
          <p:nvPr/>
        </p:nvSpPr>
        <p:spPr>
          <a:xfrm>
            <a:off x="5457992" y="2038851"/>
            <a:ext cx="2570301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offeringNo : String</a:t>
            </a:r>
            <a:endParaRPr lang="zh-CN" sz="2284"/>
          </a:p>
        </p:txBody>
      </p:sp>
      <p:sp>
        <p:nvSpPr>
          <p:cNvPr id="31" name="UML course label 31"/>
          <p:cNvSpPr/>
          <p:nvPr/>
        </p:nvSpPr>
        <p:spPr>
          <a:xfrm>
            <a:off x="5457992" y="2458824"/>
            <a:ext cx="1778212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term : String</a:t>
            </a:r>
            <a:endParaRPr lang="zh-CN" sz="2284"/>
          </a:p>
        </p:txBody>
      </p:sp>
      <p:sp>
        <p:nvSpPr>
          <p:cNvPr id="32" name="UML course label 32"/>
          <p:cNvSpPr/>
          <p:nvPr/>
        </p:nvSpPr>
        <p:spPr>
          <a:xfrm>
            <a:off x="5457992" y="2878796"/>
            <a:ext cx="2423253" cy="423453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284" dirty="0">
                <a:solidFill>
                  <a:srgbClr val="000000"/>
                </a:solidFill>
                <a:latin typeface="Noto Sans SC"/>
                <a:ea typeface="Noto Sans SC"/>
              </a:rPr>
              <a:t>capacity : Integer</a:t>
            </a:r>
            <a:endParaRPr lang="zh-CN" sz="2284"/>
          </a:p>
        </p:txBody>
      </p:sp>
      <p:sp>
        <p:nvSpPr>
          <p:cNvPr id="33" name="UML course connection 33"/>
          <p:cNvSpPr/>
          <p:nvPr/>
        </p:nvSpPr>
        <p:spPr>
          <a:xfrm>
            <a:off x="3863676" y="2369106"/>
            <a:ext cx="1514003" cy="1381"/>
          </a:xfrm>
          <a:custGeom>
            <a:avLst/>
            <a:gdLst/>
            <a:ahLst/>
            <a:cxnLst/>
            <a:rect l="0" t="0" r="r" b="b"/>
            <a:pathLst>
              <a:path w="1044140" h="952" fill="none" extrusionOk="0">
                <a:moveTo>
                  <a:pt x="0" y="0"/>
                </a:moveTo>
                <a:cubicBezTo>
                  <a:pt x="336328" y="0"/>
                  <a:pt x="712699" y="0"/>
                  <a:pt x="1044140" y="0"/>
                </a:cubicBezTo>
              </a:path>
            </a:pathLst>
          </a:custGeom>
          <a:noFill/>
          <a:ln w="13811">
            <a:solidFill>
              <a:srgbClr val="1F2A44"/>
            </a:solidFill>
          </a:ln>
        </p:spPr>
      </p:sp>
      <p:sp>
        <p:nvSpPr>
          <p:cNvPr id="34" name="UML course label 34"/>
          <p:cNvSpPr/>
          <p:nvPr/>
        </p:nvSpPr>
        <p:spPr>
          <a:xfrm>
            <a:off x="4930885" y="2405015"/>
            <a:ext cx="532562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2175"/>
          </a:p>
        </p:txBody>
      </p:sp>
      <p:sp>
        <p:nvSpPr>
          <p:cNvPr id="35" name="UML course label 35"/>
          <p:cNvSpPr/>
          <p:nvPr/>
        </p:nvSpPr>
        <p:spPr>
          <a:xfrm>
            <a:off x="3872654" y="2405015"/>
            <a:ext cx="372904" cy="403288"/>
          </a:xfrm>
          <a:prstGeom prst="rect">
            <a:avLst/>
          </a:prstGeom>
          <a:noFill/>
          <a:ln w="13811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2175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2175"/>
          </a:p>
        </p:txBody>
      </p:sp>
      <p:sp>
        <p:nvSpPr>
          <p:cNvPr id="7" name="content-198">
            <a:extLst>
              <a:ext uri="{FF2B5EF4-FFF2-40B4-BE49-F238E27FC236}">
                <a16:creationId xmlns:a16="http://schemas.microsoft.com/office/drawing/2014/main" id="{E38DDCD5-1732-4651-B1B0-C27BD97B08AB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同一课程可以在不同学期有不同开课班。</a:t>
            </a:r>
          </a:p>
        </p:txBody>
      </p:sp>
      <p:sp>
        <p:nvSpPr>
          <p:cNvPr id="8" name="content-199">
            <a:extLst>
              <a:ext uri="{FF2B5EF4-FFF2-40B4-BE49-F238E27FC236}">
                <a16:creationId xmlns:a16="http://schemas.microsoft.com/office/drawing/2014/main" id="{07FD198A-1BF9-490F-80A5-F0AE61B7222C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同一学生可分别关联两个学期的选课记录。</a:t>
            </a:r>
          </a:p>
        </p:txBody>
      </p:sp>
      <p:sp>
        <p:nvSpPr>
          <p:cNvPr id="9" name="content-200">
            <a:extLst>
              <a:ext uri="{FF2B5EF4-FFF2-40B4-BE49-F238E27FC236}">
                <a16:creationId xmlns:a16="http://schemas.microsoft.com/office/drawing/2014/main" id="{0D3BA23C-5868-4A8F-9FA5-A861C1F01521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8115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R4仍按“学生＋具体开课班”判断重复。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201">
            <a:extLst>
              <a:ext uri="{FF2B5EF4-FFF2-40B4-BE49-F238E27FC236}">
                <a16:creationId xmlns:a16="http://schemas.microsoft.com/office/drawing/2014/main" id="{C6544B15-EC88-42D3-A4E3-7D844562E54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拓展练习：图书借阅</a:t>
            </a:r>
          </a:p>
        </p:txBody>
      </p:sp>
      <p:sp>
        <p:nvSpPr>
          <p:cNvPr id="2" name="frame-202">
            <a:extLst>
              <a:ext uri="{FF2B5EF4-FFF2-40B4-BE49-F238E27FC236}">
                <a16:creationId xmlns:a16="http://schemas.microsoft.com/office/drawing/2014/main" id="{BEC03ADE-179F-4FDE-934C-BDDA980AD8D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03">
            <a:extLst>
              <a:ext uri="{FF2B5EF4-FFF2-40B4-BE49-F238E27FC236}">
                <a16:creationId xmlns:a16="http://schemas.microsoft.com/office/drawing/2014/main" id="{B2DF8713-0093-425C-846F-4CDB0DF3BED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DFF551EA-47D6-413D-A5D2-88E2302195A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拓展学习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C78059A0-7116-4B21-B976-1BF3439F230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36 / 66</a:t>
            </a:r>
          </a:p>
        </p:txBody>
      </p:sp>
      <p:sp>
        <p:nvSpPr>
          <p:cNvPr id="6" name="content-204">
            <a:extLst>
              <a:ext uri="{FF2B5EF4-FFF2-40B4-BE49-F238E27FC236}">
                <a16:creationId xmlns:a16="http://schemas.microsoft.com/office/drawing/2014/main" id="{4B1B737A-0383-4D2F-B198-A5711950651D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6191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</a:t>
            </a:r>
          </a:p>
        </p:txBody>
      </p:sp>
      <p:sp>
        <p:nvSpPr>
          <p:cNvPr id="7" name="content-205">
            <a:extLst>
              <a:ext uri="{FF2B5EF4-FFF2-40B4-BE49-F238E27FC236}">
                <a16:creationId xmlns:a16="http://schemas.microsoft.com/office/drawing/2014/main" id="{1334068A-3F16-4099-8E65-904360086F84}"/>
              </a:ext>
            </a:extLst>
          </p:cNvPr>
          <p:cNvSpPr>
            <a:spLocks noGrp="1"/>
          </p:cNvSpPr>
          <p:nvPr/>
        </p:nvSpPr>
        <p:spPr>
          <a:xfrm>
            <a:off x="1323975" y="1104900"/>
            <a:ext cx="71342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图书副本有独立条码；一次借阅连接一个读者和一个副本。</a:t>
            </a:r>
          </a:p>
        </p:txBody>
      </p:sp>
      <p:sp>
        <p:nvSpPr>
          <p:cNvPr id="8" name="frame-206">
            <a:extLst>
              <a:ext uri="{FF2B5EF4-FFF2-40B4-BE49-F238E27FC236}">
                <a16:creationId xmlns:a16="http://schemas.microsoft.com/office/drawing/2014/main" id="{E530C8ED-B15C-425D-999E-A5F9DBF2C9AC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07">
            <a:extLst>
              <a:ext uri="{FF2B5EF4-FFF2-40B4-BE49-F238E27FC236}">
                <a16:creationId xmlns:a16="http://schemas.microsoft.com/office/drawing/2014/main" id="{49CCCBC1-C934-4CD8-9263-2E9C46CB4954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6191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信息</a:t>
            </a:r>
          </a:p>
        </p:txBody>
      </p:sp>
      <p:sp>
        <p:nvSpPr>
          <p:cNvPr id="10" name="content-208">
            <a:extLst>
              <a:ext uri="{FF2B5EF4-FFF2-40B4-BE49-F238E27FC236}">
                <a16:creationId xmlns:a16="http://schemas.microsoft.com/office/drawing/2014/main" id="{72B96DC2-CC98-4C3A-9359-731CF0118896}"/>
              </a:ext>
            </a:extLst>
          </p:cNvPr>
          <p:cNvSpPr>
            <a:spLocks noGrp="1"/>
          </p:cNvSpPr>
          <p:nvPr/>
        </p:nvSpPr>
        <p:spPr>
          <a:xfrm>
            <a:off x="1323975" y="1933575"/>
            <a:ext cx="71342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记录借出日期和可为空的归还日期，保留历史。</a:t>
            </a:r>
          </a:p>
        </p:txBody>
      </p:sp>
      <p:sp>
        <p:nvSpPr>
          <p:cNvPr id="11" name="frame-209">
            <a:extLst>
              <a:ext uri="{FF2B5EF4-FFF2-40B4-BE49-F238E27FC236}">
                <a16:creationId xmlns:a16="http://schemas.microsoft.com/office/drawing/2014/main" id="{1FBEB1E7-084B-4D7B-AC99-56B7F5C20A75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10">
            <a:extLst>
              <a:ext uri="{FF2B5EF4-FFF2-40B4-BE49-F238E27FC236}">
                <a16:creationId xmlns:a16="http://schemas.microsoft.com/office/drawing/2014/main" id="{8F354276-3229-4910-A20A-592B729F6678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6191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规则</a:t>
            </a:r>
          </a:p>
        </p:txBody>
      </p:sp>
      <p:sp>
        <p:nvSpPr>
          <p:cNvPr id="13" name="content-211">
            <a:extLst>
              <a:ext uri="{FF2B5EF4-FFF2-40B4-BE49-F238E27FC236}">
                <a16:creationId xmlns:a16="http://schemas.microsoft.com/office/drawing/2014/main" id="{338425A7-4719-434A-8F84-0FAE88CE4A61}"/>
              </a:ext>
            </a:extLst>
          </p:cNvPr>
          <p:cNvSpPr>
            <a:spLocks noGrp="1"/>
          </p:cNvSpPr>
          <p:nvPr/>
        </p:nvSpPr>
        <p:spPr>
          <a:xfrm>
            <a:off x="1323975" y="2762250"/>
            <a:ext cx="71342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同一副本同一时刻至多有一条未归还的借阅记录。</a:t>
            </a:r>
          </a:p>
        </p:txBody>
      </p:sp>
      <p:sp>
        <p:nvSpPr>
          <p:cNvPr id="14" name="frame-212">
            <a:extLst>
              <a:ext uri="{FF2B5EF4-FFF2-40B4-BE49-F238E27FC236}">
                <a16:creationId xmlns:a16="http://schemas.microsoft.com/office/drawing/2014/main" id="{CDB5BF56-F7F2-4649-86FB-60471B0800AF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13">
            <a:extLst>
              <a:ext uri="{FF2B5EF4-FFF2-40B4-BE49-F238E27FC236}">
                <a16:creationId xmlns:a16="http://schemas.microsoft.com/office/drawing/2014/main" id="{BCBDBB89-A70B-4919-92A4-BCE083D88AC2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6191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16" name="content-214">
            <a:extLst>
              <a:ext uri="{FF2B5EF4-FFF2-40B4-BE49-F238E27FC236}">
                <a16:creationId xmlns:a16="http://schemas.microsoft.com/office/drawing/2014/main" id="{FC63B548-5F63-466E-B5B5-01E94EF68A28}"/>
              </a:ext>
            </a:extLst>
          </p:cNvPr>
          <p:cNvSpPr>
            <a:spLocks noGrp="1"/>
          </p:cNvSpPr>
          <p:nvPr/>
        </p:nvSpPr>
        <p:spPr>
          <a:xfrm>
            <a:off x="1323975" y="3590925"/>
            <a:ext cx="71342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画出少量类、关联与多重性，并写出这条时间约束。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243">
            <a:extLst>
              <a:ext uri="{FF2B5EF4-FFF2-40B4-BE49-F238E27FC236}">
                <a16:creationId xmlns:a16="http://schemas.microsoft.com/office/drawing/2014/main" id="{14DFC365-5824-47E9-909E-58EFEDF3B0E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附录：表示法与原稿示例</a:t>
            </a:r>
          </a:p>
        </p:txBody>
      </p:sp>
      <p:sp>
        <p:nvSpPr>
          <p:cNvPr id="2" name="frame-244">
            <a:extLst>
              <a:ext uri="{FF2B5EF4-FFF2-40B4-BE49-F238E27FC236}">
                <a16:creationId xmlns:a16="http://schemas.microsoft.com/office/drawing/2014/main" id="{E8BE9320-9788-4BEF-BA2C-69000260497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45">
            <a:extLst>
              <a:ext uri="{FF2B5EF4-FFF2-40B4-BE49-F238E27FC236}">
                <a16:creationId xmlns:a16="http://schemas.microsoft.com/office/drawing/2014/main" id="{874137D6-3391-4130-9435-8195E3D6C50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F34FF615-48FE-46D0-966E-E0EF3044BB1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　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7B2F636A-2B08-4DD4-8CBC-DA3D3A303E5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37 / 66</a:t>
            </a:r>
          </a:p>
        </p:txBody>
      </p:sp>
      <p:sp>
        <p:nvSpPr>
          <p:cNvPr id="6" name="content-246">
            <a:extLst>
              <a:ext uri="{FF2B5EF4-FFF2-40B4-BE49-F238E27FC236}">
                <a16:creationId xmlns:a16="http://schemas.microsoft.com/office/drawing/2014/main" id="{B460B3BD-72A1-4B1B-9F0A-83C12326FA8C}"/>
              </a:ext>
            </a:extLst>
          </p:cNvPr>
          <p:cNvSpPr>
            <a:spLocks noGrp="1"/>
          </p:cNvSpPr>
          <p:nvPr/>
        </p:nvSpPr>
        <p:spPr>
          <a:xfrm>
            <a:off x="49530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表示法速查</a:t>
            </a:r>
          </a:p>
        </p:txBody>
      </p:sp>
      <p:sp>
        <p:nvSpPr>
          <p:cNvPr id="7" name="content-247">
            <a:extLst>
              <a:ext uri="{FF2B5EF4-FFF2-40B4-BE49-F238E27FC236}">
                <a16:creationId xmlns:a16="http://schemas.microsoft.com/office/drawing/2014/main" id="{C3D489C8-7944-45AA-868E-8AA742720296}"/>
              </a:ext>
            </a:extLst>
          </p:cNvPr>
          <p:cNvSpPr>
            <a:spLocks noGrp="1"/>
          </p:cNvSpPr>
          <p:nvPr/>
        </p:nvSpPr>
        <p:spPr>
          <a:xfrm>
            <a:off x="2276475" y="11049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类、关联、聚合、泛化、对象与链接。</a:t>
            </a:r>
          </a:p>
        </p:txBody>
      </p:sp>
      <p:sp>
        <p:nvSpPr>
          <p:cNvPr id="8" name="frame-248">
            <a:extLst>
              <a:ext uri="{FF2B5EF4-FFF2-40B4-BE49-F238E27FC236}">
                <a16:creationId xmlns:a16="http://schemas.microsoft.com/office/drawing/2014/main" id="{F112011A-4A9C-45FB-93B1-0C27E45059A2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49">
            <a:extLst>
              <a:ext uri="{FF2B5EF4-FFF2-40B4-BE49-F238E27FC236}">
                <a16:creationId xmlns:a16="http://schemas.microsoft.com/office/drawing/2014/main" id="{70A30203-435A-42A0-A338-0B25D69BC428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属性与操作</a:t>
            </a:r>
          </a:p>
        </p:txBody>
      </p:sp>
      <p:sp>
        <p:nvSpPr>
          <p:cNvPr id="10" name="content-250">
            <a:extLst>
              <a:ext uri="{FF2B5EF4-FFF2-40B4-BE49-F238E27FC236}">
                <a16:creationId xmlns:a16="http://schemas.microsoft.com/office/drawing/2014/main" id="{3551BAEF-4098-4B50-9D91-6DB729E80D66}"/>
              </a:ext>
            </a:extLst>
          </p:cNvPr>
          <p:cNvSpPr>
            <a:spLocks noGrp="1"/>
          </p:cNvSpPr>
          <p:nvPr/>
        </p:nvSpPr>
        <p:spPr>
          <a:xfrm>
            <a:off x="2276475" y="19335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完整语法、类型、约束、参数方向和静态特征。</a:t>
            </a:r>
          </a:p>
        </p:txBody>
      </p:sp>
      <p:sp>
        <p:nvSpPr>
          <p:cNvPr id="11" name="frame-251">
            <a:extLst>
              <a:ext uri="{FF2B5EF4-FFF2-40B4-BE49-F238E27FC236}">
                <a16:creationId xmlns:a16="http://schemas.microsoft.com/office/drawing/2014/main" id="{CDA11D99-CD64-42CA-B820-EADCF8617C19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52">
            <a:extLst>
              <a:ext uri="{FF2B5EF4-FFF2-40B4-BE49-F238E27FC236}">
                <a16:creationId xmlns:a16="http://schemas.microsoft.com/office/drawing/2014/main" id="{6671896A-6C60-46C7-9133-964210CEB541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深入关系</a:t>
            </a:r>
          </a:p>
        </p:txBody>
      </p:sp>
      <p:sp>
        <p:nvSpPr>
          <p:cNvPr id="13" name="content-253">
            <a:extLst>
              <a:ext uri="{FF2B5EF4-FFF2-40B4-BE49-F238E27FC236}">
                <a16:creationId xmlns:a16="http://schemas.microsoft.com/office/drawing/2014/main" id="{AD498CF9-9E17-42D5-AD18-CC88EFA89957}"/>
              </a:ext>
            </a:extLst>
          </p:cNvPr>
          <p:cNvSpPr>
            <a:spLocks noGrp="1"/>
          </p:cNvSpPr>
          <p:nvPr/>
        </p:nvSpPr>
        <p:spPr>
          <a:xfrm>
            <a:off x="2276475" y="27622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导航、多元关联、聚合与泛化的原稿示例。</a:t>
            </a:r>
          </a:p>
        </p:txBody>
      </p:sp>
      <p:sp>
        <p:nvSpPr>
          <p:cNvPr id="14" name="frame-254">
            <a:extLst>
              <a:ext uri="{FF2B5EF4-FFF2-40B4-BE49-F238E27FC236}">
                <a16:creationId xmlns:a16="http://schemas.microsoft.com/office/drawing/2014/main" id="{033F2DDF-B0DC-437B-A567-A58D454A1ECA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55">
            <a:extLst>
              <a:ext uri="{FF2B5EF4-FFF2-40B4-BE49-F238E27FC236}">
                <a16:creationId xmlns:a16="http://schemas.microsoft.com/office/drawing/2014/main" id="{818BB67C-0251-4A65-8DD5-AB290F9F4320}"/>
              </a:ext>
            </a:extLst>
          </p:cNvPr>
          <p:cNvSpPr>
            <a:spLocks noGrp="1"/>
          </p:cNvSpPr>
          <p:nvPr/>
        </p:nvSpPr>
        <p:spPr>
          <a:xfrm>
            <a:off x="49530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建模层次</a:t>
            </a:r>
          </a:p>
        </p:txBody>
      </p:sp>
      <p:sp>
        <p:nvSpPr>
          <p:cNvPr id="16" name="content-256">
            <a:extLst>
              <a:ext uri="{FF2B5EF4-FFF2-40B4-BE49-F238E27FC236}">
                <a16:creationId xmlns:a16="http://schemas.microsoft.com/office/drawing/2014/main" id="{6C1C33AC-5C6C-46D1-9F5D-6334AD2C8EDA}"/>
              </a:ext>
            </a:extLst>
          </p:cNvPr>
          <p:cNvSpPr>
            <a:spLocks noGrp="1"/>
          </p:cNvSpPr>
          <p:nvPr/>
        </p:nvSpPr>
        <p:spPr>
          <a:xfrm>
            <a:off x="2276475" y="35909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概念层、说明层、实现层及寄信案例。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7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E020AB6B-19FF-5B95-1A82-74D47FD0F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94162"/>
              </p:ext>
            </p:extLst>
          </p:nvPr>
        </p:nvGraphicFramePr>
        <p:xfrm>
          <a:off x="1461848" y="1076325"/>
          <a:ext cx="6220303" cy="3547326"/>
        </p:xfrm>
        <a:graphic>
          <a:graphicData uri="http://schemas.openxmlformats.org/drawingml/2006/table">
            <a:tbl>
              <a:tblPr/>
              <a:tblGrid>
                <a:gridCol w="1597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6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47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L="72464" marR="7246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47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marL="72464" marR="724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47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marL="72464" marR="724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7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IE" sz="1347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Class</a:t>
                      </a:r>
                    </a:p>
                  </a:txBody>
                  <a:tcPr marL="72464" marR="7246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197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464" marR="724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CA" sz="1347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 of the structure and behavior of a set of objects</a:t>
                      </a:r>
                    </a:p>
                  </a:txBody>
                  <a:tcPr marL="72464" marR="724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8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IE" sz="1347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Abstract class</a:t>
                      </a:r>
                    </a:p>
                  </a:txBody>
                  <a:tcPr marL="72464" marR="7246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47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464" marR="724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CA" sz="1347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Class that cannot be instantiated</a:t>
                      </a:r>
                    </a:p>
                  </a:txBody>
                  <a:tcPr marL="72464" marR="724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1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IE" sz="1347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Association</a:t>
                      </a:r>
                    </a:p>
                  </a:txBody>
                  <a:tcPr marL="72464" marR="7246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47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464" marR="724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347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Relationship between classes:</a:t>
                      </a:r>
                    </a:p>
                    <a:p>
                      <a:r>
                        <a:rPr lang="en-CA" sz="1347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navigability unspecified,</a:t>
                      </a:r>
                    </a:p>
                    <a:p>
                      <a:r>
                        <a:rPr lang="en-CA" sz="1347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navigable in both directions,</a:t>
                      </a:r>
                    </a:p>
                    <a:p>
                      <a:r>
                        <a:rPr lang="en-CA" sz="1347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not navigable in one direction</a:t>
                      </a:r>
                      <a:endParaRPr kumimoji="0" lang="en-CA" sz="1347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464" marR="724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Box 34">
            <a:extLst>
              <a:ext uri="{FF2B5EF4-FFF2-40B4-BE49-F238E27FC236}">
                <a16:creationId xmlns:a16="http://schemas.microsoft.com/office/drawing/2014/main" id="{F44A6FFB-438F-0B5D-BD13-58E526673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2473" y="2613446"/>
            <a:ext cx="326634" cy="182915"/>
          </a:xfrm>
          <a:prstGeom prst="rect">
            <a:avLst/>
          </a:prstGeom>
          <a:noFill/>
          <a:ln w="7127">
            <a:noFill/>
            <a:miter lim="800000"/>
            <a:headEnd/>
            <a:tailEnd/>
          </a:ln>
        </p:spPr>
        <p:txBody>
          <a:bodyPr wrap="none" lIns="68415" tIns="34208" rIns="68415" bIns="34208">
            <a:noAutofit/>
          </a:bodyPr>
          <a:lstStyle/>
          <a:p>
            <a:pPr marL="0" algn="l" defTabSz="684150" rtl="0" eaLnBrk="1" latinLnBrk="0" hangingPunct="1">
              <a:defRPr sz="134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sz="748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oder</a:t>
            </a:r>
          </a:p>
        </p:txBody>
      </p:sp>
      <p:pic>
        <p:nvPicPr>
          <p:cNvPr id="10" name="Grafik 1">
            <a:extLst>
              <a:ext uri="{FF2B5EF4-FFF2-40B4-BE49-F238E27FC236}">
                <a16:creationId xmlns:a16="http://schemas.microsoft.com/office/drawing/2014/main" id="{2499C974-B541-1869-C00E-A33B06CAA3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828" y="1460533"/>
            <a:ext cx="827823" cy="955532"/>
          </a:xfrm>
          <a:prstGeom prst="rect">
            <a:avLst/>
          </a:prstGeom>
        </p:spPr>
      </p:pic>
      <p:pic>
        <p:nvPicPr>
          <p:cNvPr id="11" name="Grafik 2">
            <a:extLst>
              <a:ext uri="{FF2B5EF4-FFF2-40B4-BE49-F238E27FC236}">
                <a16:creationId xmlns:a16="http://schemas.microsoft.com/office/drawing/2014/main" id="{984EAEF3-74EE-1446-7287-3AFEA53120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669" y="2700003"/>
            <a:ext cx="1183582" cy="620298"/>
          </a:xfrm>
          <a:prstGeom prst="rect">
            <a:avLst/>
          </a:prstGeom>
        </p:spPr>
      </p:pic>
      <p:pic>
        <p:nvPicPr>
          <p:cNvPr id="12" name="Grafik 4">
            <a:extLst>
              <a:ext uri="{FF2B5EF4-FFF2-40B4-BE49-F238E27FC236}">
                <a16:creationId xmlns:a16="http://schemas.microsoft.com/office/drawing/2014/main" id="{C2AF8907-DB9F-4444-1EE2-445F05A8A1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669" y="3610584"/>
            <a:ext cx="1188143" cy="866592"/>
          </a:xfrm>
          <a:prstGeom prst="rect">
            <a:avLst/>
          </a:prstGeom>
        </p:spPr>
      </p:pic>
      <p:sp>
        <p:nvSpPr>
          <p:cNvPr id="10000" name="frame-24">
            <a:extLst>
              <a:ext uri="{FF2B5EF4-FFF2-40B4-BE49-F238E27FC236}">
                <a16:creationId xmlns:a16="http://schemas.microsoft.com/office/drawing/2014/main" id="{A11E4ADA-D783-465F-92A6-14C8820EA81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类图概要：表示法</a:t>
            </a:r>
          </a:p>
        </p:txBody>
      </p:sp>
      <p:sp>
        <p:nvSpPr>
          <p:cNvPr id="10001" name="frame-25">
            <a:extLst>
              <a:ext uri="{FF2B5EF4-FFF2-40B4-BE49-F238E27FC236}">
                <a16:creationId xmlns:a16="http://schemas.microsoft.com/office/drawing/2014/main" id="{0E8C067C-1441-44B0-84CF-EF3A1CB3EEB5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6">
            <a:extLst>
              <a:ext uri="{FF2B5EF4-FFF2-40B4-BE49-F238E27FC236}">
                <a16:creationId xmlns:a16="http://schemas.microsoft.com/office/drawing/2014/main" id="{3A1A95BC-B6BB-472A-B207-3B696A74C2B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7">
            <a:extLst>
              <a:ext uri="{FF2B5EF4-FFF2-40B4-BE49-F238E27FC236}">
                <a16:creationId xmlns:a16="http://schemas.microsoft.com/office/drawing/2014/main" id="{AE0DEC5E-C853-4EBA-A4F3-163CF1D991E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原稿P04　软件开发过程与技术</a:t>
            </a:r>
          </a:p>
        </p:txBody>
      </p:sp>
      <p:sp>
        <p:nvSpPr>
          <p:cNvPr id="10004" name="frame-28">
            <a:extLst>
              <a:ext uri="{FF2B5EF4-FFF2-40B4-BE49-F238E27FC236}">
                <a16:creationId xmlns:a16="http://schemas.microsoft.com/office/drawing/2014/main" id="{ABE7121A-8F45-4706-95E0-A679A1427E6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38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69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8867BBD1-F357-0310-988B-1402B78EC7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8169354"/>
              </p:ext>
            </p:extLst>
          </p:nvPr>
        </p:nvGraphicFramePr>
        <p:xfrm>
          <a:off x="1409909" y="1076325"/>
          <a:ext cx="6324183" cy="3524250"/>
        </p:xfrm>
        <a:graphic>
          <a:graphicData uri="http://schemas.openxmlformats.org/drawingml/2006/table">
            <a:tbl>
              <a:tblPr/>
              <a:tblGrid>
                <a:gridCol w="1624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69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L="71737" marR="7173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69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marL="71737" marR="71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69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marL="71737" marR="71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n-</a:t>
                      </a:r>
                      <a:r>
                        <a:rPr kumimoji="0" lang="en-TT" sz="1369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ary</a:t>
                      </a: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association</a:t>
                      </a:r>
                    </a:p>
                  </a:txBody>
                  <a:tcPr marL="71737" marR="71737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TT" sz="1369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1737" marR="71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Relationship between n (here 3) classes</a:t>
                      </a:r>
                    </a:p>
                  </a:txBody>
                  <a:tcPr marL="71737" marR="71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2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Association class</a:t>
                      </a:r>
                    </a:p>
                  </a:txBody>
                  <a:tcPr marL="71737" marR="71737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TT" sz="1369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1737" marR="71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More detailed description of an association</a:t>
                      </a:r>
                    </a:p>
                  </a:txBody>
                  <a:tcPr marL="71737" marR="71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2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Shared aggregation</a:t>
                      </a:r>
                    </a:p>
                  </a:txBody>
                  <a:tcPr marL="69898" marR="69898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TT" sz="1369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69898" marR="698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Parts-whole relationship (</a:t>
                      </a:r>
                      <a:r>
                        <a:rPr kumimoji="0" lang="en-TT" sz="1369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A</a:t>
                      </a: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is part of </a:t>
                      </a:r>
                      <a:r>
                        <a:rPr kumimoji="0" lang="en-TT" sz="1369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B</a:t>
                      </a:r>
                      <a:r>
                        <a:rPr kumimoji="0" lang="en-TT" sz="1369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)</a:t>
                      </a:r>
                    </a:p>
                  </a:txBody>
                  <a:tcPr marL="69898" marR="6989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015371"/>
                  </a:ext>
                </a:extLst>
              </a:tr>
            </a:tbl>
          </a:graphicData>
        </a:graphic>
      </p:graphicFrame>
      <p:pic>
        <p:nvPicPr>
          <p:cNvPr id="8" name="Grafik 1">
            <a:extLst>
              <a:ext uri="{FF2B5EF4-FFF2-40B4-BE49-F238E27FC236}">
                <a16:creationId xmlns:a16="http://schemas.microsoft.com/office/drawing/2014/main" id="{3D68FCC8-746B-3EBB-9EBC-AA750496D1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897" y="1600101"/>
            <a:ext cx="1207985" cy="619064"/>
          </a:xfrm>
          <a:prstGeom prst="rect">
            <a:avLst/>
          </a:prstGeom>
        </p:spPr>
      </p:pic>
      <p:pic>
        <p:nvPicPr>
          <p:cNvPr id="9" name="Grafik 2">
            <a:extLst>
              <a:ext uri="{FF2B5EF4-FFF2-40B4-BE49-F238E27FC236}">
                <a16:creationId xmlns:a16="http://schemas.microsoft.com/office/drawing/2014/main" id="{7706434C-F183-A7FB-82AD-C1C5CF6E29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897" y="2661225"/>
            <a:ext cx="1207985" cy="619064"/>
          </a:xfrm>
          <a:prstGeom prst="rect">
            <a:avLst/>
          </a:prstGeom>
        </p:spPr>
      </p:pic>
      <p:pic>
        <p:nvPicPr>
          <p:cNvPr id="11" name="Grafik 3">
            <a:extLst>
              <a:ext uri="{FF2B5EF4-FFF2-40B4-BE49-F238E27FC236}">
                <a16:creationId xmlns:a16="http://schemas.microsoft.com/office/drawing/2014/main" id="{F2C4B4DA-1091-E2A1-E858-3EBCC20303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970" y="3900231"/>
            <a:ext cx="1207985" cy="257364"/>
          </a:xfrm>
          <a:prstGeom prst="rect">
            <a:avLst/>
          </a:prstGeom>
        </p:spPr>
      </p:pic>
      <p:sp>
        <p:nvSpPr>
          <p:cNvPr id="10000" name="frame-29">
            <a:extLst>
              <a:ext uri="{FF2B5EF4-FFF2-40B4-BE49-F238E27FC236}">
                <a16:creationId xmlns:a16="http://schemas.microsoft.com/office/drawing/2014/main" id="{2B879703-80E9-4D6C-B26B-6F748DBF051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类图概要：表示法</a:t>
            </a:r>
          </a:p>
        </p:txBody>
      </p:sp>
      <p:sp>
        <p:nvSpPr>
          <p:cNvPr id="10001" name="frame-30">
            <a:extLst>
              <a:ext uri="{FF2B5EF4-FFF2-40B4-BE49-F238E27FC236}">
                <a16:creationId xmlns:a16="http://schemas.microsoft.com/office/drawing/2014/main" id="{18EDC89D-5479-45DA-AFA9-82BD9423E08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31">
            <a:extLst>
              <a:ext uri="{FF2B5EF4-FFF2-40B4-BE49-F238E27FC236}">
                <a16:creationId xmlns:a16="http://schemas.microsoft.com/office/drawing/2014/main" id="{56F5E975-832F-416A-BE2E-F55C483626F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32">
            <a:extLst>
              <a:ext uri="{FF2B5EF4-FFF2-40B4-BE49-F238E27FC236}">
                <a16:creationId xmlns:a16="http://schemas.microsoft.com/office/drawing/2014/main" id="{75505C4E-0627-4667-A65E-ACC57BB5CB0A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原稿P05　软件开发过程与技术</a:t>
            </a:r>
          </a:p>
        </p:txBody>
      </p:sp>
      <p:sp>
        <p:nvSpPr>
          <p:cNvPr id="10004" name="frame-33">
            <a:extLst>
              <a:ext uri="{FF2B5EF4-FFF2-40B4-BE49-F238E27FC236}">
                <a16:creationId xmlns:a16="http://schemas.microsoft.com/office/drawing/2014/main" id="{6BAA8327-62F1-4CD0-AB9E-2959FBF00A0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39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65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7">
            <a:extLst>
              <a:ext uri="{FF2B5EF4-FFF2-40B4-BE49-F238E27FC236}">
                <a16:creationId xmlns:a16="http://schemas.microsoft.com/office/drawing/2014/main" id="{293F1CA3-65E4-0443-1C2B-3F530A470C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069533"/>
              </p:ext>
            </p:extLst>
          </p:nvPr>
        </p:nvGraphicFramePr>
        <p:xfrm>
          <a:off x="1081124" y="1076325"/>
          <a:ext cx="6981752" cy="3524250"/>
        </p:xfrm>
        <a:graphic>
          <a:graphicData uri="http://schemas.openxmlformats.org/drawingml/2006/table">
            <a:tbl>
              <a:tblPr/>
              <a:tblGrid>
                <a:gridCol w="184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44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L="68610" marR="6861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44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marL="68610" marR="686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44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marL="68610" marR="686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4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Strong aggregation = composition</a:t>
                      </a:r>
                    </a:p>
                  </a:txBody>
                  <a:tcPr marL="68610" marR="6861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TT" sz="1344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68610" marR="686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Existence-dependent parts-whole relationship (</a:t>
                      </a:r>
                      <a:r>
                        <a:rPr kumimoji="0" lang="en-TT" sz="1344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A</a:t>
                      </a: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is part of </a:t>
                      </a:r>
                      <a:r>
                        <a:rPr kumimoji="0" lang="en-TT" sz="1344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B</a:t>
                      </a: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)</a:t>
                      </a:r>
                    </a:p>
                  </a:txBody>
                  <a:tcPr marL="68610" marR="686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6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Generalization</a:t>
                      </a:r>
                    </a:p>
                  </a:txBody>
                  <a:tcPr marL="68610" marR="6861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TT" sz="1344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68610" marR="686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  <a:defRPr sz="1045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Inheritance relationship (</a:t>
                      </a:r>
                      <a:r>
                        <a:rPr kumimoji="0" lang="en-TT" sz="1344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A</a:t>
                      </a: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inherits from </a:t>
                      </a:r>
                      <a:r>
                        <a:rPr kumimoji="0" lang="en-TT" sz="1344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B</a:t>
                      </a: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)</a:t>
                      </a:r>
                    </a:p>
                  </a:txBody>
                  <a:tcPr marL="68610" marR="686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8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Object</a:t>
                      </a:r>
                    </a:p>
                  </a:txBody>
                  <a:tcPr marL="68610" marR="6861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TT" sz="1344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68610" marR="686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Instance of a class</a:t>
                      </a:r>
                    </a:p>
                  </a:txBody>
                  <a:tcPr marL="68610" marR="686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53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Link</a:t>
                      </a:r>
                    </a:p>
                  </a:txBody>
                  <a:tcPr marL="68610" marR="6861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TT" sz="1344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68610" marR="686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TT" sz="1344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Relationship between objects</a:t>
                      </a:r>
                    </a:p>
                  </a:txBody>
                  <a:tcPr marL="68610" marR="686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Grafik 4">
            <a:extLst>
              <a:ext uri="{FF2B5EF4-FFF2-40B4-BE49-F238E27FC236}">
                <a16:creationId xmlns:a16="http://schemas.microsoft.com/office/drawing/2014/main" id="{688EB8E5-F27F-7714-21FE-47BEF8CC2F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77" y="1700100"/>
            <a:ext cx="1185725" cy="252621"/>
          </a:xfrm>
          <a:prstGeom prst="rect">
            <a:avLst/>
          </a:prstGeom>
        </p:spPr>
      </p:pic>
      <p:pic>
        <p:nvPicPr>
          <p:cNvPr id="10" name="Grafik 5">
            <a:extLst>
              <a:ext uri="{FF2B5EF4-FFF2-40B4-BE49-F238E27FC236}">
                <a16:creationId xmlns:a16="http://schemas.microsoft.com/office/drawing/2014/main" id="{009F198A-ECDD-36B8-A7EB-BC2D003DAF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328" y="2468149"/>
            <a:ext cx="1185725" cy="252621"/>
          </a:xfrm>
          <a:prstGeom prst="rect">
            <a:avLst/>
          </a:prstGeom>
        </p:spPr>
      </p:pic>
      <p:pic>
        <p:nvPicPr>
          <p:cNvPr id="11" name="Grafik 6">
            <a:extLst>
              <a:ext uri="{FF2B5EF4-FFF2-40B4-BE49-F238E27FC236}">
                <a16:creationId xmlns:a16="http://schemas.microsoft.com/office/drawing/2014/main" id="{94C403E2-7AFF-C05A-8F4F-4DB8075C24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022" y="3141835"/>
            <a:ext cx="370966" cy="252621"/>
          </a:xfrm>
          <a:prstGeom prst="rect">
            <a:avLst/>
          </a:prstGeom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27E40F18-D988-FAD2-157B-8C85C241C2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880" y="4097592"/>
            <a:ext cx="1185725" cy="252621"/>
          </a:xfrm>
          <a:prstGeom prst="rect">
            <a:avLst/>
          </a:prstGeom>
        </p:spPr>
      </p:pic>
      <p:sp>
        <p:nvSpPr>
          <p:cNvPr id="10000" name="frame-34">
            <a:extLst>
              <a:ext uri="{FF2B5EF4-FFF2-40B4-BE49-F238E27FC236}">
                <a16:creationId xmlns:a16="http://schemas.microsoft.com/office/drawing/2014/main" id="{3629AC88-BF8B-423A-9C97-BA63987F110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类图概要：表示法</a:t>
            </a:r>
          </a:p>
        </p:txBody>
      </p:sp>
      <p:sp>
        <p:nvSpPr>
          <p:cNvPr id="10001" name="frame-35">
            <a:extLst>
              <a:ext uri="{FF2B5EF4-FFF2-40B4-BE49-F238E27FC236}">
                <a16:creationId xmlns:a16="http://schemas.microsoft.com/office/drawing/2014/main" id="{2B8D6B64-E444-4AF9-A973-106A772C57F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36">
            <a:extLst>
              <a:ext uri="{FF2B5EF4-FFF2-40B4-BE49-F238E27FC236}">
                <a16:creationId xmlns:a16="http://schemas.microsoft.com/office/drawing/2014/main" id="{06189A94-610D-45C8-B2FC-FD9BBD00EC28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37">
            <a:extLst>
              <a:ext uri="{FF2B5EF4-FFF2-40B4-BE49-F238E27FC236}">
                <a16:creationId xmlns:a16="http://schemas.microsoft.com/office/drawing/2014/main" id="{54C40AB9-C6FF-46C4-8ADB-771D0B887BE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原稿P06　软件开发过程与技术</a:t>
            </a:r>
          </a:p>
        </p:txBody>
      </p:sp>
      <p:sp>
        <p:nvSpPr>
          <p:cNvPr id="10004" name="frame-38">
            <a:extLst>
              <a:ext uri="{FF2B5EF4-FFF2-40B4-BE49-F238E27FC236}">
                <a16:creationId xmlns:a16="http://schemas.microsoft.com/office/drawing/2014/main" id="{105F49B0-E369-416B-90EF-03886445473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40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43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">
            <a:extLst>
              <a:ext uri="{FF2B5EF4-FFF2-40B4-BE49-F238E27FC236}">
                <a16:creationId xmlns:a16="http://schemas.microsoft.com/office/drawing/2014/main" id="{48154129-791A-EFE9-98DC-FA66A415C9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076325"/>
            <a:ext cx="8191500" cy="74544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EBFD506-BD88-BFF7-86C4-7428F7DDCE7A}"/>
              </a:ext>
            </a:extLst>
          </p:cNvPr>
          <p:cNvSpPr txBox="1"/>
          <p:nvPr/>
        </p:nvSpPr>
        <p:spPr>
          <a:xfrm>
            <a:off x="3883549" y="1762301"/>
            <a:ext cx="2078517" cy="276239"/>
          </a:xfrm>
          <a:prstGeom prst="rect">
            <a:avLst/>
          </a:prstGeom>
          <a:noFill/>
        </p:spPr>
        <p:txBody>
          <a:bodyPr wrap="square" lIns="68392" tIns="34196" rIns="68392" bIns="34196" rtlCol="0">
            <a:noAutofit/>
          </a:bodyPr>
          <a:lstStyle/>
          <a:p>
            <a:pPr marL="0" algn="l" defTabSz="683919" rtl="0" eaLnBrk="1" latinLnBrk="0" hangingPunct="1">
              <a:defRPr sz="134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46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Syntax of Attribute</a:t>
            </a:r>
            <a:endParaRPr lang="zh-CN" altLang="en-US" sz="1346" b="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074EED2-58A2-F52E-283A-5A1DB273E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058" y="2172264"/>
            <a:ext cx="4629280" cy="2269957"/>
          </a:xfrm>
          <a:prstGeom prst="rect">
            <a:avLst/>
          </a:prstGeom>
        </p:spPr>
      </p:pic>
      <p:sp>
        <p:nvSpPr>
          <p:cNvPr id="10000" name="frame-49">
            <a:extLst>
              <a:ext uri="{FF2B5EF4-FFF2-40B4-BE49-F238E27FC236}">
                <a16:creationId xmlns:a16="http://schemas.microsoft.com/office/drawing/2014/main" id="{B2FC634F-F2C1-437A-B353-B916B7E6BF8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50">
            <a:extLst>
              <a:ext uri="{FF2B5EF4-FFF2-40B4-BE49-F238E27FC236}">
                <a16:creationId xmlns:a16="http://schemas.microsoft.com/office/drawing/2014/main" id="{29574A50-14A0-4176-AA5F-5F5B01CD30E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51">
            <a:extLst>
              <a:ext uri="{FF2B5EF4-FFF2-40B4-BE49-F238E27FC236}">
                <a16:creationId xmlns:a16="http://schemas.microsoft.com/office/drawing/2014/main" id="{9CA22DC3-43C5-411D-8C14-978C4D78C63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52">
            <a:extLst>
              <a:ext uri="{FF2B5EF4-FFF2-40B4-BE49-F238E27FC236}">
                <a16:creationId xmlns:a16="http://schemas.microsoft.com/office/drawing/2014/main" id="{8FC1580B-7B5C-4329-BD6A-B7A750CE46C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原稿P09　软件开发过程与技术</a:t>
            </a:r>
          </a:p>
        </p:txBody>
      </p:sp>
      <p:sp>
        <p:nvSpPr>
          <p:cNvPr id="10004" name="frame-53">
            <a:extLst>
              <a:ext uri="{FF2B5EF4-FFF2-40B4-BE49-F238E27FC236}">
                <a16:creationId xmlns:a16="http://schemas.microsoft.com/office/drawing/2014/main" id="{5C5AA91D-287E-42CD-BB79-21F4A1D85CB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41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71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F0C88B5-63A5-D48D-F04F-B54BDC4463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076325"/>
            <a:ext cx="8017756" cy="729636"/>
          </a:xfrm>
          <a:prstGeom prst="rect">
            <a:avLst/>
          </a:prstGeom>
        </p:spPr>
      </p:pic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67597B14-4EF1-BEAC-7685-8E11681A2845}"/>
              </a:ext>
            </a:extLst>
          </p:cNvPr>
          <p:cNvSpPr txBox="1">
            <a:spLocks/>
          </p:cNvSpPr>
          <p:nvPr/>
        </p:nvSpPr>
        <p:spPr>
          <a:xfrm>
            <a:off x="3070920" y="2020671"/>
            <a:ext cx="5596830" cy="1645395"/>
          </a:xfrm>
          <a:prstGeom prst="rect">
            <a:avLst/>
          </a:prstGeom>
        </p:spPr>
        <p:txBody>
          <a:bodyPr lIns="68019" tIns="34010" rIns="68019" bIns="34010">
            <a:noAutofit/>
          </a:bodyPr>
          <a:lstStyle/>
          <a:p>
            <a:pPr marL="170048" indent="-170048" algn="l" defTabSz="680194" rtl="0" eaLnBrk="1" latinLnBrk="0" hangingPunct="1">
              <a:lnSpc>
                <a:spcPct val="90000"/>
              </a:lnSpc>
              <a:spcBef>
                <a:spcPts val="744"/>
              </a:spcBef>
              <a:buFont typeface="Noto Sans SC"/>
              <a:buChar char="•"/>
              <a:defRPr sz="1339"/>
            </a:pPr>
            <a:r>
              <a:rPr lang="en-US" altLang="zh-CN" sz="1488" b="1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Visibility</a:t>
            </a:r>
            <a:r>
              <a:rPr lang="en-US" altLang="zh-CN" sz="1488" dirty="0">
                <a:latin typeface="Noto Sans SC"/>
                <a:ea typeface="Noto Sans SC"/>
                <a:cs typeface="Noto Sans SC"/>
              </a:rPr>
              <a:t>: </a:t>
            </a:r>
            <a:r>
              <a:rPr lang="en-US" sz="1488" dirty="0">
                <a:latin typeface="Noto Sans SC"/>
                <a:ea typeface="Noto Sans SC"/>
                <a:cs typeface="Noto Sans SC"/>
              </a:rPr>
              <a:t>Who is permitted to access the attribute</a:t>
            </a:r>
          </a:p>
          <a:p>
            <a:pPr marL="510145" lvl="1" indent="-170048" algn="l" defTabSz="680194" rtl="0" eaLnBrk="1" latinLnBrk="0" hangingPunct="1">
              <a:lnSpc>
                <a:spcPct val="90000"/>
              </a:lnSpc>
              <a:spcBef>
                <a:spcPts val="372"/>
              </a:spcBef>
              <a:buFont typeface="Noto Sans SC"/>
              <a:buChar char="•"/>
              <a:defRPr sz="1339"/>
            </a:pPr>
            <a:r>
              <a:rPr lang="en-US" sz="1488" dirty="0">
                <a:latin typeface="Noto Sans SC"/>
                <a:ea typeface="Noto Sans SC"/>
                <a:cs typeface="Noto Sans SC"/>
              </a:rPr>
              <a:t>+ ... public:  everybody</a:t>
            </a:r>
          </a:p>
          <a:p>
            <a:pPr marL="510145" lvl="1" indent="-170048" algn="l" defTabSz="680194" rtl="0" eaLnBrk="1" latinLnBrk="0" hangingPunct="1">
              <a:lnSpc>
                <a:spcPct val="90000"/>
              </a:lnSpc>
              <a:spcBef>
                <a:spcPts val="372"/>
              </a:spcBef>
              <a:buFont typeface="Noto Sans SC"/>
              <a:buChar char="•"/>
              <a:defRPr sz="1339"/>
            </a:pPr>
            <a:r>
              <a:rPr lang="en-US" sz="1488" dirty="0">
                <a:latin typeface="Noto Sans SC"/>
                <a:ea typeface="Noto Sans SC"/>
                <a:cs typeface="Noto Sans SC"/>
              </a:rPr>
              <a:t>-	 ... private: only the object itself</a:t>
            </a:r>
          </a:p>
          <a:p>
            <a:pPr marL="510145" lvl="1" indent="-170048" algn="l" defTabSz="680194" rtl="0" eaLnBrk="1" latinLnBrk="0" hangingPunct="1">
              <a:lnSpc>
                <a:spcPct val="90000"/>
              </a:lnSpc>
              <a:spcBef>
                <a:spcPts val="372"/>
              </a:spcBef>
              <a:buFont typeface="Noto Sans SC"/>
              <a:buChar char="•"/>
              <a:defRPr sz="1339"/>
            </a:pPr>
            <a:r>
              <a:rPr lang="en-US" sz="1488" dirty="0">
                <a:latin typeface="Noto Sans SC"/>
                <a:ea typeface="Noto Sans SC"/>
                <a:cs typeface="Noto Sans SC"/>
              </a:rPr>
              <a:t># ... protected: class itself and subclasses</a:t>
            </a:r>
          </a:p>
          <a:p>
            <a:pPr marL="510145" lvl="1" indent="-170048" algn="l" defTabSz="680194" rtl="0" eaLnBrk="1" latinLnBrk="0" hangingPunct="1">
              <a:lnSpc>
                <a:spcPct val="90000"/>
              </a:lnSpc>
              <a:spcBef>
                <a:spcPts val="372"/>
              </a:spcBef>
              <a:buFont typeface="Noto Sans SC"/>
              <a:buChar char="•"/>
              <a:defRPr sz="1339"/>
            </a:pPr>
            <a:r>
              <a:rPr lang="en-US" sz="1488" dirty="0">
                <a:latin typeface="Noto Sans SC"/>
                <a:ea typeface="Noto Sans SC"/>
                <a:cs typeface="Noto Sans SC"/>
              </a:rPr>
              <a:t>~ ... package: classes that are in the same package</a:t>
            </a:r>
          </a:p>
        </p:txBody>
      </p:sp>
      <p:pic>
        <p:nvPicPr>
          <p:cNvPr id="13" name="Grafik 4">
            <a:extLst>
              <a:ext uri="{FF2B5EF4-FFF2-40B4-BE49-F238E27FC236}">
                <a16:creationId xmlns:a16="http://schemas.microsoft.com/office/drawing/2014/main" id="{C44C6A6A-387D-0716-84DB-35F49BBE78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50" y="2016976"/>
            <a:ext cx="2358320" cy="1697148"/>
          </a:xfrm>
          <a:prstGeom prst="rect">
            <a:avLst/>
          </a:prstGeom>
        </p:spPr>
      </p:pic>
      <p:sp>
        <p:nvSpPr>
          <p:cNvPr id="10000" name="frame-54">
            <a:extLst>
              <a:ext uri="{FF2B5EF4-FFF2-40B4-BE49-F238E27FC236}">
                <a16:creationId xmlns:a16="http://schemas.microsoft.com/office/drawing/2014/main" id="{7503D35F-133E-4740-B91C-850DBB1AB3A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55">
            <a:extLst>
              <a:ext uri="{FF2B5EF4-FFF2-40B4-BE49-F238E27FC236}">
                <a16:creationId xmlns:a16="http://schemas.microsoft.com/office/drawing/2014/main" id="{D730D070-DBD4-474A-B713-F1640DB3CEF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56">
            <a:extLst>
              <a:ext uri="{FF2B5EF4-FFF2-40B4-BE49-F238E27FC236}">
                <a16:creationId xmlns:a16="http://schemas.microsoft.com/office/drawing/2014/main" id="{E7F1C54E-D734-42A4-AEFF-969FF814BA1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57">
            <a:extLst>
              <a:ext uri="{FF2B5EF4-FFF2-40B4-BE49-F238E27FC236}">
                <a16:creationId xmlns:a16="http://schemas.microsoft.com/office/drawing/2014/main" id="{0C37CC1A-31F9-4038-AD95-7420F88549B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原稿P10　软件开发过程与技术</a:t>
            </a:r>
          </a:p>
        </p:txBody>
      </p:sp>
      <p:sp>
        <p:nvSpPr>
          <p:cNvPr id="10004" name="frame-58">
            <a:extLst>
              <a:ext uri="{FF2B5EF4-FFF2-40B4-BE49-F238E27FC236}">
                <a16:creationId xmlns:a16="http://schemas.microsoft.com/office/drawing/2014/main" id="{0078B390-E0D3-471C-9064-E8ED4D9F2BA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42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27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6091A3C-B694-FB37-D67D-B785205706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31" y="1076325"/>
            <a:ext cx="7833873" cy="71290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B841D96-DEB3-347F-05BE-8069EF2BCF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984045"/>
            <a:ext cx="2355355" cy="1695015"/>
          </a:xfrm>
          <a:prstGeom prst="rect">
            <a:avLst/>
          </a:prstGeom>
        </p:spPr>
      </p:pic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B47B1A02-F6EA-3D48-EFD8-5F511F2838CF}"/>
              </a:ext>
            </a:extLst>
          </p:cNvPr>
          <p:cNvSpPr txBox="1">
            <a:spLocks/>
          </p:cNvSpPr>
          <p:nvPr/>
        </p:nvSpPr>
        <p:spPr>
          <a:xfrm>
            <a:off x="3124943" y="1964833"/>
            <a:ext cx="5542807" cy="2512747"/>
          </a:xfrm>
          <a:prstGeom prst="rect">
            <a:avLst/>
          </a:prstGeom>
        </p:spPr>
        <p:txBody>
          <a:bodyPr lIns="67708" tIns="33854" rIns="67708" bIns="33854">
            <a:noAutofit/>
          </a:bodyPr>
          <a:lstStyle/>
          <a:p>
            <a:pPr marL="169270" indent="-169270" algn="l" defTabSz="677081" rtl="0" eaLnBrk="1" latinLnBrk="0" hangingPunct="1">
              <a:spcBef>
                <a:spcPts val="740"/>
              </a:spcBef>
              <a:buFont typeface="Noto Sans SC"/>
              <a:buChar char="•"/>
              <a:defRPr sz="20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481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/</a:t>
            </a:r>
          </a:p>
          <a:p>
            <a:pPr marL="507811" lvl="1" indent="-169270" algn="l" defTabSz="677081" rtl="0" eaLnBrk="1" latinLnBrk="0" hangingPunct="1">
              <a:spcBef>
                <a:spcPts val="370"/>
              </a:spcBef>
              <a:buFont typeface="Noto Sans SC"/>
              <a:buChar char="•"/>
              <a:defRPr sz="177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7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Attribute value is derived from other attributes</a:t>
            </a:r>
          </a:p>
          <a:p>
            <a:pPr marL="846352" lvl="2" indent="-169270" algn="l" defTabSz="677081" rtl="0" eaLnBrk="1" latinLnBrk="0" hangingPunct="1">
              <a:spcBef>
                <a:spcPts val="370"/>
              </a:spcBef>
              <a:buFont typeface="Noto Sans SC"/>
              <a:buChar char="•"/>
              <a:defRPr sz="148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4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age: calculated from the date of birth</a:t>
            </a:r>
          </a:p>
          <a:p>
            <a:pPr marL="169270" indent="-169270" algn="l" defTabSz="677081" rtl="0" eaLnBrk="1" latinLnBrk="0" hangingPunct="1">
              <a:spcBef>
                <a:spcPts val="740"/>
              </a:spcBef>
              <a:buFont typeface="Noto Sans SC"/>
              <a:buChar char="•"/>
              <a:defRPr sz="20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sz="148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59">
            <a:extLst>
              <a:ext uri="{FF2B5EF4-FFF2-40B4-BE49-F238E27FC236}">
                <a16:creationId xmlns:a16="http://schemas.microsoft.com/office/drawing/2014/main" id="{3BB74C79-8492-4866-8789-B93DEA19ED6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60">
            <a:extLst>
              <a:ext uri="{FF2B5EF4-FFF2-40B4-BE49-F238E27FC236}">
                <a16:creationId xmlns:a16="http://schemas.microsoft.com/office/drawing/2014/main" id="{B9182FF8-F63B-47FB-99E9-C7270E6F480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61">
            <a:extLst>
              <a:ext uri="{FF2B5EF4-FFF2-40B4-BE49-F238E27FC236}">
                <a16:creationId xmlns:a16="http://schemas.microsoft.com/office/drawing/2014/main" id="{D7FBD6CA-4711-434A-A705-AF86F485055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62">
            <a:extLst>
              <a:ext uri="{FF2B5EF4-FFF2-40B4-BE49-F238E27FC236}">
                <a16:creationId xmlns:a16="http://schemas.microsoft.com/office/drawing/2014/main" id="{12D72788-C0F9-4B17-BEDE-923349E7326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原稿P11　软件开发过程与技术</a:t>
            </a:r>
          </a:p>
        </p:txBody>
      </p:sp>
      <p:sp>
        <p:nvSpPr>
          <p:cNvPr id="10004" name="frame-63">
            <a:extLst>
              <a:ext uri="{FF2B5EF4-FFF2-40B4-BE49-F238E27FC236}">
                <a16:creationId xmlns:a16="http://schemas.microsoft.com/office/drawing/2014/main" id="{84B88534-7E10-467C-B4AC-7EB1E00B2BF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43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91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D004F0A-553A-F3A3-3C40-49540722CD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076325"/>
            <a:ext cx="8191500" cy="745448"/>
          </a:xfrm>
          <a:prstGeom prst="rect">
            <a:avLst/>
          </a:prstGeom>
        </p:spPr>
      </p:pic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56A07A0D-5ED5-185B-95FF-889A54B2A72D}"/>
              </a:ext>
            </a:extLst>
          </p:cNvPr>
          <p:cNvSpPr txBox="1">
            <a:spLocks/>
          </p:cNvSpPr>
          <p:nvPr/>
        </p:nvSpPr>
        <p:spPr>
          <a:xfrm>
            <a:off x="3921801" y="1955891"/>
            <a:ext cx="4106489" cy="1861995"/>
          </a:xfrm>
          <a:prstGeom prst="rect">
            <a:avLst/>
          </a:prstGeom>
        </p:spPr>
        <p:txBody>
          <a:bodyPr lIns="69622" tIns="34811" rIns="69622" bIns="34811">
            <a:noAutofit/>
          </a:bodyPr>
          <a:lstStyle/>
          <a:p>
            <a:pPr marL="174054" indent="-174054" algn="l" defTabSz="696218" rtl="0" eaLnBrk="1" latinLnBrk="0" hangingPunct="1">
              <a:lnSpc>
                <a:spcPct val="90000"/>
              </a:lnSpc>
              <a:spcBef>
                <a:spcPts val="761"/>
              </a:spcBef>
              <a:buFont typeface="Noto Sans SC"/>
              <a:buChar char="•"/>
              <a:defRPr sz="213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827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Name</a:t>
            </a:r>
            <a:r>
              <a:rPr lang="en-US" sz="182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of the attribute</a:t>
            </a:r>
          </a:p>
        </p:txBody>
      </p:sp>
      <p:pic>
        <p:nvPicPr>
          <p:cNvPr id="11" name="Grafik 7">
            <a:extLst>
              <a:ext uri="{FF2B5EF4-FFF2-40B4-BE49-F238E27FC236}">
                <a16:creationId xmlns:a16="http://schemas.microsoft.com/office/drawing/2014/main" id="{3BDDF8CA-F230-259F-5700-45536EB732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82" y="1887782"/>
            <a:ext cx="2511065" cy="1807070"/>
          </a:xfrm>
          <a:prstGeom prst="rect">
            <a:avLst/>
          </a:prstGeom>
        </p:spPr>
      </p:pic>
      <p:sp>
        <p:nvSpPr>
          <p:cNvPr id="10000" name="frame-64">
            <a:extLst>
              <a:ext uri="{FF2B5EF4-FFF2-40B4-BE49-F238E27FC236}">
                <a16:creationId xmlns:a16="http://schemas.microsoft.com/office/drawing/2014/main" id="{A4C56D49-8105-4645-B0FE-64434C486DB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65">
            <a:extLst>
              <a:ext uri="{FF2B5EF4-FFF2-40B4-BE49-F238E27FC236}">
                <a16:creationId xmlns:a16="http://schemas.microsoft.com/office/drawing/2014/main" id="{7C039F08-CDD6-48AD-8B89-BAFACAB225E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66">
            <a:extLst>
              <a:ext uri="{FF2B5EF4-FFF2-40B4-BE49-F238E27FC236}">
                <a16:creationId xmlns:a16="http://schemas.microsoft.com/office/drawing/2014/main" id="{9B2BB909-A84B-4EC6-BEE3-E5EB119E29A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67">
            <a:extLst>
              <a:ext uri="{FF2B5EF4-FFF2-40B4-BE49-F238E27FC236}">
                <a16:creationId xmlns:a16="http://schemas.microsoft.com/office/drawing/2014/main" id="{54C56B48-DB95-471C-ABF8-F41345D94547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原稿P12　软件开发过程与技术</a:t>
            </a:r>
          </a:p>
        </p:txBody>
      </p:sp>
      <p:sp>
        <p:nvSpPr>
          <p:cNvPr id="10004" name="frame-68">
            <a:extLst>
              <a:ext uri="{FF2B5EF4-FFF2-40B4-BE49-F238E27FC236}">
                <a16:creationId xmlns:a16="http://schemas.microsoft.com/office/drawing/2014/main" id="{91B0127E-BF4A-40CA-A9CC-0F0E573AC86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44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28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657C6-C58A-11A9-9940-AF8EDF4D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83644E4C-8D3A-BEDB-B89A-C63C204C10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26" y="1076325"/>
            <a:ext cx="7931797" cy="721814"/>
          </a:xfrm>
          <a:prstGeom prst="rect">
            <a:avLst/>
          </a:prstGeom>
        </p:spPr>
      </p:pic>
      <p:sp>
        <p:nvSpPr>
          <p:cNvPr id="8" name="Textplatzhalter 13">
            <a:extLst>
              <a:ext uri="{FF2B5EF4-FFF2-40B4-BE49-F238E27FC236}">
                <a16:creationId xmlns:a16="http://schemas.microsoft.com/office/drawing/2014/main" id="{8320986C-2822-2867-846D-A8A01B6F3E24}"/>
              </a:ext>
            </a:extLst>
          </p:cNvPr>
          <p:cNvSpPr txBox="1">
            <a:spLocks/>
          </p:cNvSpPr>
          <p:nvPr/>
        </p:nvSpPr>
        <p:spPr>
          <a:xfrm>
            <a:off x="3304270" y="1750284"/>
            <a:ext cx="5302649" cy="1893006"/>
          </a:xfrm>
          <a:prstGeom prst="rect">
            <a:avLst/>
          </a:prstGeom>
        </p:spPr>
        <p:txBody>
          <a:bodyPr lIns="67229" tIns="33615" rIns="67229" bIns="33615">
            <a:noAutofit/>
          </a:bodyPr>
          <a:lstStyle/>
          <a:p>
            <a:pPr marL="168073" indent="-168073" algn="l" defTabSz="672292" rtl="0" eaLnBrk="1" latinLnBrk="0" hangingPunct="1">
              <a:lnSpc>
                <a:spcPct val="90000"/>
              </a:lnSpc>
              <a:spcBef>
                <a:spcPts val="735"/>
              </a:spcBef>
              <a:buFont typeface="Noto Sans SC"/>
              <a:buChar char="•"/>
              <a:defRPr sz="1323"/>
            </a:pPr>
            <a:r>
              <a:rPr lang="en-US" sz="1470" b="1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Type</a:t>
            </a:r>
          </a:p>
          <a:p>
            <a:pPr marL="504219" lvl="1" indent="-168073" algn="l" defTabSz="672292" rtl="0" eaLnBrk="1" latinLnBrk="0" hangingPunct="1">
              <a:lnSpc>
                <a:spcPct val="90000"/>
              </a:lnSpc>
              <a:spcBef>
                <a:spcPts val="368"/>
              </a:spcBef>
              <a:buFont typeface="Noto Sans SC"/>
              <a:buChar char="•"/>
              <a:defRPr sz="1323"/>
            </a:pPr>
            <a:r>
              <a:rPr lang="en-US" sz="1470" dirty="0">
                <a:latin typeface="Noto Sans SC"/>
                <a:ea typeface="Noto Sans SC"/>
                <a:cs typeface="Noto Sans SC"/>
              </a:rPr>
              <a:t>User-defined classes</a:t>
            </a:r>
          </a:p>
          <a:p>
            <a:pPr marL="504219" lvl="1" indent="-168073" algn="l" defTabSz="672292" rtl="0" eaLnBrk="1" latinLnBrk="0" hangingPunct="1">
              <a:lnSpc>
                <a:spcPct val="90000"/>
              </a:lnSpc>
              <a:spcBef>
                <a:spcPts val="368"/>
              </a:spcBef>
              <a:buFont typeface="Noto Sans SC"/>
              <a:buChar char="•"/>
              <a:defRPr sz="1323"/>
            </a:pPr>
            <a:r>
              <a:rPr lang="en-US" sz="1470" dirty="0">
                <a:latin typeface="Noto Sans SC"/>
                <a:ea typeface="Noto Sans SC"/>
                <a:cs typeface="Noto Sans SC"/>
              </a:rPr>
              <a:t>Data type (</a:t>
            </a:r>
            <a:r>
              <a:rPr lang="en-US" sz="147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not class!!</a:t>
            </a:r>
            <a:r>
              <a:rPr lang="en-US" sz="1470" dirty="0">
                <a:latin typeface="Noto Sans SC"/>
                <a:ea typeface="Noto Sans SC"/>
                <a:cs typeface="Noto Sans SC"/>
              </a:rPr>
              <a:t>)</a:t>
            </a:r>
          </a:p>
          <a:p>
            <a:pPr marL="840366" lvl="2" indent="-168073" algn="l" defTabSz="672292" rtl="0" eaLnBrk="1" latinLnBrk="0" hangingPunct="1">
              <a:lnSpc>
                <a:spcPct val="90000"/>
              </a:lnSpc>
              <a:spcBef>
                <a:spcPts val="368"/>
              </a:spcBef>
              <a:buFont typeface="Noto Sans SC"/>
              <a:buChar char="•"/>
              <a:defRPr sz="1323"/>
            </a:pPr>
            <a:r>
              <a:rPr lang="en-US" sz="1323" dirty="0">
                <a:latin typeface="Noto Sans SC"/>
                <a:ea typeface="Noto Sans SC"/>
                <a:cs typeface="Noto Sans SC"/>
              </a:rPr>
              <a:t>Primitive data type</a:t>
            </a:r>
          </a:p>
          <a:p>
            <a:pPr marL="1176512" lvl="3" indent="-168073" algn="l" defTabSz="672292" rtl="0" eaLnBrk="1" latinLnBrk="0" hangingPunct="1">
              <a:lnSpc>
                <a:spcPct val="90000"/>
              </a:lnSpc>
              <a:spcBef>
                <a:spcPts val="368"/>
              </a:spcBef>
              <a:buFont typeface="Noto Sans SC"/>
              <a:buChar char="•"/>
              <a:defRPr sz="1323"/>
            </a:pPr>
            <a:r>
              <a:rPr lang="en-US" sz="1176" dirty="0">
                <a:latin typeface="Noto Sans SC"/>
                <a:ea typeface="Noto Sans SC"/>
                <a:cs typeface="Noto Sans SC"/>
              </a:rPr>
              <a:t>Pre-defined: </a:t>
            </a:r>
            <a:r>
              <a:rPr lang="en-US" sz="1176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Boolean, Integer, UnlimitedNatural, String</a:t>
            </a:r>
          </a:p>
          <a:p>
            <a:pPr marL="1176512" lvl="3" indent="-168073" algn="l" defTabSz="672292" rtl="0" eaLnBrk="1" latinLnBrk="0" hangingPunct="1">
              <a:lnSpc>
                <a:spcPct val="90000"/>
              </a:lnSpc>
              <a:spcBef>
                <a:spcPts val="368"/>
              </a:spcBef>
              <a:buFont typeface="Noto Sans SC"/>
              <a:buChar char="•"/>
              <a:defRPr sz="1323"/>
            </a:pPr>
            <a:r>
              <a:rPr lang="en-US" sz="1176" dirty="0">
                <a:latin typeface="Noto Sans SC"/>
                <a:ea typeface="Noto Sans SC"/>
                <a:cs typeface="Noto Sans SC"/>
              </a:rPr>
              <a:t>User-defined: </a:t>
            </a:r>
            <a:r>
              <a:rPr lang="en-US" altLang="de-DE" sz="1176" dirty="0">
                <a:latin typeface="Noto Sans SC"/>
                <a:ea typeface="Noto Sans SC"/>
                <a:cs typeface="Noto Sans SC"/>
              </a:rPr>
              <a:t>«</a:t>
            </a:r>
            <a:r>
              <a:rPr lang="en-US" sz="1176" b="1" dirty="0">
                <a:latin typeface="Noto Sans SC"/>
                <a:ea typeface="Noto Sans SC"/>
                <a:cs typeface="Noto Sans SC"/>
              </a:rPr>
              <a:t>primitive</a:t>
            </a:r>
            <a:r>
              <a:rPr lang="en-US" altLang="de-DE" sz="1176" dirty="0">
                <a:latin typeface="Noto Sans SC"/>
                <a:ea typeface="Noto Sans SC"/>
                <a:cs typeface="Noto Sans SC"/>
              </a:rPr>
              <a:t>», </a:t>
            </a:r>
            <a:r>
              <a:rPr lang="en-US" altLang="zh-CN" sz="1176" dirty="0">
                <a:latin typeface="Noto Sans SC"/>
                <a:ea typeface="Noto Sans SC"/>
                <a:cs typeface="Noto Sans SC"/>
              </a:rPr>
              <a:t>without internal</a:t>
            </a:r>
            <a:r>
              <a:rPr lang="zh-CN" altLang="en-US" sz="1176" dirty="0">
                <a:latin typeface="Noto Sans SC"/>
                <a:ea typeface="Noto Sans SC"/>
                <a:cs typeface="Noto Sans SC"/>
              </a:rPr>
              <a:t> </a:t>
            </a:r>
            <a:r>
              <a:rPr lang="en-US" altLang="zh-CN" sz="1176" dirty="0">
                <a:latin typeface="Noto Sans SC"/>
                <a:ea typeface="Noto Sans SC"/>
                <a:cs typeface="Noto Sans SC"/>
              </a:rPr>
              <a:t>structure</a:t>
            </a:r>
            <a:r>
              <a:rPr lang="zh-CN" altLang="en-US" sz="1176" dirty="0">
                <a:latin typeface="Noto Sans SC"/>
                <a:ea typeface="Noto Sans SC"/>
                <a:cs typeface="Noto Sans SC"/>
              </a:rPr>
              <a:t>，</a:t>
            </a:r>
            <a:r>
              <a:rPr lang="en-US" altLang="zh-CN" sz="1176" dirty="0">
                <a:latin typeface="Noto Sans SC"/>
                <a:ea typeface="Noto Sans SC"/>
                <a:cs typeface="Noto Sans SC"/>
              </a:rPr>
              <a:t>Float</a:t>
            </a:r>
            <a:endParaRPr lang="en-US" altLang="de-DE" sz="1176" dirty="0">
              <a:latin typeface="Noto Sans SC"/>
              <a:ea typeface="Noto Sans SC"/>
              <a:cs typeface="Noto Sans SC"/>
            </a:endParaRPr>
          </a:p>
          <a:p>
            <a:pPr marL="1176512" lvl="3" indent="-168073" algn="l" defTabSz="672292" rtl="0" eaLnBrk="1" latinLnBrk="0" hangingPunct="1">
              <a:lnSpc>
                <a:spcPct val="90000"/>
              </a:lnSpc>
              <a:spcBef>
                <a:spcPts val="368"/>
              </a:spcBef>
              <a:buFont typeface="Noto Sans SC"/>
              <a:buChar char="•"/>
              <a:defRPr sz="1323"/>
            </a:pPr>
            <a:r>
              <a:rPr lang="en-US" sz="1176" dirty="0">
                <a:latin typeface="Noto Sans SC"/>
                <a:ea typeface="Noto Sans SC"/>
                <a:cs typeface="Noto Sans SC"/>
              </a:rPr>
              <a:t>Composite data type: </a:t>
            </a:r>
            <a:r>
              <a:rPr lang="en-US" altLang="de-DE" sz="1176" dirty="0">
                <a:latin typeface="Noto Sans SC"/>
                <a:ea typeface="Noto Sans SC"/>
                <a:cs typeface="Noto Sans SC"/>
              </a:rPr>
              <a:t>«</a:t>
            </a:r>
            <a:r>
              <a:rPr lang="en-US" sz="1176" b="1" dirty="0">
                <a:latin typeface="Noto Sans SC"/>
                <a:ea typeface="Noto Sans SC"/>
                <a:cs typeface="Noto Sans SC"/>
              </a:rPr>
              <a:t>datatype</a:t>
            </a:r>
            <a:r>
              <a:rPr lang="en-US" altLang="de-DE" sz="1176" dirty="0">
                <a:latin typeface="Noto Sans SC"/>
                <a:ea typeface="Noto Sans SC"/>
                <a:cs typeface="Noto Sans SC"/>
              </a:rPr>
              <a:t>»</a:t>
            </a:r>
            <a:endParaRPr lang="en-US" sz="1176" dirty="0">
              <a:latin typeface="Noto Sans SC"/>
              <a:ea typeface="Noto Sans SC"/>
              <a:cs typeface="Noto Sans SC"/>
            </a:endParaRPr>
          </a:p>
          <a:p>
            <a:pPr marL="840366" lvl="2" indent="-168073" algn="l" defTabSz="672292" rtl="0" eaLnBrk="1" latinLnBrk="0" hangingPunct="1">
              <a:lnSpc>
                <a:spcPct val="90000"/>
              </a:lnSpc>
              <a:spcBef>
                <a:spcPts val="368"/>
              </a:spcBef>
              <a:buFont typeface="Noto Sans SC"/>
              <a:buChar char="•"/>
              <a:defRPr sz="1323"/>
            </a:pPr>
            <a:r>
              <a:rPr lang="en-US" sz="1323" dirty="0">
                <a:latin typeface="Noto Sans SC"/>
                <a:ea typeface="Noto Sans SC"/>
                <a:cs typeface="Noto Sans SC"/>
              </a:rPr>
              <a:t>Enumerations: </a:t>
            </a:r>
            <a:r>
              <a:rPr lang="en-US" altLang="de-DE" sz="1323" dirty="0">
                <a:latin typeface="Noto Sans SC"/>
                <a:ea typeface="Noto Sans SC"/>
                <a:cs typeface="Noto Sans SC"/>
              </a:rPr>
              <a:t>«</a:t>
            </a:r>
            <a:r>
              <a:rPr lang="en-US" sz="1323" b="1" dirty="0">
                <a:latin typeface="Noto Sans SC"/>
                <a:ea typeface="Noto Sans SC"/>
                <a:cs typeface="Noto Sans SC"/>
              </a:rPr>
              <a:t>enumeration</a:t>
            </a:r>
            <a:r>
              <a:rPr lang="en-US" altLang="de-DE" sz="1323" dirty="0">
                <a:latin typeface="Noto Sans SC"/>
                <a:ea typeface="Noto Sans SC"/>
                <a:cs typeface="Noto Sans SC"/>
              </a:rPr>
              <a:t>»</a:t>
            </a:r>
            <a:endParaRPr lang="en-US" sz="1323" dirty="0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9" name="Grafik 9">
            <a:extLst>
              <a:ext uri="{FF2B5EF4-FFF2-40B4-BE49-F238E27FC236}">
                <a16:creationId xmlns:a16="http://schemas.microsoft.com/office/drawing/2014/main" id="{476BEB68-083F-E073-A723-DCE99E046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81" y="1805090"/>
            <a:ext cx="2369967" cy="1705530"/>
          </a:xfrm>
          <a:prstGeom prst="rect">
            <a:avLst/>
          </a:prstGeom>
        </p:spPr>
      </p:pic>
      <p:pic>
        <p:nvPicPr>
          <p:cNvPr id="12" name="Grafik 8">
            <a:extLst>
              <a:ext uri="{FF2B5EF4-FFF2-40B4-BE49-F238E27FC236}">
                <a16:creationId xmlns:a16="http://schemas.microsoft.com/office/drawing/2014/main" id="{B0FDC589-67D4-D6BF-FF97-915464162A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18" y="3737120"/>
            <a:ext cx="4111139" cy="863455"/>
          </a:xfrm>
          <a:prstGeom prst="rect">
            <a:avLst/>
          </a:prstGeom>
        </p:spPr>
      </p:pic>
      <p:sp>
        <p:nvSpPr>
          <p:cNvPr id="10000" name="frame-69">
            <a:extLst>
              <a:ext uri="{FF2B5EF4-FFF2-40B4-BE49-F238E27FC236}">
                <a16:creationId xmlns:a16="http://schemas.microsoft.com/office/drawing/2014/main" id="{A46668B9-C0DF-41D0-8DCD-09BAC6D1AA6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70">
            <a:extLst>
              <a:ext uri="{FF2B5EF4-FFF2-40B4-BE49-F238E27FC236}">
                <a16:creationId xmlns:a16="http://schemas.microsoft.com/office/drawing/2014/main" id="{4712BFFF-B9A0-40B5-B257-E38553D53F3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71">
            <a:extLst>
              <a:ext uri="{FF2B5EF4-FFF2-40B4-BE49-F238E27FC236}">
                <a16:creationId xmlns:a16="http://schemas.microsoft.com/office/drawing/2014/main" id="{6CDDF29E-DFE3-4721-9D2F-A51C94091EB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72">
            <a:extLst>
              <a:ext uri="{FF2B5EF4-FFF2-40B4-BE49-F238E27FC236}">
                <a16:creationId xmlns:a16="http://schemas.microsoft.com/office/drawing/2014/main" id="{74EE9F4C-411C-40FA-872B-5F95C5BADD1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原稿P13　软件开发过程与技术</a:t>
            </a:r>
          </a:p>
        </p:txBody>
      </p:sp>
      <p:sp>
        <p:nvSpPr>
          <p:cNvPr id="10004" name="frame-73">
            <a:extLst>
              <a:ext uri="{FF2B5EF4-FFF2-40B4-BE49-F238E27FC236}">
                <a16:creationId xmlns:a16="http://schemas.microsoft.com/office/drawing/2014/main" id="{90D47368-D3E7-45E0-8074-7BF8915AA8C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45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85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E98CB8D-9F95-3786-816A-42CDEE369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96542"/>
              </p:ext>
            </p:extLst>
          </p:nvPr>
        </p:nvGraphicFramePr>
        <p:xfrm>
          <a:off x="530542" y="1076325"/>
          <a:ext cx="8083868" cy="3438525"/>
        </p:xfrm>
        <a:graphic>
          <a:graphicData uri="http://schemas.openxmlformats.org/drawingml/2006/table">
            <a:tbl>
              <a:tblPr/>
              <a:tblGrid>
                <a:gridCol w="1037975">
                  <a:extLst>
                    <a:ext uri="{9D8B030D-6E8A-4147-A177-3AD203B41FA5}">
                      <a16:colId xmlns:a16="http://schemas.microsoft.com/office/drawing/2014/main" val="2333056207"/>
                    </a:ext>
                  </a:extLst>
                </a:gridCol>
                <a:gridCol w="3502707">
                  <a:extLst>
                    <a:ext uri="{9D8B030D-6E8A-4147-A177-3AD203B41FA5}">
                      <a16:colId xmlns:a16="http://schemas.microsoft.com/office/drawing/2014/main" val="2590291488"/>
                    </a:ext>
                  </a:extLst>
                </a:gridCol>
                <a:gridCol w="3543052">
                  <a:extLst>
                    <a:ext uri="{9D8B030D-6E8A-4147-A177-3AD203B41FA5}">
                      <a16:colId xmlns:a16="http://schemas.microsoft.com/office/drawing/2014/main" val="367711536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对比维度</a:t>
                      </a:r>
                    </a:p>
                  </a:txBody>
                  <a:tcPr marL="42179" marR="42179" marT="28119" marB="28119" anchor="ctr">
                    <a:lnB w="6350">
                      <a:solidFill>
                        <a:srgbClr val="D9D4CA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数据类型（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Data Type）</a:t>
                      </a:r>
                    </a:p>
                  </a:txBody>
                  <a:tcPr marL="42179" marR="42179" marT="28119" marB="28119" anchor="ctr">
                    <a:lnB w="6350">
                      <a:solidFill>
                        <a:srgbClr val="D9D4CA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类（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Class）</a:t>
                      </a:r>
                    </a:p>
                  </a:txBody>
                  <a:tcPr marL="42179" marR="42179" marT="28119" marB="28119" anchor="ctr">
                    <a:lnB w="6350">
                      <a:solidFill>
                        <a:srgbClr val="D9D4CA"/>
                      </a:solidFill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188196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实例标识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数据类型的实例是值 </a:t>
                      </a: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(Value)</a:t>
                      </a: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，无唯一标识（相同值即相等）</a:t>
                      </a: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2==2</a:t>
                      </a:r>
                      <a:endParaRPr lang="zh-CN" altLang="en-US" sz="1200" b="0" dirty="0">
                        <a:solidFill>
                          <a:srgbClr val="1A1A1A"/>
                        </a:solidFill>
                        <a:effectLst/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类的实例叫对象，有唯一标识（不同对象值可以相同但标识不同）例如，对象和它的副本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690043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内部结构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Boolean</a:t>
                      </a: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等</a:t>
                      </a: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UML</a:t>
                      </a: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预定义的类型</a:t>
                      </a:r>
                      <a:endParaRPr lang="en-US" altLang="zh-CN" sz="1200" b="0" dirty="0">
                        <a:solidFill>
                          <a:srgbClr val="1A1A1A"/>
                        </a:solidFill>
                        <a:effectLst/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&lt;&lt;primitive&gt;&gt; : </a:t>
                      </a: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没有内部结构，但可以有行为比如 </a:t>
                      </a: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Float</a:t>
                      </a:r>
                    </a:p>
                    <a:p>
                      <a:pPr>
                        <a:buNone/>
                      </a:pP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&lt;&lt;datatype&gt;&gt; : Composite data type</a:t>
                      </a: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有内部结构行为 （行为主要用于计算</a:t>
                      </a: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, </a:t>
                      </a: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不复杂）</a:t>
                      </a:r>
                      <a:endParaRPr lang="en-US" altLang="zh-CN" sz="1200" b="0" dirty="0">
                        <a:solidFill>
                          <a:srgbClr val="1A1A1A"/>
                        </a:solidFill>
                        <a:effectLst/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&lt;&lt;</a:t>
                      </a:r>
                      <a:r>
                        <a:rPr lang="en-US" altLang="zh-CN" sz="1200" b="0" dirty="0" err="1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enumration</a:t>
                      </a: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&gt;&gt;</a:t>
                      </a: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只是一个</a:t>
                      </a:r>
                      <a:r>
                        <a:rPr lang="en-US" altLang="zh-CN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list</a:t>
                      </a:r>
                      <a:endParaRPr lang="zh-CN" altLang="en-US" sz="1200" b="0" dirty="0">
                        <a:solidFill>
                          <a:srgbClr val="1A1A1A"/>
                        </a:solidFill>
                        <a:effectLst/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含属性 </a:t>
                      </a:r>
                      <a:r>
                        <a:rPr lang="en-US" altLang="zh-CN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+ </a:t>
                      </a: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操作，支持复杂行为（如方法调用）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04929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实例关系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实例间仅 “值相等” 关系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实例间可建立关联、继承等复杂关系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84673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典型用途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定义数据格式（属性、参数类型）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建模业务实体（如 </a:t>
                      </a:r>
                      <a:r>
                        <a:rPr lang="en-US" sz="1200" b="0" dirty="0" err="1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Student、Course</a:t>
                      </a:r>
                      <a:r>
                        <a:rPr lang="en-US" sz="1200" b="0" dirty="0">
                          <a:solidFill>
                            <a:srgbClr val="1A1A1A"/>
                          </a:solidFill>
                          <a:effectLst/>
                          <a:latin typeface="Noto Sans SC"/>
                          <a:ea typeface="Noto Sans SC"/>
                          <a:cs typeface="Noto Sans SC"/>
                        </a:rPr>
                        <a:t>）</a:t>
                      </a:r>
                    </a:p>
                  </a:txBody>
                  <a:tcPr marL="42179" marR="42179" marT="28119" marB="28119" anchor="ctr">
                    <a:lnT w="6350" cap="flat" cmpd="sng" algn="ctr">
                      <a:solidFill>
                        <a:srgbClr val="D9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C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853467"/>
                  </a:ext>
                </a:extLst>
              </a:tr>
            </a:tbl>
          </a:graphicData>
        </a:graphic>
      </p:graphicFrame>
      <p:sp>
        <p:nvSpPr>
          <p:cNvPr id="10000" name="frame-74">
            <a:extLst>
              <a:ext uri="{FF2B5EF4-FFF2-40B4-BE49-F238E27FC236}">
                <a16:creationId xmlns:a16="http://schemas.microsoft.com/office/drawing/2014/main" id="{9BDAB0D6-91C5-4C48-B462-46412076D33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75">
            <a:extLst>
              <a:ext uri="{FF2B5EF4-FFF2-40B4-BE49-F238E27FC236}">
                <a16:creationId xmlns:a16="http://schemas.microsoft.com/office/drawing/2014/main" id="{8C55F488-AA12-4B81-83B8-85B5776A936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76">
            <a:extLst>
              <a:ext uri="{FF2B5EF4-FFF2-40B4-BE49-F238E27FC236}">
                <a16:creationId xmlns:a16="http://schemas.microsoft.com/office/drawing/2014/main" id="{2E0E4102-C2F7-48A1-A8D8-3FE5450E709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77">
            <a:extLst>
              <a:ext uri="{FF2B5EF4-FFF2-40B4-BE49-F238E27FC236}">
                <a16:creationId xmlns:a16="http://schemas.microsoft.com/office/drawing/2014/main" id="{D6E04507-8033-4DCE-BCA7-4F11EE31BE7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原稿P14　软件开发过程与技术</a:t>
            </a:r>
          </a:p>
        </p:txBody>
      </p:sp>
      <p:sp>
        <p:nvSpPr>
          <p:cNvPr id="10004" name="frame-78">
            <a:extLst>
              <a:ext uri="{FF2B5EF4-FFF2-40B4-BE49-F238E27FC236}">
                <a16:creationId xmlns:a16="http://schemas.microsoft.com/office/drawing/2014/main" id="{10D9A1E3-F899-4978-95D6-B6393D08379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46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313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494E7625-ADF5-7583-3006-661F6027BF5F}"/>
              </a:ext>
            </a:extLst>
          </p:cNvPr>
          <p:cNvSpPr txBox="1">
            <a:spLocks/>
          </p:cNvSpPr>
          <p:nvPr/>
        </p:nvSpPr>
        <p:spPr>
          <a:xfrm>
            <a:off x="3680497" y="1935287"/>
            <a:ext cx="4987253" cy="2501719"/>
          </a:xfrm>
          <a:prstGeom prst="rect">
            <a:avLst/>
          </a:prstGeom>
        </p:spPr>
        <p:txBody>
          <a:bodyPr lIns="67411" tIns="33705" rIns="67411" bIns="33705">
            <a:noAutofit/>
          </a:bodyPr>
          <a:lstStyle/>
          <a:p>
            <a:pPr marL="168527" indent="-168527" algn="l" defTabSz="674109" rtl="0" eaLnBrk="1" latinLnBrk="0" hangingPunct="1">
              <a:lnSpc>
                <a:spcPct val="90000"/>
              </a:lnSpc>
              <a:spcBef>
                <a:spcPts val="737"/>
              </a:spcBef>
              <a:buFont typeface="Noto Sans SC"/>
              <a:buChar char="•"/>
              <a:defRPr sz="1327"/>
            </a:pPr>
            <a:r>
              <a:rPr lang="en-US" sz="1474" b="1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Multiplicity</a:t>
            </a:r>
          </a:p>
          <a:p>
            <a:pPr marL="505582" lvl="1" indent="-168527" algn="l" defTabSz="674109" rtl="0" eaLnBrk="1" latinLnBrk="0" hangingPunct="1">
              <a:lnSpc>
                <a:spcPct val="90000"/>
              </a:lnSpc>
              <a:spcBef>
                <a:spcPts val="369"/>
              </a:spcBef>
              <a:buFont typeface="Noto Sans SC"/>
              <a:buChar char="•"/>
              <a:defRPr sz="1327"/>
            </a:pPr>
            <a:r>
              <a:rPr lang="en-US" sz="1474" dirty="0">
                <a:latin typeface="Noto Sans SC"/>
                <a:ea typeface="Noto Sans SC"/>
                <a:cs typeface="Noto Sans SC"/>
              </a:rPr>
              <a:t>Number of values an attribute may contain</a:t>
            </a:r>
          </a:p>
          <a:p>
            <a:pPr marL="505582" lvl="1" indent="-168527" algn="l" defTabSz="674109" rtl="0" eaLnBrk="1" latinLnBrk="0" hangingPunct="1">
              <a:lnSpc>
                <a:spcPct val="90000"/>
              </a:lnSpc>
              <a:spcBef>
                <a:spcPts val="369"/>
              </a:spcBef>
              <a:buFont typeface="Noto Sans SC"/>
              <a:buChar char="•"/>
              <a:defRPr sz="1327"/>
            </a:pPr>
            <a:r>
              <a:rPr lang="en-US" sz="1474" dirty="0">
                <a:latin typeface="Noto Sans SC"/>
                <a:ea typeface="Noto Sans SC"/>
                <a:cs typeface="Noto Sans SC"/>
              </a:rPr>
              <a:t>Default value: 1</a:t>
            </a:r>
          </a:p>
          <a:p>
            <a:pPr marL="505582" lvl="1" indent="-168527" algn="l" defTabSz="674109" rtl="0" eaLnBrk="1" latinLnBrk="0" hangingPunct="1">
              <a:lnSpc>
                <a:spcPct val="90000"/>
              </a:lnSpc>
              <a:spcBef>
                <a:spcPts val="369"/>
              </a:spcBef>
              <a:buFont typeface="Noto Sans SC"/>
              <a:buChar char="•"/>
              <a:defRPr sz="1327"/>
            </a:pPr>
            <a:r>
              <a:rPr lang="en-US" sz="1474" dirty="0">
                <a:latin typeface="Noto Sans SC"/>
                <a:ea typeface="Noto Sans SC"/>
                <a:cs typeface="Noto Sans SC"/>
              </a:rPr>
              <a:t>Notation: </a:t>
            </a:r>
            <a:r>
              <a:rPr lang="en-US" sz="1474" b="1" dirty="0">
                <a:latin typeface="Noto Sans SC"/>
                <a:ea typeface="Noto Sans SC"/>
                <a:cs typeface="Noto Sans SC"/>
              </a:rPr>
              <a:t>[</a:t>
            </a:r>
            <a:r>
              <a:rPr lang="en-US" sz="1474" b="1" dirty="0" err="1">
                <a:latin typeface="Noto Sans SC"/>
                <a:ea typeface="Noto Sans SC"/>
                <a:cs typeface="Noto Sans SC"/>
              </a:rPr>
              <a:t>min..max</a:t>
            </a:r>
            <a:r>
              <a:rPr lang="en-US" sz="1474" b="1" dirty="0">
                <a:latin typeface="Noto Sans SC"/>
                <a:ea typeface="Noto Sans SC"/>
                <a:cs typeface="Noto Sans SC"/>
              </a:rPr>
              <a:t>]</a:t>
            </a:r>
          </a:p>
          <a:p>
            <a:pPr marL="842637" lvl="2" indent="-168527" algn="l" defTabSz="674109" rtl="0" eaLnBrk="1" latinLnBrk="0" hangingPunct="1">
              <a:lnSpc>
                <a:spcPct val="90000"/>
              </a:lnSpc>
              <a:spcBef>
                <a:spcPts val="369"/>
              </a:spcBef>
              <a:buFont typeface="Noto Sans SC"/>
              <a:buChar char="•"/>
              <a:defRPr sz="1327"/>
            </a:pPr>
            <a:r>
              <a:rPr lang="en-US" sz="1327" dirty="0">
                <a:latin typeface="Noto Sans SC"/>
                <a:ea typeface="Noto Sans SC"/>
                <a:cs typeface="Noto Sans SC"/>
              </a:rPr>
              <a:t>no upper limit: </a:t>
            </a:r>
            <a:r>
              <a:rPr lang="en-US" sz="1327" b="1" dirty="0">
                <a:latin typeface="Noto Sans SC"/>
                <a:ea typeface="Noto Sans SC"/>
                <a:cs typeface="Noto Sans SC"/>
              </a:rPr>
              <a:t>[*]</a:t>
            </a:r>
            <a:r>
              <a:rPr lang="en-US" sz="1327" dirty="0">
                <a:latin typeface="Noto Sans SC"/>
                <a:ea typeface="Noto Sans SC"/>
                <a:cs typeface="Noto Sans SC"/>
              </a:rPr>
              <a:t> or </a:t>
            </a:r>
            <a:r>
              <a:rPr lang="en-US" sz="1327" b="1" dirty="0">
                <a:latin typeface="Noto Sans SC"/>
                <a:ea typeface="Noto Sans SC"/>
                <a:cs typeface="Noto Sans SC"/>
              </a:rPr>
              <a:t>[0..*]</a:t>
            </a:r>
            <a:endParaRPr lang="en-US" sz="1327" dirty="0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AF56FCE-C570-8E6C-637C-7872503712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076325"/>
            <a:ext cx="7751939" cy="705446"/>
          </a:xfrm>
          <a:prstGeom prst="rect">
            <a:avLst/>
          </a:prstGeom>
        </p:spPr>
      </p:pic>
      <p:pic>
        <p:nvPicPr>
          <p:cNvPr id="9" name="Grafik 9">
            <a:extLst>
              <a:ext uri="{FF2B5EF4-FFF2-40B4-BE49-F238E27FC236}">
                <a16:creationId xmlns:a16="http://schemas.microsoft.com/office/drawing/2014/main" id="{DCFE2068-1807-A044-9F2A-EC374C5F79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6" y="2048861"/>
            <a:ext cx="2403407" cy="1729594"/>
          </a:xfrm>
          <a:prstGeom prst="rect">
            <a:avLst/>
          </a:prstGeom>
        </p:spPr>
      </p:pic>
      <p:pic>
        <p:nvPicPr>
          <p:cNvPr id="10" name="Grafik 8">
            <a:extLst>
              <a:ext uri="{FF2B5EF4-FFF2-40B4-BE49-F238E27FC236}">
                <a16:creationId xmlns:a16="http://schemas.microsoft.com/office/drawing/2014/main" id="{54E68AD7-5060-08E9-672A-07C4BE9419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087" y="3383878"/>
            <a:ext cx="3122461" cy="562282"/>
          </a:xfrm>
          <a:prstGeom prst="rect">
            <a:avLst/>
          </a:prstGeom>
        </p:spPr>
      </p:pic>
      <p:sp>
        <p:nvSpPr>
          <p:cNvPr id="10000" name="frame-79">
            <a:extLst>
              <a:ext uri="{FF2B5EF4-FFF2-40B4-BE49-F238E27FC236}">
                <a16:creationId xmlns:a16="http://schemas.microsoft.com/office/drawing/2014/main" id="{112EFFF8-ADEC-4873-AF4A-7E90EBA767E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80">
            <a:extLst>
              <a:ext uri="{FF2B5EF4-FFF2-40B4-BE49-F238E27FC236}">
                <a16:creationId xmlns:a16="http://schemas.microsoft.com/office/drawing/2014/main" id="{2696FCF5-F8CB-46AE-8BED-351879871BC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81">
            <a:extLst>
              <a:ext uri="{FF2B5EF4-FFF2-40B4-BE49-F238E27FC236}">
                <a16:creationId xmlns:a16="http://schemas.microsoft.com/office/drawing/2014/main" id="{4A43F220-EB95-45E2-9B32-AE3D1A5CB7F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82">
            <a:extLst>
              <a:ext uri="{FF2B5EF4-FFF2-40B4-BE49-F238E27FC236}">
                <a16:creationId xmlns:a16="http://schemas.microsoft.com/office/drawing/2014/main" id="{3F7C85DA-157A-4216-823F-03C8AE5558C5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原稿P15　软件开发过程与技术</a:t>
            </a:r>
          </a:p>
        </p:txBody>
      </p:sp>
      <p:sp>
        <p:nvSpPr>
          <p:cNvPr id="10004" name="frame-83">
            <a:extLst>
              <a:ext uri="{FF2B5EF4-FFF2-40B4-BE49-F238E27FC236}">
                <a16:creationId xmlns:a16="http://schemas.microsoft.com/office/drawing/2014/main" id="{AB87C85C-267A-422E-8147-756871B1B22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47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12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49695-783C-77C1-970B-AC53D983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B4311ED2-933C-ECBD-F461-35777ABF855C}"/>
              </a:ext>
            </a:extLst>
          </p:cNvPr>
          <p:cNvSpPr txBox="1">
            <a:spLocks/>
          </p:cNvSpPr>
          <p:nvPr/>
        </p:nvSpPr>
        <p:spPr>
          <a:xfrm>
            <a:off x="3525800" y="1927391"/>
            <a:ext cx="5141950" cy="2543815"/>
          </a:xfrm>
          <a:prstGeom prst="rect">
            <a:avLst/>
          </a:prstGeom>
        </p:spPr>
        <p:txBody>
          <a:bodyPr lIns="68545" tIns="34273" rIns="68545" bIns="34273">
            <a:noAutofit/>
          </a:bodyPr>
          <a:lstStyle/>
          <a:p>
            <a:pPr marL="171363" indent="-171363" algn="l" defTabSz="685453" rtl="0" eaLnBrk="1" latinLnBrk="0" hangingPunct="1">
              <a:lnSpc>
                <a:spcPct val="90000"/>
              </a:lnSpc>
              <a:spcBef>
                <a:spcPts val="750"/>
              </a:spcBef>
              <a:buFont typeface="Noto Sans SC"/>
              <a:buChar char="•"/>
              <a:defRPr sz="1349"/>
            </a:pPr>
            <a:r>
              <a:rPr lang="en-US" sz="1499" b="1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Default value </a:t>
            </a:r>
          </a:p>
          <a:p>
            <a:pPr marL="514089" lvl="1" indent="-171363" algn="l" defTabSz="685453" rtl="0" eaLnBrk="1" latinLnBrk="0" hangingPunct="1">
              <a:lnSpc>
                <a:spcPct val="90000"/>
              </a:lnSpc>
              <a:spcBef>
                <a:spcPts val="375"/>
              </a:spcBef>
              <a:buFont typeface="Noto Sans SC"/>
              <a:buChar char="•"/>
              <a:defRPr sz="1349"/>
            </a:pPr>
            <a:r>
              <a:rPr lang="en-US" sz="1499" dirty="0">
                <a:latin typeface="Noto Sans SC"/>
                <a:ea typeface="Noto Sans SC"/>
                <a:cs typeface="Noto Sans SC"/>
              </a:rPr>
              <a:t>Used if the attribute value is not set explicitly by the user</a:t>
            </a:r>
          </a:p>
        </p:txBody>
      </p:sp>
      <p:pic>
        <p:nvPicPr>
          <p:cNvPr id="11" name="Grafik 7">
            <a:extLst>
              <a:ext uri="{FF2B5EF4-FFF2-40B4-BE49-F238E27FC236}">
                <a16:creationId xmlns:a16="http://schemas.microsoft.com/office/drawing/2014/main" id="{BB4D9932-5ACA-D23A-A8C7-2B411E14B1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076325"/>
            <a:ext cx="7923319" cy="721042"/>
          </a:xfrm>
          <a:prstGeom prst="rect">
            <a:avLst/>
          </a:prstGeom>
        </p:spPr>
      </p:pic>
      <p:pic>
        <p:nvPicPr>
          <p:cNvPr id="12" name="Grafik 8">
            <a:extLst>
              <a:ext uri="{FF2B5EF4-FFF2-40B4-BE49-F238E27FC236}">
                <a16:creationId xmlns:a16="http://schemas.microsoft.com/office/drawing/2014/main" id="{82BB921D-C9F4-513C-5323-02E85E24EA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50" y="1946015"/>
            <a:ext cx="2449025" cy="1762423"/>
          </a:xfrm>
          <a:prstGeom prst="rect">
            <a:avLst/>
          </a:prstGeom>
        </p:spPr>
      </p:pic>
      <p:sp>
        <p:nvSpPr>
          <p:cNvPr id="10000" name="frame-84">
            <a:extLst>
              <a:ext uri="{FF2B5EF4-FFF2-40B4-BE49-F238E27FC236}">
                <a16:creationId xmlns:a16="http://schemas.microsoft.com/office/drawing/2014/main" id="{ECC16CCC-FB9C-4AFA-8FF3-BADDA64AACC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85">
            <a:extLst>
              <a:ext uri="{FF2B5EF4-FFF2-40B4-BE49-F238E27FC236}">
                <a16:creationId xmlns:a16="http://schemas.microsoft.com/office/drawing/2014/main" id="{5B52BAE4-DDEB-4B0F-AF52-2DDA903FF8C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86">
            <a:extLst>
              <a:ext uri="{FF2B5EF4-FFF2-40B4-BE49-F238E27FC236}">
                <a16:creationId xmlns:a16="http://schemas.microsoft.com/office/drawing/2014/main" id="{FCB480E5-47C1-43A1-A155-3539E249215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87">
            <a:extLst>
              <a:ext uri="{FF2B5EF4-FFF2-40B4-BE49-F238E27FC236}">
                <a16:creationId xmlns:a16="http://schemas.microsoft.com/office/drawing/2014/main" id="{F091248E-E8B8-47B5-89BD-4EDEBD715BD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原稿P16　软件开发过程与技术</a:t>
            </a:r>
          </a:p>
        </p:txBody>
      </p:sp>
      <p:sp>
        <p:nvSpPr>
          <p:cNvPr id="10004" name="frame-88">
            <a:extLst>
              <a:ext uri="{FF2B5EF4-FFF2-40B4-BE49-F238E27FC236}">
                <a16:creationId xmlns:a16="http://schemas.microsoft.com/office/drawing/2014/main" id="{800D34B8-F926-492E-BF4A-3EB49754DB9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48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614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7">
            <a:extLst>
              <a:ext uri="{FF2B5EF4-FFF2-40B4-BE49-F238E27FC236}">
                <a16:creationId xmlns:a16="http://schemas.microsoft.com/office/drawing/2014/main" id="{CDB750EC-9EF0-BE57-1CE2-6C5CB04370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27" y="1076325"/>
            <a:ext cx="7962567" cy="724614"/>
          </a:xfrm>
          <a:prstGeom prst="rect">
            <a:avLst/>
          </a:prstGeom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E894154D-550B-D85B-34A2-D3D6DE8461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59" y="1822373"/>
            <a:ext cx="2805957" cy="2019287"/>
          </a:xfrm>
          <a:prstGeom prst="rect">
            <a:avLst/>
          </a:prstGeom>
        </p:spPr>
      </p:pic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12BB754C-002F-397D-E2C5-EB7521DF747E}"/>
              </a:ext>
            </a:extLst>
          </p:cNvPr>
          <p:cNvSpPr txBox="1">
            <a:spLocks/>
          </p:cNvSpPr>
          <p:nvPr/>
        </p:nvSpPr>
        <p:spPr bwMode="auto">
          <a:xfrm>
            <a:off x="4013585" y="1851421"/>
            <a:ext cx="4582256" cy="2749154"/>
          </a:xfrm>
          <a:prstGeom prst="rect">
            <a:avLst/>
          </a:prstGeom>
          <a:noFill/>
          <a:ln w="6960">
            <a:noFill/>
            <a:miter lim="800000"/>
            <a:headEnd/>
            <a:tailEnd/>
          </a:ln>
        </p:spPr>
        <p:txBody>
          <a:bodyPr vert="horz" wrap="square" lIns="66814" tIns="33407" rIns="66814" bIns="33407" numCol="1" anchor="t" anchorCtr="0" compatLnSpc="1">
            <a:prstTxWarp prst="textNoShape">
              <a:avLst/>
            </a:prstTxWarp>
            <a:noAutofit/>
          </a:bodyPr>
          <a:lstStyle/>
          <a:p>
            <a:pPr marL="209953" indent="-209953" algn="l" defTabSz="66813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Noto Sans SC"/>
              <a:buChar char="•"/>
              <a:defRPr sz="1315"/>
            </a:pP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Pre-defined properties</a:t>
            </a:r>
            <a:r>
              <a:rPr lang="zh-CN" altLang="en-US" sz="1315" i="0" kern="0" dirty="0">
                <a:latin typeface="Noto Sans SC"/>
                <a:ea typeface="Noto Sans SC"/>
                <a:cs typeface="Noto Sans SC"/>
              </a:rPr>
              <a:t>（</a:t>
            </a:r>
            <a:r>
              <a:rPr lang="en-US" altLang="zh-CN" sz="1315" i="0" kern="0" dirty="0"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315" i="0" kern="0" dirty="0">
                <a:latin typeface="Noto Sans SC"/>
                <a:ea typeface="Noto Sans SC"/>
                <a:cs typeface="Noto Sans SC"/>
              </a:rPr>
              <a:t>预定义）</a:t>
            </a:r>
            <a:endParaRPr lang="en-US" sz="1315" i="0" kern="0" dirty="0">
              <a:latin typeface="Noto Sans SC"/>
              <a:ea typeface="Noto Sans SC"/>
              <a:cs typeface="Noto Sans SC"/>
            </a:endParaRPr>
          </a:p>
          <a:p>
            <a:pPr marL="591579" lvl="1" indent="-194873" algn="l" defTabSz="591579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/>
            </a:pP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{</a:t>
            </a:r>
            <a:r>
              <a:rPr lang="en-US" sz="1315" i="0" kern="0" dirty="0" err="1">
                <a:latin typeface="Noto Sans SC"/>
                <a:ea typeface="Noto Sans SC"/>
                <a:cs typeface="Noto Sans SC"/>
              </a:rPr>
              <a:t>readOnly</a:t>
            </a: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} … value cannot be changed</a:t>
            </a:r>
          </a:p>
          <a:p>
            <a:pPr marL="591579" lvl="1" indent="-194873" algn="l" defTabSz="591579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/>
            </a:pP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{unique} … no duplicates permitted</a:t>
            </a:r>
          </a:p>
          <a:p>
            <a:pPr marL="591579" lvl="1" indent="-194873" algn="l" defTabSz="591579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/>
            </a:pP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{non-unique} … duplicates permitted</a:t>
            </a:r>
          </a:p>
          <a:p>
            <a:pPr marL="591579" lvl="1" indent="-194873" algn="l" defTabSz="591579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/>
            </a:pP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{ordered} … fixed order of the values</a:t>
            </a:r>
          </a:p>
          <a:p>
            <a:pPr marL="591579" lvl="1" indent="-194873" algn="l" defTabSz="591579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/>
            </a:pP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{unordered} … no fixed order of the values</a:t>
            </a:r>
          </a:p>
          <a:p>
            <a:pPr marL="209953" indent="-209953" algn="l" defTabSz="66813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Noto Sans SC"/>
              <a:buChar char="•"/>
              <a:defRPr sz="1315"/>
            </a:pPr>
            <a:r>
              <a:rPr lang="en-US" sz="1315" i="0" kern="0" dirty="0">
                <a:latin typeface="Noto Sans SC"/>
                <a:ea typeface="Noto Sans SC"/>
                <a:cs typeface="Noto Sans SC"/>
              </a:rPr>
              <a:t>Attribute specification</a:t>
            </a:r>
          </a:p>
          <a:p>
            <a:pPr marL="591579" lvl="1" indent="-194873" algn="l" defTabSz="591579" rtl="0" eaLnBrk="0" fontAlgn="base" latinLnBrk="0" hangingPunct="0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>
                <a:solidFill>
                  <a:schemeClr val="tx1"/>
                </a:solidFill>
                <a:latin typeface="Noto Sans SC"/>
              </a:defRPr>
            </a:pPr>
            <a:r>
              <a:rPr lang="en-US" sz="1315" i="0" kern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Set: {unordered, unique} </a:t>
            </a:r>
          </a:p>
          <a:p>
            <a:pPr marL="591579" lvl="1" indent="-194873" algn="l" defTabSz="591579" rtl="0" eaLnBrk="0" fontAlgn="base" latinLnBrk="0" hangingPunct="0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>
                <a:solidFill>
                  <a:schemeClr val="tx1"/>
                </a:solidFill>
                <a:latin typeface="Noto Sans SC"/>
              </a:defRPr>
            </a:pPr>
            <a:r>
              <a:rPr lang="en-US" sz="1315" i="0" kern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Multi-set: {unordered, non-unique}</a:t>
            </a:r>
          </a:p>
          <a:p>
            <a:pPr marL="591579" lvl="1" indent="-194873" algn="l" defTabSz="591579" rtl="0" eaLnBrk="0" fontAlgn="base" latinLnBrk="0" hangingPunct="0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>
                <a:solidFill>
                  <a:schemeClr val="tx1"/>
                </a:solidFill>
                <a:latin typeface="Noto Sans SC"/>
              </a:defRPr>
            </a:pPr>
            <a:r>
              <a:rPr lang="en-US" sz="1315" i="0" kern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Ordered set: {ordered, unique}</a:t>
            </a:r>
          </a:p>
          <a:p>
            <a:pPr marL="591579" lvl="1" indent="-194873" algn="l" defTabSz="591579" rtl="0" eaLnBrk="0" fontAlgn="base" latinLnBrk="0" hangingPunct="0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15">
                <a:solidFill>
                  <a:schemeClr val="tx1"/>
                </a:solidFill>
                <a:latin typeface="Noto Sans SC"/>
              </a:defRPr>
            </a:pPr>
            <a:r>
              <a:rPr lang="en-US" sz="1315" i="0" kern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List: {ordered, non-unique}</a:t>
            </a:r>
          </a:p>
          <a:p>
            <a:pPr marL="209953" indent="-209953" algn="l" defTabSz="66813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Noto Sans SC"/>
              <a:buChar char="•"/>
              <a:defRPr sz="1315"/>
            </a:pPr>
            <a:endParaRPr lang="en-US" sz="1315" i="0" kern="0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89">
            <a:extLst>
              <a:ext uri="{FF2B5EF4-FFF2-40B4-BE49-F238E27FC236}">
                <a16:creationId xmlns:a16="http://schemas.microsoft.com/office/drawing/2014/main" id="{E985E6C8-37F9-4364-A742-33EF529725F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类图概要：类的属性</a:t>
            </a:r>
          </a:p>
        </p:txBody>
      </p:sp>
      <p:sp>
        <p:nvSpPr>
          <p:cNvPr id="10001" name="frame-90">
            <a:extLst>
              <a:ext uri="{FF2B5EF4-FFF2-40B4-BE49-F238E27FC236}">
                <a16:creationId xmlns:a16="http://schemas.microsoft.com/office/drawing/2014/main" id="{B2A8797F-4115-4E46-B2B6-EB43A2B7489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91">
            <a:extLst>
              <a:ext uri="{FF2B5EF4-FFF2-40B4-BE49-F238E27FC236}">
                <a16:creationId xmlns:a16="http://schemas.microsoft.com/office/drawing/2014/main" id="{B2F88F1F-904A-4ACD-BB47-64CBEA52F97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92">
            <a:extLst>
              <a:ext uri="{FF2B5EF4-FFF2-40B4-BE49-F238E27FC236}">
                <a16:creationId xmlns:a16="http://schemas.microsoft.com/office/drawing/2014/main" id="{B3189B40-2E66-4940-893D-48CC5D3A510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原稿P17　软件开发过程与技术</a:t>
            </a:r>
          </a:p>
        </p:txBody>
      </p:sp>
      <p:sp>
        <p:nvSpPr>
          <p:cNvPr id="10004" name="frame-93">
            <a:extLst>
              <a:ext uri="{FF2B5EF4-FFF2-40B4-BE49-F238E27FC236}">
                <a16:creationId xmlns:a16="http://schemas.microsoft.com/office/drawing/2014/main" id="{C6C0EF46-FAEF-49E6-82D9-74FCBF1359A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49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460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30">
            <a:extLst>
              <a:ext uri="{FF2B5EF4-FFF2-40B4-BE49-F238E27FC236}">
                <a16:creationId xmlns:a16="http://schemas.microsoft.com/office/drawing/2014/main" id="{5508C382-3116-5EE4-A97B-A711CA55A0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19" y="1076325"/>
            <a:ext cx="8001561" cy="81022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A7F799F-2641-3F72-9857-FCB8B251D636}"/>
              </a:ext>
            </a:extLst>
          </p:cNvPr>
          <p:cNvSpPr txBox="1"/>
          <p:nvPr/>
        </p:nvSpPr>
        <p:spPr>
          <a:xfrm>
            <a:off x="3655117" y="1950457"/>
            <a:ext cx="2102050" cy="279367"/>
          </a:xfrm>
          <a:prstGeom prst="rect">
            <a:avLst/>
          </a:prstGeom>
          <a:noFill/>
        </p:spPr>
        <p:txBody>
          <a:bodyPr wrap="square" lIns="69166" tIns="34583" rIns="69166" bIns="34583" rtlCol="0">
            <a:noAutofit/>
          </a:bodyPr>
          <a:lstStyle/>
          <a:p>
            <a:pPr marL="0" algn="l" defTabSz="691662" rtl="0" eaLnBrk="1" latinLnBrk="0" hangingPunct="1">
              <a:defRPr sz="136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62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Syntax of Operation</a:t>
            </a:r>
            <a:endParaRPr lang="zh-CN" altLang="en-US" sz="1362" b="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4BD1056-BA32-BAE7-13BE-EE736B15B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121" y="2304917"/>
            <a:ext cx="4681694" cy="2295658"/>
          </a:xfrm>
          <a:prstGeom prst="rect">
            <a:avLst/>
          </a:prstGeom>
        </p:spPr>
      </p:pic>
      <p:sp>
        <p:nvSpPr>
          <p:cNvPr id="10000" name="frame-94">
            <a:extLst>
              <a:ext uri="{FF2B5EF4-FFF2-40B4-BE49-F238E27FC236}">
                <a16:creationId xmlns:a16="http://schemas.microsoft.com/office/drawing/2014/main" id="{EB337A5D-36E4-4DE3-AD67-F180979862F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类图概要：类的操作</a:t>
            </a:r>
          </a:p>
        </p:txBody>
      </p:sp>
      <p:sp>
        <p:nvSpPr>
          <p:cNvPr id="10001" name="frame-95">
            <a:extLst>
              <a:ext uri="{FF2B5EF4-FFF2-40B4-BE49-F238E27FC236}">
                <a16:creationId xmlns:a16="http://schemas.microsoft.com/office/drawing/2014/main" id="{D7BFB0A7-163D-4039-B398-3BCA279F18B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96">
            <a:extLst>
              <a:ext uri="{FF2B5EF4-FFF2-40B4-BE49-F238E27FC236}">
                <a16:creationId xmlns:a16="http://schemas.microsoft.com/office/drawing/2014/main" id="{9D5A825A-FCC1-4357-8341-80DCF5422486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97">
            <a:extLst>
              <a:ext uri="{FF2B5EF4-FFF2-40B4-BE49-F238E27FC236}">
                <a16:creationId xmlns:a16="http://schemas.microsoft.com/office/drawing/2014/main" id="{837D8F61-56B4-4D7D-8A92-53611B2AA11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原稿P18　软件开发过程与技术</a:t>
            </a:r>
          </a:p>
        </p:txBody>
      </p:sp>
      <p:sp>
        <p:nvSpPr>
          <p:cNvPr id="10004" name="frame-98">
            <a:extLst>
              <a:ext uri="{FF2B5EF4-FFF2-40B4-BE49-F238E27FC236}">
                <a16:creationId xmlns:a16="http://schemas.microsoft.com/office/drawing/2014/main" id="{D47168F5-663A-4B11-B3D7-E95ADA22A18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50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61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31DCE-2182-2316-08A2-5598FCEF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8">
            <a:extLst>
              <a:ext uri="{FF2B5EF4-FFF2-40B4-BE49-F238E27FC236}">
                <a16:creationId xmlns:a16="http://schemas.microsoft.com/office/drawing/2014/main" id="{D0C775D7-5D2F-73AA-822F-669A1A45B8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75" y="2045195"/>
            <a:ext cx="2667266" cy="1190452"/>
          </a:xfrm>
          <a:prstGeom prst="rect">
            <a:avLst/>
          </a:prstGeom>
        </p:spPr>
      </p:pic>
      <p:pic>
        <p:nvPicPr>
          <p:cNvPr id="14" name="Grafik 31">
            <a:extLst>
              <a:ext uri="{FF2B5EF4-FFF2-40B4-BE49-F238E27FC236}">
                <a16:creationId xmlns:a16="http://schemas.microsoft.com/office/drawing/2014/main" id="{53FB5CE1-EC31-7EAB-C40B-BCD77C3EB0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076325"/>
            <a:ext cx="7999957" cy="810064"/>
          </a:xfrm>
          <a:prstGeom prst="rect">
            <a:avLst/>
          </a:prstGeom>
        </p:spPr>
      </p:pic>
      <p:pic>
        <p:nvPicPr>
          <p:cNvPr id="15" name="Grafik 8">
            <a:extLst>
              <a:ext uri="{FF2B5EF4-FFF2-40B4-BE49-F238E27FC236}">
                <a16:creationId xmlns:a16="http://schemas.microsoft.com/office/drawing/2014/main" id="{0EC73760-7A9D-C374-AE7F-25869CC975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381" y="3803183"/>
            <a:ext cx="5568566" cy="788807"/>
          </a:xfrm>
          <a:prstGeom prst="rect">
            <a:avLst/>
          </a:prstGeom>
        </p:spPr>
      </p:pic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DE45BA9B-2D74-960A-2B61-4201C252E35C}"/>
              </a:ext>
            </a:extLst>
          </p:cNvPr>
          <p:cNvSpPr txBox="1">
            <a:spLocks/>
          </p:cNvSpPr>
          <p:nvPr/>
        </p:nvSpPr>
        <p:spPr bwMode="auto">
          <a:xfrm>
            <a:off x="3500492" y="1965826"/>
            <a:ext cx="5167258" cy="2579395"/>
          </a:xfrm>
          <a:prstGeom prst="rect">
            <a:avLst/>
          </a:prstGeom>
          <a:noFill/>
          <a:ln w="6915">
            <a:noFill/>
            <a:miter lim="800000"/>
            <a:headEnd/>
            <a:tailEnd/>
          </a:ln>
        </p:spPr>
        <p:txBody>
          <a:bodyPr vert="horz" wrap="square" lIns="66381" tIns="33190" rIns="66381" bIns="33190" numCol="1" anchor="t" anchorCtr="0" compatLnSpc="1">
            <a:prstTxWarp prst="textNoShape">
              <a:avLst/>
            </a:prstTxWarp>
            <a:noAutofit/>
          </a:bodyPr>
          <a:lstStyle/>
          <a:p>
            <a:pPr marL="208592" indent="-208592" algn="l" defTabSz="66380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Noto Sans SC"/>
              <a:buChar char="•"/>
              <a:defRPr sz="1307"/>
            </a:pPr>
            <a:r>
              <a:rPr lang="en-US" sz="1307" i="0" kern="0" dirty="0">
                <a:latin typeface="Noto Sans SC"/>
                <a:ea typeface="Noto Sans SC"/>
                <a:cs typeface="Noto Sans SC"/>
              </a:rPr>
              <a:t>Notation similar to attributes</a:t>
            </a:r>
          </a:p>
          <a:p>
            <a:pPr marL="208592" indent="-208592" algn="l" defTabSz="66380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Noto Sans SC"/>
              <a:buChar char="•"/>
              <a:defRPr sz="1307"/>
            </a:pPr>
            <a:r>
              <a:rPr lang="en-US" sz="1307" i="0" kern="0" dirty="0">
                <a:latin typeface="Noto Sans SC"/>
                <a:ea typeface="Noto Sans SC"/>
                <a:cs typeface="Noto Sans SC"/>
              </a:rPr>
              <a:t>Direction of the parameter</a:t>
            </a:r>
          </a:p>
          <a:p>
            <a:pPr marL="587745" lvl="1" indent="-193610" algn="l" defTabSz="587745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07"/>
            </a:pPr>
            <a:r>
              <a:rPr lang="en-US" sz="1307" i="0" kern="0" dirty="0">
                <a:latin typeface="Noto Sans SC"/>
                <a:ea typeface="Noto Sans SC"/>
                <a:cs typeface="Noto Sans SC"/>
              </a:rPr>
              <a:t>in … input parameter </a:t>
            </a:r>
          </a:p>
          <a:p>
            <a:pPr marL="781355" lvl="2" indent="-138293" algn="l" defTabSz="66380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Noto Sans SC"/>
              <a:buChar char="•"/>
              <a:defRPr sz="1307"/>
            </a:pPr>
            <a:r>
              <a:rPr lang="en-US" sz="1307" i="0" kern="0" dirty="0">
                <a:latin typeface="Noto Sans SC"/>
                <a:ea typeface="Noto Sans SC"/>
                <a:cs typeface="Noto Sans SC"/>
              </a:rPr>
              <a:t>When the operation is used, a value is expected from this parameter</a:t>
            </a:r>
          </a:p>
          <a:p>
            <a:pPr marL="587745" lvl="1" indent="-193610" algn="l" defTabSz="587745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07"/>
            </a:pPr>
            <a:r>
              <a:rPr lang="en-US" sz="1307" i="0" kern="0" dirty="0">
                <a:latin typeface="Noto Sans SC"/>
                <a:ea typeface="Noto Sans SC"/>
                <a:cs typeface="Noto Sans SC"/>
              </a:rPr>
              <a:t>out … output parameter </a:t>
            </a:r>
          </a:p>
          <a:p>
            <a:pPr marL="781355" lvl="2" indent="-138293" algn="l" defTabSz="66380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Noto Sans SC"/>
              <a:buChar char="•"/>
              <a:defRPr sz="1307"/>
            </a:pPr>
            <a:r>
              <a:rPr lang="en-US" sz="1307" i="0" kern="0" dirty="0">
                <a:latin typeface="Noto Sans SC"/>
                <a:ea typeface="Noto Sans SC"/>
                <a:cs typeface="Noto Sans SC"/>
              </a:rPr>
              <a:t>After the execution of the operation, the parameter has adopted a new value</a:t>
            </a:r>
          </a:p>
          <a:p>
            <a:pPr marL="587745" lvl="1" indent="-193610" algn="l" defTabSz="587745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Noto Sans SC"/>
              <a:buChar char="•"/>
              <a:defRPr sz="1307"/>
            </a:pPr>
            <a:r>
              <a:rPr lang="en-US" sz="1307" i="0" kern="0" dirty="0" err="1">
                <a:latin typeface="Noto Sans SC"/>
                <a:ea typeface="Noto Sans SC"/>
                <a:cs typeface="Noto Sans SC"/>
              </a:rPr>
              <a:t>inout</a:t>
            </a:r>
            <a:r>
              <a:rPr lang="en-US" sz="1307" i="0" kern="0" dirty="0">
                <a:latin typeface="Noto Sans SC"/>
                <a:ea typeface="Noto Sans SC"/>
                <a:cs typeface="Noto Sans SC"/>
              </a:rPr>
              <a:t> : combined input/output parameter</a:t>
            </a:r>
          </a:p>
        </p:txBody>
      </p:sp>
      <p:sp>
        <p:nvSpPr>
          <p:cNvPr id="10000" name="frame-99">
            <a:extLst>
              <a:ext uri="{FF2B5EF4-FFF2-40B4-BE49-F238E27FC236}">
                <a16:creationId xmlns:a16="http://schemas.microsoft.com/office/drawing/2014/main" id="{FF1C274D-45D5-4313-813E-D75D14AF1CA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类图概要：类的操作</a:t>
            </a:r>
          </a:p>
        </p:txBody>
      </p:sp>
      <p:sp>
        <p:nvSpPr>
          <p:cNvPr id="10001" name="frame-100">
            <a:extLst>
              <a:ext uri="{FF2B5EF4-FFF2-40B4-BE49-F238E27FC236}">
                <a16:creationId xmlns:a16="http://schemas.microsoft.com/office/drawing/2014/main" id="{3746145F-9AAB-4DB4-86EC-7F1A4A8E7C2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01">
            <a:extLst>
              <a:ext uri="{FF2B5EF4-FFF2-40B4-BE49-F238E27FC236}">
                <a16:creationId xmlns:a16="http://schemas.microsoft.com/office/drawing/2014/main" id="{22237239-2981-4FAD-ADA1-A639E2137E0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02">
            <a:extLst>
              <a:ext uri="{FF2B5EF4-FFF2-40B4-BE49-F238E27FC236}">
                <a16:creationId xmlns:a16="http://schemas.microsoft.com/office/drawing/2014/main" id="{DA86F005-43D8-4530-8594-C761A694925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原稿P19　软件开发过程与技术</a:t>
            </a:r>
          </a:p>
        </p:txBody>
      </p:sp>
      <p:sp>
        <p:nvSpPr>
          <p:cNvPr id="10004" name="frame-103">
            <a:extLst>
              <a:ext uri="{FF2B5EF4-FFF2-40B4-BE49-F238E27FC236}">
                <a16:creationId xmlns:a16="http://schemas.microsoft.com/office/drawing/2014/main" id="{03DF1EE1-8B4F-439B-8D29-1B4AC4D7E8B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51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404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">
            <a:extLst>
              <a:ext uri="{FF2B5EF4-FFF2-40B4-BE49-F238E27FC236}">
                <a16:creationId xmlns:a16="http://schemas.microsoft.com/office/drawing/2014/main" id="{452967BB-BEAE-78DA-37EC-EB8A698082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24" y="2098849"/>
            <a:ext cx="3026813" cy="1350925"/>
          </a:xfrm>
          <a:prstGeom prst="rect">
            <a:avLst/>
          </a:prstGeom>
        </p:spPr>
      </p:pic>
      <p:pic>
        <p:nvPicPr>
          <p:cNvPr id="8" name="Grafik 14">
            <a:extLst>
              <a:ext uri="{FF2B5EF4-FFF2-40B4-BE49-F238E27FC236}">
                <a16:creationId xmlns:a16="http://schemas.microsoft.com/office/drawing/2014/main" id="{8E927155-93B3-34F9-EC7B-1C0F3B575B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52" y="1076325"/>
            <a:ext cx="7599697" cy="769534"/>
          </a:xfrm>
          <a:prstGeom prst="rect">
            <a:avLst/>
          </a:prstGeom>
        </p:spPr>
      </p:pic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66E0135E-3DF3-A5D7-7A18-A86129276995}"/>
              </a:ext>
            </a:extLst>
          </p:cNvPr>
          <p:cNvSpPr txBox="1">
            <a:spLocks/>
          </p:cNvSpPr>
          <p:nvPr/>
        </p:nvSpPr>
        <p:spPr bwMode="auto">
          <a:xfrm>
            <a:off x="4153785" y="2038824"/>
            <a:ext cx="3946627" cy="2561751"/>
          </a:xfrm>
          <a:prstGeom prst="rect">
            <a:avLst/>
          </a:prstGeom>
          <a:noFill/>
          <a:ln w="7190">
            <a:noFill/>
            <a:miter lim="800000"/>
            <a:headEnd/>
            <a:tailEnd/>
          </a:ln>
        </p:spPr>
        <p:txBody>
          <a:bodyPr vert="horz" wrap="square" lIns="69029" tIns="34514" rIns="69029" bIns="34514" numCol="1" anchor="t" anchorCtr="0" compatLnSpc="1">
            <a:prstTxWarp prst="textNoShape">
              <a:avLst/>
            </a:prstTxWarp>
            <a:noAutofit/>
          </a:bodyPr>
          <a:lstStyle/>
          <a:p>
            <a:pPr marL="216913" indent="-216913" algn="l" defTabSz="690286" rtl="0" eaLnBrk="1" fontAlgn="base" latinLnBrk="0" hangingPunct="1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Noto Sans SC"/>
              <a:buChar char="•"/>
              <a:defRPr sz="1359"/>
            </a:pPr>
            <a:r>
              <a:rPr lang="en-US" sz="1359" i="0" kern="0" dirty="0">
                <a:latin typeface="Noto Sans SC"/>
                <a:ea typeface="Noto Sans SC"/>
                <a:cs typeface="Noto Sans SC"/>
              </a:rPr>
              <a:t>Type of the return value</a:t>
            </a:r>
          </a:p>
        </p:txBody>
      </p:sp>
      <p:sp>
        <p:nvSpPr>
          <p:cNvPr id="10000" name="frame-104">
            <a:extLst>
              <a:ext uri="{FF2B5EF4-FFF2-40B4-BE49-F238E27FC236}">
                <a16:creationId xmlns:a16="http://schemas.microsoft.com/office/drawing/2014/main" id="{6CFE5090-49B8-4D75-9B5B-F1BFAC6FDEA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类图概要：类的操作</a:t>
            </a:r>
          </a:p>
        </p:txBody>
      </p:sp>
      <p:sp>
        <p:nvSpPr>
          <p:cNvPr id="10001" name="frame-105">
            <a:extLst>
              <a:ext uri="{FF2B5EF4-FFF2-40B4-BE49-F238E27FC236}">
                <a16:creationId xmlns:a16="http://schemas.microsoft.com/office/drawing/2014/main" id="{20CDB219-1C39-462E-A4DB-8147F04B3FF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06">
            <a:extLst>
              <a:ext uri="{FF2B5EF4-FFF2-40B4-BE49-F238E27FC236}">
                <a16:creationId xmlns:a16="http://schemas.microsoft.com/office/drawing/2014/main" id="{395D73B6-9AFE-4A56-9A5D-4E031E6776E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07">
            <a:extLst>
              <a:ext uri="{FF2B5EF4-FFF2-40B4-BE49-F238E27FC236}">
                <a16:creationId xmlns:a16="http://schemas.microsoft.com/office/drawing/2014/main" id="{5C05553D-8013-44D6-AA7E-6837FDC2C98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原稿P20　软件开发过程与技术</a:t>
            </a:r>
          </a:p>
        </p:txBody>
      </p:sp>
      <p:sp>
        <p:nvSpPr>
          <p:cNvPr id="10004" name="frame-108">
            <a:extLst>
              <a:ext uri="{FF2B5EF4-FFF2-40B4-BE49-F238E27FC236}">
                <a16:creationId xmlns:a16="http://schemas.microsoft.com/office/drawing/2014/main" id="{56E54CDD-AD7B-4892-9ACA-7F2120FF625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52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630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>
            <a:extLst>
              <a:ext uri="{FF2B5EF4-FFF2-40B4-BE49-F238E27FC236}">
                <a16:creationId xmlns:a16="http://schemas.microsoft.com/office/drawing/2014/main" id="{377C522A-B7AE-AD4C-8A28-09C6C4651B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693" y="2865370"/>
            <a:ext cx="1132957" cy="1550361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6B0E4ED7-53B9-2D97-EED9-6DC4020CF5D1}"/>
              </a:ext>
            </a:extLst>
          </p:cNvPr>
          <p:cNvSpPr txBox="1">
            <a:spLocks/>
          </p:cNvSpPr>
          <p:nvPr/>
        </p:nvSpPr>
        <p:spPr>
          <a:xfrm>
            <a:off x="793618" y="1076325"/>
            <a:ext cx="7543878" cy="1696042"/>
          </a:xfrm>
          <a:prstGeom prst="rect">
            <a:avLst/>
          </a:prstGeom>
        </p:spPr>
        <p:txBody>
          <a:bodyPr lIns="62335" tIns="31167" rIns="62335" bIns="31167">
            <a:noAutofit/>
          </a:bodyPr>
          <a:lstStyle/>
          <a:p>
            <a:pPr marL="155837" indent="-155837" algn="l" defTabSz="623348" rtl="0" eaLnBrk="1" latinLnBrk="0" hangingPunct="1">
              <a:lnSpc>
                <a:spcPct val="90000"/>
              </a:lnSpc>
              <a:spcBef>
                <a:spcPts val="682"/>
              </a:spcBef>
              <a:buFont typeface="Noto Sans SC"/>
              <a:buChar char="•"/>
              <a:defRPr sz="19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36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Class variable (= class attribute, static attribute)</a:t>
            </a:r>
          </a:p>
          <a:p>
            <a:pPr marL="467511" lvl="1" indent="-155837" algn="l" defTabSz="623348" rtl="0" eaLnBrk="1" latinLnBrk="0" hangingPunct="1">
              <a:lnSpc>
                <a:spcPct val="90000"/>
              </a:lnSpc>
              <a:spcBef>
                <a:spcPts val="341"/>
              </a:spcBef>
              <a:buFont typeface="Noto Sans SC"/>
              <a:buChar char="•"/>
              <a:defRPr sz="163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Defined only once per class, i.e., shared by all instances of the class, E.g. counters for the number of instances of a class, constants, etc.</a:t>
            </a:r>
          </a:p>
          <a:p>
            <a:pPr marL="155837" indent="-155837" algn="l" defTabSz="623348" rtl="0" eaLnBrk="1" latinLnBrk="0" hangingPunct="1">
              <a:lnSpc>
                <a:spcPct val="90000"/>
              </a:lnSpc>
              <a:spcBef>
                <a:spcPts val="682"/>
              </a:spcBef>
              <a:buFont typeface="Noto Sans SC"/>
              <a:buChar char="•"/>
              <a:defRPr sz="19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36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Class operation (= static operation)</a:t>
            </a:r>
          </a:p>
          <a:p>
            <a:pPr marL="467511" lvl="1" indent="-155837" algn="l" defTabSz="623348" rtl="0" eaLnBrk="1" latinLnBrk="0" hangingPunct="1">
              <a:lnSpc>
                <a:spcPct val="90000"/>
              </a:lnSpc>
              <a:spcBef>
                <a:spcPts val="341"/>
              </a:spcBef>
              <a:buFont typeface="Noto Sans SC"/>
              <a:buChar char="•"/>
              <a:defRPr sz="163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Can be used if no instance of the corresponding class was created, E.g. constructors, counting operations, math. functions (sin(x)), etc.</a:t>
            </a:r>
          </a:p>
          <a:p>
            <a:pPr marL="155837" indent="-155837" algn="l" defTabSz="623348" rtl="0" eaLnBrk="1" latinLnBrk="0" hangingPunct="1">
              <a:lnSpc>
                <a:spcPct val="90000"/>
              </a:lnSpc>
              <a:spcBef>
                <a:spcPts val="682"/>
              </a:spcBef>
              <a:buFont typeface="Noto Sans SC"/>
              <a:buChar char="•"/>
              <a:defRPr sz="19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36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Notation: underlining name of class variable / class operation </a:t>
            </a: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F742D5F6-D6AC-B579-3060-35B13567E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2652" y="3693151"/>
            <a:ext cx="221745" cy="208556"/>
          </a:xfrm>
          <a:prstGeom prst="line">
            <a:avLst/>
          </a:prstGeom>
          <a:noFill/>
          <a:ln w="8658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 lIns="62335" tIns="31167" rIns="62335" bIns="31167">
            <a:noAutofit/>
          </a:bodyPr>
          <a:lstStyle/>
          <a:p>
            <a:pPr marL="0" algn="l" defTabSz="623348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sz="1227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2ED033E1-6F9F-3E2F-F8B0-6754AC2A5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074" y="3464136"/>
            <a:ext cx="1117162" cy="230793"/>
          </a:xfrm>
          <a:prstGeom prst="rect">
            <a:avLst/>
          </a:prstGeom>
          <a:noFill/>
          <a:ln w="8658">
            <a:noFill/>
            <a:miter lim="800000"/>
            <a:headEnd/>
            <a:tailEnd/>
          </a:ln>
        </p:spPr>
        <p:txBody>
          <a:bodyPr wrap="square" lIns="62335" tIns="31167" rIns="62335" bIns="31167">
            <a:noAutofit/>
          </a:bodyPr>
          <a:lstStyle/>
          <a:p>
            <a:pPr marL="0" algn="l" defTabSz="623348" rtl="0" eaLnBrk="1" latinLnBrk="0" hangingPunct="1">
              <a:defRPr sz="1227"/>
            </a:pPr>
            <a:r>
              <a:rPr lang="de-AT" sz="1091" b="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Class variable</a:t>
            </a: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F9B73B1E-7224-6F25-8CE5-9F49941576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89778" y="4080795"/>
            <a:ext cx="221745" cy="141684"/>
          </a:xfrm>
          <a:prstGeom prst="line">
            <a:avLst/>
          </a:prstGeom>
          <a:noFill/>
          <a:ln w="8658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 lIns="62335" tIns="31167" rIns="62335" bIns="31167">
            <a:noAutofit/>
          </a:bodyPr>
          <a:lstStyle/>
          <a:p>
            <a:pPr marL="0" algn="l" defTabSz="623348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sz="1227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3E55D146-C4D8-6319-76FB-97D8C484F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35" y="4204280"/>
            <a:ext cx="1266856" cy="230793"/>
          </a:xfrm>
          <a:prstGeom prst="rect">
            <a:avLst/>
          </a:prstGeom>
          <a:noFill/>
          <a:ln w="8658">
            <a:noFill/>
            <a:miter lim="800000"/>
            <a:headEnd/>
            <a:tailEnd/>
          </a:ln>
        </p:spPr>
        <p:txBody>
          <a:bodyPr wrap="square" lIns="62335" tIns="31167" rIns="62335" bIns="31167">
            <a:noAutofit/>
          </a:bodyPr>
          <a:lstStyle/>
          <a:p>
            <a:pPr marL="0" algn="l" defTabSz="623348" rtl="0" eaLnBrk="1" latinLnBrk="0" hangingPunct="1">
              <a:defRPr sz="1227"/>
            </a:pPr>
            <a:r>
              <a:rPr lang="de-AT" sz="1091" b="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Class </a:t>
            </a:r>
            <a:r>
              <a:rPr lang="de-AT" sz="1091" b="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operation</a:t>
            </a:r>
            <a:endParaRPr lang="de-AT" sz="1091" b="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FB0367FF-482C-FF39-1142-D00040807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395" y="2653290"/>
            <a:ext cx="4274470" cy="1947285"/>
          </a:xfrm>
          <a:prstGeom prst="rect">
            <a:avLst/>
          </a:prstGeom>
          <a:ln cap="rnd">
            <a:round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22706" tIns="122706" rIns="122706" bIns="122706">
            <a:noAutofit/>
          </a:bodyPr>
          <a:lstStyle/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class Person {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	public String </a:t>
            </a:r>
            <a:r>
              <a:rPr lang="en-US" sz="1227" i="0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firstName</a:t>
            </a: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;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	public String </a:t>
            </a:r>
            <a:r>
              <a:rPr lang="en-US" sz="1227" i="0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lastName</a:t>
            </a: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;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	private Date dob;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	protected String[] address;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	private static </a:t>
            </a:r>
            <a:r>
              <a:rPr lang="en-US" sz="1227" i="0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int</a:t>
            </a: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227" i="0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pNumber</a:t>
            </a: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;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	public static </a:t>
            </a:r>
            <a:r>
              <a:rPr lang="en-US" sz="1227" i="0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int</a:t>
            </a: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227" i="0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getPNumber</a:t>
            </a: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() {…}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	public Date </a:t>
            </a:r>
            <a:r>
              <a:rPr lang="en-US" sz="1227" i="0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getDob</a:t>
            </a: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() {…} </a:t>
            </a:r>
          </a:p>
          <a:p>
            <a:pPr marL="0" algn="l" defTabSz="245413" rtl="0" eaLnBrk="1" latinLnBrk="0" hangingPunct="1">
              <a:defRPr sz="122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27" i="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}</a:t>
            </a:r>
            <a:endParaRPr lang="de-AT" sz="1227" i="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4" name="Gerade Verbindung mit Pfeil 12">
            <a:extLst>
              <a:ext uri="{FF2B5EF4-FFF2-40B4-BE49-F238E27FC236}">
                <a16:creationId xmlns:a16="http://schemas.microsoft.com/office/drawing/2014/main" id="{63135703-4856-8091-55CF-AF5ADAB5529E}"/>
              </a:ext>
            </a:extLst>
          </p:cNvPr>
          <p:cNvCxnSpPr/>
          <p:nvPr/>
        </p:nvCxnSpPr>
        <p:spPr bwMode="auto">
          <a:xfrm>
            <a:off x="3401278" y="3673252"/>
            <a:ext cx="362845" cy="0"/>
          </a:xfrm>
          <a:prstGeom prst="straightConnector1">
            <a:avLst/>
          </a:prstGeom>
          <a:solidFill>
            <a:schemeClr val="accent1"/>
          </a:solidFill>
          <a:ln w="3895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0000" name="frame-109">
            <a:extLst>
              <a:ext uri="{FF2B5EF4-FFF2-40B4-BE49-F238E27FC236}">
                <a16:creationId xmlns:a16="http://schemas.microsoft.com/office/drawing/2014/main" id="{DBBAAB3D-88AD-4B21-83D9-23F3B7486CE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类图概要：类属性和类操作</a:t>
            </a:r>
          </a:p>
        </p:txBody>
      </p:sp>
      <p:sp>
        <p:nvSpPr>
          <p:cNvPr id="10001" name="frame-110">
            <a:extLst>
              <a:ext uri="{FF2B5EF4-FFF2-40B4-BE49-F238E27FC236}">
                <a16:creationId xmlns:a16="http://schemas.microsoft.com/office/drawing/2014/main" id="{79AA74C2-8E1E-487F-BC4C-0C017C8D4E2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11">
            <a:extLst>
              <a:ext uri="{FF2B5EF4-FFF2-40B4-BE49-F238E27FC236}">
                <a16:creationId xmlns:a16="http://schemas.microsoft.com/office/drawing/2014/main" id="{3CE7B9DF-4786-417A-A3F9-628ECEAFD8C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12">
            <a:extLst>
              <a:ext uri="{FF2B5EF4-FFF2-40B4-BE49-F238E27FC236}">
                <a16:creationId xmlns:a16="http://schemas.microsoft.com/office/drawing/2014/main" id="{15941E55-C73B-40A1-81F0-7B584491D147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原稿P21　软件开发过程与技术</a:t>
            </a:r>
          </a:p>
        </p:txBody>
      </p:sp>
      <p:sp>
        <p:nvSpPr>
          <p:cNvPr id="10004" name="frame-113">
            <a:extLst>
              <a:ext uri="{FF2B5EF4-FFF2-40B4-BE49-F238E27FC236}">
                <a16:creationId xmlns:a16="http://schemas.microsoft.com/office/drawing/2014/main" id="{E3BFA1EF-EDA4-4C70-B612-41DEF4DCE17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53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434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D5A65BE1-1C11-15E3-B707-C4A07E4EBC87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1076325"/>
            <a:ext cx="8191500" cy="3462408"/>
          </a:xfrm>
          <a:prstGeom prst="rect">
            <a:avLst/>
          </a:prstGeom>
        </p:spPr>
        <p:txBody>
          <a:bodyPr lIns="67172" tIns="33586" rIns="67172" bIns="33586">
            <a:noAutofit/>
          </a:bodyPr>
          <a:lstStyle/>
          <a:p>
            <a:pPr marL="167931" indent="-167931" algn="l" defTabSz="671724" rtl="0" eaLnBrk="1" latinLnBrk="0" hangingPunct="1">
              <a:lnSpc>
                <a:spcPct val="90000"/>
              </a:lnSpc>
              <a:spcBef>
                <a:spcPts val="735"/>
              </a:spcBef>
              <a:buFont typeface="Noto Sans SC"/>
              <a:buChar char="•"/>
              <a:defRPr sz="185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Navigability</a:t>
            </a: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: an object </a:t>
            </a:r>
            <a:r>
              <a:rPr lang="en-CA" sz="1587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knows</a:t>
            </a: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its partner objects and can therefore </a:t>
            </a:r>
            <a:r>
              <a:rPr lang="en-CA" sz="1587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access</a:t>
            </a: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their</a:t>
            </a:r>
            <a:r>
              <a:rPr lang="en-CA" sz="1587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 visible </a:t>
            </a: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attributes and operations</a:t>
            </a:r>
          </a:p>
          <a:p>
            <a:pPr marL="503793" lvl="1" indent="-167931" algn="l" defTabSz="671724" rtl="0" eaLnBrk="1" latinLnBrk="0" hangingPunct="1">
              <a:lnSpc>
                <a:spcPct val="90000"/>
              </a:lnSpc>
              <a:spcBef>
                <a:spcPts val="367"/>
              </a:spcBef>
              <a:buFont typeface="Noto Sans SC"/>
              <a:buChar char="•"/>
              <a:defRPr sz="158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Indicated by open arrow head</a:t>
            </a:r>
          </a:p>
          <a:p>
            <a:pPr marL="167931" indent="-167931" algn="l" defTabSz="671724" rtl="0" eaLnBrk="1" latinLnBrk="0" hangingPunct="1">
              <a:lnSpc>
                <a:spcPct val="90000"/>
              </a:lnSpc>
              <a:spcBef>
                <a:spcPts val="735"/>
              </a:spcBef>
              <a:buFont typeface="Noto Sans SC"/>
              <a:buChar char="•"/>
              <a:defRPr sz="185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Non-navigability</a:t>
            </a:r>
          </a:p>
          <a:p>
            <a:pPr marL="503793" lvl="1" indent="-167931" algn="l" defTabSz="671724" rtl="0" eaLnBrk="1" latinLnBrk="0" hangingPunct="1">
              <a:lnSpc>
                <a:spcPct val="90000"/>
              </a:lnSpc>
              <a:spcBef>
                <a:spcPts val="367"/>
              </a:spcBef>
              <a:buFont typeface="Noto Sans SC"/>
              <a:buChar char="•"/>
              <a:defRPr sz="158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Indicated by cross </a:t>
            </a:r>
            <a:r>
              <a:rPr lang="en-US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意味着不能直接访问，但不是不能访问</a:t>
            </a:r>
            <a:r>
              <a:rPr lang="en-US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endParaRPr lang="en-CA" sz="1322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7931" indent="-167931" algn="l" defTabSz="671724" rtl="0" eaLnBrk="1" latinLnBrk="0" hangingPunct="1">
              <a:lnSpc>
                <a:spcPct val="90000"/>
              </a:lnSpc>
              <a:spcBef>
                <a:spcPts val="735"/>
              </a:spcBef>
              <a:buFont typeface="Noto Sans SC"/>
              <a:buChar char="•"/>
              <a:defRPr sz="185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Example:</a:t>
            </a:r>
          </a:p>
          <a:p>
            <a:pPr marL="503793" lvl="1" indent="-167931" algn="l" defTabSz="671724" rtl="0" eaLnBrk="1" latinLnBrk="0" hangingPunct="1">
              <a:lnSpc>
                <a:spcPct val="90000"/>
              </a:lnSpc>
              <a:spcBef>
                <a:spcPts val="367"/>
              </a:spcBef>
              <a:buFont typeface="Noto Sans SC"/>
              <a:buChar char="•"/>
              <a:defRPr sz="158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</a:t>
            </a: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can access the visible attributes and operations of </a:t>
            </a:r>
            <a:r>
              <a:rPr lang="en-CA" sz="1587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</a:t>
            </a:r>
          </a:p>
          <a:p>
            <a:pPr marL="503793" lvl="1" indent="-167931" algn="l" defTabSz="671724" rtl="0" eaLnBrk="1" latinLnBrk="0" hangingPunct="1">
              <a:lnSpc>
                <a:spcPct val="90000"/>
              </a:lnSpc>
              <a:spcBef>
                <a:spcPts val="367"/>
              </a:spcBef>
              <a:buFont typeface="Noto Sans SC"/>
              <a:buChar char="•"/>
              <a:defRPr sz="158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</a:t>
            </a: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cannot access any attributes and operations of </a:t>
            </a:r>
            <a:r>
              <a:rPr lang="en-CA" sz="1587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 </a:t>
            </a:r>
          </a:p>
          <a:p>
            <a:pPr marL="335862" lvl="1" indent="0" algn="l" defTabSz="671724" rtl="0" eaLnBrk="1" latinLnBrk="0" hangingPunct="1">
              <a:lnSpc>
                <a:spcPct val="90000"/>
              </a:lnSpc>
              <a:spcBef>
                <a:spcPts val="367"/>
              </a:spcBef>
              <a:buFont typeface="Noto Sans SC"/>
              <a:buChar char="•"/>
              <a:defRPr sz="158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322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(</a:t>
            </a:r>
            <a:r>
              <a:rPr lang="zh-CN" altLang="en-US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只是说从</a:t>
            </a:r>
            <a:r>
              <a:rPr lang="en-US" altLang="zh-CN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</a:t>
            </a:r>
            <a:r>
              <a:rPr lang="zh-CN" altLang="en-US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不能直接访问</a:t>
            </a:r>
            <a:r>
              <a:rPr lang="en-US" altLang="zh-CN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</a:t>
            </a:r>
            <a:r>
              <a:rPr lang="zh-CN" altLang="en-US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，但是</a:t>
            </a:r>
            <a:r>
              <a:rPr lang="en-US" altLang="zh-CN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</a:t>
            </a:r>
            <a:r>
              <a:rPr lang="zh-CN" altLang="en-US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可能可以通过其它途径访问</a:t>
            </a:r>
            <a:r>
              <a:rPr lang="en-US" altLang="zh-CN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</a:t>
            </a:r>
            <a:r>
              <a:rPr lang="zh-CN" altLang="en-US" sz="13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，即全局关联信息</a:t>
            </a:r>
            <a:r>
              <a:rPr lang="en-US" sz="1322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endParaRPr lang="en-CA" sz="1322" b="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7931" indent="-167931" algn="l" defTabSz="671724" rtl="0" eaLnBrk="1" latinLnBrk="0" hangingPunct="1">
              <a:lnSpc>
                <a:spcPct val="90000"/>
              </a:lnSpc>
              <a:spcBef>
                <a:spcPts val="735"/>
              </a:spcBef>
              <a:buFont typeface="Noto Sans SC"/>
              <a:buChar char="•"/>
              <a:defRPr sz="185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Navigability undefined</a:t>
            </a:r>
          </a:p>
          <a:p>
            <a:pPr marL="503793" lvl="1" indent="-167931" algn="l" defTabSz="671724" rtl="0" eaLnBrk="1" latinLnBrk="0" hangingPunct="1">
              <a:lnSpc>
                <a:spcPct val="90000"/>
              </a:lnSpc>
              <a:spcBef>
                <a:spcPts val="367"/>
              </a:spcBef>
              <a:buFont typeface="Noto Sans SC"/>
              <a:buChar char="•"/>
              <a:defRPr sz="158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CA" sz="158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Bidirectional navigability is assumed</a:t>
            </a:r>
          </a:p>
        </p:txBody>
      </p:sp>
      <p:pic>
        <p:nvPicPr>
          <p:cNvPr id="8" name="Grafik 8">
            <a:extLst>
              <a:ext uri="{FF2B5EF4-FFF2-40B4-BE49-F238E27FC236}">
                <a16:creationId xmlns:a16="http://schemas.microsoft.com/office/drawing/2014/main" id="{43C95602-33FB-3ADF-4654-810A78A370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675" y="2647950"/>
            <a:ext cx="1665922" cy="355282"/>
          </a:xfrm>
          <a:prstGeom prst="rect">
            <a:avLst/>
          </a:prstGeom>
        </p:spPr>
      </p:pic>
      <p:pic>
        <p:nvPicPr>
          <p:cNvPr id="9" name="Grafik 9">
            <a:extLst>
              <a:ext uri="{FF2B5EF4-FFF2-40B4-BE49-F238E27FC236}">
                <a16:creationId xmlns:a16="http://schemas.microsoft.com/office/drawing/2014/main" id="{34D0B572-48B2-A061-261C-72A23139CD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675" y="3762375"/>
            <a:ext cx="1680210" cy="358140"/>
          </a:xfrm>
          <a:prstGeom prst="rect">
            <a:avLst/>
          </a:prstGeom>
        </p:spPr>
      </p:pic>
      <p:sp>
        <p:nvSpPr>
          <p:cNvPr id="10000" name="frame-124">
            <a:extLst>
              <a:ext uri="{FF2B5EF4-FFF2-40B4-BE49-F238E27FC236}">
                <a16:creationId xmlns:a16="http://schemas.microsoft.com/office/drawing/2014/main" id="{3DFCEBF8-04AD-4C01-9686-571F827F01CE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类图概要：关联关系</a:t>
            </a:r>
          </a:p>
        </p:txBody>
      </p:sp>
      <p:sp>
        <p:nvSpPr>
          <p:cNvPr id="10001" name="frame-125">
            <a:extLst>
              <a:ext uri="{FF2B5EF4-FFF2-40B4-BE49-F238E27FC236}">
                <a16:creationId xmlns:a16="http://schemas.microsoft.com/office/drawing/2014/main" id="{5AA04100-23E9-40C1-991D-C63E6A0FC6C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26">
            <a:extLst>
              <a:ext uri="{FF2B5EF4-FFF2-40B4-BE49-F238E27FC236}">
                <a16:creationId xmlns:a16="http://schemas.microsoft.com/office/drawing/2014/main" id="{2BE59183-87A4-4714-988F-2B0A06F8E23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27">
            <a:extLst>
              <a:ext uri="{FF2B5EF4-FFF2-40B4-BE49-F238E27FC236}">
                <a16:creationId xmlns:a16="http://schemas.microsoft.com/office/drawing/2014/main" id="{57CAE52C-DFD7-46AF-9856-C2A29394391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原稿P24　软件开发过程与技术</a:t>
            </a:r>
          </a:p>
        </p:txBody>
      </p:sp>
      <p:sp>
        <p:nvSpPr>
          <p:cNvPr id="10004" name="frame-128">
            <a:extLst>
              <a:ext uri="{FF2B5EF4-FFF2-40B4-BE49-F238E27FC236}">
                <a16:creationId xmlns:a16="http://schemas.microsoft.com/office/drawing/2014/main" id="{D89155FE-DDE9-4CE4-A515-F0A0710D6C4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54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169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5">
            <a:extLst>
              <a:ext uri="{FF2B5EF4-FFF2-40B4-BE49-F238E27FC236}">
                <a16:creationId xmlns:a16="http://schemas.microsoft.com/office/drawing/2014/main" id="{44158097-B103-7CC7-B8CE-B19D280FD8CB}"/>
              </a:ext>
            </a:extLst>
          </p:cNvPr>
          <p:cNvSpPr txBox="1"/>
          <p:nvPr/>
        </p:nvSpPr>
        <p:spPr>
          <a:xfrm>
            <a:off x="1920540" y="1076325"/>
            <a:ext cx="5173538" cy="267458"/>
          </a:xfrm>
          <a:prstGeom prst="rect">
            <a:avLst/>
          </a:prstGeom>
          <a:noFill/>
        </p:spPr>
        <p:txBody>
          <a:bodyPr wrap="square" lIns="72238" tIns="36119" rIns="72238" bIns="36119" rtlCol="0">
            <a:noAutofit/>
          </a:bodyPr>
          <a:lstStyle/>
          <a:p>
            <a:pPr marL="0" algn="l" defTabSz="722376" rtl="0" eaLnBrk="1" latinLnBrk="0" hangingPunct="1">
              <a:defRPr sz="14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sz="14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UML </a:t>
            </a:r>
            <a:r>
              <a:rPr lang="de-AT" sz="1422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standard</a:t>
            </a:r>
            <a:r>
              <a:rPr lang="de-AT" sz="142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				Best </a:t>
            </a:r>
            <a:r>
              <a:rPr lang="de-AT" sz="1422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practice</a:t>
            </a:r>
            <a:endParaRPr lang="de-AT" sz="1422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Grafik 2">
            <a:extLst>
              <a:ext uri="{FF2B5EF4-FFF2-40B4-BE49-F238E27FC236}">
                <a16:creationId xmlns:a16="http://schemas.microsoft.com/office/drawing/2014/main" id="{6C04101A-D577-AC5A-FC34-90C169A02E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655" y="1441758"/>
            <a:ext cx="2613553" cy="556823"/>
          </a:xfrm>
          <a:prstGeom prst="rect">
            <a:avLst/>
          </a:prstGeom>
        </p:spPr>
      </p:pic>
      <p:pic>
        <p:nvPicPr>
          <p:cNvPr id="9" name="Grafik 4">
            <a:extLst>
              <a:ext uri="{FF2B5EF4-FFF2-40B4-BE49-F238E27FC236}">
                <a16:creationId xmlns:a16="http://schemas.microsoft.com/office/drawing/2014/main" id="{7BB3118E-FE50-052A-B716-FD5BFBF70B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655" y="2143918"/>
            <a:ext cx="2613553" cy="556823"/>
          </a:xfrm>
          <a:prstGeom prst="rect">
            <a:avLst/>
          </a:prstGeom>
        </p:spPr>
      </p:pic>
      <p:pic>
        <p:nvPicPr>
          <p:cNvPr id="10" name="Grafik 6">
            <a:extLst>
              <a:ext uri="{FF2B5EF4-FFF2-40B4-BE49-F238E27FC236}">
                <a16:creationId xmlns:a16="http://schemas.microsoft.com/office/drawing/2014/main" id="{17F2ED23-8E4E-5C7E-E726-70B99240ED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655" y="2846077"/>
            <a:ext cx="2613553" cy="556823"/>
          </a:xfrm>
          <a:prstGeom prst="rect">
            <a:avLst/>
          </a:prstGeom>
        </p:spPr>
      </p:pic>
      <p:pic>
        <p:nvPicPr>
          <p:cNvPr id="11" name="Grafik 8">
            <a:extLst>
              <a:ext uri="{FF2B5EF4-FFF2-40B4-BE49-F238E27FC236}">
                <a16:creationId xmlns:a16="http://schemas.microsoft.com/office/drawing/2014/main" id="{D1A0C56A-EF39-5272-4D3A-0262FED3AB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655" y="3548238"/>
            <a:ext cx="2613553" cy="556823"/>
          </a:xfrm>
          <a:prstGeom prst="rect">
            <a:avLst/>
          </a:prstGeom>
        </p:spPr>
      </p:pic>
      <p:pic>
        <p:nvPicPr>
          <p:cNvPr id="12" name="Grafik 9">
            <a:extLst>
              <a:ext uri="{FF2B5EF4-FFF2-40B4-BE49-F238E27FC236}">
                <a16:creationId xmlns:a16="http://schemas.microsoft.com/office/drawing/2014/main" id="{9C661FE2-57EC-587E-718E-8E98021C7B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792" y="1805501"/>
            <a:ext cx="2613553" cy="556823"/>
          </a:xfrm>
          <a:prstGeom prst="rect">
            <a:avLst/>
          </a:prstGeom>
        </p:spPr>
      </p:pic>
      <p:pic>
        <p:nvPicPr>
          <p:cNvPr id="13" name="Grafik 10">
            <a:extLst>
              <a:ext uri="{FF2B5EF4-FFF2-40B4-BE49-F238E27FC236}">
                <a16:creationId xmlns:a16="http://schemas.microsoft.com/office/drawing/2014/main" id="{24566F30-C8BB-345F-6620-2440981580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792" y="3216329"/>
            <a:ext cx="2613553" cy="556823"/>
          </a:xfrm>
          <a:prstGeom prst="rect">
            <a:avLst/>
          </a:prstGeom>
        </p:spPr>
      </p:pic>
      <p:sp>
        <p:nvSpPr>
          <p:cNvPr id="14" name="Geschweifte Klammer rechts 12">
            <a:extLst>
              <a:ext uri="{FF2B5EF4-FFF2-40B4-BE49-F238E27FC236}">
                <a16:creationId xmlns:a16="http://schemas.microsoft.com/office/drawing/2014/main" id="{C4DE683E-BD50-A099-5C01-E3E75D31E4B2}"/>
              </a:ext>
            </a:extLst>
          </p:cNvPr>
          <p:cNvSpPr/>
          <p:nvPr/>
        </p:nvSpPr>
        <p:spPr bwMode="auto">
          <a:xfrm>
            <a:off x="4318192" y="1441758"/>
            <a:ext cx="286347" cy="1258983"/>
          </a:xfrm>
          <a:prstGeom prst="rightBrace">
            <a:avLst/>
          </a:prstGeom>
          <a:solidFill>
            <a:schemeClr val="bg1"/>
          </a:solidFill>
          <a:ln w="1755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238" tIns="36119" rIns="72238" bIns="36119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722376" rtl="0" eaLnBrk="0" fontAlgn="base" latinLnBrk="0" hangingPunct="0">
              <a:defRPr sz="14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kumimoji="0" lang="en-US" sz="1896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Geschweifte Klammer rechts 13">
            <a:extLst>
              <a:ext uri="{FF2B5EF4-FFF2-40B4-BE49-F238E27FC236}">
                <a16:creationId xmlns:a16="http://schemas.microsoft.com/office/drawing/2014/main" id="{FC8D8FAC-9FF5-2C3E-10ED-50E38E777637}"/>
              </a:ext>
            </a:extLst>
          </p:cNvPr>
          <p:cNvSpPr/>
          <p:nvPr/>
        </p:nvSpPr>
        <p:spPr bwMode="auto">
          <a:xfrm>
            <a:off x="4325086" y="2846078"/>
            <a:ext cx="286347" cy="1258983"/>
          </a:xfrm>
          <a:prstGeom prst="rightBrace">
            <a:avLst/>
          </a:prstGeom>
          <a:solidFill>
            <a:schemeClr val="bg1"/>
          </a:solidFill>
          <a:ln w="1755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238" tIns="36119" rIns="72238" bIns="36119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722376" rtl="0" eaLnBrk="0" fontAlgn="base" latinLnBrk="0" hangingPunct="0">
              <a:defRPr sz="14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kumimoji="0" lang="en-US" sz="1896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129">
            <a:extLst>
              <a:ext uri="{FF2B5EF4-FFF2-40B4-BE49-F238E27FC236}">
                <a16:creationId xmlns:a16="http://schemas.microsoft.com/office/drawing/2014/main" id="{2548BE3D-1137-4C6F-B345-CA038E00A6C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类图概要：关联关系</a:t>
            </a:r>
          </a:p>
        </p:txBody>
      </p:sp>
      <p:sp>
        <p:nvSpPr>
          <p:cNvPr id="10001" name="frame-130">
            <a:extLst>
              <a:ext uri="{FF2B5EF4-FFF2-40B4-BE49-F238E27FC236}">
                <a16:creationId xmlns:a16="http://schemas.microsoft.com/office/drawing/2014/main" id="{700225D6-5703-4C94-ABEB-55FEFF707A2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31">
            <a:extLst>
              <a:ext uri="{FF2B5EF4-FFF2-40B4-BE49-F238E27FC236}">
                <a16:creationId xmlns:a16="http://schemas.microsoft.com/office/drawing/2014/main" id="{FE92580D-94CD-42AA-B2CE-20FEA2BDDC5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32">
            <a:extLst>
              <a:ext uri="{FF2B5EF4-FFF2-40B4-BE49-F238E27FC236}">
                <a16:creationId xmlns:a16="http://schemas.microsoft.com/office/drawing/2014/main" id="{BBC30261-2ADE-498C-88E2-135CB152CDB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原稿P25　软件开发过程与技术</a:t>
            </a:r>
          </a:p>
        </p:txBody>
      </p:sp>
      <p:sp>
        <p:nvSpPr>
          <p:cNvPr id="10004" name="frame-133">
            <a:extLst>
              <a:ext uri="{FF2B5EF4-FFF2-40B4-BE49-F238E27FC236}">
                <a16:creationId xmlns:a16="http://schemas.microsoft.com/office/drawing/2014/main" id="{8CB0E01A-F944-40D6-933F-3D195514E7A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55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033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9637AC80-A22F-D4C9-8FD3-F5688F428137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1076325"/>
            <a:ext cx="8191500" cy="3502902"/>
          </a:xfrm>
          <a:prstGeom prst="rect">
            <a:avLst/>
          </a:prstGeom>
        </p:spPr>
        <p:txBody>
          <a:bodyPr lIns="67961" tIns="33980" rIns="67961" bIns="33980">
            <a:noAutofit/>
          </a:bodyPr>
          <a:lstStyle/>
          <a:p>
            <a:pPr marL="169902" indent="-169902" algn="l" defTabSz="679608" rtl="0" eaLnBrk="1" latinLnBrk="0" hangingPunct="1">
              <a:lnSpc>
                <a:spcPct val="90000"/>
              </a:lnSpc>
              <a:spcBef>
                <a:spcPts val="743"/>
              </a:spcBef>
              <a:buFont typeface="Noto Sans SC"/>
              <a:buChar char="•"/>
              <a:defRPr sz="208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20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More than two partner objects are involved in the relationship.</a:t>
            </a:r>
          </a:p>
          <a:p>
            <a:pPr marL="169902" indent="-169902" algn="l" defTabSz="679608" rtl="0" eaLnBrk="1" latinLnBrk="0" hangingPunct="1">
              <a:lnSpc>
                <a:spcPct val="90000"/>
              </a:lnSpc>
              <a:spcBef>
                <a:spcPts val="743"/>
              </a:spcBef>
              <a:buFont typeface="Noto Sans SC"/>
              <a:buChar char="•"/>
              <a:defRPr sz="208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20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No navigation directions</a:t>
            </a:r>
          </a:p>
        </p:txBody>
      </p:sp>
      <p:grpSp>
        <p:nvGrpSpPr>
          <p:cNvPr id="8" name="Gruppieren 3">
            <a:extLst>
              <a:ext uri="{FF2B5EF4-FFF2-40B4-BE49-F238E27FC236}">
                <a16:creationId xmlns:a16="http://schemas.microsoft.com/office/drawing/2014/main" id="{4E2DFE8E-32D3-8C38-733E-A018031DA482}"/>
              </a:ext>
            </a:extLst>
          </p:cNvPr>
          <p:cNvGrpSpPr/>
          <p:nvPr/>
        </p:nvGrpSpPr>
        <p:grpSpPr>
          <a:xfrm>
            <a:off x="1859177" y="1979267"/>
            <a:ext cx="4943347" cy="2294308"/>
            <a:chOff x="2945882" y="2359693"/>
            <a:chExt cx="5539669" cy="2138615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D4DFC52D-9C5C-410D-89C6-B947BCD84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2436" y="3811518"/>
              <a:ext cx="1713115" cy="23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68433" tIns="34217" rIns="68433" bIns="34217">
              <a:noAutofit/>
            </a:bodyPr>
            <a:lstStyle/>
            <a:p>
              <a:pPr marL="0" algn="l" defTabSz="566340" rtl="0" eaLnBrk="0" latinLnBrk="0" hangingPunct="0">
                <a:lnSpc>
                  <a:spcPct val="90000"/>
                </a:lnSpc>
                <a:defRPr sz="1338"/>
              </a:pPr>
              <a:r>
                <a:rPr lang="de-DE" sz="1338" dirty="0" err="1">
                  <a:solidFill>
                    <a:srgbClr val="FE8400"/>
                  </a:solidFill>
                  <a:latin typeface="Noto Sans SC"/>
                  <a:ea typeface="Noto Sans SC"/>
                  <a:cs typeface="Noto Sans SC"/>
                </a:rPr>
                <a:t>Ternary</a:t>
              </a:r>
              <a:r>
                <a:rPr lang="de-DE" sz="1338" dirty="0">
                  <a:solidFill>
                    <a:srgbClr val="FE8400"/>
                  </a:solidFill>
                  <a:latin typeface="Noto Sans SC"/>
                  <a:ea typeface="Noto Sans SC"/>
                  <a:cs typeface="Noto Sans SC"/>
                </a:rPr>
                <a:t> </a:t>
              </a:r>
              <a:r>
                <a:rPr lang="de-DE" sz="1338" dirty="0" err="1">
                  <a:solidFill>
                    <a:srgbClr val="FE8400"/>
                  </a:solidFill>
                  <a:latin typeface="Noto Sans SC"/>
                  <a:ea typeface="Noto Sans SC"/>
                  <a:cs typeface="Noto Sans SC"/>
                </a:rPr>
                <a:t>association</a:t>
              </a:r>
              <a:endParaRPr lang="de-DE" sz="1338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10" name="Line 38">
              <a:extLst>
                <a:ext uri="{FF2B5EF4-FFF2-40B4-BE49-F238E27FC236}">
                  <a16:creationId xmlns:a16="http://schemas.microsoft.com/office/drawing/2014/main" id="{EC34B431-CA40-D17E-9F59-4B7BF04357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40893" y="3593934"/>
              <a:ext cx="1031543" cy="435168"/>
            </a:xfrm>
            <a:prstGeom prst="line">
              <a:avLst/>
            </a:prstGeom>
            <a:noFill/>
            <a:ln w="12700">
              <a:solidFill>
                <a:srgbClr val="FE8400"/>
              </a:solidFill>
              <a:round/>
              <a:headEnd/>
              <a:tailEnd type="triangle" w="med" len="med"/>
            </a:ln>
          </p:spPr>
          <p:txBody>
            <a:bodyPr wrap="square" lIns="67961" tIns="33980" rIns="67961" bIns="33980">
              <a:noAutofit/>
            </a:bodyPr>
            <a:lstStyle/>
            <a:p>
              <a:pPr marL="0" algn="l" defTabSz="679608" rtl="0" eaLnBrk="1" latinLnBrk="0" hangingPunct="1">
                <a:defRPr sz="1338" kern="120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</a:defRPr>
              </a:pPr>
              <a:endParaRPr lang="de-AT" sz="1338" kern="1200">
                <a:solidFill>
                  <a:srgbClr val="FE8400"/>
                </a:solidFill>
                <a:latin typeface="Noto Sans SC"/>
                <a:ea typeface="Noto Sans SC"/>
                <a:cs typeface="Noto Sans SC"/>
              </a:endParaRPr>
            </a:p>
          </p:txBody>
        </p:sp>
        <p:pic>
          <p:nvPicPr>
            <p:cNvPr id="11" name="Grafik 8">
              <a:extLst>
                <a:ext uri="{FF2B5EF4-FFF2-40B4-BE49-F238E27FC236}">
                  <a16:creationId xmlns:a16="http://schemas.microsoft.com/office/drawing/2014/main" id="{DD88ACA9-059E-9961-E017-8A8451541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5882" y="2359693"/>
              <a:ext cx="3252237" cy="2138615"/>
            </a:xfrm>
            <a:prstGeom prst="rect">
              <a:avLst/>
            </a:prstGeom>
          </p:spPr>
        </p:pic>
      </p:grpSp>
      <p:sp>
        <p:nvSpPr>
          <p:cNvPr id="10000" name="frame-144">
            <a:extLst>
              <a:ext uri="{FF2B5EF4-FFF2-40B4-BE49-F238E27FC236}">
                <a16:creationId xmlns:a16="http://schemas.microsoft.com/office/drawing/2014/main" id="{31CA1DDE-F615-4360-86AF-10D785AA204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类图概要：关联关系</a:t>
            </a:r>
          </a:p>
        </p:txBody>
      </p:sp>
      <p:sp>
        <p:nvSpPr>
          <p:cNvPr id="10001" name="frame-145">
            <a:extLst>
              <a:ext uri="{FF2B5EF4-FFF2-40B4-BE49-F238E27FC236}">
                <a16:creationId xmlns:a16="http://schemas.microsoft.com/office/drawing/2014/main" id="{A1B28CBC-5FCB-4005-9DD9-2319FB62A35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46">
            <a:extLst>
              <a:ext uri="{FF2B5EF4-FFF2-40B4-BE49-F238E27FC236}">
                <a16:creationId xmlns:a16="http://schemas.microsoft.com/office/drawing/2014/main" id="{BC319EC1-5826-436D-8E32-1754121F9B2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47">
            <a:extLst>
              <a:ext uri="{FF2B5EF4-FFF2-40B4-BE49-F238E27FC236}">
                <a16:creationId xmlns:a16="http://schemas.microsoft.com/office/drawing/2014/main" id="{8D1197CD-22FA-42F6-A056-B5C585B2E83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原稿P28　软件开发过程与技术</a:t>
            </a:r>
          </a:p>
        </p:txBody>
      </p:sp>
      <p:sp>
        <p:nvSpPr>
          <p:cNvPr id="10004" name="frame-148">
            <a:extLst>
              <a:ext uri="{FF2B5EF4-FFF2-40B4-BE49-F238E27FC236}">
                <a16:creationId xmlns:a16="http://schemas.microsoft.com/office/drawing/2014/main" id="{B0E9F559-8ABE-44AC-836C-CD4B4F0D004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56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970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DA0C866D-A5DE-0745-32DF-7507772D0893}"/>
              </a:ext>
            </a:extLst>
          </p:cNvPr>
          <p:cNvSpPr txBox="1">
            <a:spLocks noChangeArrowheads="1"/>
          </p:cNvSpPr>
          <p:nvPr/>
        </p:nvSpPr>
        <p:spPr>
          <a:xfrm>
            <a:off x="811657" y="1076325"/>
            <a:ext cx="7520685" cy="3367901"/>
          </a:xfrm>
          <a:prstGeom prst="rect">
            <a:avLst/>
          </a:prstGeom>
        </p:spPr>
        <p:txBody>
          <a:bodyPr lIns="65342" tIns="32671" rIns="65342" bIns="32671">
            <a:noAutofit/>
          </a:bodyPr>
          <a:lstStyle/>
          <a:p>
            <a:pPr marL="163354" indent="-163354" algn="l" defTabSz="653416" rtl="0" eaLnBrk="1" latinLnBrk="0" hangingPunct="1">
              <a:lnSpc>
                <a:spcPct val="90000"/>
              </a:lnSpc>
              <a:spcBef>
                <a:spcPts val="715"/>
              </a:spcBef>
              <a:buFont typeface="Noto Sans SC"/>
              <a:buChar char="•"/>
              <a:defRPr sz="200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JM" sz="1715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Example</a:t>
            </a:r>
          </a:p>
          <a:p>
            <a:pPr marL="490062" lvl="1" indent="-163354" algn="l" defTabSz="653416" rtl="0" eaLnBrk="1" latinLnBrk="0" hangingPunct="1">
              <a:lnSpc>
                <a:spcPct val="90000"/>
              </a:lnSpc>
              <a:spcBef>
                <a:spcPts val="357"/>
              </a:spcBef>
              <a:buFont typeface="Noto Sans SC"/>
              <a:buChar char="•"/>
              <a:defRPr sz="1715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Student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, 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Exam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 → (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Lecturer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</a:p>
          <a:p>
            <a:pPr marL="816770" lvl="2" indent="-163354" algn="l" defTabSz="653416" rtl="0" eaLnBrk="1" latinLnBrk="0" hangingPunct="1">
              <a:lnSpc>
                <a:spcPct val="90000"/>
              </a:lnSpc>
              <a:spcBef>
                <a:spcPts val="357"/>
              </a:spcBef>
              <a:buFont typeface="Noto Sans SC"/>
              <a:buChar char="•"/>
              <a:defRPr sz="14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JM" sz="128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One student takes one exam with one or no lecturer</a:t>
            </a:r>
            <a:endParaRPr lang="en-JM" sz="1286" b="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90062" lvl="1" indent="-163354" algn="l" defTabSz="653416" rtl="0" eaLnBrk="1" latinLnBrk="0" hangingPunct="1">
              <a:lnSpc>
                <a:spcPct val="90000"/>
              </a:lnSpc>
              <a:spcBef>
                <a:spcPts val="357"/>
              </a:spcBef>
              <a:buFont typeface="Noto Sans SC"/>
              <a:buChar char="•"/>
              <a:defRPr sz="1715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Exam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, 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Lecturer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 → (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Student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</a:p>
          <a:p>
            <a:pPr marL="816770" lvl="2" indent="-163354" algn="l" defTabSz="653416" rtl="0" eaLnBrk="1" latinLnBrk="0" hangingPunct="1">
              <a:lnSpc>
                <a:spcPct val="90000"/>
              </a:lnSpc>
              <a:spcBef>
                <a:spcPts val="357"/>
              </a:spcBef>
              <a:buFont typeface="Noto Sans SC"/>
              <a:buChar char="•"/>
              <a:defRPr sz="14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JM" sz="128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One exam with one lecturer can be taken by any number of students</a:t>
            </a:r>
          </a:p>
          <a:p>
            <a:pPr marL="490062" lvl="1" indent="-163354" algn="l" defTabSz="653416" rtl="0" eaLnBrk="1" latinLnBrk="0" hangingPunct="1">
              <a:lnSpc>
                <a:spcPct val="90000"/>
              </a:lnSpc>
              <a:spcBef>
                <a:spcPts val="357"/>
              </a:spcBef>
              <a:buFont typeface="Noto Sans SC"/>
              <a:buChar char="•"/>
              <a:defRPr sz="1715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Student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, 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Lecturer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 → (</a:t>
            </a:r>
            <a:r>
              <a:rPr lang="en-JM" sz="142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Exam</a:t>
            </a:r>
            <a:r>
              <a:rPr lang="en-JM" sz="14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</a:p>
          <a:p>
            <a:pPr marL="816770" lvl="2" indent="-163354" algn="l" defTabSz="653416" rtl="0" eaLnBrk="1" latinLnBrk="0" hangingPunct="1">
              <a:lnSpc>
                <a:spcPct val="90000"/>
              </a:lnSpc>
              <a:spcBef>
                <a:spcPts val="357"/>
              </a:spcBef>
              <a:buFont typeface="Noto Sans SC"/>
              <a:buChar char="•"/>
              <a:defRPr sz="14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JM" sz="128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One student can be graded by one </a:t>
            </a:r>
            <a:r>
              <a:rPr lang="en-JM" sz="1286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Lecturer</a:t>
            </a:r>
            <a:r>
              <a:rPr lang="en-JM" sz="128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for any number of exams</a:t>
            </a:r>
          </a:p>
        </p:txBody>
      </p:sp>
      <p:sp>
        <p:nvSpPr>
          <p:cNvPr id="8" name="Textfeld 11">
            <a:extLst>
              <a:ext uri="{FF2B5EF4-FFF2-40B4-BE49-F238E27FC236}">
                <a16:creationId xmlns:a16="http://schemas.microsoft.com/office/drawing/2014/main" id="{C0E2F4E6-F1FB-729E-554C-BD2C68A188A7}"/>
              </a:ext>
            </a:extLst>
          </p:cNvPr>
          <p:cNvSpPr txBox="1"/>
          <p:nvPr/>
        </p:nvSpPr>
        <p:spPr>
          <a:xfrm>
            <a:off x="4034634" y="3488020"/>
            <a:ext cx="551871" cy="505844"/>
          </a:xfrm>
          <a:prstGeom prst="rect">
            <a:avLst/>
          </a:prstGeom>
          <a:solidFill>
            <a:schemeClr val="bg1"/>
          </a:solidFill>
        </p:spPr>
        <p:txBody>
          <a:bodyPr wrap="square" lIns="65342" tIns="32671" rIns="65342" bIns="32671" rtlCol="0">
            <a:noAutofit/>
          </a:bodyPr>
          <a:lstStyle/>
          <a:p>
            <a:pPr marL="0" algn="l" defTabSz="653416" rtl="0" eaLnBrk="1" latinLnBrk="0" hangingPunct="1">
              <a:defRPr sz="128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sz="2858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≠</a:t>
            </a:r>
            <a:endParaRPr lang="en-GB" sz="2858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9" name="Grafik 1">
            <a:extLst>
              <a:ext uri="{FF2B5EF4-FFF2-40B4-BE49-F238E27FC236}">
                <a16:creationId xmlns:a16="http://schemas.microsoft.com/office/drawing/2014/main" id="{6C0A589E-E7F4-78AC-1999-B61017209F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55" y="2894117"/>
            <a:ext cx="2595046" cy="1706458"/>
          </a:xfrm>
          <a:prstGeom prst="rect">
            <a:avLst/>
          </a:prstGeom>
        </p:spPr>
      </p:pic>
      <p:pic>
        <p:nvPicPr>
          <p:cNvPr id="10" name="Grafik 2">
            <a:extLst>
              <a:ext uri="{FF2B5EF4-FFF2-40B4-BE49-F238E27FC236}">
                <a16:creationId xmlns:a16="http://schemas.microsoft.com/office/drawing/2014/main" id="{3544E956-8A2A-5971-2CE1-99654B11A3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776" y="3118909"/>
            <a:ext cx="3411270" cy="1181206"/>
          </a:xfrm>
          <a:prstGeom prst="rect">
            <a:avLst/>
          </a:prstGeom>
        </p:spPr>
      </p:pic>
      <p:sp>
        <p:nvSpPr>
          <p:cNvPr id="10000" name="frame-149">
            <a:extLst>
              <a:ext uri="{FF2B5EF4-FFF2-40B4-BE49-F238E27FC236}">
                <a16:creationId xmlns:a16="http://schemas.microsoft.com/office/drawing/2014/main" id="{D58B2D25-A3CC-4CBA-932E-4CCBFC7603E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类图概要：关联关系</a:t>
            </a:r>
          </a:p>
        </p:txBody>
      </p:sp>
      <p:sp>
        <p:nvSpPr>
          <p:cNvPr id="10001" name="frame-150">
            <a:extLst>
              <a:ext uri="{FF2B5EF4-FFF2-40B4-BE49-F238E27FC236}">
                <a16:creationId xmlns:a16="http://schemas.microsoft.com/office/drawing/2014/main" id="{680336C4-E500-43DB-8A6E-E2ACE474493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51">
            <a:extLst>
              <a:ext uri="{FF2B5EF4-FFF2-40B4-BE49-F238E27FC236}">
                <a16:creationId xmlns:a16="http://schemas.microsoft.com/office/drawing/2014/main" id="{6B14B855-6A0C-48F6-820A-5B3E8BE5567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52">
            <a:extLst>
              <a:ext uri="{FF2B5EF4-FFF2-40B4-BE49-F238E27FC236}">
                <a16:creationId xmlns:a16="http://schemas.microsoft.com/office/drawing/2014/main" id="{D59E789F-BFCC-4A38-8EA9-44523D8ACC9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原稿P29　软件开发过程与技术</a:t>
            </a:r>
          </a:p>
        </p:txBody>
      </p:sp>
      <p:sp>
        <p:nvSpPr>
          <p:cNvPr id="10004" name="frame-153">
            <a:extLst>
              <a:ext uri="{FF2B5EF4-FFF2-40B4-BE49-F238E27FC236}">
                <a16:creationId xmlns:a16="http://schemas.microsoft.com/office/drawing/2014/main" id="{F50B5B3A-48F9-495A-93A2-2A2520A6938C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57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794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D32E92D-22E7-1D26-1770-A96F999EF437}"/>
              </a:ext>
            </a:extLst>
          </p:cNvPr>
          <p:cNvSpPr>
            <a:spLocks noGrp="1"/>
          </p:cNvSpPr>
          <p:nvPr/>
        </p:nvSpPr>
        <p:spPr>
          <a:xfrm>
            <a:off x="575088" y="1076325"/>
            <a:ext cx="7993823" cy="3524250"/>
          </a:xfrm>
        </p:spPr>
        <p:txBody>
          <a:bodyPr lIns="69512" tIns="34756" rIns="69512" bIns="34756">
            <a:noAutofit/>
          </a:bodyPr>
          <a:lstStyle/>
          <a:p>
            <a:pPr marL="173779" indent="-173779" algn="l" defTabSz="695115" rtl="0" eaLnBrk="1" latinLnBrk="0" hangingPunct="1">
              <a:lnSpc>
                <a:spcPct val="90000"/>
              </a:lnSpc>
              <a:spcBef>
                <a:spcPts val="760"/>
              </a:spcBef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Special form of association</a:t>
            </a:r>
          </a:p>
          <a:p>
            <a:pPr marL="173779" indent="-173779" algn="l" defTabSz="695115" rtl="0" eaLnBrk="1" latinLnBrk="0" hangingPunct="1">
              <a:lnSpc>
                <a:spcPct val="90000"/>
              </a:lnSpc>
              <a:spcBef>
                <a:spcPts val="760"/>
              </a:spcBef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Used to express that a class is part of another class</a:t>
            </a:r>
          </a:p>
          <a:p>
            <a:pPr marL="173779" indent="-173779" algn="l" defTabSz="695115" rtl="0" eaLnBrk="1" latinLnBrk="0" hangingPunct="1">
              <a:lnSpc>
                <a:spcPct val="90000"/>
              </a:lnSpc>
              <a:spcBef>
                <a:spcPts val="760"/>
              </a:spcBef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Properties of the aggregation association:</a:t>
            </a:r>
          </a:p>
          <a:p>
            <a:pPr marL="521336" lvl="1" indent="-173779" algn="l" defTabSz="695115" rtl="0" eaLnBrk="1" latinLnBrk="0" hangingPunct="1">
              <a:lnSpc>
                <a:spcPct val="90000"/>
              </a:lnSpc>
              <a:spcBef>
                <a:spcPts val="380"/>
              </a:spcBef>
              <a:buFont typeface="Noto Sans SC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Transitive: if B is part of A and C is part of B, C is also part of A</a:t>
            </a:r>
          </a:p>
          <a:p>
            <a:pPr marL="521336" lvl="1" indent="-173779" algn="l" defTabSz="695115" rtl="0" eaLnBrk="1" latinLnBrk="0" hangingPunct="1">
              <a:lnSpc>
                <a:spcPct val="90000"/>
              </a:lnSpc>
              <a:spcBef>
                <a:spcPts val="380"/>
              </a:spcBef>
              <a:buFont typeface="Noto Sans SC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Asymmetric: it is not possible for A to be part of B and B to be part of A simultaneously.</a:t>
            </a:r>
          </a:p>
          <a:p>
            <a:pPr marL="173779" indent="-173779" algn="l" defTabSz="695115" rtl="0" eaLnBrk="1" latinLnBrk="0" hangingPunct="1">
              <a:lnSpc>
                <a:spcPct val="90000"/>
              </a:lnSpc>
              <a:spcBef>
                <a:spcPts val="760"/>
              </a:spcBef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Two types:</a:t>
            </a:r>
          </a:p>
          <a:p>
            <a:pPr marL="521336" lvl="1" indent="-173779" algn="l" defTabSz="695115" rtl="0" eaLnBrk="1" latinLnBrk="0" hangingPunct="1">
              <a:lnSpc>
                <a:spcPct val="90000"/>
              </a:lnSpc>
              <a:spcBef>
                <a:spcPts val="380"/>
              </a:spcBef>
              <a:buFont typeface="Noto Sans SC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Shared aggregation</a:t>
            </a:r>
          </a:p>
          <a:p>
            <a:pPr marL="521336" lvl="1" indent="-173779" algn="l" defTabSz="695115" rtl="0" eaLnBrk="1" latinLnBrk="0" hangingPunct="1">
              <a:lnSpc>
                <a:spcPct val="90000"/>
              </a:lnSpc>
              <a:spcBef>
                <a:spcPts val="380"/>
              </a:spcBef>
              <a:buFont typeface="Noto Sans SC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Composition</a:t>
            </a:r>
          </a:p>
          <a:p>
            <a:pPr marL="173779" indent="-173779" algn="l" defTabSz="695115" rtl="0" eaLnBrk="1" latinLnBrk="0" hangingPunct="1">
              <a:lnSpc>
                <a:spcPct val="90000"/>
              </a:lnSpc>
              <a:spcBef>
                <a:spcPts val="760"/>
              </a:spcBef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212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159">
            <a:extLst>
              <a:ext uri="{FF2B5EF4-FFF2-40B4-BE49-F238E27FC236}">
                <a16:creationId xmlns:a16="http://schemas.microsoft.com/office/drawing/2014/main" id="{E5205112-E891-4B0F-9584-170DBE65484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类图概要：聚合关系</a:t>
            </a:r>
          </a:p>
        </p:txBody>
      </p:sp>
      <p:sp>
        <p:nvSpPr>
          <p:cNvPr id="10001" name="frame-160">
            <a:extLst>
              <a:ext uri="{FF2B5EF4-FFF2-40B4-BE49-F238E27FC236}">
                <a16:creationId xmlns:a16="http://schemas.microsoft.com/office/drawing/2014/main" id="{B04BAF8C-793E-435D-8330-82255FF47815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61">
            <a:extLst>
              <a:ext uri="{FF2B5EF4-FFF2-40B4-BE49-F238E27FC236}">
                <a16:creationId xmlns:a16="http://schemas.microsoft.com/office/drawing/2014/main" id="{AA12454E-3489-4DA8-9C21-09804A1C43E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62">
            <a:extLst>
              <a:ext uri="{FF2B5EF4-FFF2-40B4-BE49-F238E27FC236}">
                <a16:creationId xmlns:a16="http://schemas.microsoft.com/office/drawing/2014/main" id="{93F54FCF-D1A2-46DD-AAD7-510E38035CF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原稿P31　软件开发过程与技术</a:t>
            </a:r>
          </a:p>
        </p:txBody>
      </p:sp>
      <p:sp>
        <p:nvSpPr>
          <p:cNvPr id="10004" name="frame-163">
            <a:extLst>
              <a:ext uri="{FF2B5EF4-FFF2-40B4-BE49-F238E27FC236}">
                <a16:creationId xmlns:a16="http://schemas.microsoft.com/office/drawing/2014/main" id="{45E51355-5B5B-4786-ACCC-F54A21BFD06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58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430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FD6F954-7066-81E7-70CA-934E23022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29" y="1076325"/>
            <a:ext cx="7365341" cy="3524250"/>
          </a:xfrm>
          <a:prstGeom prst="rect">
            <a:avLst/>
          </a:prstGeom>
        </p:spPr>
      </p:pic>
      <p:sp>
        <p:nvSpPr>
          <p:cNvPr id="10000" name="frame-164">
            <a:extLst>
              <a:ext uri="{FF2B5EF4-FFF2-40B4-BE49-F238E27FC236}">
                <a16:creationId xmlns:a16="http://schemas.microsoft.com/office/drawing/2014/main" id="{63B28F1E-E862-4C44-87E5-DB1BDCCA5E4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类图概要：聚合关系</a:t>
            </a:r>
          </a:p>
        </p:txBody>
      </p:sp>
      <p:sp>
        <p:nvSpPr>
          <p:cNvPr id="10001" name="frame-165">
            <a:extLst>
              <a:ext uri="{FF2B5EF4-FFF2-40B4-BE49-F238E27FC236}">
                <a16:creationId xmlns:a16="http://schemas.microsoft.com/office/drawing/2014/main" id="{CEA5418F-048F-470C-BAA0-99EBA3E8C8E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66">
            <a:extLst>
              <a:ext uri="{FF2B5EF4-FFF2-40B4-BE49-F238E27FC236}">
                <a16:creationId xmlns:a16="http://schemas.microsoft.com/office/drawing/2014/main" id="{3CF6FB6B-6C82-40DE-8164-45240A3BE15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67">
            <a:extLst>
              <a:ext uri="{FF2B5EF4-FFF2-40B4-BE49-F238E27FC236}">
                <a16:creationId xmlns:a16="http://schemas.microsoft.com/office/drawing/2014/main" id="{93C1C725-3E5D-4620-838E-F8C1FE96CF6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原稿P32　软件开发过程与技术</a:t>
            </a:r>
          </a:p>
        </p:txBody>
      </p:sp>
      <p:sp>
        <p:nvSpPr>
          <p:cNvPr id="10004" name="frame-168">
            <a:extLst>
              <a:ext uri="{FF2B5EF4-FFF2-40B4-BE49-F238E27FC236}">
                <a16:creationId xmlns:a16="http://schemas.microsoft.com/office/drawing/2014/main" id="{C07493BC-50F9-46E4-850A-2D583DA3292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59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0C6181D8-6821-D29B-312D-430E5EA7D600}"/>
              </a:ext>
            </a:extLst>
          </p:cNvPr>
          <p:cNvSpPr txBox="1">
            <a:spLocks noChangeArrowheads="1"/>
          </p:cNvSpPr>
          <p:nvPr/>
        </p:nvSpPr>
        <p:spPr>
          <a:xfrm>
            <a:off x="582885" y="1132815"/>
            <a:ext cx="4770970" cy="3467760"/>
          </a:xfrm>
          <a:prstGeom prst="rect">
            <a:avLst/>
          </a:prstGeom>
        </p:spPr>
        <p:txBody>
          <a:bodyPr lIns="67279" tIns="33639" rIns="67279" bIns="33639">
            <a:noAutofit/>
          </a:bodyPr>
          <a:lstStyle/>
          <a:p>
            <a:pPr marL="168197" indent="-168197" algn="l" defTabSz="672790" rtl="0" eaLnBrk="1" latinLnBrk="0" hangingPunct="1">
              <a:lnSpc>
                <a:spcPct val="90000"/>
              </a:lnSpc>
              <a:spcBef>
                <a:spcPts val="736"/>
              </a:spcBef>
              <a:buFont typeface="Noto Sans SC"/>
              <a:buChar char="•"/>
              <a:defRPr sz="206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4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Characteristics (attributes and operations), associations, and aggregations that are specified for a general class (superclass) are passed on to its subclasses. </a:t>
            </a:r>
          </a:p>
          <a:p>
            <a:pPr marL="168197" indent="-168197" algn="l" defTabSz="672790" rtl="0" eaLnBrk="1" latinLnBrk="0" hangingPunct="1">
              <a:lnSpc>
                <a:spcPct val="90000"/>
              </a:lnSpc>
              <a:spcBef>
                <a:spcPts val="736"/>
              </a:spcBef>
              <a:buFont typeface="Noto Sans SC"/>
              <a:buChar char="•"/>
              <a:defRPr sz="206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4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Every instance of a subclass is simultaneously an indirect instance of the superclass.</a:t>
            </a:r>
          </a:p>
          <a:p>
            <a:pPr marL="168197" indent="-168197" algn="l" defTabSz="672790" rtl="0" eaLnBrk="1" latinLnBrk="0" hangingPunct="1">
              <a:lnSpc>
                <a:spcPct val="90000"/>
              </a:lnSpc>
              <a:spcBef>
                <a:spcPts val="736"/>
              </a:spcBef>
              <a:buFont typeface="Noto Sans SC"/>
              <a:buChar char="•"/>
              <a:defRPr sz="206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4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Subclass inherits all characteristics, associations, and aggregations of the superclass except private ones.</a:t>
            </a:r>
          </a:p>
          <a:p>
            <a:pPr marL="168197" indent="-168197" algn="l" defTabSz="672790" rtl="0" eaLnBrk="1" latinLnBrk="0" hangingPunct="1">
              <a:lnSpc>
                <a:spcPct val="90000"/>
              </a:lnSpc>
              <a:spcBef>
                <a:spcPts val="736"/>
              </a:spcBef>
              <a:buFont typeface="Noto Sans SC"/>
              <a:buChar char="•"/>
              <a:defRPr sz="206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4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Subclass may have further characteristics, associations, and aggregations.</a:t>
            </a:r>
          </a:p>
          <a:p>
            <a:pPr marL="168197" indent="-168197" algn="l" defTabSz="672790" rtl="0" eaLnBrk="1" latinLnBrk="0" hangingPunct="1">
              <a:lnSpc>
                <a:spcPct val="90000"/>
              </a:lnSpc>
              <a:spcBef>
                <a:spcPts val="736"/>
              </a:spcBef>
              <a:buFont typeface="Noto Sans SC"/>
              <a:buChar char="•"/>
              <a:defRPr sz="206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4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Generalizations are transitive.</a:t>
            </a:r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0DD41AAA-2868-6DE9-3C29-E45E188EF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579" y="1076325"/>
            <a:ext cx="1064288" cy="323658"/>
          </a:xfrm>
          <a:prstGeom prst="rect">
            <a:avLst/>
          </a:prstGeom>
          <a:noFill/>
          <a:ln w="7008">
            <a:noFill/>
            <a:miter lim="800000"/>
            <a:headEnd/>
            <a:tailEnd/>
          </a:ln>
        </p:spPr>
        <p:txBody>
          <a:bodyPr wrap="none" lIns="67746" tIns="33873" rIns="67746" bIns="33873">
            <a:noAutofit/>
          </a:bodyPr>
          <a:lstStyle/>
          <a:p>
            <a:pPr marL="0" algn="l" defTabSz="560658" rtl="0" eaLnBrk="0" latinLnBrk="0" hangingPunct="0">
              <a:defRPr sz="13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324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Superclass</a:t>
            </a:r>
            <a:endParaRPr lang="de-DE" sz="1324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45859D65-4CF7-8107-8B9F-E3BD7C90A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2114550"/>
            <a:ext cx="1390650" cy="1047750"/>
          </a:xfrm>
          <a:prstGeom prst="rect">
            <a:avLst/>
          </a:prstGeom>
          <a:noFill/>
          <a:ln w="7008">
            <a:noFill/>
            <a:miter lim="800000"/>
            <a:headEnd/>
            <a:tailEnd/>
          </a:ln>
        </p:spPr>
        <p:txBody>
          <a:bodyPr wrap="square" lIns="67746" tIns="33873" rIns="67746" bIns="33873">
            <a:noAutofit/>
          </a:bodyPr>
          <a:lstStyle/>
          <a:p>
            <a:pPr marL="0" algn="l" defTabSz="560658" rtl="0" eaLnBrk="0" latinLnBrk="0" hangingPunct="0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Subclasses</a:t>
            </a:r>
            <a:endParaRPr lang="de-DE" sz="1200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560658" rtl="0" eaLnBrk="0" latinLnBrk="0" hangingPunct="0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…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inherit</a:t>
            </a: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characteristics</a:t>
            </a: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,  </a:t>
            </a:r>
          </a:p>
          <a:p>
            <a:pPr marL="0" algn="l" defTabSz="560658" rtl="0" eaLnBrk="0" latinLnBrk="0" hangingPunct="0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associations</a:t>
            </a: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,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and</a:t>
            </a: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</a:p>
          <a:p>
            <a:pPr marL="0" algn="l" defTabSz="560658" rtl="0" eaLnBrk="0" latinLnBrk="0" hangingPunct="0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aggregations</a:t>
            </a:r>
            <a:endParaRPr lang="de-DE" sz="1200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Rectangle 31">
            <a:extLst>
              <a:ext uri="{FF2B5EF4-FFF2-40B4-BE49-F238E27FC236}">
                <a16:creationId xmlns:a16="http://schemas.microsoft.com/office/drawing/2014/main" id="{EF5A5916-EC83-EC6D-2DFF-694DC400B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0" y="3343275"/>
            <a:ext cx="1466850" cy="619125"/>
          </a:xfrm>
          <a:prstGeom prst="rect">
            <a:avLst/>
          </a:prstGeom>
          <a:noFill/>
          <a:ln w="7008">
            <a:noFill/>
            <a:miter lim="800000"/>
            <a:headEnd/>
            <a:tailEnd/>
          </a:ln>
        </p:spPr>
        <p:txBody>
          <a:bodyPr wrap="square" lIns="67746" tIns="33873" rIns="67746" bIns="33873">
            <a:noAutofit/>
          </a:bodyPr>
          <a:lstStyle/>
          <a:p>
            <a:pPr marL="0" algn="l" defTabSz="560658" rtl="0" eaLnBrk="0" latinLnBrk="0" hangingPunct="0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Secretary</a:t>
            </a: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is</a:t>
            </a:r>
            <a:endParaRPr lang="de-DE" sz="1200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560658" rtl="0" eaLnBrk="0" latinLnBrk="0" hangingPunct="0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an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Employee</a:t>
            </a: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de-DE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and</a:t>
            </a:r>
            <a:endParaRPr lang="de-DE" sz="1200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560658" rtl="0" eaLnBrk="0" latinLnBrk="0" hangingPunct="0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DE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 Person</a:t>
            </a:r>
          </a:p>
        </p:txBody>
      </p:sp>
      <p:pic>
        <p:nvPicPr>
          <p:cNvPr id="11" name="Grafik 3">
            <a:extLst>
              <a:ext uri="{FF2B5EF4-FFF2-40B4-BE49-F238E27FC236}">
                <a16:creationId xmlns:a16="http://schemas.microsoft.com/office/drawing/2014/main" id="{AF24BD62-19FE-D095-7E90-27F8CE0628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540" y="1181782"/>
            <a:ext cx="1747952" cy="2583512"/>
          </a:xfrm>
          <a:prstGeom prst="rect">
            <a:avLst/>
          </a:prstGeom>
        </p:spPr>
      </p:pic>
      <p:sp>
        <p:nvSpPr>
          <p:cNvPr id="10000" name="frame-169">
            <a:extLst>
              <a:ext uri="{FF2B5EF4-FFF2-40B4-BE49-F238E27FC236}">
                <a16:creationId xmlns:a16="http://schemas.microsoft.com/office/drawing/2014/main" id="{AA64EE5C-1E5D-429F-873E-208D780317C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类图概要：泛化关系</a:t>
            </a:r>
          </a:p>
        </p:txBody>
      </p:sp>
      <p:sp>
        <p:nvSpPr>
          <p:cNvPr id="10001" name="frame-170">
            <a:extLst>
              <a:ext uri="{FF2B5EF4-FFF2-40B4-BE49-F238E27FC236}">
                <a16:creationId xmlns:a16="http://schemas.microsoft.com/office/drawing/2014/main" id="{0775B5F7-4F73-4FB6-AA62-EC56097A32E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71">
            <a:extLst>
              <a:ext uri="{FF2B5EF4-FFF2-40B4-BE49-F238E27FC236}">
                <a16:creationId xmlns:a16="http://schemas.microsoft.com/office/drawing/2014/main" id="{9CE070A9-F4D8-4FBA-ABE6-1BB02145152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72">
            <a:extLst>
              <a:ext uri="{FF2B5EF4-FFF2-40B4-BE49-F238E27FC236}">
                <a16:creationId xmlns:a16="http://schemas.microsoft.com/office/drawing/2014/main" id="{8F374DAC-8AA4-4790-A9F2-C43DDED45CD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原稿P33　软件开发过程与技术</a:t>
            </a:r>
          </a:p>
        </p:txBody>
      </p:sp>
      <p:sp>
        <p:nvSpPr>
          <p:cNvPr id="10004" name="frame-173">
            <a:extLst>
              <a:ext uri="{FF2B5EF4-FFF2-40B4-BE49-F238E27FC236}">
                <a16:creationId xmlns:a16="http://schemas.microsoft.com/office/drawing/2014/main" id="{315B3A24-1EFA-4F89-B49D-37FDDF74F0A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60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480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, 示意图&#10;&#10;AI 生成的内容可能不正确。">
            <a:extLst>
              <a:ext uri="{FF2B5EF4-FFF2-40B4-BE49-F238E27FC236}">
                <a16:creationId xmlns:a16="http://schemas.microsoft.com/office/drawing/2014/main" id="{0CAC5CBF-C2C8-0937-14AB-370B946DB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689" y="3521302"/>
            <a:ext cx="5024473" cy="1067250"/>
          </a:xfrm>
        </p:spPr>
      </p:pic>
      <p:sp>
        <p:nvSpPr>
          <p:cNvPr id="9" name="内容占位符 1">
            <a:extLst>
              <a:ext uri="{FF2B5EF4-FFF2-40B4-BE49-F238E27FC236}">
                <a16:creationId xmlns:a16="http://schemas.microsoft.com/office/drawing/2014/main" id="{349740FE-9A67-63A9-B2BA-D079E72E4D5A}"/>
              </a:ext>
            </a:extLst>
          </p:cNvPr>
          <p:cNvSpPr txBox="1">
            <a:spLocks/>
          </p:cNvSpPr>
          <p:nvPr/>
        </p:nvSpPr>
        <p:spPr>
          <a:xfrm>
            <a:off x="575088" y="1076325"/>
            <a:ext cx="7993823" cy="3524250"/>
          </a:xfrm>
          <a:prstGeom prst="rect">
            <a:avLst/>
          </a:prstGeom>
        </p:spPr>
        <p:txBody>
          <a:bodyPr vert="horz" lIns="69512" tIns="34756" rIns="69512" bIns="34756" rtlCol="0">
            <a:noAutofit/>
          </a:bodyPr>
          <a:lstStyle/>
          <a:p>
            <a:pPr marL="173779" indent="-173779" algn="l" defTabSz="695115" rtl="0" eaLnBrk="1" latinLnBrk="0" hangingPunct="1"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概念层类图是 </a:t>
            </a:r>
            <a:r>
              <a:rPr lang="en-US" altLang="zh-CN" sz="16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UML </a:t>
            </a:r>
            <a:r>
              <a:rPr lang="zh-CN" altLang="en-US" sz="16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类图在业务建模阶段的核心表现形式，聚焦于对现实世界 “问题领域” 的概念化，而理解非具体技术实现</a:t>
            </a:r>
            <a:r>
              <a:rPr lang="en-US" altLang="zh-CN" sz="16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;</a:t>
            </a:r>
          </a:p>
          <a:p>
            <a:pPr marL="173779" indent="-173779" algn="l" defTabSz="695115" rtl="0" eaLnBrk="1" latinLnBrk="0" hangingPunct="1"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核心特征是独立于实现语言、开发框架与硬件环境，仅关注 “业务是什么”，不涉及 “系统如何实现”，类名、属性、关系均与业务领域术语高度一致</a:t>
            </a:r>
            <a:r>
              <a:rPr lang="en-US" altLang="zh-CN" sz="16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;</a:t>
            </a:r>
          </a:p>
          <a:p>
            <a:pPr marL="173779" indent="-173779" algn="l" defTabSz="695115" rtl="0" eaLnBrk="1" latinLnBrk="0" hangingPunct="1"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7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概念层类图的核心元素：业务实体</a:t>
            </a:r>
            <a:endParaRPr lang="en-US" altLang="zh-CN" sz="1672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类的在业务建模阶段的版型</a:t>
            </a:r>
            <a:endParaRPr lang="en-US" altLang="zh-CN" sz="152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具有属性和操作，但不涉及技术细节</a:t>
            </a:r>
          </a:p>
        </p:txBody>
      </p:sp>
      <p:sp>
        <p:nvSpPr>
          <p:cNvPr id="10000" name="frame-179">
            <a:extLst>
              <a:ext uri="{FF2B5EF4-FFF2-40B4-BE49-F238E27FC236}">
                <a16:creationId xmlns:a16="http://schemas.microsoft.com/office/drawing/2014/main" id="{4BD0A170-5844-4D75-8E0F-65EA274CEB5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概念层类图</a:t>
            </a:r>
          </a:p>
        </p:txBody>
      </p:sp>
      <p:sp>
        <p:nvSpPr>
          <p:cNvPr id="10001" name="frame-180">
            <a:extLst>
              <a:ext uri="{FF2B5EF4-FFF2-40B4-BE49-F238E27FC236}">
                <a16:creationId xmlns:a16="http://schemas.microsoft.com/office/drawing/2014/main" id="{7D194578-EC50-44DF-A0A7-5D8B54E19CD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81">
            <a:extLst>
              <a:ext uri="{FF2B5EF4-FFF2-40B4-BE49-F238E27FC236}">
                <a16:creationId xmlns:a16="http://schemas.microsoft.com/office/drawing/2014/main" id="{6F86B084-A2FE-4E10-9DB3-C089F3F8763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82">
            <a:extLst>
              <a:ext uri="{FF2B5EF4-FFF2-40B4-BE49-F238E27FC236}">
                <a16:creationId xmlns:a16="http://schemas.microsoft.com/office/drawing/2014/main" id="{077E1F80-DF11-4EA1-8849-A47380247F4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原稿P35　软件开发过程与技术</a:t>
            </a:r>
          </a:p>
        </p:txBody>
      </p:sp>
      <p:sp>
        <p:nvSpPr>
          <p:cNvPr id="10004" name="frame-183">
            <a:extLst>
              <a:ext uri="{FF2B5EF4-FFF2-40B4-BE49-F238E27FC236}">
                <a16:creationId xmlns:a16="http://schemas.microsoft.com/office/drawing/2014/main" id="{7273A580-6FB5-40A4-9EA1-99A19C2E2B8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61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2142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, 示意图&#10;&#10;AI 生成的内容可能不正确。">
            <a:extLst>
              <a:ext uri="{FF2B5EF4-FFF2-40B4-BE49-F238E27FC236}">
                <a16:creationId xmlns:a16="http://schemas.microsoft.com/office/drawing/2014/main" id="{4324CDAD-239B-C708-7FFA-5F3BF7C7F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9" y="1079648"/>
            <a:ext cx="3126431" cy="2076681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B600E35-995D-4A49-0A36-90D6CE442103}"/>
              </a:ext>
            </a:extLst>
          </p:cNvPr>
          <p:cNvSpPr txBox="1"/>
          <p:nvPr/>
        </p:nvSpPr>
        <p:spPr>
          <a:xfrm>
            <a:off x="482321" y="1076325"/>
            <a:ext cx="4680843" cy="53552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67038" tIns="33519" rIns="67038" bIns="33519">
            <a:noAutofit/>
          </a:bodyPr>
          <a:lstStyle/>
          <a:p>
            <a:pPr marL="0" algn="l" defTabSz="670383" rtl="0" eaLnBrk="1" latinLnBrk="0" hangingPunct="1">
              <a:defRPr sz="132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寄信人到达邮局后，购买信封，将信装入信封，写上地址、称重，计算邮资，购买邮票，贴上邮票，邮寄信件，拿走回执。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7CC3C5-BB6C-807B-601E-4D378E2A31B6}"/>
              </a:ext>
            </a:extLst>
          </p:cNvPr>
          <p:cNvSpPr txBox="1"/>
          <p:nvPr/>
        </p:nvSpPr>
        <p:spPr>
          <a:xfrm>
            <a:off x="484751" y="2066113"/>
            <a:ext cx="4680843" cy="53552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67038" tIns="33519" rIns="67038" bIns="33519">
            <a:noAutofit/>
          </a:bodyPr>
          <a:lstStyle/>
          <a:p>
            <a:pPr marL="0" algn="l" defTabSz="670383" rtl="0" eaLnBrk="1" latinLnBrk="0" hangingPunct="1">
              <a:defRPr sz="132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寄信人到达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邮局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后，购买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信封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，将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信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装入信封，写上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地址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、称重，计算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邮资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，购买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邮票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，贴上邮票，邮寄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信件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，拿走</a:t>
            </a:r>
            <a:r>
              <a:rPr lang="zh-CN" altLang="en-US" sz="1320" u="sng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回执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D4D4DC-E461-88A8-80BF-9816CF445C03}"/>
              </a:ext>
            </a:extLst>
          </p:cNvPr>
          <p:cNvSpPr txBox="1"/>
          <p:nvPr/>
        </p:nvSpPr>
        <p:spPr>
          <a:xfrm>
            <a:off x="476250" y="3121481"/>
            <a:ext cx="3225916" cy="10229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67038" tIns="33519" rIns="67038" bIns="33519">
            <a:noAutofit/>
          </a:bodyPr>
          <a:lstStyle/>
          <a:p>
            <a:pPr marL="0" algn="l" defTabSz="670383" rtl="0" eaLnBrk="1" latinLnBrk="0" hangingPunct="1">
              <a:defRPr sz="132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分析候选实体、属性和关系</a:t>
            </a:r>
            <a:endParaRPr lang="en-US" altLang="zh-CN" sz="132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251394" indent="-251394" algn="l" defTabSz="670383" rtl="0" eaLnBrk="1" latinLnBrk="0" hangingPunct="1">
              <a:defRPr sz="132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删掉</a:t>
            </a:r>
            <a:r>
              <a:rPr lang="zh-CN" altLang="en-US" sz="132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邮局</a:t>
            </a: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，与场景结果无关</a:t>
            </a:r>
            <a:endParaRPr lang="en-US" altLang="zh-CN" sz="132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251394" indent="-251394" algn="l" defTabSz="670383" rtl="0" eaLnBrk="1" latinLnBrk="0" hangingPunct="1">
              <a:defRPr sz="132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地址只能通过信封访问作为属性</a:t>
            </a:r>
            <a:endParaRPr lang="en-US" altLang="zh-CN" sz="132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251394" indent="-251394" algn="l" defTabSz="670383" rtl="0" eaLnBrk="1" latinLnBrk="0" hangingPunct="1">
              <a:defRPr sz="132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邮资等于邮票的面额作为属性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5D7367A-FCDE-06B7-66AE-443D85025564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822743" y="1611852"/>
            <a:ext cx="2430" cy="454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AC3BFC4-CC4E-FCAD-765D-E3C56A7D19B8}"/>
              </a:ext>
            </a:extLst>
          </p:cNvPr>
          <p:cNvCxnSpPr>
            <a:stCxn id="11" idx="2"/>
          </p:cNvCxnSpPr>
          <p:nvPr/>
        </p:nvCxnSpPr>
        <p:spPr>
          <a:xfrm>
            <a:off x="2825173" y="2601640"/>
            <a:ext cx="2581" cy="529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6E19C2FB-977B-B718-3DA6-CA7A23359BA7}"/>
              </a:ext>
            </a:extLst>
          </p:cNvPr>
          <p:cNvCxnSpPr>
            <a:stCxn id="13" idx="3"/>
            <a:endCxn id="8" idx="2"/>
          </p:cNvCxnSpPr>
          <p:nvPr/>
        </p:nvCxnSpPr>
        <p:spPr>
          <a:xfrm flipV="1">
            <a:off x="3702166" y="3156329"/>
            <a:ext cx="3402368" cy="4766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816353A-D316-4291-B056-92BC4557FC35}"/>
              </a:ext>
            </a:extLst>
          </p:cNvPr>
          <p:cNvSpPr txBox="1"/>
          <p:nvPr/>
        </p:nvSpPr>
        <p:spPr>
          <a:xfrm>
            <a:off x="4102939" y="4191051"/>
            <a:ext cx="1489246" cy="270772"/>
          </a:xfrm>
          <a:prstGeom prst="rect">
            <a:avLst/>
          </a:prstGeom>
          <a:noFill/>
        </p:spPr>
        <p:txBody>
          <a:bodyPr wrap="none" lIns="67038" tIns="33519" rIns="67038" bIns="33519" rtlCol="0">
            <a:noAutofit/>
          </a:bodyPr>
          <a:lstStyle/>
          <a:p>
            <a:pPr marL="0" algn="l" defTabSz="670383" rtl="0" eaLnBrk="1" latinLnBrk="0" hangingPunct="1">
              <a:defRPr sz="132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2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获取业务实体案例</a:t>
            </a:r>
          </a:p>
        </p:txBody>
      </p:sp>
      <p:sp>
        <p:nvSpPr>
          <p:cNvPr id="10000" name="frame-189">
            <a:extLst>
              <a:ext uri="{FF2B5EF4-FFF2-40B4-BE49-F238E27FC236}">
                <a16:creationId xmlns:a16="http://schemas.microsoft.com/office/drawing/2014/main" id="{90345090-C9FC-4615-9D7E-91110107FC9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概念层视图</a:t>
            </a:r>
          </a:p>
        </p:txBody>
      </p:sp>
      <p:sp>
        <p:nvSpPr>
          <p:cNvPr id="10001" name="frame-190">
            <a:extLst>
              <a:ext uri="{FF2B5EF4-FFF2-40B4-BE49-F238E27FC236}">
                <a16:creationId xmlns:a16="http://schemas.microsoft.com/office/drawing/2014/main" id="{54F0B140-620A-454E-90B1-8515C600750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91">
            <a:extLst>
              <a:ext uri="{FF2B5EF4-FFF2-40B4-BE49-F238E27FC236}">
                <a16:creationId xmlns:a16="http://schemas.microsoft.com/office/drawing/2014/main" id="{05A64A11-0F91-4B2B-850B-2B0A27BA5D8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92">
            <a:extLst>
              <a:ext uri="{FF2B5EF4-FFF2-40B4-BE49-F238E27FC236}">
                <a16:creationId xmlns:a16="http://schemas.microsoft.com/office/drawing/2014/main" id="{74EEA998-BEC9-4509-8617-B9E0FEDB865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原稿P37　软件开发过程与技术</a:t>
            </a:r>
          </a:p>
        </p:txBody>
      </p:sp>
      <p:sp>
        <p:nvSpPr>
          <p:cNvPr id="10004" name="frame-193">
            <a:extLst>
              <a:ext uri="{FF2B5EF4-FFF2-40B4-BE49-F238E27FC236}">
                <a16:creationId xmlns:a16="http://schemas.microsoft.com/office/drawing/2014/main" id="{29D420C3-0AF6-460A-9D28-E7DF1F060F1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62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675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2EE3688-49C2-748E-9EF8-1D4B1A1A5A46}"/>
              </a:ext>
            </a:extLst>
          </p:cNvPr>
          <p:cNvSpPr>
            <a:spLocks noGrp="1"/>
          </p:cNvSpPr>
          <p:nvPr/>
        </p:nvSpPr>
        <p:spPr>
          <a:xfrm>
            <a:off x="695760" y="1076325"/>
            <a:ext cx="7752481" cy="706831"/>
          </a:xfrm>
        </p:spPr>
        <p:txBody>
          <a:bodyPr lIns="67413" tIns="33706" rIns="67413" bIns="33706">
            <a:noAutofit/>
          </a:bodyPr>
          <a:lstStyle/>
          <a:p>
            <a:pPr marL="168532" indent="-168532" algn="l" defTabSz="674129" rtl="0" eaLnBrk="1" latinLnBrk="0" hangingPunct="1">
              <a:lnSpc>
                <a:spcPct val="90000"/>
              </a:lnSpc>
              <a:spcBef>
                <a:spcPts val="737"/>
              </a:spcBef>
              <a:buFont typeface="Noto Sans SC"/>
              <a:buChar char="•"/>
              <a:defRPr sz="206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06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说明层类图位于概念模型阶段，类图以分析类和分析模型图表示</a:t>
            </a:r>
          </a:p>
        </p:txBody>
      </p:sp>
      <p:pic>
        <p:nvPicPr>
          <p:cNvPr id="8" name="图片 7" descr="图示, 示意图&#10;&#10;AI 生成的内容可能不正确。">
            <a:extLst>
              <a:ext uri="{FF2B5EF4-FFF2-40B4-BE49-F238E27FC236}">
                <a16:creationId xmlns:a16="http://schemas.microsoft.com/office/drawing/2014/main" id="{D64D87CC-7BEE-48DF-8FAF-544775EA3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248" y="1561805"/>
            <a:ext cx="5071325" cy="3038770"/>
          </a:xfrm>
          <a:prstGeom prst="rect">
            <a:avLst/>
          </a:prstGeom>
        </p:spPr>
      </p:pic>
      <p:sp>
        <p:nvSpPr>
          <p:cNvPr id="10000" name="frame-194">
            <a:extLst>
              <a:ext uri="{FF2B5EF4-FFF2-40B4-BE49-F238E27FC236}">
                <a16:creationId xmlns:a16="http://schemas.microsoft.com/office/drawing/2014/main" id="{4AFD319D-18FD-49C1-A1F8-811BD0A71F1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说明层类图</a:t>
            </a:r>
          </a:p>
        </p:txBody>
      </p:sp>
      <p:sp>
        <p:nvSpPr>
          <p:cNvPr id="10001" name="frame-195">
            <a:extLst>
              <a:ext uri="{FF2B5EF4-FFF2-40B4-BE49-F238E27FC236}">
                <a16:creationId xmlns:a16="http://schemas.microsoft.com/office/drawing/2014/main" id="{7BD766F2-6FD2-4AE8-83F9-ADEFFEB6204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96">
            <a:extLst>
              <a:ext uri="{FF2B5EF4-FFF2-40B4-BE49-F238E27FC236}">
                <a16:creationId xmlns:a16="http://schemas.microsoft.com/office/drawing/2014/main" id="{80CCB1E3-D468-47DC-8983-353CB7E02358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97">
            <a:extLst>
              <a:ext uri="{FF2B5EF4-FFF2-40B4-BE49-F238E27FC236}">
                <a16:creationId xmlns:a16="http://schemas.microsoft.com/office/drawing/2014/main" id="{59360D61-2876-45CF-AEEE-D6201612E24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原稿P38　软件开发过程与技术</a:t>
            </a:r>
          </a:p>
        </p:txBody>
      </p:sp>
      <p:sp>
        <p:nvSpPr>
          <p:cNvPr id="10004" name="frame-198">
            <a:extLst>
              <a:ext uri="{FF2B5EF4-FFF2-40B4-BE49-F238E27FC236}">
                <a16:creationId xmlns:a16="http://schemas.microsoft.com/office/drawing/2014/main" id="{1B3B367A-40A2-4F1A-8C38-6F6A27C7B36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63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438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0FB61A-15B7-AEE0-D9A6-9D37F36F6557}"/>
              </a:ext>
            </a:extLst>
          </p:cNvPr>
          <p:cNvSpPr>
            <a:spLocks noGrp="1"/>
          </p:cNvSpPr>
          <p:nvPr/>
        </p:nvSpPr>
        <p:spPr>
          <a:xfrm>
            <a:off x="727460" y="1076325"/>
            <a:ext cx="7088411" cy="3524250"/>
          </a:xfrm>
        </p:spPr>
        <p:txBody>
          <a:bodyPr lIns="69512" tIns="34756" rIns="69512" bIns="34756">
            <a:noAutofit/>
          </a:bodyPr>
          <a:lstStyle/>
          <a:p>
            <a:pPr marL="173779" indent="-173779" algn="l" defTabSz="695115" rtl="0" eaLnBrk="1" latinLnBrk="0" hangingPunct="1">
              <a:buFont typeface="Noto Sans SC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说明层类图的核心</a:t>
            </a:r>
            <a:r>
              <a:rPr lang="en-US" altLang="zh-CN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: </a:t>
            </a:r>
            <a:r>
              <a:rPr lang="zh-CN" altLang="en-US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分析类</a:t>
            </a: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分析类用于获取系统中主要的 “职责簇”，代表系统的原型类，是系统必须处理的主要抽象概念的 “第一个关口”</a:t>
            </a:r>
            <a:endParaRPr lang="en-US" altLang="zh-CN" sz="1547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分析类可以产生系统的设计类和子系统，建立了需求到设计之间的桥梁</a:t>
            </a:r>
            <a:endParaRPr lang="en-US" altLang="zh-CN" sz="1547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分析类的三种类型</a:t>
            </a: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695115" lvl="1" indent="-347558" algn="l" defTabSz="695115" rtl="0" eaLnBrk="1" latinLnBrk="0" hangingPunct="1"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边界类</a:t>
            </a:r>
            <a:r>
              <a:rPr lang="en-US" altLang="zh-CN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: </a:t>
            </a:r>
            <a:r>
              <a:rPr lang="zh-CN" altLang="en-US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系统外部环境与内部运作的交互” 建模，是参与者与系统的 “交互接口”</a:t>
            </a:r>
            <a:endParaRPr lang="en-US" altLang="zh-CN" sz="1547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695115" lvl="1" indent="-347558" algn="l" defTabSz="695115" rtl="0" eaLnBrk="1" latinLnBrk="0" hangingPunct="1"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控制类：封装用例特有的控制行为，协调边界类与实体类、实体类与实体类的交互</a:t>
            </a:r>
            <a:endParaRPr lang="en-US" altLang="zh-CN" sz="1547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695115" lvl="1" indent="-347558" algn="l" defTabSz="695115" rtl="0" eaLnBrk="1" latinLnBrk="0" hangingPunct="1"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实体类</a:t>
            </a:r>
            <a:r>
              <a:rPr lang="en-US" altLang="zh-CN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:</a:t>
            </a:r>
            <a:r>
              <a:rPr lang="zh-CN" altLang="en-US" sz="154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对 “需持久化的信息及相关行为” 建模，存储业务核心数据</a:t>
            </a:r>
            <a:endParaRPr lang="en-US" altLang="zh-CN" sz="1547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695115" lvl="1" indent="-347558" algn="l" defTabSz="695115" rtl="0" eaLnBrk="1" latinLnBrk="0" hangingPunct="1"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406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149DE056-2CFE-B244-2952-4E67B770E7F5}"/>
              </a:ext>
            </a:extLst>
          </p:cNvPr>
          <p:cNvGrpSpPr>
            <a:grpSpLocks/>
          </p:cNvGrpSpPr>
          <p:nvPr/>
        </p:nvGrpSpPr>
        <p:grpSpPr bwMode="auto">
          <a:xfrm>
            <a:off x="7972044" y="2686313"/>
            <a:ext cx="444497" cy="308854"/>
            <a:chOff x="2640" y="2352"/>
            <a:chExt cx="672" cy="480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F8163DB3-08C7-388F-831F-1F0A7A4C1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" y="2352"/>
              <a:ext cx="527" cy="480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512" tIns="34756" rIns="69512" bIns="34756" anchor="ctr">
              <a:noAutofit/>
            </a:bodyPr>
            <a:lstStyle/>
            <a:p>
              <a:pPr marL="0" algn="ctr" defTabSz="695115" rtl="0" eaLnBrk="1" latinLnBrk="0" hangingPunct="1">
                <a:buClr>
                  <a:schemeClr val="folHlink"/>
                </a:buClr>
                <a:buSzPct val="60000"/>
                <a:buFont typeface="Noto Sans SC"/>
                <a:buChar char="•"/>
                <a:defRPr sz="1368"/>
              </a:pPr>
              <a:endParaRPr lang="zh-CN" altLang="en-US" sz="1824" b="1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FB5D3B6E-3893-DCFB-EFF1-B4429CF503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2593"/>
              <a:ext cx="145" cy="0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512" tIns="34756" rIns="69512" bIns="34756">
              <a:noAutofit/>
            </a:bodyPr>
            <a:lstStyle/>
            <a:p>
              <a:pPr marL="0" algn="l" defTabSz="695115" rtl="0" eaLnBrk="1" latinLnBrk="0" hangingPunct="1">
                <a:defRPr sz="1368"/>
              </a:pPr>
              <a:endParaRPr lang="zh-CN" altLang="en-US" sz="1368" b="1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75F98263-3AD1-037D-C72A-7D48C8265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496"/>
              <a:ext cx="0" cy="192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512" tIns="34756" rIns="69512" bIns="34756">
              <a:noAutofit/>
            </a:bodyPr>
            <a:lstStyle/>
            <a:p>
              <a:pPr marL="0" algn="l" defTabSz="695115" rtl="0" eaLnBrk="1" latinLnBrk="0" hangingPunct="1">
                <a:defRPr sz="1368"/>
              </a:pPr>
              <a:endParaRPr lang="zh-CN" altLang="en-US" sz="1368" b="1">
                <a:latin typeface="Noto Sans SC"/>
                <a:ea typeface="Noto Sans SC"/>
                <a:cs typeface="Noto Sans SC"/>
              </a:endParaRPr>
            </a:p>
          </p:txBody>
        </p:sp>
      </p:grpSp>
      <p:grpSp>
        <p:nvGrpSpPr>
          <p:cNvPr id="11" name="组合 1">
            <a:extLst>
              <a:ext uri="{FF2B5EF4-FFF2-40B4-BE49-F238E27FC236}">
                <a16:creationId xmlns:a16="http://schemas.microsoft.com/office/drawing/2014/main" id="{377AD55A-B982-84CE-70A0-29EFF148B0CD}"/>
              </a:ext>
            </a:extLst>
          </p:cNvPr>
          <p:cNvGrpSpPr>
            <a:grpSpLocks/>
          </p:cNvGrpSpPr>
          <p:nvPr/>
        </p:nvGrpSpPr>
        <p:grpSpPr bwMode="auto">
          <a:xfrm>
            <a:off x="8000339" y="3828287"/>
            <a:ext cx="378423" cy="364442"/>
            <a:chOff x="1199456" y="2275929"/>
            <a:chExt cx="755650" cy="576263"/>
          </a:xfrm>
        </p:grpSpPr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CF532D37-1212-0108-95B4-F83F0ED5D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706" y="2348954"/>
              <a:ext cx="604838" cy="455613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512" tIns="34756" rIns="69512" bIns="34756" anchor="ctr">
              <a:noAutofit/>
            </a:bodyPr>
            <a:lstStyle/>
            <a:p>
              <a:pPr marL="0" algn="ctr" defTabSz="695115" rtl="0" eaLnBrk="1" latinLnBrk="0" hangingPunct="1">
                <a:buClr>
                  <a:schemeClr val="folHlink"/>
                </a:buClr>
                <a:buSzPct val="60000"/>
                <a:buFont typeface="Noto Sans SC"/>
                <a:buChar char="•"/>
                <a:defRPr sz="1368"/>
              </a:pPr>
              <a:endParaRPr lang="zh-CN" altLang="en-US" sz="1824" b="1">
                <a:latin typeface="Noto Sans SC"/>
                <a:ea typeface="Noto Sans SC"/>
                <a:cs typeface="Noto Sans SC"/>
              </a:endParaRPr>
            </a:p>
          </p:txBody>
        </p:sp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61658953-4207-5556-CB01-C06B3E8F63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9456" y="2275929"/>
              <a:ext cx="755650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1583A092-3ABD-3764-2639-116813A22934}"/>
              </a:ext>
            </a:extLst>
          </p:cNvPr>
          <p:cNvGrpSpPr>
            <a:grpSpLocks/>
          </p:cNvGrpSpPr>
          <p:nvPr/>
        </p:nvGrpSpPr>
        <p:grpSpPr bwMode="auto">
          <a:xfrm>
            <a:off x="8050093" y="3231909"/>
            <a:ext cx="336225" cy="337484"/>
            <a:chOff x="2784" y="3072"/>
            <a:chExt cx="528" cy="528"/>
          </a:xfrm>
        </p:grpSpPr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81E1A60C-3850-D488-DC05-3157FC5D7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120"/>
              <a:ext cx="528" cy="480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512" tIns="34756" rIns="69512" bIns="34756" anchor="ctr">
              <a:noAutofit/>
            </a:bodyPr>
            <a:lstStyle/>
            <a:p>
              <a:pPr marL="0" algn="ctr" defTabSz="695115" rtl="0" eaLnBrk="1" latinLnBrk="0" hangingPunct="1">
                <a:buClr>
                  <a:schemeClr val="folHlink"/>
                </a:buClr>
                <a:buSzPct val="60000"/>
                <a:buFont typeface="Noto Sans SC"/>
                <a:buChar char="•"/>
                <a:defRPr sz="1368"/>
              </a:pPr>
              <a:endParaRPr lang="zh-CN" altLang="en-US" sz="1824" b="1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1FDDF70B-2F26-DB1A-754F-539D504C8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3072"/>
              <a:ext cx="191" cy="48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512" tIns="34756" rIns="69512" bIns="34756">
              <a:noAutofit/>
            </a:bodyPr>
            <a:lstStyle/>
            <a:p>
              <a:pPr marL="0" algn="l" defTabSz="695115" rtl="0" eaLnBrk="1" latinLnBrk="0" hangingPunct="1">
                <a:defRPr sz="1368"/>
              </a:pPr>
              <a:endParaRPr lang="zh-CN" altLang="en-US" sz="1368" b="1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29E9EBC3-CA72-8DDA-4AB0-3FA155A63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120"/>
              <a:ext cx="144" cy="192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512" tIns="34756" rIns="69512" bIns="34756">
              <a:noAutofit/>
            </a:bodyPr>
            <a:lstStyle/>
            <a:p>
              <a:pPr marL="0" algn="l" defTabSz="695115" rtl="0" eaLnBrk="1" latinLnBrk="0" hangingPunct="1">
                <a:defRPr sz="1368"/>
              </a:pPr>
              <a:endParaRPr lang="zh-CN" altLang="en-US" sz="1368" b="1">
                <a:latin typeface="Noto Sans SC"/>
                <a:ea typeface="Noto Sans SC"/>
                <a:cs typeface="Noto Sans SC"/>
              </a:endParaRPr>
            </a:p>
          </p:txBody>
        </p:sp>
      </p:grpSp>
      <p:sp>
        <p:nvSpPr>
          <p:cNvPr id="10000" name="frame-199">
            <a:extLst>
              <a:ext uri="{FF2B5EF4-FFF2-40B4-BE49-F238E27FC236}">
                <a16:creationId xmlns:a16="http://schemas.microsoft.com/office/drawing/2014/main" id="{B33440BF-5B83-41AF-844D-57CF6F79DDF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说明层类图</a:t>
            </a:r>
          </a:p>
        </p:txBody>
      </p:sp>
      <p:sp>
        <p:nvSpPr>
          <p:cNvPr id="10001" name="frame-200">
            <a:extLst>
              <a:ext uri="{FF2B5EF4-FFF2-40B4-BE49-F238E27FC236}">
                <a16:creationId xmlns:a16="http://schemas.microsoft.com/office/drawing/2014/main" id="{424BA566-08E4-4CA2-BF8E-552EE8F5E94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01">
            <a:extLst>
              <a:ext uri="{FF2B5EF4-FFF2-40B4-BE49-F238E27FC236}">
                <a16:creationId xmlns:a16="http://schemas.microsoft.com/office/drawing/2014/main" id="{7E12ED28-EACD-4611-9743-56DF9F7AEB0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02">
            <a:extLst>
              <a:ext uri="{FF2B5EF4-FFF2-40B4-BE49-F238E27FC236}">
                <a16:creationId xmlns:a16="http://schemas.microsoft.com/office/drawing/2014/main" id="{207719BC-82C1-4187-B922-7699B0F6471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原稿P39　软件开发过程与技术</a:t>
            </a:r>
          </a:p>
        </p:txBody>
      </p:sp>
      <p:sp>
        <p:nvSpPr>
          <p:cNvPr id="10004" name="frame-203">
            <a:extLst>
              <a:ext uri="{FF2B5EF4-FFF2-40B4-BE49-F238E27FC236}">
                <a16:creationId xmlns:a16="http://schemas.microsoft.com/office/drawing/2014/main" id="{C81EB952-B397-451B-9902-C79143473F1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64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89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3A0C21-D36E-62BA-C7F6-6A7102FB6DE0}"/>
              </a:ext>
            </a:extLst>
          </p:cNvPr>
          <p:cNvSpPr>
            <a:spLocks noGrp="1"/>
          </p:cNvSpPr>
          <p:nvPr/>
        </p:nvSpPr>
        <p:spPr>
          <a:xfrm>
            <a:off x="710422" y="1076325"/>
            <a:ext cx="3643057" cy="3524250"/>
          </a:xfrm>
        </p:spPr>
        <p:txBody>
          <a:bodyPr lIns="69512" tIns="34756" rIns="69512" bIns="34756">
            <a:noAutofit/>
          </a:bodyPr>
          <a:lstStyle/>
          <a:p>
            <a:pPr marL="173779" indent="-173779" algn="l" defTabSz="695115" rtl="0" eaLnBrk="1" latinLnBrk="0" hangingPunct="1">
              <a:spcBef>
                <a:spcPts val="760"/>
              </a:spcBef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实现层类图位于设计阶段，是最为熟悉的类图</a:t>
            </a:r>
            <a:endParaRPr lang="en-US" altLang="zh-CN" sz="182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spcBef>
                <a:spcPts val="760"/>
              </a:spcBef>
              <a:buFont typeface="Noto Sans SC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必须明确类如何实现</a:t>
            </a:r>
            <a:endParaRPr lang="en-US" altLang="zh-CN" sz="182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spcBef>
                <a:spcPts val="380"/>
              </a:spcBef>
              <a:buFont typeface="Noto Sans SC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实现语言，设计模式、遵循规范</a:t>
            </a:r>
          </a:p>
        </p:txBody>
      </p:sp>
      <p:pic>
        <p:nvPicPr>
          <p:cNvPr id="7" name="Grafik 1">
            <a:extLst>
              <a:ext uri="{FF2B5EF4-FFF2-40B4-BE49-F238E27FC236}">
                <a16:creationId xmlns:a16="http://schemas.microsoft.com/office/drawing/2014/main" id="{7A46FC95-2414-215B-0D80-65395E9F9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040" y="1132713"/>
            <a:ext cx="3392538" cy="3459342"/>
          </a:xfrm>
          <a:prstGeom prst="rect">
            <a:avLst/>
          </a:prstGeom>
        </p:spPr>
      </p:pic>
      <p:sp>
        <p:nvSpPr>
          <p:cNvPr id="10000" name="frame-204">
            <a:extLst>
              <a:ext uri="{FF2B5EF4-FFF2-40B4-BE49-F238E27FC236}">
                <a16:creationId xmlns:a16="http://schemas.microsoft.com/office/drawing/2014/main" id="{667BE244-C035-4E07-9306-9CB4FE39FC4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实现层类图</a:t>
            </a:r>
          </a:p>
        </p:txBody>
      </p:sp>
      <p:sp>
        <p:nvSpPr>
          <p:cNvPr id="10001" name="frame-205">
            <a:extLst>
              <a:ext uri="{FF2B5EF4-FFF2-40B4-BE49-F238E27FC236}">
                <a16:creationId xmlns:a16="http://schemas.microsoft.com/office/drawing/2014/main" id="{E0C6E437-35F5-4D61-9F14-92C7446EF5F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06">
            <a:extLst>
              <a:ext uri="{FF2B5EF4-FFF2-40B4-BE49-F238E27FC236}">
                <a16:creationId xmlns:a16="http://schemas.microsoft.com/office/drawing/2014/main" id="{F0C77B47-BCAE-4416-A6B5-1F220548A71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07">
            <a:extLst>
              <a:ext uri="{FF2B5EF4-FFF2-40B4-BE49-F238E27FC236}">
                <a16:creationId xmlns:a16="http://schemas.microsoft.com/office/drawing/2014/main" id="{5C35BD1A-AEAB-4F3E-A0A3-B4599D8F6F72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附录 · 原稿P40　软件开发过程与技术</a:t>
            </a:r>
          </a:p>
        </p:txBody>
      </p:sp>
      <p:sp>
        <p:nvSpPr>
          <p:cNvPr id="10004" name="frame-208">
            <a:extLst>
              <a:ext uri="{FF2B5EF4-FFF2-40B4-BE49-F238E27FC236}">
                <a16:creationId xmlns:a16="http://schemas.microsoft.com/office/drawing/2014/main" id="{2E7CA9F8-11E1-4BFA-96F1-877C4209B6D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65 / 66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927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244">
            <a:extLst>
              <a:ext uri="{FF2B5EF4-FFF2-40B4-BE49-F238E27FC236}">
                <a16:creationId xmlns:a16="http://schemas.microsoft.com/office/drawing/2014/main" id="{49655357-278B-4EA3-AA1D-98E1993E691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参考资料 / References</a:t>
            </a:r>
          </a:p>
        </p:txBody>
      </p:sp>
      <p:sp>
        <p:nvSpPr>
          <p:cNvPr id="2" name="frame-245">
            <a:extLst>
              <a:ext uri="{FF2B5EF4-FFF2-40B4-BE49-F238E27FC236}">
                <a16:creationId xmlns:a16="http://schemas.microsoft.com/office/drawing/2014/main" id="{F57B6E38-8E51-435E-BC3A-CC53837F035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46">
            <a:extLst>
              <a:ext uri="{FF2B5EF4-FFF2-40B4-BE49-F238E27FC236}">
                <a16:creationId xmlns:a16="http://schemas.microsoft.com/office/drawing/2014/main" id="{65D4C572-1B62-44D5-A6A8-9A8F18CBF57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FA11D5C0-EB4B-4462-A13C-0F5A872BF57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65795553-E2CA-4AA1-AAAB-106EF434830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Ch2.3  66 / 66</a:t>
            </a:r>
          </a:p>
        </p:txBody>
      </p:sp>
      <p:sp>
        <p:nvSpPr>
          <p:cNvPr id="6" name="content-247">
            <a:extLst>
              <a:ext uri="{FF2B5EF4-FFF2-40B4-BE49-F238E27FC236}">
                <a16:creationId xmlns:a16="http://schemas.microsoft.com/office/drawing/2014/main" id="{EDE1A0CE-E802-4F5D-8008-8DB7D7A8A54A}"/>
              </a:ext>
            </a:extLst>
          </p:cNvPr>
          <p:cNvSpPr>
            <a:spLocks noGrp="1"/>
          </p:cNvSpPr>
          <p:nvPr/>
        </p:nvSpPr>
        <p:spPr>
          <a:xfrm>
            <a:off x="495300" y="11811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课程资料</a:t>
            </a:r>
          </a:p>
        </p:txBody>
      </p:sp>
      <p:sp>
        <p:nvSpPr>
          <p:cNvPr id="7" name="content-248">
            <a:extLst>
              <a:ext uri="{FF2B5EF4-FFF2-40B4-BE49-F238E27FC236}">
                <a16:creationId xmlns:a16="http://schemas.microsoft.com/office/drawing/2014/main" id="{AEC0CAAF-6FB5-4C83-9BDC-6550625B12F0}"/>
              </a:ext>
            </a:extLst>
          </p:cNvPr>
          <p:cNvSpPr>
            <a:spLocks noGrp="1"/>
          </p:cNvSpPr>
          <p:nvPr/>
        </p:nvSpPr>
        <p:spPr>
          <a:xfrm>
            <a:off x="2276475" y="118110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孙海英老师：《软件工程实践》Ch2.3 UML基础：类图</a:t>
            </a:r>
          </a:p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苏亭老师：软件工程课程教学资料（本课程共同参考）</a:t>
            </a:r>
          </a:p>
        </p:txBody>
      </p:sp>
      <p:sp>
        <p:nvSpPr>
          <p:cNvPr id="8" name="frame-249">
            <a:extLst>
              <a:ext uri="{FF2B5EF4-FFF2-40B4-BE49-F238E27FC236}">
                <a16:creationId xmlns:a16="http://schemas.microsoft.com/office/drawing/2014/main" id="{F351081A-7350-4548-9271-E5955FBD366A}"/>
              </a:ext>
            </a:extLst>
          </p:cNvPr>
          <p:cNvSpPr>
            <a:spLocks noGrp="1"/>
          </p:cNvSpPr>
          <p:nvPr/>
        </p:nvSpPr>
        <p:spPr>
          <a:xfrm>
            <a:off x="476250" y="19812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50">
            <a:extLst>
              <a:ext uri="{FF2B5EF4-FFF2-40B4-BE49-F238E27FC236}">
                <a16:creationId xmlns:a16="http://schemas.microsoft.com/office/drawing/2014/main" id="{B50E605A-7D6F-43F7-8177-0D065F78BA86}"/>
              </a:ext>
            </a:extLst>
          </p:cNvPr>
          <p:cNvSpPr>
            <a:spLocks noGrp="1"/>
          </p:cNvSpPr>
          <p:nvPr/>
        </p:nvSpPr>
        <p:spPr>
          <a:xfrm>
            <a:off x="495300" y="20097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语义核对</a:t>
            </a:r>
          </a:p>
        </p:txBody>
      </p:sp>
      <p:sp>
        <p:nvSpPr>
          <p:cNvPr id="10" name="content-251">
            <a:extLst>
              <a:ext uri="{FF2B5EF4-FFF2-40B4-BE49-F238E27FC236}">
                <a16:creationId xmlns:a16="http://schemas.microsoft.com/office/drawing/2014/main" id="{7963AE74-E83E-461B-BB5A-F62C73189102}"/>
              </a:ext>
            </a:extLst>
          </p:cNvPr>
          <p:cNvSpPr>
            <a:spLocks noGrp="1"/>
          </p:cNvSpPr>
          <p:nvPr/>
        </p:nvSpPr>
        <p:spPr>
          <a:xfrm>
            <a:off x="2276475" y="20097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OMG Unified Modeling Language 2.5.1</a:t>
            </a:r>
          </a:p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www.omg.org/spec/UML/2.5.1</a:t>
            </a:r>
          </a:p>
        </p:txBody>
      </p:sp>
      <p:sp>
        <p:nvSpPr>
          <p:cNvPr id="11" name="frame-252">
            <a:extLst>
              <a:ext uri="{FF2B5EF4-FFF2-40B4-BE49-F238E27FC236}">
                <a16:creationId xmlns:a16="http://schemas.microsoft.com/office/drawing/2014/main" id="{88145F7C-F3A5-44AC-8B75-8A9AF8D94F29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53">
            <a:extLst>
              <a:ext uri="{FF2B5EF4-FFF2-40B4-BE49-F238E27FC236}">
                <a16:creationId xmlns:a16="http://schemas.microsoft.com/office/drawing/2014/main" id="{20867A80-C045-4AF5-B493-ECCB248FEDF7}"/>
              </a:ext>
            </a:extLst>
          </p:cNvPr>
          <p:cNvSpPr>
            <a:spLocks noGrp="1"/>
          </p:cNvSpPr>
          <p:nvPr/>
        </p:nvSpPr>
        <p:spPr>
          <a:xfrm>
            <a:off x="495300" y="28384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图形表达</a:t>
            </a:r>
          </a:p>
        </p:txBody>
      </p:sp>
      <p:sp>
        <p:nvSpPr>
          <p:cNvPr id="13" name="content-254">
            <a:extLst>
              <a:ext uri="{FF2B5EF4-FFF2-40B4-BE49-F238E27FC236}">
                <a16:creationId xmlns:a16="http://schemas.microsoft.com/office/drawing/2014/main" id="{E6C2BA85-0A3C-41A4-B804-928525D71DA9}"/>
              </a:ext>
            </a:extLst>
          </p:cNvPr>
          <p:cNvSpPr>
            <a:spLocks noGrp="1"/>
          </p:cNvSpPr>
          <p:nvPr/>
        </p:nvSpPr>
        <p:spPr>
          <a:xfrm>
            <a:off x="2276475" y="2838450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PlantUML Class Diagram文档</a:t>
            </a:r>
          </a:p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plantuml.com/class-diagram</a:t>
            </a:r>
          </a:p>
        </p:txBody>
      </p:sp>
      <p:sp>
        <p:nvSpPr>
          <p:cNvPr id="14" name="frame-255">
            <a:extLst>
              <a:ext uri="{FF2B5EF4-FFF2-40B4-BE49-F238E27FC236}">
                <a16:creationId xmlns:a16="http://schemas.microsoft.com/office/drawing/2014/main" id="{871A759D-F0C9-4CA9-8DD2-9C2DE22F48CE}"/>
              </a:ext>
            </a:extLst>
          </p:cNvPr>
          <p:cNvSpPr>
            <a:spLocks noGrp="1"/>
          </p:cNvSpPr>
          <p:nvPr/>
        </p:nvSpPr>
        <p:spPr>
          <a:xfrm>
            <a:off x="476250" y="36385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56">
            <a:extLst>
              <a:ext uri="{FF2B5EF4-FFF2-40B4-BE49-F238E27FC236}">
                <a16:creationId xmlns:a16="http://schemas.microsoft.com/office/drawing/2014/main" id="{C3679A84-FC67-4C8F-ADAD-507AF634A4B4}"/>
              </a:ext>
            </a:extLst>
          </p:cNvPr>
          <p:cNvSpPr>
            <a:spLocks noGrp="1"/>
          </p:cNvSpPr>
          <p:nvPr/>
        </p:nvSpPr>
        <p:spPr>
          <a:xfrm>
            <a:off x="495300" y="36671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教学组织</a:t>
            </a:r>
          </a:p>
        </p:txBody>
      </p:sp>
      <p:sp>
        <p:nvSpPr>
          <p:cNvPr id="16" name="content-257">
            <a:extLst>
              <a:ext uri="{FF2B5EF4-FFF2-40B4-BE49-F238E27FC236}">
                <a16:creationId xmlns:a16="http://schemas.microsoft.com/office/drawing/2014/main" id="{2C7C2316-2893-44CE-9EB3-0DDE7DCA07BE}"/>
              </a:ext>
            </a:extLst>
          </p:cNvPr>
          <p:cNvSpPr>
            <a:spLocks noGrp="1"/>
          </p:cNvSpPr>
          <p:nvPr/>
        </p:nvSpPr>
        <p:spPr>
          <a:xfrm>
            <a:off x="2276475" y="366712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IES：Organizing Instruction and Study to Improve Student Learning</a:t>
            </a:r>
          </a:p>
          <a:p>
            <a:pPr algn="l">
              <a:def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ies.ed.gov/ncee/wwc/PracticeGuide/1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1A1A1A"/>
      </a:dk1>
      <a:lt1>
        <a:sysClr val="window" lastClr="FFFFFF"/>
      </a:lt1>
      <a:dk2>
        <a:srgbClr val="1F2A44"/>
      </a:dk2>
      <a:lt2>
        <a:srgbClr val="E8E8E8"/>
      </a:lt2>
      <a:accent1>
        <a:srgbClr val="1F2A44"/>
      </a:accent1>
      <a:accent2>
        <a:srgbClr val="A41F35"/>
      </a:accent2>
      <a:accent3>
        <a:srgbClr val="32634F"/>
      </a:accent3>
      <a:accent4>
        <a:srgbClr val="5C7A9C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Noto Sans SC" panose="020F050202020403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</a:majorFont>
      <a:minorFont>
        <a:latin typeface="Noto Sans SC" panose="020F050202020403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10513</Words>
  <Application>Microsoft Macintosh PowerPoint</Application>
  <DocSecurity>0</DocSecurity>
  <PresentationFormat>On-screen Show (16:9)</PresentationFormat>
  <Paragraphs>1531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Noto Sans SC</vt:lpstr>
      <vt:lpstr>Noto Serif SC Bold</vt:lpstr>
      <vt:lpstr>Arial</vt:lpstr>
      <vt:lpstr>Calibri</vt:lpstr>
      <vt:lpstr>Wingdings</vt:lpstr>
      <vt:lpstr>Office Theme</vt:lpstr>
      <vt:lpstr>Office Theme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 肖</cp:lastModifiedBy>
  <cp:revision>6</cp:revision>
  <dcterms:created xsi:type="dcterms:W3CDTF">2026-10-07T10:37:14Z</dcterms:created>
  <dcterms:modified xsi:type="dcterms:W3CDTF">2026-10-08T01:31:02Z</dcterms:modified>
</cp:coreProperties>
</file>