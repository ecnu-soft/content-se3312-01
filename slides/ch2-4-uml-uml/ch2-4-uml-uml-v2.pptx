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8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283" r:id="rId80"/>
  </p:sldIdLst>
  <p:sldSz cx="9144000" cy="5143500" type="screen16x9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58"/>
  </p:normalViewPr>
  <p:slideViewPr>
    <p:cSldViewPr snapToGrid="0" snapToObjects="1">
      <p:cViewPr varScale="1">
        <p:scale>
          <a:sx n="184" d="100"/>
          <a:sy n="184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theme" Target="theme/theme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61" Type="http://schemas.openxmlformats.org/officeDocument/2006/relationships/slide" Target="slides/slide59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学习目标</a:t>
            </a:r>
            <a:r>
              <a:rPr dirty="0"/>
              <a:t>】</a:t>
            </a:r>
          </a:p>
          <a:p>
            <a:r>
              <a:rPr dirty="0" err="1"/>
              <a:t>建立预期：用同一个选课案例学习行为建模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讲解与活动</a:t>
            </a:r>
            <a:r>
              <a:rPr dirty="0"/>
              <a:t>】</a:t>
            </a:r>
          </a:p>
          <a:p>
            <a:r>
              <a:rPr dirty="0" err="1"/>
              <a:t>说明本章主要学习活动图、顺序图和状态机图。准备纸笔用于读图和画图，不要求单次课完成整章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检查问题</a:t>
            </a:r>
            <a:r>
              <a:rPr dirty="0"/>
              <a:t>】</a:t>
            </a:r>
          </a:p>
          <a:p>
            <a:r>
              <a:rPr dirty="0" err="1"/>
              <a:t>类图之后，还需要回答哪些行为问题</a:t>
            </a:r>
            <a:r>
              <a:rPr dirty="0"/>
              <a:t>？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参考回答</a:t>
            </a:r>
            <a:r>
              <a:rPr dirty="0"/>
              <a:t>】</a:t>
            </a:r>
          </a:p>
          <a:p>
            <a:r>
              <a:rPr dirty="0" err="1"/>
              <a:t>例如无余量时执行什么、谁调用谁、记录怎样改变状态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继续条件</a:t>
            </a:r>
            <a:r>
              <a:rPr dirty="0"/>
              <a:t>】</a:t>
            </a:r>
          </a:p>
          <a:p>
            <a:r>
              <a:rPr dirty="0" err="1"/>
              <a:t>知道本章需要解释行为，而非记忆全部符号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未达标时</a:t>
            </a:r>
            <a:r>
              <a:rPr dirty="0"/>
              <a:t>】</a:t>
            </a:r>
          </a:p>
          <a:p>
            <a:r>
              <a:rPr dirty="0" err="1"/>
              <a:t>直接引用一次熟悉的选课结果，进入回顾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依据与边界</a:t>
            </a:r>
            <a:r>
              <a:rPr dirty="0"/>
              <a:t>】</a:t>
            </a:r>
          </a:p>
          <a:p>
            <a:r>
              <a:rPr dirty="0"/>
              <a:t>本项目Ch2.3教学修订v3；原稿课程范围。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建议用时</a:t>
            </a:r>
            <a:r>
              <a:rPr dirty="0"/>
              <a:t>】</a:t>
            </a:r>
          </a:p>
          <a:p>
            <a:r>
              <a:rPr dirty="0"/>
              <a:t>1分钟，可依据学生回答调整或分课次完成。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G0：回顾对象、信息归属、关联与额外约束。</a:t>
            </a:r>
          </a:p>
          <a:p>
            <a:endParaRPr/>
          </a:p>
          <a:p>
            <a:r>
              <a:t>【讲解与活动】</a:t>
            </a:r>
          </a:p>
          <a:p>
            <a:r>
              <a:t>回顾Ch2.3的对象、属性、关联与配对唯一约束。指向一条e:Enrollment，让学生说明它属于谁、对应哪个开课班。回顾图保持原有结构；本章随后补充状态含义，不把status说成上一章已经给出的属性。</a:t>
            </a:r>
          </a:p>
          <a:p>
            <a:endParaRPr/>
          </a:p>
          <a:p>
            <a:r>
              <a:t>【检查问题】</a:t>
            </a:r>
          </a:p>
          <a:p>
            <a:r>
              <a:t>两个1是否自动保证同一学生同一班最多一条记录？</a:t>
            </a:r>
          </a:p>
          <a:p>
            <a:endParaRPr/>
          </a:p>
          <a:p>
            <a:r>
              <a:t>【参考回答】</a:t>
            </a:r>
          </a:p>
          <a:p>
            <a:r>
              <a:t>不能，配对唯一是额外业务约束。grade属于具体记录。</a:t>
            </a:r>
          </a:p>
          <a:p>
            <a:endParaRPr/>
          </a:p>
          <a:p>
            <a:r>
              <a:t>【继续条件】</a:t>
            </a:r>
          </a:p>
          <a:p>
            <a:r>
              <a:t>能够读出记录两端并说出唯一约束。</a:t>
            </a:r>
          </a:p>
          <a:p>
            <a:endParaRPr/>
          </a:p>
          <a:p>
            <a:r>
              <a:t>【未达标时】</a:t>
            </a:r>
          </a:p>
          <a:p>
            <a:r>
              <a:t>用两张不同记录卡连接同一对学生和班，复查上一章反例。</a:t>
            </a:r>
          </a:p>
          <a:p>
            <a:endParaRPr/>
          </a:p>
          <a:p>
            <a:r>
              <a:t>【依据与边界】</a:t>
            </a:r>
          </a:p>
          <a:p>
            <a:r>
              <a:t>Ch2.3教学修订v3 P25；OMG 11.4、11.5。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3分钟，可依据学生回答调整或分课次完成。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G0：发现静态结构没有展开的行为问题。</a:t>
            </a:r>
          </a:p>
          <a:p>
            <a:endParaRPr/>
          </a:p>
          <a:p>
            <a:r>
              <a:t>【讲解与活动】</a:t>
            </a:r>
          </a:p>
          <a:p>
            <a:r>
              <a:t>先让学生个人写一句答案，口头归纳动作、消息和状态三个角度，不提前显示P4。这里是已有记录的处理阶段，创建过程暂不讨论。</a:t>
            </a:r>
          </a:p>
          <a:p>
            <a:endParaRPr/>
          </a:p>
          <a:p>
            <a:r>
              <a:t>【检查问题】</a:t>
            </a:r>
          </a:p>
          <a:p>
            <a:r>
              <a:t>类图中的关联线，是否表示执行动作的先后顺序？</a:t>
            </a:r>
          </a:p>
          <a:p>
            <a:endParaRPr/>
          </a:p>
          <a:p>
            <a:r>
              <a:t>【参考回答】</a:t>
            </a:r>
          </a:p>
          <a:p>
            <a:r>
              <a:t>关联线不表示动作的执行顺序。类图可以列出操作，操作之间如何调用、何时改变状态仍需行为模型说明。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学生能提出至少一个行为问题，并与类之间的静态联系区分。</a:t>
            </a:r>
          </a:p>
          <a:p>
            <a:endParaRPr/>
          </a:p>
          <a:p>
            <a:r>
              <a:t>【未达标时】</a:t>
            </a:r>
          </a:p>
          <a:p>
            <a:r>
              <a:t>对照“谁选哪个班”与“无余量后怎么办”，再提问。</a:t>
            </a:r>
          </a:p>
          <a:p>
            <a:endParaRPr/>
          </a:p>
          <a:p>
            <a:r>
              <a:t>【依据与边界】</a:t>
            </a:r>
          </a:p>
          <a:p>
            <a:r>
              <a:t>Ch2.3与本章衔接；原稿P3、P12、P30的建模目的。</a:t>
            </a:r>
          </a:p>
          <a:p>
            <a:endParaRPr/>
          </a:p>
          <a:p>
            <a:r>
              <a:t>【建议用时】</a:t>
            </a:r>
          </a:p>
          <a:p>
            <a:r>
              <a:t>2分钟，可依据学生回答调整或分课次完成。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G0：把问题与建模视角对应。</a:t>
            </a:r>
          </a:p>
          <a:p>
            <a:endParaRPr/>
          </a:p>
          <a:p>
            <a:r>
              <a:t>【讲解与活动】</a:t>
            </a:r>
          </a:p>
          <a:p>
            <a:r>
              <a:t>用本案例说明三种视角，不将表格讲成图的完整定义或互斥使用范围。活动图还可含对象流、并发和分区；顺序图也可有分支；本章状态机图聚焦e，复杂行为的建模范围不限于这三个状态。本章沿用“状态图”作为“状态机图”的简称。</a:t>
            </a:r>
          </a:p>
          <a:p>
            <a:endParaRPr/>
          </a:p>
          <a:p>
            <a:r>
              <a:t>【检查问题】</a:t>
            </a:r>
          </a:p>
          <a:p>
            <a:r>
              <a:t>如果要分析“界面调用哪个对象处理记录”，首先查看哪类图？</a:t>
            </a:r>
          </a:p>
          <a:p>
            <a:endParaRPr/>
          </a:p>
          <a:p>
            <a:r>
              <a:t>【参考回答】</a:t>
            </a:r>
          </a:p>
          <a:p>
            <a:r>
              <a:t>顺序图，因为问题强调参与者之间的消息。</a:t>
            </a:r>
          </a:p>
          <a:p>
            <a:endParaRPr/>
          </a:p>
          <a:p>
            <a:r>
              <a:t>【继续条件】</a:t>
            </a:r>
          </a:p>
          <a:p>
            <a:r>
              <a:t>能选图并说明关注点，而不是只报图名。</a:t>
            </a:r>
          </a:p>
          <a:p>
            <a:endParaRPr/>
          </a:p>
          <a:p>
            <a:r>
              <a:t>【未达标时】</a:t>
            </a:r>
          </a:p>
          <a:p>
            <a:r>
              <a:t>回到问题中的动词，区分动作次序、消息传递和单对象响应。</a:t>
            </a:r>
          </a:p>
          <a:p>
            <a:endParaRPr/>
          </a:p>
          <a:p>
            <a:r>
              <a:t>【依据与边界】</a:t>
            </a:r>
          </a:p>
          <a:p>
            <a:r>
              <a:t>原稿P3、P12、P30、P53；OMG第14、15、17章。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3分钟，可依据学生回答调整或分课次完成。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G0：明确后续三种图共用的边界和规则。</a:t>
            </a:r>
          </a:p>
          <a:p>
            <a:endParaRPr/>
          </a:p>
          <a:p>
            <a:r>
              <a:t>【讲解与活动】</a:t>
            </a:r>
          </a:p>
          <a:p>
            <a:r>
              <a:t>这是显式教学设定，不是学校真实业务的规定。沿用Ch2.3的Enrollment及配对唯一，本章为同一记录补充status状态含义。拒绝保留该记录用于保存结果，不产生第二条同配对记录；有效选课只统计已确认记录。只处理一条记录，假设处理期间余量无其他请求干扰，创建、库存扣减、事务等细节省略。 本例状态守卫与服务使用同一处理期间稳定的余量值，如何取得或传递该值属于从略的设计细节。P8–9另设成绩判定练习，P15–16另设成绩查询练习；它们复用Enrollment的grade概念，不改变本例的选课处理状态或配对唯一约束。</a:t>
            </a:r>
          </a:p>
          <a:p>
            <a:endParaRPr/>
          </a:p>
          <a:p>
            <a:r>
              <a:t>【检查问题】</a:t>
            </a:r>
          </a:p>
          <a:p>
            <a:r>
              <a:t>无余量时要新建一条“拒绝记录”吗？</a:t>
            </a:r>
          </a:p>
          <a:p>
            <a:endParaRPr/>
          </a:p>
          <a:p>
            <a:r>
              <a:t>【参考回答】</a:t>
            </a:r>
          </a:p>
          <a:p>
            <a:r>
              <a:t>本例不新建，处理并保留原有e。如何重新申请、如何退选需另确认规则。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学生能说出本例输入、两种结果和未覆盖的范围。</a:t>
            </a:r>
          </a:p>
          <a:p>
            <a:endParaRPr/>
          </a:p>
          <a:p>
            <a:r>
              <a:t>【未达标时】</a:t>
            </a:r>
          </a:p>
          <a:p>
            <a:r>
              <a:t>用e的一张纸卡翻转“待处理／已确认／已拒绝”，说明始终是同一对象。</a:t>
            </a:r>
          </a:p>
          <a:p>
            <a:endParaRPr/>
          </a:p>
          <a:p>
            <a:r>
              <a:t>【依据与边界】</a:t>
            </a:r>
          </a:p>
          <a:p>
            <a:r>
              <a:t>前版Ch2.4 P3的有余量确认／无余量拒绝；本次与Ch2.3一致的课堂约定。新增status与记录已存在属于教学假设。</a:t>
            </a:r>
          </a:p>
          <a:p>
            <a:endParaRPr/>
          </a:p>
          <a:p>
            <a:r>
              <a:t>【建议用时】</a:t>
            </a:r>
          </a:p>
          <a:p>
            <a:r>
              <a:t>3分钟，可依据学生回答调整或分课次完成。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G1：读出一条简单活动路径。</a:t>
            </a:r>
          </a:p>
          <a:p>
            <a:endParaRPr/>
          </a:p>
          <a:p>
            <a:r>
              <a:t>【讲解与活动】</a:t>
            </a:r>
          </a:p>
          <a:p>
            <a:r>
              <a:t>本页只展开一次成功处理。圆角框表示动作，连接箭头为控制流，黑点为初始节点，靶心符号为活动终止节点。活动由节点与边组织而成，不能把一个动作框泛称为整个活动。活动终止节点终止本次活动执行，不是删除选课记录的指令。活动流终止与活动终止的区别放到查阅区。</a:t>
            </a:r>
          </a:p>
          <a:p>
            <a:endParaRPr/>
          </a:p>
          <a:p>
            <a:r>
              <a:t>【检查问题】</a:t>
            </a:r>
          </a:p>
          <a:p>
            <a:r>
              <a:t>显示结果之后的终止节点，会删除e吗？</a:t>
            </a:r>
          </a:p>
          <a:p>
            <a:endParaRPr/>
          </a:p>
          <a:p>
            <a:r>
              <a:t>【参考回答】</a:t>
            </a:r>
          </a:p>
          <a:p>
            <a:r>
              <a:t>不会。它结束本次活动的执行，记录仍保留。</a:t>
            </a:r>
          </a:p>
          <a:p>
            <a:endParaRPr/>
          </a:p>
          <a:p>
            <a:r>
              <a:t>【继续条件】</a:t>
            </a:r>
          </a:p>
          <a:p>
            <a:r>
              <a:t>能从起点读至终点，并区分动作与对象。</a:t>
            </a:r>
          </a:p>
          <a:p>
            <a:endParaRPr/>
          </a:p>
          <a:p>
            <a:r>
              <a:t>【未达标时】</a:t>
            </a:r>
          </a:p>
          <a:p>
            <a:r>
              <a:t>指认框内动词，问“发生什么动作”，不要把框读成Student等类。</a:t>
            </a:r>
          </a:p>
          <a:p>
            <a:endParaRPr/>
          </a:p>
          <a:p>
            <a:r>
              <a:t>【依据与边界】</a:t>
            </a:r>
          </a:p>
          <a:p>
            <a:r>
              <a:t>原稿P3–5；OMG 15.3、16章；本例成功场景。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3分钟，可依据学生回答调整或分课次完成。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G1：根据守卫条件选择路径，认识合并节点。</a:t>
            </a:r>
          </a:p>
          <a:p>
            <a:endParaRPr/>
          </a:p>
          <a:p>
            <a:r>
              <a:t>【讲解与活动】</a:t>
            </a:r>
          </a:p>
          <a:p>
            <a:r>
              <a:t>将本页作为选课流程的示范。指认上方判定节点、分支上的守卫、下方合并节点。对余量为2和0分别追踪一遍。下方合并不等待所有分支同时到达；需要同步的场景另用汇合节点。不要把本例条件互斥说成UML语法强制要求。下一页用成绩情境检查学生能否迁移应用。</a:t>
            </a:r>
          </a:p>
          <a:p>
            <a:endParaRPr/>
          </a:p>
          <a:p>
            <a:r>
              <a:t>【检查问题】</a:t>
            </a:r>
          </a:p>
          <a:p>
            <a:r>
              <a:t>一次处理是否需要两条分支都完成，才能显示结果？</a:t>
            </a:r>
          </a:p>
          <a:p>
            <a:endParaRPr/>
          </a:p>
          <a:p>
            <a:r>
              <a:t>【参考回答】</a:t>
            </a:r>
          </a:p>
          <a:p>
            <a:r>
              <a:t>不需要，本例一次走一条分支。下方是合并节点，不是等待两路完成的同步节点。</a:t>
            </a:r>
          </a:p>
          <a:p>
            <a:endParaRPr/>
          </a:p>
          <a:p>
            <a:r>
              <a:t>【继续条件】</a:t>
            </a:r>
          </a:p>
          <a:p>
            <a:r>
              <a:t>能说明确认与拒绝为何择一，并解释下方合并的作用。</a:t>
            </a:r>
          </a:p>
          <a:p>
            <a:endParaRPr/>
          </a:p>
          <a:p>
            <a:r>
              <a:t>【未达标时】</a:t>
            </a:r>
          </a:p>
          <a:p>
            <a:r>
              <a:t>假设余量为0，只用手指追踪实际走的一路，忽略另一路。</a:t>
            </a:r>
          </a:p>
          <a:p>
            <a:endParaRPr/>
          </a:p>
          <a:p>
            <a:r>
              <a:t>【依据与边界】</a:t>
            </a:r>
          </a:p>
          <a:p>
            <a:r>
              <a:t>原稿P6；OMG 15.3.3.6 DecisionNode、15.3 MergeNode；本例条件。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4分钟，可依据学生回答调整或分课次完成。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G1：将判定与合并用于新情境，并检查边界值。</a:t>
            </a:r>
          </a:p>
          <a:p>
            <a:endParaRPr/>
          </a:p>
          <a:p>
            <a:r>
              <a:t>【讲解与活动】</a:t>
            </a:r>
          </a:p>
          <a:p>
            <a:r>
              <a:t>本题迁移到选课系统中的成绩判定，所用记录已录入grade，与P5待处理记录的处理阶段分开阅读。及格线60是练习约定。grade已存在，不讨论空值、缺考或非法分数。左侧为不及格分支，右侧为及格分支，不能照抄P7的左右顺序。A、B是题目占位，并非完成的UML守卫。每人填写条件并逐一判断59、60、100，再翻P9。结果只是本次成绩判定结果，不改变Enrollment的选课处理状态。</a:t>
            </a:r>
          </a:p>
          <a:p>
            <a:endParaRPr/>
          </a:p>
          <a:p>
            <a:r>
              <a:t>【检查问题】</a:t>
            </a:r>
          </a:p>
          <a:p>
            <a:r>
              <a:t>60分属于哪一条分支？两个条件是否有重叠或遗漏？</a:t>
            </a:r>
          </a:p>
          <a:p>
            <a:endParaRPr/>
          </a:p>
          <a:p>
            <a:r>
              <a:t>【参考回答】</a:t>
            </a:r>
          </a:p>
          <a:p>
            <a:r>
              <a:t>A为[grade &lt; 60]，B为[grade &gt;= 60]。59不及格，60与100及格。对已约定的0–100输入范围，两条件互斥且完整。</a:t>
            </a:r>
          </a:p>
          <a:p>
            <a:endParaRPr/>
          </a:p>
          <a:p>
            <a:r>
              <a:t>【继续条件】</a:t>
            </a:r>
          </a:p>
          <a:p>
            <a:r>
              <a:t>独立填写两个守卫，正确判断三个边界值，并说明60只进入及格分支。</a:t>
            </a:r>
          </a:p>
          <a:p>
            <a:endParaRPr/>
          </a:p>
          <a:p>
            <a:r>
              <a:t>【未达标时】</a:t>
            </a:r>
          </a:p>
          <a:p>
            <a:r>
              <a:t>在数轴上标出60，把两边与60本身分别归类，再写比较符号。</a:t>
            </a:r>
          </a:p>
          <a:p>
            <a:endParaRPr/>
          </a:p>
          <a:p>
            <a:r>
              <a:t>【依据与边界】</a:t>
            </a:r>
          </a:p>
          <a:p>
            <a:r>
              <a:t>原稿判定与合并内容；OMG 15.3.3.5–15.3.3.6；及格线与输入范围为本题显式约定。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4分钟，可依据学生回答调整或分课次完成。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G1：依据边界值检查并修正守卫。</a:t>
            </a:r>
          </a:p>
          <a:p>
            <a:endParaRPr/>
          </a:p>
          <a:p>
            <a:r>
              <a:t>【讲解与活动】</a:t>
            </a:r>
          </a:p>
          <a:p>
            <a:r>
              <a:t>对照学生独立作答再展示本页。特别检查是否把60同时放入两条分支，或两条分支都不包含60。结果汇合后只需显示本次判定结果。对于图中的输入范围，不需要另加缺考或越界分支。</a:t>
            </a:r>
          </a:p>
          <a:p>
            <a:endParaRPr/>
          </a:p>
          <a:p>
            <a:r>
              <a:t>【检查问题】</a:t>
            </a:r>
          </a:p>
          <a:p>
            <a:r>
              <a:t>若A写成[grade &lt;= 60]而B仍为[grade &gt;= 60]，问题在哪里？</a:t>
            </a:r>
          </a:p>
          <a:p>
            <a:endParaRPr/>
          </a:p>
          <a:p>
            <a:r>
              <a:t>【参考回答】</a:t>
            </a:r>
          </a:p>
          <a:p>
            <a:r>
              <a:t>60满足两条守卫，不能明确地按本题规则判定为及格。UML判定节点对一个输入令牌至多选择一条出边；多守卫为真不会自动同时执行两条分支，但可能使选择不确定。</a:t>
            </a:r>
          </a:p>
          <a:p>
            <a:endParaRPr/>
          </a:p>
          <a:p>
            <a:r>
              <a:t>【继续条件】</a:t>
            </a:r>
          </a:p>
          <a:p>
            <a:r>
              <a:t>能用60说明条件重叠，并修正A；理解合并不承担选择条件的职责。</a:t>
            </a:r>
          </a:p>
          <a:p>
            <a:endParaRPr/>
          </a:p>
          <a:p>
            <a:r>
              <a:t>【未达标时】</a:t>
            </a:r>
          </a:p>
          <a:p>
            <a:r>
              <a:t>逐项代入59、60、100，记录每条守卫的真假，再修改。</a:t>
            </a:r>
          </a:p>
          <a:p>
            <a:endParaRPr/>
          </a:p>
          <a:p>
            <a:r>
              <a:t>【依据与边界】</a:t>
            </a:r>
          </a:p>
          <a:p>
            <a:r>
              <a:t>P8参考；OMG 15.3.3.5–15.3.3.6。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2分钟，可依据学生回答调整或分课次完成。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G2：说明活动图与顺序图之间的承接和差异。</a:t>
            </a:r>
          </a:p>
          <a:p>
            <a:endParaRPr/>
          </a:p>
          <a:p>
            <a:r>
              <a:t>【讲解与活动】</a:t>
            </a:r>
          </a:p>
          <a:p>
            <a:r>
              <a:t>以P7中的确认动作引出职责分配。控制流可以连接动作节点、判定节点、合并节点等，不是只连接动作。顺序图消息连接发送与接收的消息端；本例端点在生命线上，也可有同一生命线上的自调用。活动图也能表达职责分区和对象流，当前比较针对本例的控制流。两种图不是逐节点机械转换关系。</a:t>
            </a:r>
          </a:p>
          <a:p>
            <a:endParaRPr/>
          </a:p>
          <a:p>
            <a:r>
              <a:t>【检查问题】</a:t>
            </a:r>
          </a:p>
          <a:p>
            <a:r>
              <a:t>活动图中的每个动作都应该成为一条生命线吗？</a:t>
            </a:r>
          </a:p>
          <a:p>
            <a:endParaRPr/>
          </a:p>
          <a:p>
            <a:r>
              <a:t>【参考回答】</a:t>
            </a:r>
          </a:p>
          <a:p>
            <a:r>
              <a:t>不应该，生命线代表交互参与者；同一个对象可以参与多个动作和消息。</a:t>
            </a:r>
          </a:p>
          <a:p>
            <a:endParaRPr/>
          </a:p>
          <a:p>
            <a:r>
              <a:t>【继续条件】</a:t>
            </a:r>
          </a:p>
          <a:p>
            <a:r>
              <a:t>回答中能区分动作与参与者。</a:t>
            </a:r>
          </a:p>
          <a:p>
            <a:endParaRPr/>
          </a:p>
          <a:p>
            <a:r>
              <a:t>【未达标时】</a:t>
            </a:r>
          </a:p>
          <a:p>
            <a:r>
              <a:t>把“确认”写为动词，把“选课记录e”写为对象，分别提问。</a:t>
            </a:r>
          </a:p>
          <a:p>
            <a:endParaRPr/>
          </a:p>
          <a:p>
            <a:r>
              <a:t>【依据与边界】</a:t>
            </a:r>
          </a:p>
          <a:p>
            <a:r>
              <a:t>原稿P3、P12；OMG 15、17章。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3分钟，可依据学生回答调整或分课次完成。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G2：识别生命线的参与者及当前建模层次。</a:t>
            </a:r>
          </a:p>
          <a:p>
            <a:endParaRPr/>
          </a:p>
          <a:p>
            <a:r>
              <a:t>【讲解与活动】</a:t>
            </a:r>
          </a:p>
          <a:p>
            <a:r>
              <a:t>本图引入一种候选的软件职责划分。ui代表界面实例，svc代表服务实例，e代表一条选课记录；生命线不直接代表整个类或类型。名称中的冒号后为类型名。界面和服务不应因此被补作Ch2.3领域模型中的必备类。读取CourseOffering余量的内部细节省略，并不表示开课班对象不存在。</a:t>
            </a:r>
          </a:p>
          <a:p>
            <a:endParaRPr/>
          </a:p>
          <a:p>
            <a:r>
              <a:t>【检查问题】</a:t>
            </a:r>
          </a:p>
          <a:p>
            <a:r>
              <a:t>本图中的ui就是作为参与者角色的学生吗？</a:t>
            </a:r>
          </a:p>
          <a:p>
            <a:endParaRPr/>
          </a:p>
          <a:p>
            <a:r>
              <a:t>【参考回答】</a:t>
            </a:r>
          </a:p>
          <a:p>
            <a:r>
              <a:t>不是，ui代表软件界面对象。学生触发界面的细节在这一段交互中省略。</a:t>
            </a:r>
          </a:p>
          <a:p>
            <a:endParaRPr/>
          </a:p>
          <a:p>
            <a:r>
              <a:t>【继续条件】</a:t>
            </a:r>
          </a:p>
          <a:p>
            <a:r>
              <a:t>能说明三条生命线各代表什么，并指出当前并非完整架构。</a:t>
            </a:r>
          </a:p>
          <a:p>
            <a:endParaRPr/>
          </a:p>
          <a:p>
            <a:r>
              <a:t>【未达标时】</a:t>
            </a:r>
          </a:p>
          <a:p>
            <a:r>
              <a:t>先让三位同学分别持界面、服务、记录卡，说明各自接收什么。</a:t>
            </a:r>
          </a:p>
          <a:p>
            <a:endParaRPr/>
          </a:p>
          <a:p>
            <a:r>
              <a:t>【依据与边界】</a:t>
            </a:r>
          </a:p>
          <a:p>
            <a:r>
              <a:t>原稿P12–16；OMG 17.3 Lifeline；本次候选职责划分。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3分钟，可依据学生回答调整或分课次完成。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G2：读出发送者、接收者与消息顺序。</a:t>
            </a:r>
          </a:p>
          <a:p>
            <a:endParaRPr/>
          </a:p>
          <a:p>
            <a:r>
              <a:t>【讲解与活动】</a:t>
            </a:r>
          </a:p>
          <a:p>
            <a:r>
              <a:t>从ui发起process(e)读起。svc自调用读取余量，其访问开课班的细节从略。随后svc向e调用confirm()，返回标签confirm():已确认表示该调用的返回结果，process():成功表示向界面返回。默认解释同一生命线上的局部先后及消息发送先于接收，不从跨生命线的纵向位置推断任意两个事件有全局先后。消息类型需结合箭头形状与语义，不能把所有实线都说成同步调用。</a:t>
            </a:r>
          </a:p>
          <a:p>
            <a:endParaRPr/>
          </a:p>
          <a:p>
            <a:r>
              <a:t>【检查问题】</a:t>
            </a:r>
          </a:p>
          <a:p>
            <a:r>
              <a:t>是谁调用confirm()，接收者是谁？</a:t>
            </a:r>
          </a:p>
          <a:p>
            <a:endParaRPr/>
          </a:p>
          <a:p>
            <a:r>
              <a:t>【参考回答】</a:t>
            </a:r>
          </a:p>
          <a:p>
            <a:r>
              <a:t>svc发送，e接收。ui通过svc得到结果，不直接修改e。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学生能独立读出其中一条调用与一条返回，并指出对应双方。</a:t>
            </a:r>
          </a:p>
          <a:p>
            <a:endParaRPr/>
          </a:p>
          <a:p>
            <a:r>
              <a:t>【未达标时】</a:t>
            </a:r>
          </a:p>
          <a:p>
            <a:r>
              <a:t>遮住其他消息，仅保留svc与e一对参与者，让学生把发送方和接收方说完整。</a:t>
            </a:r>
          </a:p>
          <a:p>
            <a:endParaRPr/>
          </a:p>
          <a:p>
            <a:r>
              <a:t>【依据与边界】</a:t>
            </a:r>
          </a:p>
          <a:p>
            <a:r>
              <a:t>原稿P12、P15–18；OMG第17章；本例成功路径。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4分钟，可依据学生回答调整或分课次完成。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G2：区分同步调用、返回及对象生命期。</a:t>
            </a:r>
          </a:p>
          <a:p>
            <a:endParaRPr/>
          </a:p>
          <a:p>
            <a:r>
              <a:t>【讲解与活动】</a:t>
            </a:r>
          </a:p>
          <a:p>
            <a:r>
              <a:t>同步调用使用实心箭头，本版采用PlantUML严格UML样式。返回消息用虚线；UML允许返回箭头为空心或实心，不能把一种绘图样式说成唯一合法样式。执行规格表示动作或行为执行的一段，不等于对象生命期，也不必每条生命线都画。本图无销毁标记，且P5约定对象保留。</a:t>
            </a:r>
          </a:p>
          <a:p>
            <a:endParaRPr/>
          </a:p>
          <a:p>
            <a:r>
              <a:t>【检查问题】</a:t>
            </a:r>
          </a:p>
          <a:p>
            <a:r>
              <a:t>生命线、调用消息和执行规格分别描述什么？</a:t>
            </a:r>
          </a:p>
          <a:p>
            <a:endParaRPr/>
          </a:p>
          <a:p>
            <a:r>
              <a:t>【参考回答】</a:t>
            </a:r>
          </a:p>
          <a:p>
            <a:r>
              <a:t>生命线代表交互参与者；调用消息描述发送方对接收方的调用；执行规格表示某段执行。执行结束或调用返回不能直接推出对象被删除。</a:t>
            </a:r>
          </a:p>
          <a:p>
            <a:endParaRPr/>
          </a:p>
          <a:p>
            <a:r>
              <a:t>【继续条件】</a:t>
            </a:r>
          </a:p>
          <a:p>
            <a:r>
              <a:t>能解释调用等待和返回，并排除“返回=销毁”的误解。</a:t>
            </a:r>
          </a:p>
          <a:p>
            <a:endParaRPr/>
          </a:p>
          <a:p>
            <a:r>
              <a:t>【未达标时】</a:t>
            </a:r>
          </a:p>
          <a:p>
            <a:r>
              <a:t>让学生分别指认带名称的生命线头、confirm()箭头和细长矩形，逐一说明含义。</a:t>
            </a:r>
          </a:p>
          <a:p>
            <a:endParaRPr/>
          </a:p>
          <a:p>
            <a:r>
              <a:t>【依据与边界】</a:t>
            </a:r>
          </a:p>
          <a:p>
            <a:r>
              <a:t>原稿P15–17；OMG 17.4 Messages、17.3 Lifelines。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3分钟，可依据学生回答调整或分课次完成。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G2：把活动图的选择规则对应到备选交互。</a:t>
            </a:r>
          </a:p>
          <a:p>
            <a:endParaRPr/>
          </a:p>
          <a:p>
            <a:r>
              <a:t>【讲解与活动】</a:t>
            </a:r>
          </a:p>
          <a:p>
            <a:r>
              <a:t>读alt框及两个操作数的守卫，再读各自调用。本例互斥条件覆盖非负余量，所以恰好选中一段。一般alt至多选择一个满足守卫的操作数；若没有守卫满足，则不执行其中任何操作数，不能泛称alt总会执行一段。省略调用返回不改变同步调用类型。</a:t>
            </a:r>
          </a:p>
          <a:p>
            <a:endParaRPr/>
          </a:p>
          <a:p>
            <a:r>
              <a:t>【检查问题】</a:t>
            </a:r>
          </a:p>
          <a:p>
            <a:r>
              <a:t>余量0时，是否仍会先调用confirm()再调用reject()？</a:t>
            </a:r>
          </a:p>
          <a:p>
            <a:endParaRPr/>
          </a:p>
          <a:p>
            <a:r>
              <a:t>【参考回答】</a:t>
            </a:r>
          </a:p>
          <a:p>
            <a:r>
              <a:t>不会，只选择余量0的一段，调用reject()。按本例完整交互，最终向界面返回失败；本页省略返回消息。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学生能从条件选择正确消息段，并与活动图失败路径对应。</a:t>
            </a:r>
          </a:p>
          <a:p>
            <a:endParaRPr/>
          </a:p>
          <a:p>
            <a:r>
              <a:t>【未达标时】</a:t>
            </a:r>
          </a:p>
          <a:p>
            <a:r>
              <a:t>在图上只保留符合条件的一段，让学生重新口述发送方、接收方和结果。</a:t>
            </a:r>
          </a:p>
          <a:p>
            <a:endParaRPr/>
          </a:p>
          <a:p>
            <a:r>
              <a:t>【依据与边界】</a:t>
            </a:r>
          </a:p>
          <a:p>
            <a:r>
              <a:t>原稿P20–21；OMG 17.6 CombinedFragments；本例条件。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4分钟，可依据学生回答调整或分课次完成。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G2：在新交互情境中识别调用方与被调用方。</a:t>
            </a:r>
          </a:p>
          <a:p>
            <a:endParaRPr/>
          </a:p>
          <a:p>
            <a:r>
              <a:t>【讲解与活动】</a:t>
            </a:r>
          </a:p>
          <a:p>
            <a:r>
              <a:t>本页是一份待检验的成绩查询图。ui是界面实例，svc是查询服务实例，g是另一条选课记录；getGrade()为本题约定的读取操作，queryGrade(g)为服务请求。图中故意把getGrade()画成g向svc发送。让学生按“谁需要读取谁的信息”判断；不提前展示P16。只检查消息方向，成绩计算、发布规则及未录入异常从略。 本题的g是已录入成绩的另一条示例记录，与P5待处理的e区分；ui和svc分别代表本题的成绩界面与成绩服务。</a:t>
            </a:r>
          </a:p>
          <a:p>
            <a:endParaRPr/>
          </a:p>
          <a:p>
            <a:r>
              <a:t>【检查问题】</a:t>
            </a:r>
          </a:p>
          <a:p>
            <a:r>
              <a:t>getGrade()应由谁发送给谁？返回78的方向是什么？</a:t>
            </a:r>
          </a:p>
          <a:p>
            <a:endParaRPr/>
          </a:p>
          <a:p>
            <a:r>
              <a:t>【参考回答】</a:t>
            </a:r>
          </a:p>
          <a:p>
            <a:r>
              <a:t>应由svc向g调用getGrade()；成绩由g返回svc，再由svc返回ui。图中getGrade()调用方向画反，返回方向保持不变。</a:t>
            </a:r>
          </a:p>
          <a:p>
            <a:endParaRPr/>
          </a:p>
          <a:p>
            <a:r>
              <a:t>【继续条件】</a:t>
            </a:r>
          </a:p>
          <a:p>
            <a:r>
              <a:t>指出错误调用箭头，并说明返回路径，不能只凭图上位置猜方向。</a:t>
            </a:r>
          </a:p>
          <a:p>
            <a:endParaRPr/>
          </a:p>
          <a:p>
            <a:r>
              <a:t>【未达标时】</a:t>
            </a:r>
          </a:p>
          <a:p>
            <a:r>
              <a:t>把“服务读取记录中的grade”分别对应调用方、被调用方和返回值。</a:t>
            </a:r>
          </a:p>
          <a:p>
            <a:endParaRPr/>
          </a:p>
          <a:p>
            <a:r>
              <a:t>【依据与边界】</a:t>
            </a:r>
          </a:p>
          <a:p>
            <a:r>
              <a:t>Ch2.3的grade属性；本题新增查询职责约定；OMG 17.3、17.4。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4分钟，可依据学生回答调整或分课次完成。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G2：解释查询交互的调用方向与返回路径。</a:t>
            </a:r>
          </a:p>
          <a:p>
            <a:endParaRPr/>
          </a:p>
          <a:p>
            <a:r>
              <a:t>【讲解与活动】</a:t>
            </a:r>
          </a:p>
          <a:p>
            <a:r>
              <a:t>对照P15，只纠正getGrade()的调用方向。按ui到svc、svc到g、g到svc、svc到ui的消息链解释。g没有因为被读取而变成服务，也不因返回成绩而被删除。此题不改变选课记录状态，不讨论修改成绩。 本题的g是已录入成绩的另一条示例记录，与P5待处理的e区分；ui和svc分别代表本题的成绩界面与成绩服务。</a:t>
            </a:r>
          </a:p>
          <a:p>
            <a:endParaRPr/>
          </a:p>
          <a:p>
            <a:r>
              <a:t>【检查问题】</a:t>
            </a:r>
          </a:p>
          <a:p>
            <a:r>
              <a:t>getGrade()的消息名没改，为什么仍必须改箭头？</a:t>
            </a:r>
          </a:p>
          <a:p>
            <a:endParaRPr/>
          </a:p>
          <a:p>
            <a:r>
              <a:t>【参考回答】</a:t>
            </a:r>
          </a:p>
          <a:p>
            <a:r>
              <a:t>消息的发送者与接收者决定谁调用谁。名称相同不能替代方向及职责的正确性。</a:t>
            </a:r>
          </a:p>
          <a:p>
            <a:endParaRPr/>
          </a:p>
          <a:p>
            <a:r>
              <a:t>【继续条件】</a:t>
            </a:r>
          </a:p>
          <a:p>
            <a:r>
              <a:t>能连贯说明两次调用及其返回，不把返回画成另一次正向调用。</a:t>
            </a:r>
          </a:p>
          <a:p>
            <a:endParaRPr/>
          </a:p>
          <a:p>
            <a:r>
              <a:t>【未达标时】</a:t>
            </a:r>
          </a:p>
          <a:p>
            <a:r>
              <a:t>让三位学生持ui、svc、g卡片，按一次查询请求传递与返回次序演示。</a:t>
            </a:r>
          </a:p>
          <a:p>
            <a:endParaRPr/>
          </a:p>
          <a:p>
            <a:r>
              <a:t>【依据与边界】</a:t>
            </a:r>
          </a:p>
          <a:p>
            <a:r>
              <a:t>P15参考；OMG 17.4。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2分钟，可依据学生回答调整或分课次完成。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G3：明确状态机图的研究对象和与顺序图的联系。</a:t>
            </a:r>
          </a:p>
          <a:p>
            <a:endParaRPr/>
          </a:p>
          <a:p>
            <a:r>
              <a:t>【讲解与活动】</a:t>
            </a:r>
          </a:p>
          <a:p>
            <a:r>
              <a:t>从P14的交互回到e。ui、svc、e是不同参与者，不能把它们当成e的三个状态。confirm是操作名，接收confirm调用对应调用事件；已确认是状态。当前例图只教有显式调用事件的迁移，UML还存在完成迁移等情形，不能概括为所有迁移都必须写外部事件。状态机也可描述更一般的行为，本课聚焦一条记录。</a:t>
            </a:r>
          </a:p>
          <a:p>
            <a:endParaRPr/>
          </a:p>
          <a:p>
            <a:r>
              <a:t>【检查问题】</a:t>
            </a:r>
          </a:p>
          <a:p>
            <a:r>
              <a:t>界面、服务和记录能作为e的三个状态吗？</a:t>
            </a:r>
          </a:p>
          <a:p>
            <a:endParaRPr/>
          </a:p>
          <a:p>
            <a:r>
              <a:t>【参考回答】</a:t>
            </a:r>
          </a:p>
          <a:p>
            <a:r>
              <a:t>不能，它们是不同交互参与者。e的状态是待处理、已确认、已拒绝。</a:t>
            </a:r>
          </a:p>
          <a:p>
            <a:endParaRPr/>
          </a:p>
          <a:p>
            <a:r>
              <a:t>【继续条件】</a:t>
            </a:r>
          </a:p>
          <a:p>
            <a:r>
              <a:t>学生能说出研究对象e及两个状态名称。</a:t>
            </a:r>
          </a:p>
          <a:p>
            <a:endParaRPr/>
          </a:p>
          <a:p>
            <a:r>
              <a:t>【未达标时】</a:t>
            </a:r>
          </a:p>
          <a:p>
            <a:r>
              <a:t>让学生拿着同一张e卡，只改变状态标签，不更换对象卡。</a:t>
            </a:r>
          </a:p>
          <a:p>
            <a:endParaRPr/>
          </a:p>
          <a:p>
            <a:r>
              <a:t>【依据与边界】</a:t>
            </a:r>
          </a:p>
          <a:p>
            <a:r>
              <a:t>原稿P30–33；OMG 14、17章；本例e。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3分钟，可依据学生回答调整或分课次完成。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G3：区分状态、触发事件与对象身份。</a:t>
            </a:r>
          </a:p>
          <a:p>
            <a:endParaRPr/>
          </a:p>
          <a:p>
            <a:r>
              <a:t>【讲解与活动】</a:t>
            </a:r>
          </a:p>
          <a:p>
            <a:r>
              <a:t>本页为状态概览，守卫和效果在P19、P21补充，不把省略读成最终取消业务条件。黑点为初始伪状态，表示进入本模型的起始状态；e已存在，图中并未画创建消息。已确认与已拒绝没有画为终结状态，因为整个后续生命周期未定义。状态机结束与对象删除不同，记录保留来自P5约定。</a:t>
            </a:r>
          </a:p>
          <a:p>
            <a:endParaRPr/>
          </a:p>
          <a:p>
            <a:r>
              <a:t>【检查问题】</a:t>
            </a:r>
          </a:p>
          <a:p>
            <a:r>
              <a:t>“确认记录”和“已确认”分别是什么？</a:t>
            </a:r>
          </a:p>
          <a:p>
            <a:endParaRPr/>
          </a:p>
          <a:p>
            <a:r>
              <a:t>【参考回答】</a:t>
            </a:r>
          </a:p>
          <a:p>
            <a:r>
              <a:t>前者是动作或操作的表述，后者是对象所处状态。</a:t>
            </a:r>
          </a:p>
          <a:p>
            <a:endParaRPr/>
          </a:p>
          <a:p>
            <a:r>
              <a:t>【继续条件】</a:t>
            </a:r>
          </a:p>
          <a:p>
            <a:r>
              <a:t>能正确指出一个状态和触发某次迁移的事件。</a:t>
            </a:r>
          </a:p>
          <a:p>
            <a:endParaRPr/>
          </a:p>
          <a:p>
            <a:r>
              <a:t>【未达标时】</a:t>
            </a:r>
          </a:p>
          <a:p>
            <a:r>
              <a:t>将动词“确认”和状态形容“已确认”分别放到箭头与节点旁。</a:t>
            </a:r>
          </a:p>
          <a:p>
            <a:endParaRPr/>
          </a:p>
          <a:p>
            <a:r>
              <a:t>【依据与边界】</a:t>
            </a:r>
          </a:p>
          <a:p>
            <a:r>
              <a:t>原稿P30–33；OMG 14.2；本例局部状态概览。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3分钟，可依据学生回答调整或分课次完成。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G3：拆分一条迁移的五个要素。</a:t>
            </a:r>
          </a:p>
          <a:p>
            <a:endParaRPr/>
          </a:p>
          <a:p>
            <a:r>
              <a:t>【讲解与活动】</a:t>
            </a:r>
          </a:p>
          <a:p>
            <a:r>
              <a:t>让学生逐项指认源状态、触发事件、守卫、迁移效果和目标状态。confirm()表示本例接收操作调用的事件。斜线后的写入确认结果是迁移效果，不是守卫；方括号不表示自动触发事件。触发器、守卫、效果并非每条迁移都必须写，本页只读当前完整标签。此处不提前讨论P20的守卫为假情形。</a:t>
            </a:r>
          </a:p>
          <a:p>
            <a:endParaRPr/>
          </a:p>
          <a:p>
            <a:r>
              <a:t>【检查问题】</a:t>
            </a:r>
          </a:p>
          <a:p>
            <a:r>
              <a:t>请按源状态、事件、守卫、效果、目标状态读出本图。</a:t>
            </a:r>
          </a:p>
          <a:p>
            <a:endParaRPr/>
          </a:p>
          <a:p>
            <a:r>
              <a:t>【参考回答】</a:t>
            </a:r>
          </a:p>
          <a:p>
            <a:r>
              <a:t>从待处理开始，收到confirm()调用且余量大于0时，执行写入确认结果的效果，进入已确认。</a:t>
            </a:r>
          </a:p>
          <a:p>
            <a:endParaRPr/>
          </a:p>
          <a:p>
            <a:r>
              <a:t>【继续条件】</a:t>
            </a:r>
          </a:p>
          <a:p>
            <a:r>
              <a:t>能定位五个要素，区分节点中的状态与箭头上的事件、条件和效果。</a:t>
            </a:r>
          </a:p>
          <a:p>
            <a:endParaRPr/>
          </a:p>
          <a:p>
            <a:r>
              <a:t>【未达标时】</a:t>
            </a:r>
          </a:p>
          <a:p>
            <a:r>
              <a:t>先分别指出方括号、斜线前后和两个节点，再组合成一句完整解释。</a:t>
            </a:r>
          </a:p>
          <a:p>
            <a:endParaRPr/>
          </a:p>
          <a:p>
            <a:r>
              <a:t>【依据与边界】</a:t>
            </a:r>
          </a:p>
          <a:p>
            <a:r>
              <a:t>原稿P33–34；OMG 14.2.3.9.2、14.2.4；本例显式事件迁移。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4分钟，可依据学生回答调整或分课次完成。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G3：识别守卫为假与自动选择另一状态的区别。</a:t>
            </a:r>
          </a:p>
          <a:p>
            <a:endParaRPr/>
          </a:p>
          <a:p>
            <a:r>
              <a:t>【讲解与活动】</a:t>
            </a:r>
          </a:p>
          <a:p>
            <a:r>
              <a:t>给学生独立回答时间，再讨论。此图仅是待检验状态片段，没有其它迁移或延迟事件。源状态活跃、事件匹配而守卫为假时，该迁移不执行。片段不能回答调用方如何获得错误返回；不能推断会自动返回失败。一般模型还需检查其它可用迁移、延迟事件等机制。拒绝消息在P14交互中另行安排，下一页才补相应状态迁移。</a:t>
            </a:r>
          </a:p>
          <a:p>
            <a:endParaRPr/>
          </a:p>
          <a:p>
            <a:r>
              <a:t>【检查问题】</a:t>
            </a:r>
          </a:p>
          <a:p>
            <a:r>
              <a:t>确认守卫为假是否等于执行了拒绝？</a:t>
            </a:r>
          </a:p>
          <a:p>
            <a:endParaRPr/>
          </a:p>
          <a:p>
            <a:r>
              <a:t>【参考回答】</a:t>
            </a:r>
          </a:p>
          <a:p>
            <a:r>
              <a:t>不会自动进入已拒绝。该迁移不执行，在本题限定片段中仍处于待处理。若要按约定拒绝，需要reject()调用及对应拒绝迁移；图中没有规定错误调用的返回或异常处理。</a:t>
            </a:r>
          </a:p>
          <a:p>
            <a:endParaRPr/>
          </a:p>
          <a:p>
            <a:r>
              <a:t>【继续条件】</a:t>
            </a:r>
          </a:p>
          <a:p>
            <a:r>
              <a:t>能明确说出“不执行这条边”与“另有拒绝行为”的差别。</a:t>
            </a:r>
          </a:p>
          <a:p>
            <a:endParaRPr/>
          </a:p>
          <a:p>
            <a:r>
              <a:t>【未达标时】</a:t>
            </a:r>
          </a:p>
          <a:p>
            <a:r>
              <a:t>用纸覆盖confirm边，再问图中是否还存在到已拒绝的边，避免用自然语言脑补。</a:t>
            </a:r>
          </a:p>
          <a:p>
            <a:endParaRPr/>
          </a:p>
          <a:p>
            <a:r>
              <a:t>【依据与边界】</a:t>
            </a:r>
          </a:p>
          <a:p>
            <a:r>
              <a:t>原稿P34；OMG 14.2.3.9；本次待检验片段。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4分钟，可依据学生回答调整或分课次完成。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G3：把状态图与成功/失败消息对应，保持范围明确。</a:t>
            </a:r>
          </a:p>
          <a:p>
            <a:endParaRPr/>
          </a:p>
          <a:p>
            <a:r>
              <a:t>【讲解与活动】</a:t>
            </a:r>
          </a:p>
          <a:p>
            <a:r>
              <a:t>读出本例两条迁移，指出它们由不同的调用事件触发。对本例简单状态机，匹配事件与守卫决定相应路径。一般UML中迁移可用并不总意味着必定执行，还可能有冲突与优先级。主线不引入该复杂性。状态守卫与服务使用同一稳定的余量值；这是案例假设，不是事务或并发安全的实现保证。后续候补、退选和重试仍待确认。</a:t>
            </a:r>
          </a:p>
          <a:p>
            <a:endParaRPr/>
          </a:p>
          <a:p>
            <a:r>
              <a:t>【检查问题】</a:t>
            </a:r>
          </a:p>
          <a:p>
            <a:r>
              <a:t>P14中的reject()在状态机中对应哪条迁移？</a:t>
            </a:r>
          </a:p>
          <a:p>
            <a:endParaRPr/>
          </a:p>
          <a:p>
            <a:r>
              <a:t>【参考回答】</a:t>
            </a:r>
          </a:p>
          <a:p>
            <a:r>
              <a:t>待处理到已拒绝，守卫余量=0，效果写入拒绝结果。</a:t>
            </a:r>
          </a:p>
          <a:p>
            <a:endParaRPr/>
          </a:p>
          <a:p>
            <a:r>
              <a:t>【继续条件】</a:t>
            </a:r>
          </a:p>
          <a:p>
            <a:r>
              <a:t>能把消息、触发器、源/目标状态对应起来。</a:t>
            </a:r>
          </a:p>
          <a:p>
            <a:endParaRPr/>
          </a:p>
          <a:p>
            <a:r>
              <a:t>【未达标时】</a:t>
            </a:r>
          </a:p>
          <a:p>
            <a:r>
              <a:t>从同一消息名reject出发，在两张图中定位，再口述结果。</a:t>
            </a:r>
          </a:p>
          <a:p>
            <a:endParaRPr/>
          </a:p>
          <a:p>
            <a:r>
              <a:t>【依据与边界】</a:t>
            </a:r>
          </a:p>
          <a:p>
            <a:r>
              <a:t>原稿P33–34；OMG 14.2、17章；本例完整处理阶段。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3分钟，可依据学生回答调整或分课次完成。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G4：直接读三张图，检查同一输入下的动作、消息与状态结果。</a:t>
            </a:r>
          </a:p>
          <a:p>
            <a:endParaRPr/>
          </a:p>
          <a:p>
            <a:r>
              <a:t>【讲解与活动】</a:t>
            </a:r>
          </a:p>
          <a:p>
            <a:r>
              <a:t>三张图同页展示，不使用错误颜色提示。活动图展开已选定的成功路径，顺序图只保留svc与e的关键调用和返回，状态图展示对应迁移片段。它们不是各自完整的系统模型。状态图故意把目标状态画成已拒绝。让学生在纸上标出具体节点并给出理由；不要提前展示P23。与P15的成绩查询方向题不同，本题检查业务结果是否一致。</a:t>
            </a:r>
          </a:p>
          <a:p>
            <a:endParaRPr/>
          </a:p>
          <a:p>
            <a:r>
              <a:t>【检查问题】</a:t>
            </a:r>
          </a:p>
          <a:p>
            <a:r>
              <a:t>同一输入为余量2，三图的最终结果是否一致？</a:t>
            </a:r>
          </a:p>
          <a:p>
            <a:endParaRPr/>
          </a:p>
          <a:p>
            <a:r>
              <a:t>【参考回答】</a:t>
            </a:r>
          </a:p>
          <a:p>
            <a:r>
              <a:t>第三图不一致。活动图确认记录并显示成功；顺序图confirm()返回已确认；状态图却迁移到已拒绝。应把状态图目标改为已确认，其事件、守卫和效果保持不变。</a:t>
            </a:r>
          </a:p>
          <a:p>
            <a:endParaRPr/>
          </a:p>
          <a:p>
            <a:r>
              <a:t>【继续条件】</a:t>
            </a:r>
          </a:p>
          <a:p>
            <a:r>
              <a:t>定位第三图的目标状态，解释它为何与另两图及P5约定冲突。</a:t>
            </a:r>
          </a:p>
          <a:p>
            <a:endParaRPr/>
          </a:p>
          <a:p>
            <a:r>
              <a:t>【未达标时】</a:t>
            </a:r>
          </a:p>
          <a:p>
            <a:r>
              <a:t>分别让学生读出活动结果、调用返回与目标状态，用“确认／拒绝”核对，不要求整图重画。</a:t>
            </a:r>
          </a:p>
          <a:p>
            <a:endParaRPr/>
          </a:p>
          <a:p>
            <a:r>
              <a:t>【依据与边界】</a:t>
            </a:r>
          </a:p>
          <a:p>
            <a:r>
              <a:t>本例P5规则；OMG第14、15、17章；明确标记的错误图练习。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4分钟，可依据学生回答调整或分课次完成。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G4：解释三种模型各自表达的内容及共同业务结果。</a:t>
            </a:r>
          </a:p>
          <a:p>
            <a:endParaRPr/>
          </a:p>
          <a:p>
            <a:r>
              <a:t>【讲解与活动】</a:t>
            </a:r>
          </a:p>
          <a:p>
            <a:r>
              <a:t>沿用P22三图位置，仅纠正目标状态，便于对照。三种图不要求节点一一对应，但相同前提下的实际动作、消息含义、状态结果不能矛盾。活动图动作是确认记录；顺序图为svc调用e；状态图给出e在何种前提下进入已确认。操作返回与对象进入状态是不同语义，本案例显式把两者对应。</a:t>
            </a:r>
          </a:p>
          <a:p>
            <a:endParaRPr/>
          </a:p>
          <a:p>
            <a:r>
              <a:t>【检查问题】</a:t>
            </a:r>
          </a:p>
          <a:p>
            <a:r>
              <a:t>三种图的节点形状和数量不同，是否意味着模型不一致？</a:t>
            </a:r>
          </a:p>
          <a:p>
            <a:endParaRPr/>
          </a:p>
          <a:p>
            <a:r>
              <a:t>【参考回答】</a:t>
            </a:r>
          </a:p>
          <a:p>
            <a:r>
              <a:t>不意味着。应比较共同前提和业务结果；不同视角本来就保留不同的信息。</a:t>
            </a:r>
          </a:p>
          <a:p>
            <a:endParaRPr/>
          </a:p>
          <a:p>
            <a:r>
              <a:t>【继续条件】</a:t>
            </a:r>
          </a:p>
          <a:p>
            <a:r>
              <a:t>能解释纠正理由，而不只观察目标状态名称相同。</a:t>
            </a:r>
          </a:p>
          <a:p>
            <a:endParaRPr/>
          </a:p>
          <a:p>
            <a:r>
              <a:t>【未达标时】</a:t>
            </a:r>
          </a:p>
          <a:p>
            <a:r>
              <a:t>改问余量为0时各图应改变什么，先口述，不新增未经确认的业务规则。</a:t>
            </a:r>
          </a:p>
          <a:p>
            <a:endParaRPr/>
          </a:p>
          <a:p>
            <a:r>
              <a:t>【依据与边界】</a:t>
            </a:r>
          </a:p>
          <a:p>
            <a:r>
              <a:t>P22参考；本例规则；OMG第14、15、17章。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2分钟，可依据学生回答调整或分课次完成。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G0–G4：独立选择适合的图并解释依据。</a:t>
            </a:r>
          </a:p>
          <a:p>
            <a:endParaRPr/>
          </a:p>
          <a:p>
            <a:r>
              <a:t>【讲解与活动】</a:t>
            </a:r>
          </a:p>
          <a:p>
            <a:r>
              <a:t>每人填写图名和一句理由，题序与P4不同。第一题只要求选择表达此类规则的模型，退选是否允许仍待业务确认，不能擅自补画退选迁移。第二、三题复用刚练习过的成绩情境。不同图可以共同使用，但要说明当前优先关注的问题。</a:t>
            </a:r>
          </a:p>
          <a:p>
            <a:endParaRPr/>
          </a:p>
          <a:p>
            <a:r>
              <a:t>【检查问题】</a:t>
            </a:r>
          </a:p>
          <a:p>
            <a:r>
              <a:t>三个问题分别优先采用哪一种图？</a:t>
            </a:r>
          </a:p>
          <a:p>
            <a:endParaRPr/>
          </a:p>
          <a:p>
            <a:r>
              <a:t>【参考回答】</a:t>
            </a:r>
          </a:p>
          <a:p>
            <a:r>
              <a:t>依次为状态机图、活动图、顺序图。第一题尚不能判断退选是否允许，只能确定应关注状态、事件与迁移规则。</a:t>
            </a:r>
          </a:p>
          <a:p>
            <a:endParaRPr/>
          </a:p>
          <a:p>
            <a:r>
              <a:t>【继续条件】</a:t>
            </a:r>
          </a:p>
          <a:p>
            <a:r>
              <a:t>三题能说明依据，并区分“选用模型”与“已确认业务答案”。</a:t>
            </a:r>
          </a:p>
          <a:p>
            <a:endParaRPr/>
          </a:p>
          <a:p>
            <a:r>
              <a:t>【未达标时】</a:t>
            </a:r>
          </a:p>
          <a:p>
            <a:r>
              <a:t>分别圈出状态响应、流程分支、调用与返回，再决定优先使用的视角。</a:t>
            </a:r>
          </a:p>
          <a:p>
            <a:endParaRPr/>
          </a:p>
          <a:p>
            <a:r>
              <a:t>【依据与边界】</a:t>
            </a:r>
          </a:p>
          <a:p>
            <a:r>
              <a:t>本次检索练习；原稿P53总结。</a:t>
            </a:r>
          </a:p>
          <a:p>
            <a:endParaRPr/>
          </a:p>
          <a:p>
            <a:r>
              <a:t>【建议用时】</a:t>
            </a:r>
          </a:p>
          <a:p>
            <a:r>
              <a:t>3分钟，可依据学生回答调整或分课次完成。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G0–G4：对照自己的选择，区分用途而非背图名。</a:t>
            </a:r>
          </a:p>
          <a:p>
            <a:endParaRPr/>
          </a:p>
          <a:p>
            <a:r>
              <a:t>【讲解与活动】</a:t>
            </a:r>
          </a:p>
          <a:p>
            <a:r>
              <a:t>学生先解释自己的选图理由，再展示参考。活动图可以出现对象流，顺序图可有alt分支，状态机的行为范围也不只是本例。表中是当前问题的优先视角，不是对图种的互斥定义。第一题不得据此补造退选规则。</a:t>
            </a:r>
          </a:p>
          <a:p>
            <a:endParaRPr/>
          </a:p>
          <a:p>
            <a:r>
              <a:t>【检查问题】</a:t>
            </a:r>
          </a:p>
          <a:p>
            <a:r>
              <a:t>活动图里能够出现对象或数据吗？</a:t>
            </a:r>
          </a:p>
          <a:p>
            <a:endParaRPr/>
          </a:p>
          <a:p>
            <a:r>
              <a:t>【参考回答】</a:t>
            </a:r>
          </a:p>
          <a:p>
            <a:r>
              <a:t>可以，本章仅重点学习控制流；对象流等内容在拓展查阅区。本表按主要问题选图。</a:t>
            </a:r>
          </a:p>
          <a:p>
            <a:endParaRPr/>
          </a:p>
          <a:p>
            <a:r>
              <a:t>【继续条件】</a:t>
            </a:r>
          </a:p>
          <a:p>
            <a:r>
              <a:t>能根据问题说明选图理由并承认模型相互补充。</a:t>
            </a:r>
          </a:p>
          <a:p>
            <a:endParaRPr/>
          </a:p>
          <a:p>
            <a:r>
              <a:t>【未达标时】</a:t>
            </a:r>
          </a:p>
          <a:p>
            <a:r>
              <a:t>回到P10与P17两个过渡页进行对照。</a:t>
            </a:r>
          </a:p>
          <a:p>
            <a:endParaRPr/>
          </a:p>
          <a:p>
            <a:r>
              <a:t>【依据与边界】</a:t>
            </a:r>
          </a:p>
          <a:p>
            <a:r>
              <a:t>原稿P3、P12、P30、P53；OMG第14、15、17章。 https://www.omg.org/spec/UML/2.5.1/PDF</a:t>
            </a:r>
          </a:p>
          <a:p>
            <a:endParaRPr/>
          </a:p>
          <a:p>
            <a:r>
              <a:t>【建议用时】</a:t>
            </a:r>
          </a:p>
          <a:p>
            <a:r>
              <a:t>2分钟，可依据学生回答调整或分课次完成。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【学习目标】</a:t>
            </a:r>
          </a:p>
          <a:p>
            <a:r>
              <a:t>G1–G4：获得个人的完整解释，定位尚未掌握的部分。</a:t>
            </a:r>
          </a:p>
          <a:p>
            <a:endParaRPr/>
          </a:p>
          <a:p>
            <a:r>
              <a:t>【讲解与活动】</a:t>
            </a:r>
          </a:p>
          <a:p>
            <a:r>
              <a:t>收起P23成功路径参考后，改用余量为0的失败输入。学生独立作答4分钟。也可画一种小图并口述其余两种。只检查已讲过的模块。观察是否能把输入变化落实到动作、reject()消息及目标状态，而非复制P22–23的成功答案。按独立完成、经提示完成、仍不清楚记录，未掌握部分下次复查。</a:t>
            </a:r>
          </a:p>
          <a:p>
            <a:endParaRPr/>
          </a:p>
          <a:p>
            <a:r>
              <a:t>【检查问题】</a:t>
            </a:r>
          </a:p>
          <a:p>
            <a:r>
              <a:t>同一次失败在三种图里，必须保持什么一致？</a:t>
            </a:r>
          </a:p>
          <a:p>
            <a:endParaRPr/>
          </a:p>
          <a:p>
            <a:r>
              <a:t>【参考回答】</a:t>
            </a:r>
          </a:p>
          <a:p>
            <a:r>
              <a:t>余量0对应拒绝：读取余量→拒绝记录→显示结果；svc向e发reject()；e由待处理在余量=0时进入已拒绝。</a:t>
            </a:r>
          </a:p>
          <a:p>
            <a:endParaRPr/>
          </a:p>
          <a:p>
            <a:r>
              <a:t>【继续条件】</a:t>
            </a:r>
          </a:p>
          <a:p>
            <a:r>
              <a:t>已教模块能独立给出路径/消息/迁移要素，不凭抄图判断掌握。</a:t>
            </a:r>
          </a:p>
          <a:p>
            <a:endParaRPr/>
          </a:p>
          <a:p>
            <a:r>
              <a:t>【未达标时】</a:t>
            </a:r>
          </a:p>
          <a:p>
            <a:r>
              <a:t>下一次用余量2的成功路径复查相同技能，先补清误解再进入复杂语法。</a:t>
            </a:r>
          </a:p>
          <a:p>
            <a:endParaRPr/>
          </a:p>
          <a:p>
            <a:r>
              <a:t>【依据与边界】</a:t>
            </a:r>
          </a:p>
          <a:p>
            <a:r>
              <a:t>本次个人检查；本章明确案例规则。</a:t>
            </a:r>
          </a:p>
          <a:p>
            <a:endParaRPr/>
          </a:p>
          <a:p>
            <a:r>
              <a:t>【建议用时】</a:t>
            </a:r>
          </a:p>
          <a:p>
            <a:r>
              <a:t>4分钟，可依据学生回答调整或分课次完成。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26页为课堂主线，可分课次完成。P28–36为活动图原稿查阅，P37–54为顺序图，P55–77为状态机图，P78为Reference。按学生问题选讲，不把高级符号全部列为当次达标要求。原图业务与主线教学设定分开，不补造缺失的故障、候补或重试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3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活动图用节点与边描述控制流和对象流，可表达顺序、选择、并发与同步。执行顺序是模型规定的先后约束，并发分支不一定有唯一的全局顺序。</a:t>
            </a:r>
          </a:p>
          <a:p>
            <a:r>
              <a:rPr lang="zh-CN" sz="1400">
                <a:latin typeface="Noto Sans SC"/>
                <a:ea typeface="Noto Sans SC"/>
              </a:rPr>
              <a:t>课堂案例沿用P5：处理已创建的选课记录，检查余量后分别确认或拒绝。请学生先口述两条路径，再选择判断节点和终点。具体条件写[有余量]与[无余量]，这里只讨论单个记录。</a:t>
            </a:r>
          </a:p>
          <a:p>
            <a:r>
              <a:rPr lang="zh-CN" sz="1400">
                <a:latin typeface="Noto Sans SC"/>
                <a:ea typeface="Noto Sans SC"/>
              </a:rPr>
              <a:t>原页理论背景：活动图联系业务过程建模及Petri网中的令牌概念。令牌可类比允许执行的标记，不是业务人员或网络包。活动图也适用于非面向对象系统。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语义参考：UML第15章。https://www.omg.org/spec/UML/2.5.1/PDF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【课堂组织】重点。先用自然语言说出有余量、无余量两条路径，再指出分支位置。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【观察学生回答】每条路径都有明确条件与处理结果。</a:t>
            </a:r>
          </a:p>
          <a:p>
            <a:r>
              <a:rPr lang="zh-CN" sz="1400">
                <a:latin typeface="Noto Sans SC"/>
                <a:ea typeface="Noto Sans SC"/>
              </a:rPr>
              <a:t>【依据】原稿P3活动图定义及P4、P11例图（本版P28、P29、P36）；UML第15章。https://www.omg.org/spec/UML/2.5.1/PDF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4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先读左图的登机业务：从起点沿箭头追踪，遇到菱形说明走哪条条件分支，遇到粗横线判断是否为分叉或汇合。再读右图的查询交互，识别每条泳道中承担动作的对象或职责。</a:t>
            </a:r>
          </a:p>
          <a:p>
            <a:r>
              <a:rPr lang="zh-CN" sz="1400">
                <a:latin typeface="Noto Sans SC"/>
                <a:ea typeface="Noto Sans SC"/>
              </a:rPr>
              <a:t>课堂提问：泳道是否代表一个独立线程？参考回答：不是，泳道主要用于分组、表达责任或其他分类。是否并发需要看控制流与分叉/汇合。</a:t>
            </a:r>
          </a:p>
          <a:p>
            <a:r>
              <a:rPr lang="zh-CN" sz="1400">
                <a:latin typeface="Noto Sans SC"/>
                <a:ea typeface="Noto Sans SC"/>
              </a:rPr>
              <a:t>对比重点：左图突出业务步骤，右图突出动作由谁负责。活动图仍以动作和流程为中心；后面的顺序图将更突出消息发送与接收。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【课堂组织】示范。沿办理登机图只读一条完整路径，再让同伴读另一条。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【观察学生回答】能指出一个动作、责任归属和条件分支。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5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按“动作—活动—开始—全部结束”讲解本页符号。Action 是当前模型中不再展开的动作，Activity 可以由更多节点和流组成。</a:t>
            </a:r>
          </a:p>
          <a:p>
            <a:r>
              <a:rPr lang="zh-CN" sz="1400">
                <a:latin typeface="Noto Sans SC"/>
                <a:ea typeface="Noto Sans SC"/>
              </a:rPr>
              <a:t>案例：选课活动内包含“校验资格”“锁定名额”“保存记录”等动作。黑点是初始节点，靶心形活动终止节点会结束本次活动的所有执行流。</a:t>
            </a:r>
          </a:p>
          <a:p>
            <a:r>
              <a:rPr lang="zh-CN" sz="1400">
                <a:latin typeface="Noto Sans SC"/>
                <a:ea typeface="Noto Sans SC"/>
              </a:rPr>
              <a:t>讲解限定：atomic 指当前建模粒度下不进一步分解，不等于一定是单条机器指令或数据库原子事务。若要说明保存记录内部的事务步骤，可以在另一张活动图中展开。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2.5.1，第15、16章。https://www.omg.org/spec/UML/2.5.1/PDF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【课堂组织】符号随用随认。在P29图中寻找起始点和活动终止节点。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【观察学生回答】能说明动作与活动的当前建模粒度。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6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先区分两对符号：decision/merge 处理备选路径，fork/join 处理并发路径。菱形分支通常根据守卫条件选择路径；合并节点把备选路径接回，不会等所有备选路径都到齐。</a:t>
            </a:r>
          </a:p>
          <a:p>
            <a:r>
              <a:rPr lang="zh-CN" sz="1400">
                <a:latin typeface="Noto Sans SC"/>
                <a:ea typeface="Noto Sans SC"/>
              </a:rPr>
              <a:t>案例：付款成功与失败只能走一条路径，用判断与合并。付款成功后“出库准备”和“生成发票”可分别进行，需要两者完成才通知交付时使用分叉与汇合。</a:t>
            </a:r>
          </a:p>
          <a:p>
            <a:r>
              <a:rPr lang="zh-CN" sz="1400">
                <a:latin typeface="Noto Sans SC"/>
                <a:ea typeface="Noto Sans SC"/>
              </a:rPr>
              <a:t>课堂提问：把 merge 换成 join 会怎样？参考回答：若两条路径互斥，等待两路的汇合可能无法继续。默认同步语义与自定义 join 条件要分清。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2.5.1，第15、16章。https://www.omg.org/spec/UML/2.5.1/PDF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【课堂组织】重点辨析。让学生解释把备选路径的merge换成默认join可能怎样。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【观察学生回答】指出互斥路径不能要求两路都到达。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7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对比 flow final 与上一页的 activity final：流终止只结束到达它的那一路，其他并发路径可以继续；活动终止结束整个活动。边表达节点之间允许的流转，调用行为动作表示调用另一个行为。</a:t>
            </a:r>
          </a:p>
          <a:p>
            <a:r>
              <a:rPr lang="zh-CN" sz="1400">
                <a:latin typeface="Noto Sans SC"/>
                <a:ea typeface="Noto Sans SC"/>
              </a:rPr>
              <a:t>案例：下单后短信通知失败只结束通知分支，订单履约仍继续；若订单整体取消，才考虑结束整个业务活动。</a:t>
            </a:r>
          </a:p>
          <a:p>
            <a:r>
              <a:rPr lang="zh-CN" sz="1400">
                <a:latin typeface="Noto Sans SC"/>
                <a:ea typeface="Noto Sans SC"/>
              </a:rPr>
              <a:t>泳道用于表达职责归属，例如学生、选课系统、教务人员。不要把跨泳道箭头直接理解成网络调用，也不要因为两个动作在不同泳道就判定它们必然并行。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2.5.1，第15、16章。https://www.omg.org/spec/UML/2.5.1/PDF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【课堂组织】重点辨析。比较结束一条流和结束整个活动。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【观察学生回答】能说明其他并发路径是否仍可继续。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8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发送信号动作表示发送异步信号；接收事件动作表示等待相应事件，时间事件可以表示等待超时。对象节点和输入输出引脚用于说明流程传递的数据。</a:t>
            </a:r>
          </a:p>
          <a:p>
            <a:r>
              <a:rPr lang="zh-CN" sz="1400">
                <a:latin typeface="Noto Sans SC"/>
                <a:ea typeface="Noto Sans SC"/>
              </a:rPr>
              <a:t>案例：订单服务发送“支付请求”，随后等待“支付成功”信号或超时；支付结果作为对象流传给“确认订单”。输入输出引脚可类比动作需要和产生的数据接口。</a:t>
            </a:r>
          </a:p>
          <a:p>
            <a:r>
              <a:rPr lang="zh-CN" sz="1400">
                <a:latin typeface="Noto Sans SC"/>
                <a:ea typeface="Noto Sans SC"/>
              </a:rPr>
              <a:t>课堂提问：控制流到达是否一定意味着数据也准备好了？参考回答：还要检查动作要求的输入数据。用这一点说明只画步骤而忽略数据，可能留下无法执行的模型。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2.5.1，第15、16章。https://www.omg.org/spec/UML/2.5.1/PDF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【课堂组织】选讲。只追踪一个发送、接收与数据传递片段。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【观察学生回答】能分清控制到达与所需输入数据准备好。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9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异常处理器用于处理受保护行为执行时产生的异常；可中断活动区域表示区域内的执行可被指定的中断流打断。两者都处理非正常或中止路径，但建模位置和触发方式不同。</a:t>
            </a:r>
          </a:p>
          <a:p>
            <a:r>
              <a:rPr lang="zh-CN" sz="1400">
                <a:latin typeface="Noto Sans SC"/>
                <a:ea typeface="Noto Sans SC"/>
              </a:rPr>
              <a:t>案例：调用支付接口抛出异常后进入“记录失败并提示重试”；用户在付款完成前点击取消，则可中断仍在进行的订单确认活动。</a:t>
            </a:r>
          </a:p>
          <a:p>
            <a:r>
              <a:rPr lang="zh-CN" sz="1400">
                <a:latin typeface="Noto Sans SC"/>
                <a:ea typeface="Noto Sans SC"/>
              </a:rPr>
              <a:t>强调不能仅靠画一条“取消”箭头就假定资源已经回滚。业务模型还应说明释放名额、撤销预占等必要动作。异常恢复规则应与用例的异常流程相互核对。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2.5.1，第15、16章。https://www.omg.org/spec/UML/2.5.1/PDF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【课堂组织】选讲。围绕原图辨认异常处理位置和中断区域。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【观察学生回答】能指出触发条件及中断后所需处理，未知规则不补造。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10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本页用例活动图是在活动图基础上的课程建模用法，重点描述某一用例场景的过程与责任。讲解时先读用例目标，再沿基本流、备选流、异常流映射动作。</a:t>
            </a:r>
          </a:p>
          <a:p>
            <a:r>
              <a:rPr lang="zh-CN" sz="1400">
                <a:latin typeface="Noto Sans SC"/>
                <a:ea typeface="Noto Sans SC"/>
              </a:rPr>
              <a:t>案例：学生选课的目标是获得可确认的选课结果；活动包括提交请求、校验条件、保存记录、返回结果，不能只把界面按钮逐一连起来。</a:t>
            </a:r>
          </a:p>
          <a:p>
            <a:r>
              <a:rPr lang="zh-CN" sz="1400">
                <a:latin typeface="Noto Sans SC"/>
                <a:ea typeface="Noto Sans SC"/>
              </a:rPr>
              <a:t>范围说明：本页“仅针对单个用例场景”是本课程的范围约定，不是 UML 活动图只能描述单一用例的限制。业务用例、系统用例、概念用例的划分采用本课程术语，不是强制的 UML 开发阶段。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【课堂组织】应用。从一个用例目标出发，说出实现目标所需的动作。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【观察学生回答】动作能对应用例步骤，不仅是界面按钮。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11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沿登机手续示例区分三类路径。基本流描述正常办理；备选流是合法条件下的另一种方式；异常流处理证件、行李或系统故障等导致目标受阻的情况。</a:t>
            </a:r>
          </a:p>
          <a:p>
            <a:r>
              <a:rPr lang="zh-CN" sz="1400">
                <a:latin typeface="Noto Sans SC"/>
                <a:ea typeface="Noto Sans SC"/>
              </a:rPr>
              <a:t>补充案例：选课余量充足时直接成功是基本流；允许候补并选择候补是备选流；选课服务不可用而返回稍后重试是异常流。分类要看具体业务规则，不能仅以发生频率决定。</a:t>
            </a:r>
          </a:p>
          <a:p>
            <a:r>
              <a:rPr lang="zh-CN" sz="1400">
                <a:latin typeface="Noto Sans SC"/>
                <a:ea typeface="Noto Sans SC"/>
              </a:rPr>
              <a:t>课堂练习：让同学为一个判断节点补上互斥条件，检查是否存在未覆盖的情况，并说明失败或候补最终返回什么结果。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【课堂组织】补全练习。任选原图一个判断点，口述两种条件和后续路径。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【观察学生回答】能按该场景说明基本、备选、异常路径。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12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顺序图关注参与交互的生命线、消息及其发生顺序，用来描述某个场景如何完成。先确定场景，再列出参与交互的角色或对象，最后识别消息和必要的控制片段。</a:t>
            </a:r>
          </a:p>
          <a:p>
            <a:r>
              <a:rPr lang="zh-CN" sz="1400">
                <a:latin typeface="Noto Sans SC"/>
                <a:ea typeface="Noto Sans SC"/>
              </a:rPr>
              <a:t>案例：学生在页面点击选课，页面调用选课服务，服务按余量处理已有待处理记录并返回结果。对比活动图：同样的业务，顺序图更清楚地显示谁调用谁。</a:t>
            </a:r>
          </a:p>
          <a:p>
            <a:r>
              <a:rPr lang="zh-CN" sz="1400">
                <a:latin typeface="Noto Sans SC"/>
                <a:ea typeface="Noto Sans SC"/>
              </a:rPr>
              <a:t>术语说明：原页将用例实现与协作联系起来，适合作为方法上的说明；用例场景、UML Collaboration 和 Interaction 并非必须一一对应的同一元素。一个交互也可用组合片段覆盖多个分支。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2.5.1，第17章。https://www.omg.org/spec/UML/2.5.1/PDF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与P5补充案例衔接：页面请求处理记录，服务查询课程余量；有余量确认记录并返回成功，无余量拒绝并返回失败。参与者命名属于课堂示例，不能据此认定所有实际系统必须采用这一架构。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【课堂组织】重点。把活动步骤“确认选课”改说成谁向谁发消息。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【观察学生回答】回答包含发送者、接收者和消息含义。</a:t>
            </a:r>
          </a:p>
          <a:p>
            <a:r>
              <a:rPr lang="zh-CN" sz="1400">
                <a:latin typeface="Noto Sans SC"/>
                <a:ea typeface="Noto Sans SC"/>
              </a:rPr>
              <a:t>【依据】原稿定义；UML第17章。https://www.omg.org/spec/UML/2.5.1/PDF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13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顺序图可以随着模型抽象层次逐步细化。业务层说明业务对象如何协作；分析层说明边界、控制、实体等职责如何合作；设计层再具体到服务、接口或类的操作。</a:t>
            </a:r>
          </a:p>
          <a:p>
            <a:r>
              <a:rPr lang="zh-CN" sz="1400">
                <a:latin typeface="Noto Sans SC"/>
                <a:ea typeface="Noto Sans SC"/>
              </a:rPr>
              <a:t>贯穿案例：业务层写“提交选课申请”；分析层写“选课边界请求选课控制”；设计层可写 enroll(studentId, offeringId)。三个层次要保持业务含义一致。</a:t>
            </a:r>
          </a:p>
          <a:p>
            <a:r>
              <a:rPr lang="zh-CN" sz="1400">
                <a:latin typeface="Noto Sans SC"/>
                <a:ea typeface="Noto Sans SC"/>
              </a:rPr>
              <a:t>课堂提问：概念层是否需要数据库连接池、HTTP 状态码？参考回答：通常不需要，除非它们正是该模型要解决的问题。不要把实现细节提前塞入业务模型。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【课堂组织】略讲。对照同一业务描述和一个设计层操作名。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【观察学生回答】能说明细化前后业务含义一致，细节层次不同。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14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本页并列网上购物对象模型及两个层次的时序图片段。先在左侧找出商品、订单、支付等业务概念，再到中间查找相应生命线，最后观察右侧更细的交互职责。</a:t>
            </a:r>
          </a:p>
          <a:p>
            <a:r>
              <a:rPr lang="zh-CN" sz="1400">
                <a:latin typeface="Noto Sans SC"/>
                <a:ea typeface="Noto Sans SC"/>
              </a:rPr>
              <a:t>讲解步骤：任选“查询商品”或“提交订单”，追踪请求发出、处理和返回，说明同一业务动作在更细层次可能分解为多条消息。</a:t>
            </a:r>
          </a:p>
          <a:p>
            <a:r>
              <a:rPr lang="zh-CN" sz="1400">
                <a:latin typeface="Noto Sans SC"/>
                <a:ea typeface="Noto Sans SC"/>
              </a:rPr>
              <a:t>课堂提问：能否在类图中找到顺序图生命线对应的类型及操作？参考回答：应能建立合理映射；若名称或职责冲突，要回头修改模型。图多不代表一致，跨图核对才有价值。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【课堂组织】读图示范。在网上购物原图中选一个可见交互，核对左侧对象模型。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【观察学生回答】只依据图中可见名称解释，不补全图外调用。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15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生命线表示一次交互中的参与者，头部可写实例名和类型，竖向虚线表示它在交互中的存在。销毁标记表示参与者在该处结束存在；组合片段表达带条件、循环或并发等控制结构。</a:t>
            </a:r>
          </a:p>
          <a:p>
            <a:r>
              <a:rPr lang="zh-CN" sz="1400">
                <a:latin typeface="Noto Sans SC"/>
                <a:ea typeface="Noto Sans SC"/>
              </a:rPr>
              <a:t>案例：临时支付会话在支付结束后被销毁，订单对象仍继续存在。不能因为一个方法返回就给对象画销毁符号。</a:t>
            </a:r>
          </a:p>
          <a:p>
            <a:r>
              <a:rPr lang="zh-CN" sz="1400">
                <a:latin typeface="Noto Sans SC"/>
                <a:ea typeface="Noto Sans SC"/>
              </a:rPr>
              <a:t>读图时先看生命线职责，再看消息方向。竖向距离通常用于表达先后，不自动代表精确持续时间；若需要展示明确的延迟或截止时间，应补充时间约束。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2.5.1，第17章。https://www.omg.org/spec/UML/2.5.1/PDF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【课堂组织】重点。辨认生命线、销毁符号、组合片段。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【观察学生回答】能说明方法返回不等于对象销毁。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16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同步消息的调用方等待被调用行为返回；返回消息表示回复，可在语义明确时省略。异步消息发送后不要求发送方等待接收方处理结束。</a:t>
            </a:r>
          </a:p>
          <a:p>
            <a:r>
              <a:rPr lang="zh-CN" sz="1400">
                <a:latin typeface="Noto Sans SC"/>
                <a:ea typeface="Noto Sans SC"/>
              </a:rPr>
              <a:t>案例：查询课程余量通常需要结果后才能继续，可用同步调用；选课成功后发送通知事件，可用异步消息。异步不等于必然更快，也不自动保证可靠送达。</a:t>
            </a:r>
          </a:p>
          <a:p>
            <a:r>
              <a:rPr lang="zh-CN" sz="1400">
                <a:latin typeface="Noto Sans SC"/>
                <a:ea typeface="Noto Sans SC"/>
              </a:rPr>
              <a:t>lost/found message 表示消息接收端或发送端未在当前交互中给出，不宜一概解释为真实网络丢包或来源不可信。读图时要区分模型省略的信息与实际系统故障。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2.5.1，第17章。https://www.omg.org/spec/UML/2.5.1/PDF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【课堂组织】重点。对比查询余量与发送通知，分别说明调用方是否等待。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【观察学生回答】能解释同步/异步，不以消息名字代替语义判断。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17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先比较图中 register(course) 的同步与异步表示，再读消息命名的语法。消息一般包含操作或信号名称、参数，必要时标明返回值或赋值目标。</a:t>
            </a:r>
          </a:p>
          <a:p>
            <a:r>
              <a:rPr lang="zh-CN" sz="1400">
                <a:latin typeface="Noto Sans SC"/>
                <a:ea typeface="Noto Sans SC"/>
              </a:rPr>
              <a:t>案例：同步 getRemainingSeats(courseId) 返回剩余名额；异步 courseEnrolled(studentId, courseId) 通知其他组件。不要仅靠消息名称判断同步性，要同时看箭头符号和交互约定。</a:t>
            </a:r>
          </a:p>
          <a:p>
            <a:r>
              <a:rPr lang="zh-CN" sz="1400">
                <a:latin typeface="Noto Sans SC"/>
                <a:ea typeface="Noto Sans SC"/>
              </a:rPr>
              <a:t>让同学用一句话说清“谁向谁发送什么，发送后是否等待”。回答应同时覆盖发送方、接收方、消息及等待行为，避免只背空心箭头或实心箭头。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【课堂组织】短练习。口述register(course)对应的发送方、接收方与等待行为。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【观察学生回答】四个要素齐全；完整消息语法可查阅。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18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先读普通弱顺序下同一生命线上的局部顺序，再找一条消息的发送与接收，以及跨生命线的显式约束。组合片段也会改变允许的交错方式，因此不要只按整个页面的高度把所有消息排成唯一序列。</a:t>
            </a:r>
          </a:p>
          <a:p>
            <a:r>
              <a:rPr lang="zh-CN" sz="1400">
                <a:latin typeface="Noto Sans SC"/>
                <a:ea typeface="Noto Sans SC"/>
              </a:rPr>
              <a:t>原图中getData请求先发送后接收，查询结果返回后再处理数据。另一条没有建立联系的生命线上的事件，不能仅凭高度判断与查询的先后。顺序约束还可由一般顺序、组合片段、时间约束等表达。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语义参考：UML第17章，尤其17.5、17.6.3.10—17.6.3.12。https://www.omg.org/spec/UML/2.5.1/PDF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【课堂组织】重点。在getData示例中指出发送、接收、返回的约束。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【观察学生回答】不将无联系生命线的版面高度当成全局时钟。</a:t>
            </a:r>
          </a:p>
          <a:p>
            <a:r>
              <a:rPr lang="zh-CN" sz="1400">
                <a:latin typeface="Noto Sans SC"/>
                <a:ea typeface="Noto Sans SC"/>
              </a:rPr>
              <a:t>【依据】UML 17.5、17.6.3.10—17.6.3.12；原Notes已有相同限定。https://www.omg.org/spec/UML/2.5.1/PDF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【本次校正】原图(a)事件为a、c，原说明写a、b属于标号笔误，已按图改正。轨迹编号统一为原图T01/T02。先后说明仅针对本页各图，不推导跨生命线的全局时间顺序。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【查阅定位】原稿P19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按照三个小图逐一推导允许的轨迹。先找同一生命线上的先后，再找消息造成的因果关系，最后列出仍可交换顺序的事件。</a:t>
            </a:r>
          </a:p>
          <a:p>
            <a:r>
              <a:rPr lang="zh-CN" sz="1400">
                <a:latin typeface="Noto Sans SC"/>
                <a:ea typeface="Noto Sans SC"/>
              </a:rPr>
              <a:t>左图 a、c 的发送发生在同一生命线上，先后固定；中图发送点分属不同生命线且没有给出联系，因此可出现 a→c 或 c→a；右图通过 b 建立联系后，得到图示的 a→b→c。</a:t>
            </a:r>
          </a:p>
          <a:p>
            <a:r>
              <a:rPr lang="zh-CN" sz="1400">
                <a:latin typeface="Noto Sans SC"/>
                <a:ea typeface="Noto Sans SC"/>
              </a:rPr>
              <a:t>说明：图中用“消息 a 在消息 b 之前”是便于讨论的简写。严格分析要区分发送事件与接收事件，不可把一条消息当作没有传输过程的单一瞬间。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【课堂组织】补全练习。先找约束，再判断a、c的两种次序是否允许。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【观察学生回答】每个判断都指出依据的生命线或消息联系。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20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组合片段把一组交互按操作符组织起来。先识别左上角操作符，再看片段覆盖的生命线、操作数分隔线和守卫条件。</a:t>
            </a:r>
          </a:p>
          <a:p>
            <a:r>
              <a:rPr lang="zh-CN" sz="1400">
                <a:latin typeface="Noto Sans SC"/>
                <a:ea typeface="Noto Sans SC"/>
              </a:rPr>
              <a:t>基础重点是 alt、opt、loop。break 结合失败退出示例，seq、strict、par 用于辨析顺序与并发。其余操作符保留查阅，按课时选讲。案例：登录结果使用 alt，是否发送提醒使用 opt，批量处理使用 loop，两个独立任务使用 par。</a:t>
            </a:r>
          </a:p>
          <a:p>
            <a:r>
              <a:rPr lang="zh-CN" sz="1400">
                <a:latin typeface="Noto Sans SC"/>
                <a:ea typeface="Noto Sans SC"/>
              </a:rPr>
              <a:t>课堂提问：为什么不能把所有分支都画成普通箭头？参考回答：普通消息线不能明确表达哪组消息只在什么条件下发生，也不能完整说明并发与重复约束。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【课堂组织】学习分层。先掌握alt/opt/loop，break结合失败退出；seq/strict/par用于辨析先后。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【观察学生回答】能用一句话说明各片段用途，不要求一次背全表。</a:t>
            </a:r>
          </a:p>
          <a:p>
            <a:r>
              <a:rPr lang="zh-CN" sz="1400">
                <a:latin typeface="Noto Sans SC"/>
                <a:ea typeface="Noto Sans SC"/>
              </a:rPr>
              <a:t>【依据】原稿组合片段表；UML 17.6；教学取舍依据IES示范与练习交替。https://www.omg.org/spec/UML/2.5.1/PDF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21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alt 表示备选交互，运行时按守卫选择操作数。图中用注册状态选择成功、候补或其他分支；[else] 表示前面条件都不满足时的分支。</a:t>
            </a:r>
          </a:p>
          <a:p>
            <a:r>
              <a:rPr lang="zh-CN" sz="1400">
                <a:latin typeface="Noto Sans SC"/>
                <a:ea typeface="Noto Sans SC"/>
              </a:rPr>
              <a:t>案例：有余量则选课成功，无余量但允许候补则加入候补，其他情况返回失败。让同学检查条件是否覆盖所有需要处理的情况。</a:t>
            </a:r>
          </a:p>
          <a:p>
            <a:r>
              <a:rPr lang="zh-CN" sz="1400">
                <a:latin typeface="Noto Sans SC"/>
                <a:ea typeface="Noto Sans SC"/>
              </a:rPr>
              <a:t>讲解补充：为了得到确定行为，业务上通常将条件设计为互斥；若多个守卫同时为真，UML 允许在符合条件的分支中非确定选择，不能把“必须互斥”理解为所有 alt 图的语法硬性规则。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2.5.1，第17章。https://www.omg.org/spec/UML/2.5.1/PDF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【课堂组织】重点。沿原图比较成功、候补与else分支，指出守卫。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【观察学生回答】能解释哪个条件选哪个分支，知道互斥是确定性设计建议。</a:t>
            </a:r>
          </a:p>
          <a:p>
            <a:r>
              <a:rPr lang="zh-CN" sz="1400">
                <a:latin typeface="Noto Sans SC"/>
                <a:ea typeface="Noto Sans SC"/>
              </a:rPr>
              <a:t>【依据】UML 17.6.3.7，PDF第625页；原Notes已有该限定。https://www.omg.org/spec/UML/2.5.1/PDF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22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opt 表示一个可选交互，只有一个操作数：守卫为真则执行，为假则跳过这个片段，然后继续后续交互。可类比没有 else 的 if，但仍应以图中交互含义为准。</a:t>
            </a:r>
          </a:p>
          <a:p>
            <a:r>
              <a:rPr lang="zh-CN" sz="1400">
                <a:latin typeface="Noto Sans SC"/>
                <a:ea typeface="Noto Sans SC"/>
              </a:rPr>
              <a:t>沿原图指出候补流程内的可选注册片段。补充案例：选课成功后，[订阅提醒] 条件为真才发送提醒，否则仍然正常完成选课。</a:t>
            </a:r>
          </a:p>
          <a:p>
            <a:r>
              <a:rPr lang="zh-CN" sz="1400">
                <a:latin typeface="Noto Sans SC"/>
                <a:ea typeface="Noto Sans SC"/>
              </a:rPr>
              <a:t>对比 alt：若需要表达两个或更多相互备选的处理过程，应选择 alt；如果只有“做或不做”一个过程，opt 更清楚。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【课堂组织】重点。比较发送提醒“做或不做”与两种不同处理结果。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【观察学生回答】前者可用opt，后者通常用alt。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23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loop 表示重复一个操作数，并可指定最少次数、最多次数及继续执行的守卫。原图中的星号表示没有给出上限，不代表业务上应允许无限重试。</a:t>
            </a:r>
          </a:p>
          <a:p>
            <a:r>
              <a:rPr lang="zh-CN" sz="1400">
                <a:latin typeface="Noto Sans SC"/>
                <a:ea typeface="Noto Sans SC"/>
              </a:rPr>
              <a:t>案例：登录最多尝试三次，可将次数范围和“仍未验证成功”的条件一起说明。让同学分别推演第一次成功、第三次成功、三次都失败的路径。</a:t>
            </a:r>
          </a:p>
          <a:p>
            <a:r>
              <a:rPr lang="zh-CN" sz="1400">
                <a:latin typeface="Noto Sans SC"/>
                <a:ea typeface="Noto Sans SC"/>
              </a:rPr>
              <a:t>读图时不要机械套用某种语言的 for 或 while。应同时读 min、max 和 guard，明确何时检查条件、何时退出，以及循环外的错误处理。需要业务上限时应显式写出。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2.5.1，第17章。https://www.omg.org/spec/UML/2.5.1/PDF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【课堂组织】重点。推演最早成功和达到次数上限仍失败两种情况。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【观察学生回答】同时考虑次数范围与继续条件。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24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break 的守卫满足时，执行该片段的交互，并替代所在直接外层交互片段的剩余部分；不是简单跳过它自己，也不是无条件结束整个系统。</a:t>
            </a:r>
          </a:p>
          <a:p>
            <a:r>
              <a:rPr lang="zh-CN" sz="1400">
                <a:latin typeface="Noto Sans SC"/>
                <a:ea typeface="Noto Sans SC"/>
              </a:rPr>
              <a:t>沿图追踪：a 之后若 a&lt;1，执行 break 中的 b、c，略过同一外层 seq 剩余的 d，再执行更外层的 e。守卫不满足时跳过 break，继续 d、e。</a:t>
            </a:r>
          </a:p>
          <a:p>
            <a:r>
              <a:rPr lang="zh-CN" sz="1400">
                <a:latin typeface="Noto Sans SC"/>
                <a:ea typeface="Noto Sans SC"/>
              </a:rPr>
              <a:t>对比 opt：opt 执行后通常继续所在片段后续行为；break 会舍弃所包围交互的剩余部分。课堂提问时先让同学圈定“直接外层”的边界。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2.5.1，第17章。https://www.omg.org/spec/UML/2.5.1/PDF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【课堂组织】选讲。先圈直接外层片段，再判断哪些消息被break省略。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【观察学生回答】不会将break理解为结束整个系统。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25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本页把 loop 与 break 放在登录和注册场景中。先用最多三次的循环校验密码；若循环结束后密码仍不正确，进入 break，返回错误并停止后续注册交互。</a:t>
            </a:r>
          </a:p>
          <a:p>
            <a:r>
              <a:rPr lang="zh-CN" sz="1400">
                <a:latin typeface="Noto Sans SC"/>
                <a:ea typeface="Noto Sans SC"/>
              </a:rPr>
              <a:t>课堂提问：第三次仍失败时，是否还能向数据库发送 enter(matNo, exam)？参考回答：按本图的 break 范围，不应继续注册。若登录成功，则跳过错误 break，再进入注册。</a:t>
            </a:r>
          </a:p>
          <a:p>
            <a:r>
              <a:rPr lang="zh-CN" sz="1400">
                <a:latin typeface="Noto Sans SC"/>
                <a:ea typeface="Noto Sans SC"/>
              </a:rPr>
              <a:t>强调守卫表达的是当时的业务状态；不能只数三次箭头就假定认证通过。可把两种轨迹作为测试用例，分别检查失败退出和成功继续。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【课堂组织】应用检查。比较认证成功与三次失败两条路径。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【观察学生回答】失败路径不能继续原图后续注册。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26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seq 是弱顺序：保留每个操作数内部的顺序；同一生命线跨操作数仍遵守先后；不同生命线之间未约束的事件可交错。</a:t>
            </a:r>
          </a:p>
          <a:p>
            <a:r>
              <a:rPr lang="zh-CN" sz="1400">
                <a:latin typeface="Noto Sans SC"/>
                <a:ea typeface="Noto Sans SC"/>
              </a:rPr>
              <a:t>按原图先建立 a 在 b 之前、c 在 d 之前等局部约束，再根据共享生命线判断哪些跨操作数事件必须有序。右侧列出的轨迹用于说明 c 可插入不同位置，而 e 仍受图中约束位于最后。</a:t>
            </a:r>
          </a:p>
          <a:p>
            <a:r>
              <a:rPr lang="zh-CN" sz="1400">
                <a:latin typeface="Noto Sans SC"/>
                <a:ea typeface="Noto Sans SC"/>
              </a:rPr>
              <a:t>课堂练习：给出一条候选轨迹，让同学逐条检查约束，而不是凭“看起来从上到下”判断。强调弱顺序不是完全无序，也不是所有消息都按版面高度全局排序。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2.5.1，第17章。https://www.omg.org/spec/UML/2.5.1/PDF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【课堂组织】进阶辨析。给一条轨迹，逐条核对局部顺序和共享生命线约束。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【观察学生回答】能用约束说明合法性，而非凭图上高低。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27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strict 在不同操作数之间施加严格顺序：上方操作数完成后，才开始下方操作数中的事件。每个操作数内部仍保留其自身已有的交互语义。</a:t>
            </a:r>
          </a:p>
          <a:p>
            <a:r>
              <a:rPr lang="zh-CN" sz="1400">
                <a:latin typeface="Noto Sans SC"/>
                <a:ea typeface="Noto Sans SC"/>
              </a:rPr>
              <a:t>案例：必须完成“身份核验”阶段的所有交互，才能开始“发放凭证”阶段，可用 strict 表达阶段屏障。</a:t>
            </a:r>
          </a:p>
          <a:p>
            <a:r>
              <a:rPr lang="zh-CN" sz="1400">
                <a:latin typeface="Noto Sans SC"/>
                <a:ea typeface="Noto Sans SC"/>
              </a:rPr>
              <a:t>与上一页比较：若两个事件分属不同生命线，seq 可能允许交错，而 strict 会禁止跨操作数的这种交错。不要把 strict 误解为自动保证业务事务一致性或将整个系统变成单线程。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2.5.1，第17章。https://www.omg.org/spec/UML/2.5.1/PDF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【课堂组织】进阶辨析。与seq对照，说出strict新增的跨操作数约束。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【观察学生回答】上方操作数先完成，下方操作数才开始。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【展示方式】本页作为已给出解答的示例讲解，不作为答案隐藏的独立测验。可请学生解释已显示的条件或步骤。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【查阅定位】原稿P28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par 允许不同操作数中的事件交错执行，同时保留各自操作数内部的顺序。可用两组卡片分别写 a→b 与 c→d→e，再让同学合并为合法轨迹。</a:t>
            </a:r>
          </a:p>
          <a:p>
            <a:r>
              <a:rPr lang="zh-CN" sz="1400">
                <a:latin typeface="Noto Sans SC"/>
                <a:ea typeface="Noto Sans SC"/>
              </a:rPr>
              <a:t>例如 a,c,b,d,e 与 c,d,a,e,b 都可能合法，但不能颠倒 a 与 b，也不能颠倒 c、d、e 的内部顺序。用此方法检查图中列出的轨迹。</a:t>
            </a:r>
          </a:p>
          <a:p>
            <a:r>
              <a:rPr lang="zh-CN" sz="1400">
                <a:latin typeface="Noto Sans SC"/>
                <a:ea typeface="Noto Sans SC"/>
              </a:rPr>
              <a:t>讲解补充：这里区分逻辑并发与物理同时执行。par 不要求同一时刻或多核执行，也不禁止实现真正并行；它本身不规定线程调度。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2.5.1，第17章。https://www.omg.org/spec/UML/2.5.1/PDF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【课堂组织】重点辨析。用a、b与c、d、e两组卡片排出不同合法轨迹。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【观察学生回答】保留每组内部顺序，允许组间交错。</a:t>
            </a:r>
          </a:p>
          <a:p>
            <a:r>
              <a:rPr lang="zh-CN" sz="1400">
                <a:latin typeface="Noto Sans SC"/>
                <a:ea typeface="Noto Sans SC"/>
              </a:rPr>
              <a:t>【依据】UML 17.6.3.10，PDF第625页；原Notes已有该限定。https://www.omg.org/spec/UML/2.5.1/PDF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29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本页用选课与考试安排展示 par。先分别圈出两个操作数：学生查询和注册课程是一条交互；教师发布考试及系统预约教室是另一条交互。</a:t>
            </a:r>
          </a:p>
          <a:p>
            <a:r>
              <a:rPr lang="zh-CN" sz="1400">
                <a:latin typeface="Noto Sans SC"/>
                <a:ea typeface="Noto Sans SC"/>
              </a:rPr>
              <a:t>课堂提问：能否让预约教室发生在教师发出考试通知之前？参考回答：若它们在同一操作数中已规定先后，就不能因为外层是 par 而打乱。两个操作数之间未规定的事件则可以交错。</a:t>
            </a:r>
          </a:p>
          <a:p>
            <a:r>
              <a:rPr lang="zh-CN" sz="1400">
                <a:latin typeface="Noto Sans SC"/>
                <a:ea typeface="Noto Sans SC"/>
              </a:rPr>
              <a:t>工程联想：并发交互如果会争用同一个名额或教室，还需要进一步建模冲突规则；仅画 par 不能证明没有竞态条件。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【课堂组织】选讲。在原选课和考试安排图中追踪一个操作数。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【观察学生回答】并发不改变该操作数内已经规定的先后。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30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状态图关注一个对象在生命周期中如何响应事件。本页 LectureHall 用 free 属性区分空闲和占用，occupy、release 对应改变状态的操作。</a:t>
            </a:r>
          </a:p>
          <a:p>
            <a:r>
              <a:rPr lang="zh-CN" sz="1400">
                <a:latin typeface="Noto Sans SC"/>
                <a:ea typeface="Noto Sans SC"/>
              </a:rPr>
              <a:t>按本页简化模型，occupy令free=false，release令free=true。这里只把教室抽象为空闲/占用，不由此推断现实预约是否立即占用教室。请同学比较类图只给出 free 和操作名时，还缺少哪些行为规则。</a:t>
            </a:r>
          </a:p>
          <a:p>
            <a:r>
              <a:rPr lang="zh-CN" sz="1400">
                <a:latin typeface="Noto Sans SC"/>
                <a:ea typeface="Noto Sans SC"/>
              </a:rPr>
              <a:t>状态不必机械等于某一个布尔字段的值；复杂对象可以用多个属性和约束描述状态。业务、分析、设计层都能画状态图，但各层的状态名称与事件粒度应匹配。</a:t>
            </a:r>
          </a:p>
          <a:p>
            <a:r>
              <a:rPr lang="zh-CN" sz="1400">
                <a:latin typeface="Noto Sans SC"/>
                <a:ea typeface="Noto Sans SC"/>
              </a:rPr>
              <a:t>回到P5课堂案例时，建模对象换成“选课记录”，观察待处理、已确认、已拒绝。强调换了对象上下文，不能把教室的free值和记录状态混在同一状态机里。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【课堂组织】重点。先确定建模对象是LectureHall，再读occupy/release。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【观察学生回答】状态归属于同一个对象；不把占用操作当成整个系统。</a:t>
            </a:r>
          </a:p>
          <a:p>
            <a:r>
              <a:rPr lang="zh-CN" sz="1400">
                <a:latin typeface="Noto Sans SC"/>
                <a:ea typeface="Noto Sans SC"/>
              </a:rPr>
              <a:t>【依据】原稿LectureHall图、代码与Notes；UML 14.2。https://www.omg.org/spec/UML/2.5.1/PDF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31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沿电子时钟例子读三种状态：显示时间、设置小时、设置分钟。同一个 set 或 inc 事件的效果，取决于时钟当前所处状态。</a:t>
            </a:r>
          </a:p>
          <a:p>
            <a:r>
              <a:rPr lang="zh-CN" sz="1400">
                <a:latin typeface="Noto Sans SC"/>
                <a:ea typeface="Noto Sans SC"/>
              </a:rPr>
              <a:t>演示：从显示时间按 set 进入设置小时，再按 inc 增加小时，再按 set 进入设置分钟，再按 inc 增加分钟。让同学追踪 do 行为和进入状态时的提示音。</a:t>
            </a:r>
          </a:p>
          <a:p>
            <a:r>
              <a:rPr lang="zh-CN" sz="1400">
                <a:latin typeface="Noto Sans SC"/>
                <a:ea typeface="Noto Sans SC"/>
              </a:rPr>
              <a:t>课堂提问：为什么不能仅列出 set()、inc() 两个方法就完整说明时钟行为？参考回答：方法的可用含义与执行结果依赖当前状态，状态图补出了类图中没有表达的条件与转换。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【课堂组织】现场演示。用口述按键模拟set、inc，并让学生报出当前状态。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【观察学生回答】同一事件的效果能够随当前状态解释。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32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状态内可说明 entry、doActivity、exit。entry 在进入状态时执行，exit 在离开时执行，doActivity 在状态活跃期间开展，可能完成，也可能因状态退出而被终止。</a:t>
            </a:r>
          </a:p>
          <a:p>
            <a:r>
              <a:rPr lang="zh-CN" sz="1400">
                <a:latin typeface="Noto Sans SC"/>
                <a:ea typeface="Noto Sans SC"/>
              </a:rPr>
              <a:t>案例：教室进入 occupied 时保存预约信息，处于 occupied 时展示占用状态，退出时清理该预约的占用标记。</a:t>
            </a:r>
          </a:p>
          <a:p>
            <a:r>
              <a:rPr lang="zh-CN" sz="1400">
                <a:latin typeface="Noto Sans SC"/>
                <a:ea typeface="Noto Sans SC"/>
              </a:rPr>
              <a:t>不要把 do 理解成每毫秒自动重复执行一次的方法，也不要把 entry、do、exit 当成可任意并行的三段代码。后面将通过内部迁移、外部自迁移说明为什么“收到事件”不总意味着重新执行 entry。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2.5.1，第13、14章。https://www.omg.org/spec/UML/2.5.1/PDF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【课堂组织】重点。对照教室图说出进入、处于、离开状态时各做什么。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【观察学生回答】do不是规定每毫秒重跑的循环。</a:t>
            </a:r>
          </a:p>
          <a:p>
            <a:r>
              <a:rPr lang="zh-CN" sz="1400">
                <a:latin typeface="Noto Sans SC"/>
                <a:ea typeface="Noto Sans SC"/>
              </a:rPr>
              <a:t>【依据】UML 14.2.3.4.3，PDF第351页。https://www.omg.org/spec/UML/2.5.1/PDF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【展示方式】本页作为已给出解答的示例讲解，不作为答案隐藏的独立测验。可请学生解释已显示的条件或步骤。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【查阅定位】原稿P33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迁移标签按trigger [guard] / effect阅读：触发事件、守卫条件和迁移效果。箭头连接源状态与目标状态。</a:t>
            </a:r>
          </a:p>
          <a:p>
            <a:r>
              <a:rPr lang="zh-CN" sz="1400">
                <a:latin typeface="Noto Sans SC"/>
                <a:ea typeface="Noto Sans SC"/>
              </a:rPr>
              <a:t>课堂补全沿用P5：源状态“待处理”；事件confirm；守卫[有余量]；效果“记录确认结果”；目标状态“已确认”。无余量的拒绝路径需要另行表达，不由这条守卫为假的边自动完成。业务描述存在多种合理模型，这里给出一种与约定一致的课堂答案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语义参考：UML 14.2。https://www.omg.org/spec/UML/2.5.1/PDF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【课堂组织】补全练习。将页面选课句子拆成源状态、事件、条件、效果、目标状态。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【观察学生回答】五项齐全；事件与效果没有循环因果。</a:t>
            </a:r>
          </a:p>
          <a:p>
            <a:r>
              <a:rPr lang="zh-CN" sz="1400">
                <a:latin typeface="Noto Sans SC"/>
                <a:ea typeface="Noto Sans SC"/>
              </a:rPr>
              <a:t>【依据】原稿迁移示意图；UML 14.2.4迁移表示法。https://www.omg.org/spec/UML/2.5.1/PDF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34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事件到来后检查相应迁移的守卫，满足条件才考虑执行。典型外部迁移的讲解顺序是：退出源状态，执行迁移效果，再进入目标状态。</a:t>
            </a:r>
          </a:p>
          <a:p>
            <a:r>
              <a:rPr lang="zh-CN" sz="1400">
                <a:latin typeface="Noto Sans SC"/>
                <a:ea typeface="Noto Sans SC"/>
              </a:rPr>
              <a:t>案例：预约对象收到 cancel [尚未开始] / 释放教室，随后进入已取消。若已经开始，守卫不满足，应按模型中的其他处理或拒绝规则响应。</a:t>
            </a:r>
          </a:p>
          <a:p>
            <a:r>
              <a:rPr lang="zh-CN" sz="1400">
                <a:latin typeface="Noto Sans SC"/>
                <a:ea typeface="Noto Sans SC"/>
              </a:rPr>
              <a:t>适用范围：本页执行顺序针对普通外部迁移；内部迁移不退出状态。守卫不满足也不能普遍解释为事件立即丢弃，还要考虑其他可用迁移及延迟事件规则。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2.5.1，第13、14章。https://www.omg.org/spec/UML/2.5.1/PDF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【课堂组织】重点。按普通外部迁移顺序解释exit、effect、entry。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【观察学生回答】条件失败只排除该迁移，其他处理须看完整模型。</a:t>
            </a:r>
          </a:p>
          <a:p>
            <a:r>
              <a:rPr lang="zh-CN" sz="1400">
                <a:latin typeface="Noto Sans SC"/>
                <a:ea typeface="Noto Sans SC"/>
              </a:rPr>
              <a:t>【依据】UML 14.2.3.8及事件分派规则；原Notes已有相同限定。https://www.omg.org/spec/UML/2.5.1/PDF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35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对照内部迁移与外部自迁移。内部迁移响应 event1 时仍留在当前状态，只执行指定效果；外部自迁移虽然源和目标名称相同，也会先退出再重新进入。</a:t>
            </a:r>
          </a:p>
          <a:p>
            <a:r>
              <a:rPr lang="zh-CN" sz="1400">
                <a:latin typeface="Noto Sans SC"/>
                <a:ea typeface="Noto Sans SC"/>
              </a:rPr>
              <a:t>按原图读执行顺序：左图仅执行 Activity3；右图先 Activity2（exit），再 Activity3（effect），最后 Activity1（entry）。</a:t>
            </a:r>
          </a:p>
          <a:p>
            <a:r>
              <a:rPr lang="zh-CN" sz="1400">
                <a:latin typeface="Noto Sans SC"/>
                <a:ea typeface="Noto Sans SC"/>
              </a:rPr>
              <a:t>案例：播放器收到“调节音量”通常可内部处理；若“重新加载歌曲”需要停止、清理并重新初始化，可以建模为外部自迁移。让同学说明这两种画法对资源清理和计时器有什么影响。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2.5.1，第13、14章。https://www.omg.org/spec/UML/2.5.1/PDF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【课堂组织】重点辨析。比较内部迁移与外部自迁移的执行行为。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【观察学生回答】内部只执行效果；外部自迁移还执行exit/entry。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【展示方式】本页作为已给出解答的示例讲解，不作为答案隐藏的独立测验。可请学生解释已显示的条件或步骤。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【查阅定位】原稿P36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逐行比较显式事件触发与完成迁移。有 e1 时等待该事件，若还带 [g1] 则事件到来时再判断条件；没有显式触发器时，表示由源状态的完成事件启用。</a:t>
            </a:r>
          </a:p>
          <a:p>
            <a:r>
              <a:rPr lang="zh-CN" sz="1400">
                <a:latin typeface="Noto Sans SC"/>
                <a:ea typeface="Noto Sans SC"/>
              </a:rPr>
              <a:t>图中 do/A1 完成后，才讨论下两行的完成迁移。若完成事件处理时守卫为假，不会仅因稍后守卫变真就自动再次触发，除非又发生相应完成或重新进入等情形。</a:t>
            </a:r>
          </a:p>
          <a:p>
            <a:r>
              <a:rPr lang="zh-CN" sz="1400">
                <a:latin typeface="Noto Sans SC"/>
                <a:ea typeface="Noto Sans SC"/>
              </a:rPr>
              <a:t>课堂提问：将 [g1] 改为 when(g1) 有何不同？参考回答：后者是变化事件触发，不能与完成事件上的守卫混为一谈。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2.5.1，第13、14章。https://www.omg.org/spec/UML/2.5.1/PDF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【课堂组织】选讲。比较显式触发事件与源状态完成事件。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【观察学生回答】守卫变真本身不等于新的完成事件。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【展示方式】本页作为已给出解答的示例讲解，不作为答案隐藏的独立测验。可请学生解释已显示的条件或步骤。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【查阅定位】原稿P37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本页保留原有解题步骤。先让学生解释每一步，再口头给出未显示答案的变式，独立计算。原题推演：进入 S1 时 entry 把 x 设为 4；事件 e 到来时先检查 [x==4]，为真；退出 S1 后 exit 将 x 增为 5；迁移效果 x=x*2 得到 10；进入 S2 后 entry 再加 1，最终为 11。</a:t>
            </a:r>
          </a:p>
          <a:p>
            <a:r>
              <a:rPr lang="zh-CN" sz="1400">
                <a:latin typeface="Noto Sans SC"/>
                <a:ea typeface="Noto Sans SC"/>
              </a:rPr>
              <a:t>关键点：守卫判断发生在退出效果之前，不能先把 x 加到 5 再判定 [x==4]。迁移效果与目标状态 entry 的顺序也不能交换。</a:t>
            </a:r>
          </a:p>
          <a:p>
            <a:r>
              <a:rPr lang="zh-CN" sz="1400">
                <a:latin typeface="Noto Sans SC"/>
                <a:ea typeface="Noto Sans SC"/>
              </a:rPr>
              <a:t>延伸提问：若 S1 的 exit 改成 x=x+2，结果是多少？参考回答：守卫仍通过，之后 6×2+1=13。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【课堂组织】独立检查。要求写出每一步x值，再讨论变式exit加2。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【观察学生回答】原题4、5、10、11；变式最终13，且先判断守卫。</a:t>
            </a:r>
          </a:p>
          <a:p>
            <a:r>
              <a:rPr lang="zh-CN" sz="1400">
                <a:latin typeface="Noto Sans SC"/>
                <a:ea typeface="Noto Sans SC"/>
              </a:rPr>
              <a:t>【依据】原图entry/exit/effect表达式；UML 14.2；算术4、5、10、11。https://www.omg.org/spec/UML/2.5.1/PDF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38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区分信号事件、调用事件和时间事件。信号事件表示接收到信号；调用事件表示收到操作调用；时间事件按指定时刻或相对延迟触发。</a:t>
            </a:r>
          </a:p>
          <a:p>
            <a:r>
              <a:rPr lang="zh-CN" sz="1400">
                <a:latin typeface="Noto Sans SC"/>
                <a:ea typeface="Noto Sans SC"/>
              </a:rPr>
              <a:t>案例：门禁接收到刷卡信号；教室预约对象收到 occupy(user, room) 调用；临时预留在 after(5 minutes) 后超时释放。</a:t>
            </a:r>
          </a:p>
          <a:p>
            <a:r>
              <a:rPr lang="zh-CN" sz="1400">
                <a:latin typeface="Noto Sans SC"/>
                <a:ea typeface="Noto Sans SC"/>
              </a:rPr>
              <a:t>讲解时先问事件从哪里来，再问由哪个状态响应。相对时间应说明参考时点，绝对时间应说明采用的时钟和业务时区；本页日期和时间是语法示例，不是本课程日程。</a:t>
            </a:r>
          </a:p>
          <a:p>
            <a:r>
              <a:rPr lang="zh-CN" sz="1400">
                <a:latin typeface="Noto Sans SC"/>
                <a:ea typeface="Noto Sans SC"/>
              </a:rPr>
              <a:t>表示法参照UML 13.3.4：相对时间使用after，绝对时间使用at。页面at 16:00用于说明指定时刻，具体日期与时区在实际模型中补足。https://www.omg.org/spec/UML/2.5.1/PDF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【课堂组织】重点。给出“收到调用”“过5秒”“到16:00”，分类并解释。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【观察学生回答】分清调用、相对时间、绝对时间及起算点。</a:t>
            </a:r>
          </a:p>
          <a:p>
            <a:r>
              <a:rPr lang="zh-CN" sz="1400">
                <a:latin typeface="Noto Sans SC"/>
                <a:ea typeface="Noto Sans SC"/>
              </a:rPr>
              <a:t>【依据】UML 13.3.3.2—13.3.4，PDF第334—335页。https://www.omg.org/spec/UML/2.5.1/PDF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【展示方式】本页作为已给出解答的示例讲解，不作为答案隐藏的独立测验。可请学生解释已显示的条件或步骤。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【查阅定位】原稿P39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AnyReceiveEvent处理未被相关明确触发器匹配的消息接收事件，all不自动包含时间事件和内部完成事件。完成事件反映状态相关行为及必要子区域的完成条件已满足。变化事件在布尔表达式由假变真时发生。</a:t>
            </a:r>
          </a:p>
          <a:p>
            <a:r>
              <a:rPr lang="zh-CN" sz="1400">
                <a:latin typeface="Noto Sans SC"/>
                <a:ea typeface="Noto Sans SC"/>
              </a:rPr>
              <a:t>例：when(stock&lt;limit)描述库存从不满足到满足补货条件的变化；after(90min)描述相对时间事件。条件监测不意味着规定实现采用忙等待轮询，规范也不固定表达式的求值时机。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语义参考：UML 13.3.3.2—13.3.4、14.2.3.8.3。https://www.omg.org/spec/UML/2.5.1/PDF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【课堂组织】辨析。让学生分类when(x&gt;y)与after(90min)。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【观察学生回答】前者为变化事件，后者为时间事件。</a:t>
            </a:r>
          </a:p>
          <a:p>
            <a:r>
              <a:rPr lang="zh-CN" sz="1400">
                <a:latin typeface="Noto Sans SC"/>
                <a:ea typeface="Noto Sans SC"/>
              </a:rPr>
              <a:t>【依据】UML 13.3.3.2—13.3.4及14.2.3.8.3，PDF第334—335、356—357页。https://www.omg.org/spec/UML/2.5.1/PDF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40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本页比较时间事件与事件上的守卫。上图after(90min)是时间触发；下图收到lecture_ended时才检查[time≥90min]。</a:t>
            </a:r>
          </a:p>
          <a:p>
            <a:r>
              <a:rPr lang="zh-CN" sz="1400">
                <a:latin typeface="Noto Sans SC"/>
                <a:ea typeface="Noto Sans SC"/>
              </a:rPr>
              <a:t>若相对起点已经过90分钟但lecture_ended尚未发生，上图可由时间事件触发，下图仍缺触发事件。若事件发生时守卫为假，该迁移不能执行。</a:t>
            </a:r>
          </a:p>
          <a:p>
            <a:r>
              <a:rPr lang="zh-CN" sz="1400">
                <a:latin typeface="Noto Sans SC"/>
                <a:ea typeface="Noto Sans SC"/>
              </a:rPr>
              <a:t>课堂提问：守卫后来变真会不会自动触发？参考回答：不会仅因守卫变真就触发这条事件迁移。若要描述布尔条件由假变真产生的事件，应单独使用when表达变化事件。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语义参考：UML 13.3.4、14.2.3.8。https://www.omg.org/spec/UML/2.5.1/PDF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【课堂组织】重点辨析。设已经过90分钟但未收到lecture_ended，比较两图。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【观察学生回答】上图可由时间事件触发，下图仍缺触发事件。</a:t>
            </a:r>
          </a:p>
          <a:p>
            <a:r>
              <a:rPr lang="zh-CN" sz="1400">
                <a:latin typeface="Noto Sans SC"/>
                <a:ea typeface="Noto Sans SC"/>
              </a:rPr>
              <a:t>【依据】原图触发标签；UML 13.3.4及14.2.3.8守卫。https://www.omg.org/spec/UML/2.5.1/PDF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41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复合状态包含子状态，可按需要嵌套。先读外层 S1、S2、S3，再读 S1 内的 S1.1 与 S1.2，避免将所有框看成同一层。</a:t>
            </a:r>
          </a:p>
          <a:p>
            <a:r>
              <a:rPr lang="zh-CN" sz="1400">
                <a:latin typeface="Noto Sans SC"/>
                <a:ea typeface="Noto Sans SC"/>
              </a:rPr>
              <a:t>案例：订单“处理中”包含“备货”和“打包”两个子状态；可以在外层统一描述取消处理，而在内部描述正常步骤。</a:t>
            </a:r>
          </a:p>
          <a:p>
            <a:r>
              <a:rPr lang="zh-CN" sz="1400">
                <a:latin typeface="Noto Sans SC"/>
                <a:ea typeface="Noto Sans SC"/>
              </a:rPr>
              <a:t>适用范围：本页按单一区域的非正交复合状态讲解，稳定配置中直接子状态择一活跃。后面的正交状态含多个区域，各区域可以同时有活跃状态，不能把当前规则直接推广过去。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2.5.1，第13、14章。https://www.omg.org/spec/UML/2.5.1/PDF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【课堂组织】层次理解。先说当前复合状态，再说其中活跃的直接子状态。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【观察学生回答】说明当前图单区域的适用范围。</a:t>
            </a:r>
          </a:p>
          <a:p>
            <a:r>
              <a:rPr lang="zh-CN" sz="1400">
                <a:latin typeface="Noto Sans SC"/>
                <a:ea typeface="Noto Sans SC"/>
              </a:rPr>
              <a:t>【依据】UML 14.2.3.4.1—14.2.3.4.2，PDF第350页；原Notes已有限定。https://www.omg.org/spec/UML/2.5.1/PDF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42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迁移指向复合状态的边界时，按该区域的初始伪状态进入默认子状态。本图从 S3 通过 e2 进入 S1，再进入 S1.1。</a:t>
            </a:r>
          </a:p>
          <a:p>
            <a:r>
              <a:rPr lang="zh-CN" sz="1400">
                <a:latin typeface="Noto Sans SC"/>
                <a:ea typeface="Noto Sans SC"/>
              </a:rPr>
              <a:t>沿效果顺序核对表格：退出 S3 执行 a0，迁移效果 a2，进入外层 S1 执行 a3，进入 S1.1 执行 a4，即 a0→a2→a3→a4。</a:t>
            </a:r>
          </a:p>
          <a:p>
            <a:r>
              <a:rPr lang="zh-CN" sz="1400">
                <a:latin typeface="Noto Sans SC"/>
                <a:ea typeface="Noto Sans SC"/>
              </a:rPr>
              <a:t>案例：首次进入订单“处理中”，默认从“备货”开始。课堂提问：能否直接略过外层 entry？参考回答：不能，进入内部前须执行相应外层进入行为。初始伪状态是进入路径的控制点，不是需要长期停留的业务状态。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【课堂组织】选讲。按边界入口追踪外层entry和默认子状态entry。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【观察学生回答】能解释a0、a2、a3、a4的次序。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43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迁移直接指向复合状态内的某个子状态时，仍需要进入相应外层状态，但不再按默认初始路径选择另一个子状态。图中 e1 直接进入 S1.2。</a:t>
            </a:r>
          </a:p>
          <a:p>
            <a:r>
              <a:rPr lang="zh-CN" sz="1400">
                <a:latin typeface="Noto Sans SC"/>
                <a:ea typeface="Noto Sans SC"/>
              </a:rPr>
              <a:t>按表格追踪：S3 的 exit a0，迁移效果 a1，外层 S1 的 entry a3，目标子状态 S1.2 的 entry a7，合计 a0→a1→a3→a7。</a:t>
            </a:r>
          </a:p>
          <a:p>
            <a:r>
              <a:rPr lang="zh-CN" sz="1400">
                <a:latin typeface="Noto Sans SC"/>
                <a:ea typeface="Noto Sans SC"/>
              </a:rPr>
              <a:t>案例：返工订单可以直接回到“打包”，而不重走默认的“备货”。请同学与上一页比较，只改变目标位置为何导致执行序列不同。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【课堂组织】选讲。对照P67，说明直接进入指定子状态改变了什么。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【观察学生回答】外层entry仍执行，目标子状态改为S1.2。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44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从子状态发出的迁移离开整个复合状态时，先退出活跃的内层状态，再退出外层状态，之后执行迁移效果和目标状态的进入行为。</a:t>
            </a:r>
          </a:p>
          <a:p>
            <a:r>
              <a:rPr lang="zh-CN" sz="1400">
                <a:latin typeface="Noto Sans SC"/>
                <a:ea typeface="Noto Sans SC"/>
              </a:rPr>
              <a:t>本图在 S1.1 收到 e3 时离开：a6（退出 S1.1）→a5（退出 S1）→a2（迁移效果）→a1（进入 S2）。让同学对照右侧表格核对顺序。</a:t>
            </a:r>
          </a:p>
          <a:p>
            <a:r>
              <a:rPr lang="zh-CN" sz="1400">
                <a:latin typeface="Noto Sans SC"/>
                <a:ea typeface="Noto Sans SC"/>
              </a:rPr>
              <a:t>案例：订单在备货阶段取消，要先释放备货资源，再清理整个处理阶段的共享资源，最后进入已取消。提醒：本页的 e3 从特定子状态出发，不等于所有子状态都能走这条边。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【课堂组织】选讲。从S1.1离开时先圈要退出的状态。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【观察学生回答】从内向外退出，再执行迁移效果与目标entry。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45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从复合状态边界发出的外部迁移，表示在满足条件和优先级规则时，可以从其当前活跃的子状态整体离开。图中 S1 边界的 e5 用于说明这一点。</a:t>
            </a:r>
          </a:p>
          <a:p>
            <a:r>
              <a:rPr lang="zh-CN" sz="1400">
                <a:latin typeface="Noto Sans SC"/>
                <a:ea typeface="Noto Sans SC"/>
              </a:rPr>
              <a:t>若当前是 S1.1，顺序为 a6→a5→a3→a1：退出子状态、退出外层、执行 e5 的迁移效果、进入 S2。若当前是 S1.2，先执行的则是其 exit a8。</a:t>
            </a:r>
          </a:p>
          <a:p>
            <a:r>
              <a:rPr lang="zh-CN" sz="1400">
                <a:latin typeface="Noto Sans SC"/>
                <a:ea typeface="Noto Sans SC"/>
              </a:rPr>
              <a:t>案例：订单处理中任一步骤都允许紧急终止，可在复合状态外层统一表达。补充：更内层若存在冲突且可用的迁移，还要按状态机规则判断优先级。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2.5.1，第13、14章。https://www.omg.org/spec/UML/2.5.1/PDF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【课堂组织】选讲。分别假定当前子状态为S1.1和S1.2，再读外层迁移。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【观察学生回答】先执行哪个子状态exit取决于活跃配置。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46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本页展示复合状态的完成迁移。先通过 e4 从 S1.1 到 S1.2，再通过 e4 到该区域的终止状态；当复合状态完成条件满足时，外层无显式触发器的完成迁移通向 S2。</a:t>
            </a:r>
          </a:p>
          <a:p>
            <a:r>
              <a:rPr lang="zh-CN" sz="1400">
                <a:latin typeface="Noto Sans SC"/>
                <a:ea typeface="Noto Sans SC"/>
              </a:rPr>
              <a:t>跟踪顺序：进入初始子状态为 a3→a4；第一次 e4 为 a6→a7；第二次 e4 后退出 S1.2 执行 a8，再退出 S1 执行 a5，进入 S2 执行 a1。</a:t>
            </a:r>
          </a:p>
          <a:p>
            <a:r>
              <a:rPr lang="zh-CN" sz="1400">
                <a:latin typeface="Noto Sans SC"/>
                <a:ea typeface="Noto Sans SC"/>
              </a:rPr>
              <a:t>提问：到达内层终止状态是否一定结束整个对象状态机？参考回答：不一定，它可能仅完成所在区域并使外层继续。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2.5.1，第13、14章。https://www.omg.org/spec/UML/2.5.1/PDF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【课堂组织】选讲。追踪内部区域到final，再判断外层是否完成。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【观察学生回答】区域完成不直接等于整个状态机结束。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47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正交状态包含两个或更多区域。各区域各自有活跃状态，共同构成对象的状态配置；图中的虚线用于划分区域。</a:t>
            </a:r>
          </a:p>
          <a:p>
            <a:r>
              <a:rPr lang="zh-CN" sz="1400">
                <a:latin typeface="Noto Sans SC"/>
                <a:ea typeface="Noto Sans SC"/>
              </a:rPr>
              <a:t>案例：在线会议可以同时具有“连接状态：已连接/断开”和“录制状态：未录制/录制中”两个相对独立的维度。不要用一个普通子状态列表强行枚举所有组合。</a:t>
            </a:r>
          </a:p>
          <a:p>
            <a:r>
              <a:rPr lang="zh-CN" sz="1400">
                <a:latin typeface="Noto Sans SC"/>
                <a:ea typeface="Noto Sans SC"/>
              </a:rPr>
              <a:t>进入外层边界通常激活各区域的默认入口；完成时需满足各区域的完成条件及外层行为的完成条件。逻辑并发不等于必须使用多线程。让同学检查图中分叉与汇合分别进入、等待了哪些区域。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2.5.1，第13、14章。https://www.omg.org/spec/UML/2.5.1/PDF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【课堂组织】选讲。分别读两个正交区域，再描述整体状态配置。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【观察学生回答】区域各有活跃状态，不把正交解释为必须多线程。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48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子状态机状态用于复用已定义的状态机行为。图中的 graded:grade 表示 graded 状态引用 grade 子状态机，可进入其 positive、negative 等状态。</a:t>
            </a:r>
          </a:p>
          <a:p>
            <a:r>
              <a:rPr lang="zh-CN" sz="1400">
                <a:latin typeface="Noto Sans SC"/>
                <a:ea typeface="Noto Sans SC"/>
              </a:rPr>
              <a:t>案例：多个业务对象都需要“审核：待审、通过、拒绝”的细分过程，可以将审核行为单独建模并在适合的状态中引用。</a:t>
            </a:r>
          </a:p>
          <a:p>
            <a:r>
              <a:rPr lang="zh-CN" sz="1400">
                <a:latin typeface="Noto Sans SC"/>
                <a:ea typeface="Noto Sans SC"/>
              </a:rPr>
              <a:t>讲解时区分“复合状态内直接画子状态”与“引用一个可复用的子状态机”。两者都可隐藏细节，但模型组织方式不同。不要把它机械等同于普通同步函数调用，仍须按状态机的进入、退出和事件处理语义理解。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2.5.1，第13、14章。https://www.omg.org/spec/UML/2.5.1/PDF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【课堂组织】查阅。指出哪个状态引用了哪个子状态机。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【观察学生回答】知道这是复用行为模型，不能机械当作函数调用。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49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复习状态、迁移、初始、终止和终结符号。状态表示对象生命周期中的一种情形；迁移由事件及条件控制；实心点是初始伪状态，靶心表示区域的最终状态。</a:t>
            </a:r>
          </a:p>
          <a:p>
            <a:r>
              <a:rPr lang="zh-CN" sz="1400">
                <a:latin typeface="Noto Sans SC"/>
                <a:ea typeface="Noto Sans SC"/>
              </a:rPr>
              <a:t>重点区分 final 与 terminate：到达最终状态可表示所在区域完成；terminate 伪状态直接终止状态机执行，不能把二者随意互换。</a:t>
            </a:r>
          </a:p>
          <a:p>
            <a:r>
              <a:rPr lang="zh-CN" sz="1400">
                <a:latin typeface="Noto Sans SC"/>
                <a:ea typeface="Noto Sans SC"/>
              </a:rPr>
              <a:t>案例：订单处理区域完成后仍可能进入售后阶段，而系统定义的彻底终止路径则不再继续该状态机。原页将 Initial state 当作符号名称，讲解时提醒它严格说是初始伪状态。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2.5.1，第13、14章。https://www.omg.org/spec/UML/2.5.1/PDF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【课堂组织】查阅与复习。在已讲图中找initial、final，比较terminate。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【观察学生回答】区分伪状态、区域完成与终止状态机。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50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本页复习选择、分叉、汇合和历史伪状态。选择用于按条件决定后续路径；分叉和汇合用于正交区域的并发进入与同步；历史保存复合状态的先前活跃配置。</a:t>
            </a:r>
          </a:p>
          <a:p>
            <a:r>
              <a:rPr lang="zh-CN" sz="1400">
                <a:latin typeface="Noto Sans SC"/>
                <a:ea typeface="Noto Sans SC"/>
              </a:rPr>
              <a:t>案例：暂停一个多步骤审批，恢复时回到最近进行的阶段。浅历史 H 恢复直接子状态，深历史 H* 还恢复更深层的子状态配置。</a:t>
            </a:r>
          </a:p>
          <a:p>
            <a:r>
              <a:rPr lang="zh-CN" sz="1400">
                <a:latin typeface="Noto Sans SC"/>
                <a:ea typeface="Noto Sans SC"/>
              </a:rPr>
              <a:t>让同学比较“总回到默认起点”与“恢复上次位置”对业务的影响。历史不是数据库审计日志，也不意味着保存全部变量和外部资源，恢复的数据与资源策略需另行明确。</a:t>
            </a:r>
          </a:p>
          <a:p>
            <a:r>
              <a:rPr lang="zh-CN" sz="1400">
                <a:latin typeface="Noto Sans SC"/>
                <a:ea typeface="Noto Sans SC"/>
              </a:rPr>
              <a:t>语义参考：OMG UML 2.5.1，第13、14章。https://www.omg.org/spec/UML/2.5.1/PDF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【课堂组织】查阅。对比默认进入、浅历史和深历史。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【观察学生回答】历史恢复状态配置，不自动恢复全部业务数据。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【术语校正】以“状态及迁移”说明状态机，避免将状态迁移与活动图控制流混为同一种关系；“事件响应”用语依据UML 2.5.1第14.2节。ATM复杂原图保持不变。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【查阅定位】原稿P51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先看左侧 ATM 总体状态机，识别读卡、验证、操作和退卡等阶段，再看右侧 Operation 状态的内部细节。这样可以分层说明复杂行为而不把所有状态铺在一张图上。</a:t>
            </a:r>
          </a:p>
          <a:p>
            <a:r>
              <a:rPr lang="zh-CN" sz="1400">
                <a:latin typeface="Noto Sans SC"/>
                <a:ea typeface="Noto Sans SC"/>
              </a:rPr>
              <a:t>课堂任务：选择一次正常取款，沿图描述当前状态、输入事件、守卫和迁移效果；再选择密码错误或余额不足的路径进行比较。</a:t>
            </a:r>
          </a:p>
          <a:p>
            <a:r>
              <a:rPr lang="zh-CN" sz="1400">
                <a:latin typeface="Noto Sans SC"/>
                <a:ea typeface="Noto Sans SC"/>
              </a:rPr>
              <a:t>强调状态机围绕一个对象或明确的行为上下文展开。它不能代替跨多个对象的消息交互图；需要说明 ATM 如何请求银行验证时，可补充对应顺序图并检查事件命名一致。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【课堂组织】综合选读。只追踪一次ATM正常操作，指出外层与Operation子状态。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【观察学生回答】每一步交代当前状态与触发条件。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>
                <a:latin typeface="Noto Sans SC"/>
                <a:ea typeface="Noto Sans SC"/>
              </a:rPr>
              <a:t>【查阅定位】原稿P52。本页为拓展查阅，原图继续按自身情境阅读，不能把其中的候补、重试或其它业务规则直接加入本章选课案例。主线统一案例见P5，采用已存在的Enrollment记录。未画出的异常恢复行为保留待确认。</a:t>
            </a:r>
          </a:p>
          <a:p>
            <a:endParaRPr lang="zh-CN" sz="1400">
              <a:latin typeface="Noto Sans SC"/>
              <a:ea typeface="Noto Sans SC"/>
            </a:endParaRPr>
          </a:p>
          <a:p>
            <a:r>
              <a:rPr lang="zh-CN" sz="1400">
                <a:latin typeface="Noto Sans SC"/>
                <a:ea typeface="Noto Sans SC"/>
              </a:rPr>
              <a:t>本页将 Bank 状态机与 ATM 相关状态机并列，目的是观察对象各自的内部行为以及事件如何衔接。先选一条验证或取款路径，不要一次逐条朗读所有迁移。</a:t>
            </a:r>
          </a:p>
          <a:p>
            <a:r>
              <a:rPr lang="zh-CN" sz="1400">
                <a:latin typeface="Noto Sans SC"/>
                <a:ea typeface="Noto Sans SC"/>
              </a:rPr>
              <a:t>课堂提问：ATM 发出的请求，在 Bank 图中对应什么事件？Bank 的结果又让 ATM 进入什么状态？参考回答应说明发送、接收、条件与结果之间的对应关系。</a:t>
            </a:r>
          </a:p>
          <a:p>
            <a:r>
              <a:rPr lang="zh-CN" sz="1400">
                <a:latin typeface="Noto Sans SC"/>
                <a:ea typeface="Noto Sans SC"/>
              </a:rPr>
              <a:t>复杂图适合按场景逐步高亮或放大讲解。检查模型时特别关注重复请求、超时和失败返回是否有定义；仅有正常路径不足以说明整个交互在异常条件下也一致。</a:t>
            </a:r>
          </a:p>
          <a:p>
            <a:r>
              <a:rPr lang="zh-CN" sz="1400">
                <a:latin typeface="Noto Sans SC"/>
                <a:ea typeface="Noto Sans SC"/>
              </a:rPr>
              <a:t>【课堂组织】综合选读。对照ATM与Bank，找一对图中实际出现的请求与响应。</a:t>
            </a:r>
          </a:p>
          <a:p>
            <a:r>
              <a:rPr lang="zh-CN" sz="1400">
                <a:latin typeface="Noto Sans SC"/>
                <a:ea typeface="Noto Sans SC"/>
              </a:rPr>
              <a:t>【观察学生回答】不臆造图中未定义的超时或失败迁移。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本课件主体内容及原图来源于孙海英老师Ch2.4，课程整体共同参考苏亭老师的Introduction、Software Development Lifecycle等教学资料。选课贯穿案例、课堂练习和PlantUML简图为本次新增教学设计，不归称原作者案例。规范：https://www.omg.org/spec/UML/2.5.1/PDF；图形语法：https://plantuml.com/activity-diagram-beta，https://plantuml.com/sequence-diagram，https://plantuml.com/state-diagram。教材作者Martina Seidl、Marion Scholz、Christian Huemer、Gerti Kappel，2015。 本次精修调整活动图与顺序图练习情境，并以同页三图检查模型一致性。成绩及格线60、查询操作名及职责为明确的教学练习约定。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B40908-4285-1B75-20D3-0AC0877CD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505BB6-74C6-FDC7-2590-9C4750A9A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F1BE73-D5B9-0A16-8BC3-80AEC60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5CA4-F8B9-463C-A337-8431B29307B5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A838FE-7CB3-4BFC-414B-99FDF3F16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FF8ABF-F9F7-19D5-44CE-95C863DBF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56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483B-FC2E-ABD9-BF22-1D41341F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933"/>
            <a:ext cx="10515600" cy="4636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CAAF27E6-0DE1-5C7C-D7F6-31AD0F53C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13CDDD80-6AF5-1769-4FC8-3F287C5C6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0C45-8306-4019-8B11-4AC3BFD5B435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E2484B68-FBFF-8907-42D5-89F614D63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D68F0886-BA36-1CA6-5F50-F8F80D1EB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160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545A1-EB48-1157-8D2E-30B891CD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B67ABD-BFBE-5B23-B1EA-D8AE76AC8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9F526C-9D86-D0BA-124E-315B0B9E4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9ACE-4D67-4365-91A0-0B2F6DEE33AA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2EF0FB-124B-2B81-E497-DCD55B362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B9D2EB-929F-F66E-BEDF-8784E7C94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93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2E61E-D508-D0EA-1A21-FA2DC5CA7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F987DA-B2C6-EB6F-F0C6-EA921FE3E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B26CEE-022E-6A65-68B3-B146A3081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6F93CF-8979-5A50-CB52-A5FF2519F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C3B4-5945-40D6-B204-548D6DE14641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039D27-BE1B-27F1-EA6F-46FAFAB4F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60ED8A-F1EE-1CDD-C857-BB31C7942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654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0339E-83F4-F80D-51E7-B106FB5C4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C37695-0EFB-85E8-6B5E-0FDB69CF0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DCEF15-2648-FA25-EED9-3564DF2B7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448B2C-FA09-FBB8-5C08-2763B7BCF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B20275-3497-A3CD-0963-7538655ED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3B66E9-DCEE-8B7D-2C3B-C22EC2BB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A373-77FA-47D7-8ABD-B27D00F169AD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BF35F1-D089-727D-7CB5-D5378AF1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8D0445-D247-9AAE-B1CB-810D6FED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491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4B732-94AB-2623-1FF9-BAFD4443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4DBB1-E1DE-DE50-93EE-87ABD307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D4D12-F9D1-47C0-9A12-B89DD9EAF26D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9A1763-A926-3BE3-33FE-74FD0D0B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2C6324-BDAB-9E21-63A5-AACD08A89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8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BC6FDF5-9CC6-FC40-050D-E14EDC3EA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B639C-DBB3-4F4F-8304-7D6466F4EFE2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16F6D5-F55F-4A72-40BD-3970B289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3F0A0E-A3A9-70BD-BDF9-13CF498E4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061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0012E-ADC7-9D92-567C-558DCC9DD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5141A8-5A16-918F-81B9-47D010047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1DBCA2-A0CA-9735-5BDD-B4597AFE8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878B7C-7EFF-6206-11A6-7B5D5E40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41A1-B167-41A6-9889-73F79C3F5F15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A032A1-C9E7-2522-172F-7703C036A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E07FC2-0676-EFC1-71EF-C5D71AAD7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150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BE532-3D9A-8E0E-36EF-769FC16C7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439108-341E-15AD-3C05-BC37EBA0A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B6512C-31CD-287C-786E-9CBCA1324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AD0D75-8C2E-F7FB-0872-9297CDBBD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D0D-5821-44D4-8C9A-063584D38F54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0C1226-4A61-C1B2-FEFD-3A263768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F211A6-F7FC-1F6F-A07A-A72977A4C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17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B244E-9D3C-2583-7649-5FE25B92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D41C52-9AD2-7E2C-9448-6BDCA8437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A685AE-B28C-799C-1BCC-F0DC70D67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C4A7-9CFF-464C-8A57-5B1B1EB511D9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4676C9-6CF3-3D64-33A4-67346DA6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DBF006-E318-77DA-CB34-8126091A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954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B2587C-85C2-CA07-7331-72A8D8720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71BD9F-261A-5FCA-7D20-125A83B2C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D696B5-CB50-EA69-CB68-7BE57342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ACFC-E357-47F2-9D79-E7497BD9B806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D12E4F-3F17-BCE5-29A7-6CBE06CA1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4FF14C-B06D-2465-A9A0-7EDE3717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958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1840" y="152400"/>
            <a:ext cx="113792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432000" y="1144800"/>
            <a:ext cx="1137904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D88F4F-A934-4919-B68E-DB5B510108C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34267" y="6096000"/>
            <a:ext cx="6316133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6255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A0B8A2C-13FC-5906-5453-569C23615F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AD579-F2D5-44F8-A7DA-506DEC8CA700}" type="datetime1">
              <a:rPr lang="zh-CN" altLang="en-US"/>
              <a:pPr>
                <a:defRPr/>
              </a:pPr>
              <a:t>2026/10/8</a:t>
            </a:fld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0915749-7DBC-F641-50A9-C74C8CF6DB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软件工程实践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0ECDB55-C2BD-185F-D6EF-206BDDA7AE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0A7BA8-5B4C-403E-B673-717C52DCBAE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2315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ECCA320-3E79-1D7E-11BC-C38B149F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0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7F01-961D-92C0-2325-03B42C185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2767"/>
            <a:ext cx="10515600" cy="47841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9B729C-10DB-7DF5-1F30-DE5F5EAA3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B205E-D944-4F18-9033-9CEC3C356EA2}" type="datetime1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8D7D31-F95F-6AAF-CE9E-88BC053FC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697D41-037E-10EA-5732-3031BEA13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605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5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5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5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1.png"/><Relationship Id="rId3" Type="http://schemas.openxmlformats.org/officeDocument/2006/relationships/image" Target="../media/image76.png"/><Relationship Id="rId7" Type="http://schemas.openxmlformats.org/officeDocument/2006/relationships/image" Target="../media/image77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7.png"/><Relationship Id="rId11" Type="http://schemas.openxmlformats.org/officeDocument/2006/relationships/image" Target="../media/image79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8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1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93.png"/><Relationship Id="rId7" Type="http://schemas.openxmlformats.org/officeDocument/2006/relationships/image" Target="../media/image85.png"/><Relationship Id="rId12" Type="http://schemas.openxmlformats.org/officeDocument/2006/relationships/image" Target="../media/image95.png"/><Relationship Id="rId2" Type="http://schemas.openxmlformats.org/officeDocument/2006/relationships/notesSlide" Target="../notesSlides/notesSlide70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6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94.png"/><Relationship Id="rId14" Type="http://schemas.openxmlformats.org/officeDocument/2006/relationships/image" Target="../media/image92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1.png"/><Relationship Id="rId18" Type="http://schemas.openxmlformats.org/officeDocument/2006/relationships/image" Target="../media/image92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100.png"/><Relationship Id="rId17" Type="http://schemas.openxmlformats.org/officeDocument/2006/relationships/image" Target="../media/image91.png"/><Relationship Id="rId2" Type="http://schemas.openxmlformats.org/officeDocument/2006/relationships/notesSlide" Target="../notesSlides/notesSlide71.xml"/><Relationship Id="rId16" Type="http://schemas.openxmlformats.org/officeDocument/2006/relationships/image" Target="../media/image103.png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5.png"/><Relationship Id="rId11" Type="http://schemas.openxmlformats.org/officeDocument/2006/relationships/image" Target="../media/image99.png"/><Relationship Id="rId5" Type="http://schemas.openxmlformats.org/officeDocument/2006/relationships/image" Target="../media/image84.png"/><Relationship Id="rId15" Type="http://schemas.openxmlformats.org/officeDocument/2006/relationships/image" Target="../media/image89.png"/><Relationship Id="rId10" Type="http://schemas.openxmlformats.org/officeDocument/2006/relationships/image" Target="../media/image98.png"/><Relationship Id="rId19" Type="http://schemas.openxmlformats.org/officeDocument/2006/relationships/image" Target="../media/image10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10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.png"/><Relationship Id="rId4" Type="http://schemas.openxmlformats.org/officeDocument/2006/relationships/image" Target="../media/image117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ame-1">
            <a:extLst>
              <a:ext uri="{FF2B5EF4-FFF2-40B4-BE49-F238E27FC236}">
                <a16:creationId xmlns:a16="http://schemas.microsoft.com/office/drawing/2014/main" id="{09BD3497-78CE-4214-AD3D-2AFD8BC8FA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124200" cy="5143500"/>
          </a:xfrm>
          <a:prstGeom prst="rect">
            <a:avLst/>
          </a:prstGeom>
          <a:solidFill>
            <a:srgbClr val="1F2A44"/>
          </a:solidFill>
          <a:ln w="0">
            <a:noFill/>
          </a:ln>
        </p:spPr>
      </p:sp>
      <p:sp>
        <p:nvSpPr>
          <p:cNvPr id="2" name="content-2">
            <a:extLst>
              <a:ext uri="{FF2B5EF4-FFF2-40B4-BE49-F238E27FC236}">
                <a16:creationId xmlns:a16="http://schemas.microsoft.com/office/drawing/2014/main" id="{E0D1E71E-D4CE-4738-B66E-759FBA70D73B}"/>
              </a:ext>
            </a:extLst>
          </p:cNvPr>
          <p:cNvSpPr>
            <a:spLocks noGrp="1"/>
          </p:cNvSpPr>
          <p:nvPr/>
        </p:nvSpPr>
        <p:spPr>
          <a:xfrm>
            <a:off x="419100" y="447675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2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rPr>
              <a:t>FACULTY OF IT</a:t>
            </a:r>
          </a:p>
        </p:txBody>
      </p:sp>
      <p:sp>
        <p:nvSpPr>
          <p:cNvPr id="3" name="content-3">
            <a:extLst>
              <a:ext uri="{FF2B5EF4-FFF2-40B4-BE49-F238E27FC236}">
                <a16:creationId xmlns:a16="http://schemas.microsoft.com/office/drawing/2014/main" id="{5525110B-7CBD-4A56-8C74-B12386975061}"/>
              </a:ext>
            </a:extLst>
          </p:cNvPr>
          <p:cNvSpPr>
            <a:spLocks noGrp="1"/>
          </p:cNvSpPr>
          <p:nvPr/>
        </p:nvSpPr>
        <p:spPr>
          <a:xfrm>
            <a:off x="419100" y="723900"/>
            <a:ext cx="25336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SOFTWARE ENGINEERING</a:t>
            </a:r>
          </a:p>
        </p:txBody>
      </p:sp>
      <p:sp>
        <p:nvSpPr>
          <p:cNvPr id="4" name="content-4">
            <a:extLst>
              <a:ext uri="{FF2B5EF4-FFF2-40B4-BE49-F238E27FC236}">
                <a16:creationId xmlns:a16="http://schemas.microsoft.com/office/drawing/2014/main" id="{E890638A-7E9D-4444-97E4-F22C1DFC6FF9}"/>
              </a:ext>
            </a:extLst>
          </p:cNvPr>
          <p:cNvSpPr>
            <a:spLocks noGrp="1"/>
          </p:cNvSpPr>
          <p:nvPr/>
        </p:nvSpPr>
        <p:spPr>
          <a:xfrm>
            <a:off x="419100" y="2428875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UML FOUNDATIONS</a:t>
            </a:r>
          </a:p>
        </p:txBody>
      </p:sp>
      <p:sp>
        <p:nvSpPr>
          <p:cNvPr id="5" name="content-5">
            <a:extLst>
              <a:ext uri="{FF2B5EF4-FFF2-40B4-BE49-F238E27FC236}">
                <a16:creationId xmlns:a16="http://schemas.microsoft.com/office/drawing/2014/main" id="{BDE05C54-CAB4-4D66-9AC2-E762102E8D8B}"/>
              </a:ext>
            </a:extLst>
          </p:cNvPr>
          <p:cNvSpPr>
            <a:spLocks noGrp="1"/>
          </p:cNvSpPr>
          <p:nvPr/>
        </p:nvSpPr>
        <p:spPr>
          <a:xfrm>
            <a:off x="419100" y="2705100"/>
            <a:ext cx="2524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97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rPr>
              <a:t>BEHAVIORAL DIAGRAMS</a:t>
            </a:r>
          </a:p>
        </p:txBody>
      </p:sp>
      <p:sp>
        <p:nvSpPr>
          <p:cNvPr id="6" name="content-6">
            <a:extLst>
              <a:ext uri="{FF2B5EF4-FFF2-40B4-BE49-F238E27FC236}">
                <a16:creationId xmlns:a16="http://schemas.microsoft.com/office/drawing/2014/main" id="{64FDF05D-3344-458B-BC8F-EA0DE40032F9}"/>
              </a:ext>
            </a:extLst>
          </p:cNvPr>
          <p:cNvSpPr>
            <a:spLocks noGrp="1"/>
          </p:cNvSpPr>
          <p:nvPr/>
        </p:nvSpPr>
        <p:spPr>
          <a:xfrm>
            <a:off x="419100" y="4543425"/>
            <a:ext cx="2619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900" b="0">
                <a:solidFill>
                  <a:srgbClr val="B9C1D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B9C1D0"/>
                </a:solidFill>
                <a:latin typeface="Noto Sans SC"/>
                <a:ea typeface="Noto Sans SC"/>
                <a:cs typeface="Noto Sans SC"/>
              </a:rPr>
              <a:t>华东师范大学 · 2026 秋季课程</a:t>
            </a:r>
          </a:p>
        </p:txBody>
      </p:sp>
      <p:sp>
        <p:nvSpPr>
          <p:cNvPr id="7" name="content-7">
            <a:extLst>
              <a:ext uri="{FF2B5EF4-FFF2-40B4-BE49-F238E27FC236}">
                <a16:creationId xmlns:a16="http://schemas.microsoft.com/office/drawing/2014/main" id="{5C0F4572-8C30-482C-9BCB-C2903B1D1DE1}"/>
              </a:ext>
            </a:extLst>
          </p:cNvPr>
          <p:cNvSpPr>
            <a:spLocks noGrp="1"/>
          </p:cNvSpPr>
          <p:nvPr/>
        </p:nvSpPr>
        <p:spPr>
          <a:xfrm>
            <a:off x="3762375" y="1200150"/>
            <a:ext cx="4857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275" b="1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8" name="content-8">
            <a:extLst>
              <a:ext uri="{FF2B5EF4-FFF2-40B4-BE49-F238E27FC236}">
                <a16:creationId xmlns:a16="http://schemas.microsoft.com/office/drawing/2014/main" id="{C8DC2263-826F-46C7-8F6F-A7AE316B6003}"/>
              </a:ext>
            </a:extLst>
          </p:cNvPr>
          <p:cNvSpPr>
            <a:spLocks noGrp="1"/>
          </p:cNvSpPr>
          <p:nvPr/>
        </p:nvSpPr>
        <p:spPr>
          <a:xfrm>
            <a:off x="3762375" y="1838325"/>
            <a:ext cx="4762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4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34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UML 基础</a:t>
            </a:r>
          </a:p>
        </p:txBody>
      </p:sp>
      <p:sp>
        <p:nvSpPr>
          <p:cNvPr id="9" name="content-9">
            <a:extLst>
              <a:ext uri="{FF2B5EF4-FFF2-40B4-BE49-F238E27FC236}">
                <a16:creationId xmlns:a16="http://schemas.microsoft.com/office/drawing/2014/main" id="{83D90804-3ECF-4186-B549-458657CE6D0B}"/>
              </a:ext>
            </a:extLst>
          </p:cNvPr>
          <p:cNvSpPr>
            <a:spLocks noGrp="1"/>
          </p:cNvSpPr>
          <p:nvPr/>
        </p:nvSpPr>
        <p:spPr>
          <a:xfrm>
            <a:off x="3762375" y="2600325"/>
            <a:ext cx="4762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700" b="1">
                <a:solidFill>
                  <a:srgbClr val="A41F35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700" b="1">
                <a:solidFill>
                  <a:srgbClr val="A41F35"/>
                </a:solidFill>
                <a:latin typeface="Noto Serif SC Bold"/>
                <a:ea typeface="Noto Serif SC Bold"/>
                <a:cs typeface="Noto Serif SC Bold"/>
              </a:rPr>
              <a:t>UML的其它图</a:t>
            </a:r>
          </a:p>
        </p:txBody>
      </p:sp>
      <p:sp>
        <p:nvSpPr>
          <p:cNvPr id="10" name="content-10">
            <a:extLst>
              <a:ext uri="{FF2B5EF4-FFF2-40B4-BE49-F238E27FC236}">
                <a16:creationId xmlns:a16="http://schemas.microsoft.com/office/drawing/2014/main" id="{6ACEF966-3232-4578-AC5E-63860DEE5056}"/>
              </a:ext>
            </a:extLst>
          </p:cNvPr>
          <p:cNvSpPr>
            <a:spLocks noGrp="1"/>
          </p:cNvSpPr>
          <p:nvPr/>
        </p:nvSpPr>
        <p:spPr>
          <a:xfrm>
            <a:off x="3781425" y="3228975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活动图、顺序图与状态机图</a:t>
            </a:r>
          </a:p>
        </p:txBody>
      </p:sp>
      <p:sp>
        <p:nvSpPr>
          <p:cNvPr id="11" name="content-11">
            <a:extLst>
              <a:ext uri="{FF2B5EF4-FFF2-40B4-BE49-F238E27FC236}">
                <a16:creationId xmlns:a16="http://schemas.microsoft.com/office/drawing/2014/main" id="{6E188EA4-F393-4D77-B74C-DCB97CFB4E91}"/>
              </a:ext>
            </a:extLst>
          </p:cNvPr>
          <p:cNvSpPr>
            <a:spLocks noGrp="1"/>
          </p:cNvSpPr>
          <p:nvPr/>
        </p:nvSpPr>
        <p:spPr>
          <a:xfrm>
            <a:off x="3762375" y="3714750"/>
            <a:ext cx="44291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肖宇</a:t>
            </a:r>
          </a:p>
        </p:txBody>
      </p:sp>
      <p:sp>
        <p:nvSpPr>
          <p:cNvPr id="12" name="content-12">
            <a:extLst>
              <a:ext uri="{FF2B5EF4-FFF2-40B4-BE49-F238E27FC236}">
                <a16:creationId xmlns:a16="http://schemas.microsoft.com/office/drawing/2014/main" id="{B7A4456D-639E-4C6A-8D3D-17ADA7843ADC}"/>
              </a:ext>
            </a:extLst>
          </p:cNvPr>
          <p:cNvSpPr>
            <a:spLocks noGrp="1"/>
          </p:cNvSpPr>
          <p:nvPr/>
        </p:nvSpPr>
        <p:spPr>
          <a:xfrm>
            <a:off x="3762375" y="4105275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11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125" dirty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18501799792</a:t>
            </a:r>
            <a:r>
              <a:rPr lang="en-AU" sz="1125" dirty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· </a:t>
            </a:r>
            <a:r>
              <a:rPr sz="1125" b="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yxiao@sei.ecnu.edu.cn</a:t>
            </a:r>
            <a:r>
              <a:rPr sz="1125" b="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  ·  </a:t>
            </a:r>
            <a:r>
              <a:rPr sz="1125" b="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理科楼</a:t>
            </a:r>
            <a:r>
              <a:rPr sz="1125" b="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 B209</a:t>
            </a:r>
          </a:p>
        </p:txBody>
      </p:sp>
      <p:sp>
        <p:nvSpPr>
          <p:cNvPr id="13" name="content-13">
            <a:extLst>
              <a:ext uri="{FF2B5EF4-FFF2-40B4-BE49-F238E27FC236}">
                <a16:creationId xmlns:a16="http://schemas.microsoft.com/office/drawing/2014/main" id="{F09108E6-CAD9-4BAB-826F-400A0187D92B}"/>
              </a:ext>
            </a:extLst>
          </p:cNvPr>
          <p:cNvSpPr>
            <a:spLocks noGrp="1"/>
          </p:cNvSpPr>
          <p:nvPr/>
        </p:nvSpPr>
        <p:spPr>
          <a:xfrm>
            <a:off x="3762375" y="4400550"/>
            <a:ext cx="4714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1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邮件或微信预约答疑时间</a:t>
            </a:r>
            <a:endParaRPr sz="1125" b="0" dirty="0">
              <a:solidFill>
                <a:srgbClr val="66666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content-14">
            <a:extLst>
              <a:ext uri="{FF2B5EF4-FFF2-40B4-BE49-F238E27FC236}">
                <a16:creationId xmlns:a16="http://schemas.microsoft.com/office/drawing/2014/main" id="{65CE44D5-C884-484A-9B97-FD99E04D8651}"/>
              </a:ext>
            </a:extLst>
          </p:cNvPr>
          <p:cNvSpPr>
            <a:spLocks noGrp="1"/>
          </p:cNvSpPr>
          <p:nvPr/>
        </p:nvSpPr>
        <p:spPr>
          <a:xfrm>
            <a:off x="7781925" y="4819650"/>
            <a:ext cx="8572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5">
            <a:extLst>
              <a:ext uri="{FF2B5EF4-FFF2-40B4-BE49-F238E27FC236}">
                <a16:creationId xmlns:a16="http://schemas.microsoft.com/office/drawing/2014/main" id="{552DE206-0391-4922-900B-90114D14D828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上节回顾：类图与选课记录</a:t>
            </a:r>
          </a:p>
        </p:txBody>
      </p:sp>
      <p:sp>
        <p:nvSpPr>
          <p:cNvPr id="2" name="frame-16">
            <a:extLst>
              <a:ext uri="{FF2B5EF4-FFF2-40B4-BE49-F238E27FC236}">
                <a16:creationId xmlns:a16="http://schemas.microsoft.com/office/drawing/2014/main" id="{002A7689-D0F8-4731-8A59-51B780A56A2F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7">
            <a:extLst>
              <a:ext uri="{FF2B5EF4-FFF2-40B4-BE49-F238E27FC236}">
                <a16:creationId xmlns:a16="http://schemas.microsoft.com/office/drawing/2014/main" id="{56770A0F-B3F6-418D-BE9D-9660661E7094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5850F123-AA91-489F-BD5F-2FE5ED446CDE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5E261C58-3D4E-4E0E-A27A-D4E8E30C874C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02 / 78</a:t>
            </a:r>
          </a:p>
        </p:txBody>
      </p:sp>
      <p:sp>
        <p:nvSpPr>
          <p:cNvPr id="21" name="UML class-review box 21"/>
          <p:cNvSpPr/>
          <p:nvPr/>
        </p:nvSpPr>
        <p:spPr>
          <a:xfrm>
            <a:off x="1504950" y="2176462"/>
            <a:ext cx="805444" cy="384886"/>
          </a:xfrm>
          <a:prstGeom prst="rect">
            <a:avLst/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2" name="UML class-review label 22"/>
          <p:cNvSpPr/>
          <p:nvPr/>
        </p:nvSpPr>
        <p:spPr>
          <a:xfrm>
            <a:off x="1530191" y="2240090"/>
            <a:ext cx="818302" cy="29203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75" dirty="0">
                <a:solidFill>
                  <a:srgbClr val="1F2A44"/>
                </a:solidFill>
                <a:latin typeface="Noto Sans SC"/>
                <a:ea typeface="Noto Sans SC"/>
              </a:rPr>
              <a:t>Student</a:t>
            </a:r>
            <a:endParaRPr lang="zh-CN" sz="1575"/>
          </a:p>
        </p:txBody>
      </p:sp>
      <p:sp>
        <p:nvSpPr>
          <p:cNvPr id="23" name="UML class-review box 23"/>
          <p:cNvSpPr/>
          <p:nvPr/>
        </p:nvSpPr>
        <p:spPr>
          <a:xfrm>
            <a:off x="3362325" y="1990725"/>
            <a:ext cx="1717900" cy="750722"/>
          </a:xfrm>
          <a:prstGeom prst="rect">
            <a:avLst/>
          </a:prstGeom>
          <a:solidFill>
            <a:srgbClr val="F5E4E7"/>
          </a:solidFill>
          <a:ln w="9525">
            <a:solidFill>
              <a:srgbClr val="1F2A44"/>
            </a:solidFill>
          </a:ln>
        </p:spPr>
      </p:sp>
      <p:sp>
        <p:nvSpPr>
          <p:cNvPr id="24" name="UML class-review label 24"/>
          <p:cNvSpPr/>
          <p:nvPr/>
        </p:nvSpPr>
        <p:spPr>
          <a:xfrm>
            <a:off x="3695071" y="2054352"/>
            <a:ext cx="1115739" cy="29203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75" dirty="0">
                <a:solidFill>
                  <a:srgbClr val="1F2A44"/>
                </a:solidFill>
                <a:latin typeface="Noto Sans SC"/>
                <a:ea typeface="Noto Sans SC"/>
              </a:rPr>
              <a:t>Enrollment</a:t>
            </a:r>
            <a:endParaRPr lang="zh-CN" sz="1575"/>
          </a:p>
        </p:txBody>
      </p:sp>
      <p:sp>
        <p:nvSpPr>
          <p:cNvPr id="25" name="UML class-review divider 25"/>
          <p:cNvSpPr/>
          <p:nvPr/>
        </p:nvSpPr>
        <p:spPr>
          <a:xfrm>
            <a:off x="3371850" y="2375611"/>
            <a:ext cx="1698850" cy="952"/>
          </a:xfrm>
          <a:custGeom>
            <a:avLst/>
            <a:gdLst/>
            <a:ahLst/>
            <a:cxnLst/>
            <a:rect l="0" t="0" r="r" b="b"/>
            <a:pathLst>
              <a:path w="1698850" h="952" fill="none" extrusionOk="0">
                <a:moveTo>
                  <a:pt x="0" y="0"/>
                </a:moveTo>
                <a:lnTo>
                  <a:pt x="1698850" y="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26" name="UML class-review label 26"/>
          <p:cNvSpPr/>
          <p:nvPr/>
        </p:nvSpPr>
        <p:spPr>
          <a:xfrm>
            <a:off x="3416141" y="2429713"/>
            <a:ext cx="1673609" cy="29203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75" dirty="0">
                <a:solidFill>
                  <a:srgbClr val="000000"/>
                </a:solidFill>
                <a:latin typeface="Noto Sans SC"/>
                <a:ea typeface="Noto Sans SC"/>
              </a:rPr>
              <a:t>grade : Real [0..1]</a:t>
            </a:r>
            <a:endParaRPr lang="zh-CN" sz="1575"/>
          </a:p>
        </p:txBody>
      </p:sp>
      <p:sp>
        <p:nvSpPr>
          <p:cNvPr id="27" name="UML class-review box 27"/>
          <p:cNvSpPr/>
          <p:nvPr/>
        </p:nvSpPr>
        <p:spPr>
          <a:xfrm>
            <a:off x="6124575" y="2176462"/>
            <a:ext cx="1466126" cy="384886"/>
          </a:xfrm>
          <a:prstGeom prst="rect">
            <a:avLst/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8" name="UML class-review label 28"/>
          <p:cNvSpPr/>
          <p:nvPr/>
        </p:nvSpPr>
        <p:spPr>
          <a:xfrm>
            <a:off x="6149816" y="2240090"/>
            <a:ext cx="1478985" cy="29203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75" dirty="0">
                <a:solidFill>
                  <a:srgbClr val="1F2A44"/>
                </a:solidFill>
                <a:latin typeface="Noto Sans SC"/>
                <a:ea typeface="Noto Sans SC"/>
              </a:rPr>
              <a:t>CourseOffering</a:t>
            </a:r>
            <a:endParaRPr lang="zh-CN" sz="1575"/>
          </a:p>
        </p:txBody>
      </p:sp>
      <p:sp>
        <p:nvSpPr>
          <p:cNvPr id="29" name="UML class-review connection 29"/>
          <p:cNvSpPr/>
          <p:nvPr/>
        </p:nvSpPr>
        <p:spPr>
          <a:xfrm>
            <a:off x="2315689" y="2366962"/>
            <a:ext cx="1045178" cy="952"/>
          </a:xfrm>
          <a:custGeom>
            <a:avLst/>
            <a:gdLst/>
            <a:ahLst/>
            <a:cxnLst/>
            <a:rect l="0" t="0" r="r" b="b"/>
            <a:pathLst>
              <a:path w="1045178" h="952" fill="none" extrusionOk="0">
                <a:moveTo>
                  <a:pt x="0" y="0"/>
                </a:moveTo>
                <a:cubicBezTo>
                  <a:pt x="287493" y="0"/>
                  <a:pt x="687076" y="0"/>
                  <a:pt x="1045178" y="0"/>
                </a:cubicBez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30" name="UML class-review label 30"/>
          <p:cNvSpPr/>
          <p:nvPr/>
        </p:nvSpPr>
        <p:spPr>
          <a:xfrm>
            <a:off x="3052734" y="2391728"/>
            <a:ext cx="367284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1500"/>
          </a:p>
        </p:txBody>
      </p:sp>
      <p:sp>
        <p:nvSpPr>
          <p:cNvPr id="31" name="UML class-review label 31"/>
          <p:cNvSpPr/>
          <p:nvPr/>
        </p:nvSpPr>
        <p:spPr>
          <a:xfrm>
            <a:off x="2321881" y="2391728"/>
            <a:ext cx="257175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1</a:t>
            </a:r>
            <a:endParaRPr lang="zh-CN" sz="1500"/>
          </a:p>
        </p:txBody>
      </p:sp>
      <p:sp>
        <p:nvSpPr>
          <p:cNvPr id="32" name="UML class-review connection 32"/>
          <p:cNvSpPr/>
          <p:nvPr/>
        </p:nvSpPr>
        <p:spPr>
          <a:xfrm>
            <a:off x="5079540" y="2366962"/>
            <a:ext cx="1041425" cy="952"/>
          </a:xfrm>
          <a:custGeom>
            <a:avLst/>
            <a:gdLst/>
            <a:ahLst/>
            <a:cxnLst/>
            <a:rect l="0" t="0" r="r" b="b"/>
            <a:pathLst>
              <a:path w="1041425" h="952" fill="none" extrusionOk="0">
                <a:moveTo>
                  <a:pt x="0" y="0"/>
                </a:moveTo>
                <a:cubicBezTo>
                  <a:pt x="336109" y="0"/>
                  <a:pt x="718423" y="0"/>
                  <a:pt x="1041425" y="0"/>
                </a:cubicBez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33" name="UML class-review label 33"/>
          <p:cNvSpPr/>
          <p:nvPr/>
        </p:nvSpPr>
        <p:spPr>
          <a:xfrm>
            <a:off x="6003331" y="2391728"/>
            <a:ext cx="257175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1</a:t>
            </a:r>
            <a:endParaRPr lang="zh-CN" sz="1500"/>
          </a:p>
        </p:txBody>
      </p:sp>
      <p:sp>
        <p:nvSpPr>
          <p:cNvPr id="34" name="UML class-review label 34"/>
          <p:cNvSpPr/>
          <p:nvPr/>
        </p:nvSpPr>
        <p:spPr>
          <a:xfrm>
            <a:off x="5085731" y="2391728"/>
            <a:ext cx="367284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0..*</a:t>
            </a:r>
            <a:endParaRPr lang="zh-CN" sz="1500"/>
          </a:p>
        </p:txBody>
      </p:sp>
      <p:sp>
        <p:nvSpPr>
          <p:cNvPr id="7" name="content-18">
            <a:extLst>
              <a:ext uri="{FF2B5EF4-FFF2-40B4-BE49-F238E27FC236}">
                <a16:creationId xmlns:a16="http://schemas.microsoft.com/office/drawing/2014/main" id="{0128200C-C03D-431E-8587-88FE3D020ECC}"/>
              </a:ext>
            </a:extLst>
          </p:cNvPr>
          <p:cNvSpPr>
            <a:spLocks noGrp="1"/>
          </p:cNvSpPr>
          <p:nvPr/>
        </p:nvSpPr>
        <p:spPr>
          <a:xfrm>
            <a:off x="476250" y="37147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Student、CourseOffering和Enrollment描述选课的静态结构。</a:t>
            </a:r>
          </a:p>
        </p:txBody>
      </p:sp>
      <p:sp>
        <p:nvSpPr>
          <p:cNvPr id="8" name="content-19">
            <a:extLst>
              <a:ext uri="{FF2B5EF4-FFF2-40B4-BE49-F238E27FC236}">
                <a16:creationId xmlns:a16="http://schemas.microsoft.com/office/drawing/2014/main" id="{16EAE999-456E-4AFD-8E0C-5B33AECA31D1}"/>
              </a:ext>
            </a:extLst>
          </p:cNvPr>
          <p:cNvSpPr>
            <a:spLocks noGrp="1"/>
          </p:cNvSpPr>
          <p:nvPr/>
        </p:nvSpPr>
        <p:spPr>
          <a:xfrm>
            <a:off x="476250" y="40195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每条选课记录关联一名学生和一个开课班。</a:t>
            </a:r>
          </a:p>
        </p:txBody>
      </p:sp>
      <p:sp>
        <p:nvSpPr>
          <p:cNvPr id="9" name="content-20">
            <a:extLst>
              <a:ext uri="{FF2B5EF4-FFF2-40B4-BE49-F238E27FC236}">
                <a16:creationId xmlns:a16="http://schemas.microsoft.com/office/drawing/2014/main" id="{9F95666C-124A-48F6-9F3A-8C6951965E08}"/>
              </a:ext>
            </a:extLst>
          </p:cNvPr>
          <p:cNvSpPr>
            <a:spLocks noGrp="1"/>
          </p:cNvSpPr>
          <p:nvPr/>
        </p:nvSpPr>
        <p:spPr>
          <a:xfrm>
            <a:off x="476250" y="43243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同一学生与同一开课班，最多一条选课记录。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-21">
            <a:extLst>
              <a:ext uri="{FF2B5EF4-FFF2-40B4-BE49-F238E27FC236}">
                <a16:creationId xmlns:a16="http://schemas.microsoft.com/office/drawing/2014/main" id="{6CE830FD-B76D-47CE-AFE4-D08376EA4DEC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类图之外：选课过程怎样发生？</a:t>
            </a:r>
          </a:p>
        </p:txBody>
      </p:sp>
      <p:sp>
        <p:nvSpPr>
          <p:cNvPr id="2" name="frame-22">
            <a:extLst>
              <a:ext uri="{FF2B5EF4-FFF2-40B4-BE49-F238E27FC236}">
                <a16:creationId xmlns:a16="http://schemas.microsoft.com/office/drawing/2014/main" id="{E0C98259-C829-4CD7-98C2-C78D8AD116F3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23">
            <a:extLst>
              <a:ext uri="{FF2B5EF4-FFF2-40B4-BE49-F238E27FC236}">
                <a16:creationId xmlns:a16="http://schemas.microsoft.com/office/drawing/2014/main" id="{D32B0863-7555-4D9A-9E73-DFFBD66775D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A1C234CF-332B-4D36-A5D4-21B5D01B0BF2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2B127807-3B42-4342-AB40-9804DCD0443E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03 / 78</a:t>
            </a:r>
          </a:p>
        </p:txBody>
      </p:sp>
      <p:sp>
        <p:nvSpPr>
          <p:cNvPr id="6" name="content-24">
            <a:extLst>
              <a:ext uri="{FF2B5EF4-FFF2-40B4-BE49-F238E27FC236}">
                <a16:creationId xmlns:a16="http://schemas.microsoft.com/office/drawing/2014/main" id="{1BC5133C-BDFC-4F84-A9BA-3D82222D4BF7}"/>
              </a:ext>
            </a:extLst>
          </p:cNvPr>
          <p:cNvSpPr>
            <a:spLocks noGrp="1"/>
          </p:cNvSpPr>
          <p:nvPr/>
        </p:nvSpPr>
        <p:spPr>
          <a:xfrm>
            <a:off x="476250" y="1104900"/>
            <a:ext cx="1219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业务情境</a:t>
            </a:r>
          </a:p>
        </p:txBody>
      </p:sp>
      <p:sp>
        <p:nvSpPr>
          <p:cNvPr id="7" name="content-25">
            <a:extLst>
              <a:ext uri="{FF2B5EF4-FFF2-40B4-BE49-F238E27FC236}">
                <a16:creationId xmlns:a16="http://schemas.microsoft.com/office/drawing/2014/main" id="{DFF9174C-FBF5-4209-8431-9AB6B1D3B38F}"/>
              </a:ext>
            </a:extLst>
          </p:cNvPr>
          <p:cNvSpPr>
            <a:spLocks noGrp="1"/>
          </p:cNvSpPr>
          <p:nvPr/>
        </p:nvSpPr>
        <p:spPr>
          <a:xfrm>
            <a:off x="1905000" y="11049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系统正在处理S01对SE26-A的一条选课记录。</a:t>
            </a:r>
          </a:p>
        </p:txBody>
      </p:sp>
      <p:sp>
        <p:nvSpPr>
          <p:cNvPr id="8" name="frame-26">
            <a:extLst>
              <a:ext uri="{FF2B5EF4-FFF2-40B4-BE49-F238E27FC236}">
                <a16:creationId xmlns:a16="http://schemas.microsoft.com/office/drawing/2014/main" id="{77292951-D167-44B1-81AD-DAC013C453D6}"/>
              </a:ext>
            </a:extLst>
          </p:cNvPr>
          <p:cNvSpPr>
            <a:spLocks noGrp="1"/>
          </p:cNvSpPr>
          <p:nvPr/>
        </p:nvSpPr>
        <p:spPr>
          <a:xfrm>
            <a:off x="476250" y="24574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27">
            <a:extLst>
              <a:ext uri="{FF2B5EF4-FFF2-40B4-BE49-F238E27FC236}">
                <a16:creationId xmlns:a16="http://schemas.microsoft.com/office/drawing/2014/main" id="{15B0943A-46DF-40C2-8EC5-C572D224FBA4}"/>
              </a:ext>
            </a:extLst>
          </p:cNvPr>
          <p:cNvSpPr>
            <a:spLocks noGrp="1"/>
          </p:cNvSpPr>
          <p:nvPr/>
        </p:nvSpPr>
        <p:spPr>
          <a:xfrm>
            <a:off x="476250" y="2486025"/>
            <a:ext cx="1219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问题</a:t>
            </a:r>
          </a:p>
        </p:txBody>
      </p:sp>
      <p:sp>
        <p:nvSpPr>
          <p:cNvPr id="10" name="content-28">
            <a:extLst>
              <a:ext uri="{FF2B5EF4-FFF2-40B4-BE49-F238E27FC236}">
                <a16:creationId xmlns:a16="http://schemas.microsoft.com/office/drawing/2014/main" id="{9AF47D58-01E4-4965-B5DA-D9EAE0CEEAAB}"/>
              </a:ext>
            </a:extLst>
          </p:cNvPr>
          <p:cNvSpPr>
            <a:spLocks noGrp="1"/>
          </p:cNvSpPr>
          <p:nvPr/>
        </p:nvSpPr>
        <p:spPr>
          <a:xfrm>
            <a:off x="1905000" y="2486025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如果已无余量，系统执行什么动作？由谁处理？记录进入什么状态？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-29">
            <a:extLst>
              <a:ext uri="{FF2B5EF4-FFF2-40B4-BE49-F238E27FC236}">
                <a16:creationId xmlns:a16="http://schemas.microsoft.com/office/drawing/2014/main" id="{833EE30A-4267-4171-9BCE-02EB2A9B4584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活动图、顺序图与状态机图</a:t>
            </a:r>
          </a:p>
        </p:txBody>
      </p:sp>
      <p:sp>
        <p:nvSpPr>
          <p:cNvPr id="2" name="frame-30">
            <a:extLst>
              <a:ext uri="{FF2B5EF4-FFF2-40B4-BE49-F238E27FC236}">
                <a16:creationId xmlns:a16="http://schemas.microsoft.com/office/drawing/2014/main" id="{D8D65207-A50F-4914-9C92-C2D52FF65AD1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31">
            <a:extLst>
              <a:ext uri="{FF2B5EF4-FFF2-40B4-BE49-F238E27FC236}">
                <a16:creationId xmlns:a16="http://schemas.microsoft.com/office/drawing/2014/main" id="{A30FF12B-0474-424C-A2A8-D724007C08BD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61CC4D08-0952-4420-8A8E-ADA020B85A0C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F13487B7-F9C5-45A0-B2A7-5EFD3B64F876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04 / 78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476250" y="1209675"/>
          <a:ext cx="8191500" cy="285750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图的类型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主要关注点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本章学习内容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活动图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动作如何组织，分支如何选择？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动作、控制流、判定与合并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顺序图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参与者如何交换消息？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生命线、同步调用、返回、alt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状态机图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对象处于何种状态，何时迁移？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状态、事件、守卫与迁移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nt-32">
            <a:extLst>
              <a:ext uri="{FF2B5EF4-FFF2-40B4-BE49-F238E27FC236}">
                <a16:creationId xmlns:a16="http://schemas.microsoft.com/office/drawing/2014/main" id="{5353FE48-4F9F-4F06-8A2F-82EFBB52A013}"/>
              </a:ext>
            </a:extLst>
          </p:cNvPr>
          <p:cNvSpPr>
            <a:spLocks noGrp="1"/>
          </p:cNvSpPr>
          <p:nvPr/>
        </p:nvSpPr>
        <p:spPr>
          <a:xfrm>
            <a:off x="476250" y="4381500"/>
            <a:ext cx="8191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本章活动图侧重控制流；它也可表达对象流。三种图可以相互补充。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-33">
            <a:extLst>
              <a:ext uri="{FF2B5EF4-FFF2-40B4-BE49-F238E27FC236}">
                <a16:creationId xmlns:a16="http://schemas.microsoft.com/office/drawing/2014/main" id="{7CA6D08C-7C98-47E5-AF39-5FAEE731DD20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选课案例：课堂建模约定</a:t>
            </a:r>
          </a:p>
        </p:txBody>
      </p:sp>
      <p:sp>
        <p:nvSpPr>
          <p:cNvPr id="2" name="frame-34">
            <a:extLst>
              <a:ext uri="{FF2B5EF4-FFF2-40B4-BE49-F238E27FC236}">
                <a16:creationId xmlns:a16="http://schemas.microsoft.com/office/drawing/2014/main" id="{4165B8BA-0473-42FB-B0CE-8CA8790B5EE3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35">
            <a:extLst>
              <a:ext uri="{FF2B5EF4-FFF2-40B4-BE49-F238E27FC236}">
                <a16:creationId xmlns:a16="http://schemas.microsoft.com/office/drawing/2014/main" id="{4A6B445D-434E-4854-BBF9-A0DD0C850195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AB3C5576-548D-46F3-AEFD-374A10E9EB67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2BBCD42F-BF8B-49C6-BEAD-1C0A7E710EED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05 / 78</a:t>
            </a:r>
          </a:p>
        </p:txBody>
      </p:sp>
      <p:sp>
        <p:nvSpPr>
          <p:cNvPr id="6" name="content-36">
            <a:extLst>
              <a:ext uri="{FF2B5EF4-FFF2-40B4-BE49-F238E27FC236}">
                <a16:creationId xmlns:a16="http://schemas.microsoft.com/office/drawing/2014/main" id="{CCA9CAB8-C728-4462-96D0-9B02E3B6C366}"/>
              </a:ext>
            </a:extLst>
          </p:cNvPr>
          <p:cNvSpPr>
            <a:spLocks noGrp="1"/>
          </p:cNvSpPr>
          <p:nvPr/>
        </p:nvSpPr>
        <p:spPr>
          <a:xfrm>
            <a:off x="476250" y="110490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已有记录</a:t>
            </a:r>
          </a:p>
        </p:txBody>
      </p:sp>
      <p:sp>
        <p:nvSpPr>
          <p:cNvPr id="7" name="content-37">
            <a:extLst>
              <a:ext uri="{FF2B5EF4-FFF2-40B4-BE49-F238E27FC236}">
                <a16:creationId xmlns:a16="http://schemas.microsoft.com/office/drawing/2014/main" id="{9DD6AB72-2228-43C1-8331-E2E299887D40}"/>
              </a:ext>
            </a:extLst>
          </p:cNvPr>
          <p:cNvSpPr>
            <a:spLocks noGrp="1"/>
          </p:cNvSpPr>
          <p:nvPr/>
        </p:nvSpPr>
        <p:spPr>
          <a:xfrm>
            <a:off x="2257425" y="1104900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e是S01与SE26-A的唯一选课记录，当前为“待处理”。</a:t>
            </a:r>
          </a:p>
        </p:txBody>
      </p:sp>
      <p:sp>
        <p:nvSpPr>
          <p:cNvPr id="8" name="frame-38">
            <a:extLst>
              <a:ext uri="{FF2B5EF4-FFF2-40B4-BE49-F238E27FC236}">
                <a16:creationId xmlns:a16="http://schemas.microsoft.com/office/drawing/2014/main" id="{B361069A-C37C-43F3-A43E-89D5DC196908}"/>
              </a:ext>
            </a:extLst>
          </p:cNvPr>
          <p:cNvSpPr>
            <a:spLocks noGrp="1"/>
          </p:cNvSpPr>
          <p:nvPr/>
        </p:nvSpPr>
        <p:spPr>
          <a:xfrm>
            <a:off x="476250" y="190500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39">
            <a:extLst>
              <a:ext uri="{FF2B5EF4-FFF2-40B4-BE49-F238E27FC236}">
                <a16:creationId xmlns:a16="http://schemas.microsoft.com/office/drawing/2014/main" id="{DB6B6F30-910D-42B7-A6CA-C01B7090BCD8}"/>
              </a:ext>
            </a:extLst>
          </p:cNvPr>
          <p:cNvSpPr>
            <a:spLocks noGrp="1"/>
          </p:cNvSpPr>
          <p:nvPr/>
        </p:nvSpPr>
        <p:spPr>
          <a:xfrm>
            <a:off x="476250" y="193357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处理结果</a:t>
            </a:r>
          </a:p>
        </p:txBody>
      </p:sp>
      <p:sp>
        <p:nvSpPr>
          <p:cNvPr id="10" name="content-40">
            <a:extLst>
              <a:ext uri="{FF2B5EF4-FFF2-40B4-BE49-F238E27FC236}">
                <a16:creationId xmlns:a16="http://schemas.microsoft.com/office/drawing/2014/main" id="{24ECD9F3-2959-4756-A925-813D69891540}"/>
              </a:ext>
            </a:extLst>
          </p:cNvPr>
          <p:cNvSpPr>
            <a:spLocks noGrp="1"/>
          </p:cNvSpPr>
          <p:nvPr/>
        </p:nvSpPr>
        <p:spPr>
          <a:xfrm>
            <a:off x="2257425" y="1933575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余量为非负整数：大于0则确认，等于0则拒绝。</a:t>
            </a:r>
          </a:p>
        </p:txBody>
      </p:sp>
      <p:sp>
        <p:nvSpPr>
          <p:cNvPr id="11" name="frame-41">
            <a:extLst>
              <a:ext uri="{FF2B5EF4-FFF2-40B4-BE49-F238E27FC236}">
                <a16:creationId xmlns:a16="http://schemas.microsoft.com/office/drawing/2014/main" id="{D576640E-33BE-41A1-B349-29B0E516EC03}"/>
              </a:ext>
            </a:extLst>
          </p:cNvPr>
          <p:cNvSpPr>
            <a:spLocks noGrp="1"/>
          </p:cNvSpPr>
          <p:nvPr/>
        </p:nvSpPr>
        <p:spPr>
          <a:xfrm>
            <a:off x="476250" y="273367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42">
            <a:extLst>
              <a:ext uri="{FF2B5EF4-FFF2-40B4-BE49-F238E27FC236}">
                <a16:creationId xmlns:a16="http://schemas.microsoft.com/office/drawing/2014/main" id="{9E4C6287-716D-487D-B6BC-8540DD8D0C43}"/>
              </a:ext>
            </a:extLst>
          </p:cNvPr>
          <p:cNvSpPr>
            <a:spLocks noGrp="1"/>
          </p:cNvSpPr>
          <p:nvPr/>
        </p:nvSpPr>
        <p:spPr>
          <a:xfrm>
            <a:off x="476250" y="276225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记录状态</a:t>
            </a:r>
          </a:p>
        </p:txBody>
      </p:sp>
      <p:sp>
        <p:nvSpPr>
          <p:cNvPr id="13" name="content-43">
            <a:extLst>
              <a:ext uri="{FF2B5EF4-FFF2-40B4-BE49-F238E27FC236}">
                <a16:creationId xmlns:a16="http://schemas.microsoft.com/office/drawing/2014/main" id="{D2BD958B-0097-4A4F-9CC4-AD74F0734A85}"/>
              </a:ext>
            </a:extLst>
          </p:cNvPr>
          <p:cNvSpPr>
            <a:spLocks noGrp="1"/>
          </p:cNvSpPr>
          <p:nvPr/>
        </p:nvSpPr>
        <p:spPr>
          <a:xfrm>
            <a:off x="2257425" y="2762250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处理后为“已确认”或“已拒绝”，记录对象继续保留。</a:t>
            </a:r>
          </a:p>
        </p:txBody>
      </p:sp>
      <p:sp>
        <p:nvSpPr>
          <p:cNvPr id="14" name="frame-44">
            <a:extLst>
              <a:ext uri="{FF2B5EF4-FFF2-40B4-BE49-F238E27FC236}">
                <a16:creationId xmlns:a16="http://schemas.microsoft.com/office/drawing/2014/main" id="{15B9EEA8-8039-4E4F-81A8-238846B8E89C}"/>
              </a:ext>
            </a:extLst>
          </p:cNvPr>
          <p:cNvSpPr>
            <a:spLocks noGrp="1"/>
          </p:cNvSpPr>
          <p:nvPr/>
        </p:nvSpPr>
        <p:spPr>
          <a:xfrm>
            <a:off x="476250" y="35623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45">
            <a:extLst>
              <a:ext uri="{FF2B5EF4-FFF2-40B4-BE49-F238E27FC236}">
                <a16:creationId xmlns:a16="http://schemas.microsoft.com/office/drawing/2014/main" id="{CCC26EB8-86FA-4281-8C83-9192B7E82BB9}"/>
              </a:ext>
            </a:extLst>
          </p:cNvPr>
          <p:cNvSpPr>
            <a:spLocks noGrp="1"/>
          </p:cNvSpPr>
          <p:nvPr/>
        </p:nvSpPr>
        <p:spPr>
          <a:xfrm>
            <a:off x="476250" y="359092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待确认规则</a:t>
            </a:r>
          </a:p>
        </p:txBody>
      </p:sp>
      <p:sp>
        <p:nvSpPr>
          <p:cNvPr id="16" name="content-46">
            <a:extLst>
              <a:ext uri="{FF2B5EF4-FFF2-40B4-BE49-F238E27FC236}">
                <a16:creationId xmlns:a16="http://schemas.microsoft.com/office/drawing/2014/main" id="{A14354F2-F1B7-446D-BC10-5B7D88831E11}"/>
              </a:ext>
            </a:extLst>
          </p:cNvPr>
          <p:cNvSpPr>
            <a:spLocks noGrp="1"/>
          </p:cNvSpPr>
          <p:nvPr/>
        </p:nvSpPr>
        <p:spPr>
          <a:xfrm>
            <a:off x="2257425" y="3590925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候补、退选、重新申请及并发抢名额，本章暂不建模。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-47">
            <a:extLst>
              <a:ext uri="{FF2B5EF4-FFF2-40B4-BE49-F238E27FC236}">
                <a16:creationId xmlns:a16="http://schemas.microsoft.com/office/drawing/2014/main" id="{B1F0352D-0877-4061-8C47-289DD846C78C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活动图：一次成功处理的动作</a:t>
            </a:r>
          </a:p>
        </p:txBody>
      </p:sp>
      <p:sp>
        <p:nvSpPr>
          <p:cNvPr id="2" name="frame-48">
            <a:extLst>
              <a:ext uri="{FF2B5EF4-FFF2-40B4-BE49-F238E27FC236}">
                <a16:creationId xmlns:a16="http://schemas.microsoft.com/office/drawing/2014/main" id="{D65AE1E0-08E8-419C-8030-E7F9492D421E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49">
            <a:extLst>
              <a:ext uri="{FF2B5EF4-FFF2-40B4-BE49-F238E27FC236}">
                <a16:creationId xmlns:a16="http://schemas.microsoft.com/office/drawing/2014/main" id="{AD5A05FC-64D3-4C44-BD34-B3D75AAB41F5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ECECF1EB-E9BC-4CAC-9DF6-36EE27DC7B0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C001A13C-72B8-4152-9C4B-BBCEA22F70D5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06 / 78</a:t>
            </a:r>
          </a:p>
        </p:txBody>
      </p:sp>
      <p:sp>
        <p:nvSpPr>
          <p:cNvPr id="27" name="UML activity-success anchor 27"/>
          <p:cNvSpPr/>
          <p:nvPr/>
        </p:nvSpPr>
        <p:spPr>
          <a:xfrm>
            <a:off x="2833688" y="1557338"/>
            <a:ext cx="190500" cy="190500"/>
          </a:xfrm>
          <a:prstGeom prst="ellipse">
            <a:avLst/>
          </a:prstGeom>
          <a:solidFill>
            <a:srgbClr val="1F2A44"/>
          </a:solidFill>
          <a:ln w="9525">
            <a:solidFill>
              <a:srgbClr val="000000"/>
            </a:solidFill>
          </a:ln>
        </p:spPr>
      </p:sp>
      <p:sp>
        <p:nvSpPr>
          <p:cNvPr id="28" name="UML activity-success box 28"/>
          <p:cNvSpPr/>
          <p:nvPr/>
        </p:nvSpPr>
        <p:spPr>
          <a:xfrm>
            <a:off x="2262188" y="1938338"/>
            <a:ext cx="1333500" cy="466344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9" name="UML activity-success label 29"/>
          <p:cNvSpPr/>
          <p:nvPr/>
        </p:nvSpPr>
        <p:spPr>
          <a:xfrm>
            <a:off x="2354104" y="2048828"/>
            <a:ext cx="1209675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读取选课余量</a:t>
            </a:r>
            <a:endParaRPr lang="zh-CN" sz="1500"/>
          </a:p>
        </p:txBody>
      </p:sp>
      <p:sp>
        <p:nvSpPr>
          <p:cNvPr id="30" name="UML activity-success box 30"/>
          <p:cNvSpPr/>
          <p:nvPr/>
        </p:nvSpPr>
        <p:spPr>
          <a:xfrm>
            <a:off x="2262188" y="2595182"/>
            <a:ext cx="1333500" cy="466344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31" name="UML activity-success label 31"/>
          <p:cNvSpPr/>
          <p:nvPr/>
        </p:nvSpPr>
        <p:spPr>
          <a:xfrm>
            <a:off x="2354104" y="2705672"/>
            <a:ext cx="1209675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确认选课记录</a:t>
            </a:r>
            <a:endParaRPr lang="zh-CN" sz="1500"/>
          </a:p>
        </p:txBody>
      </p:sp>
      <p:sp>
        <p:nvSpPr>
          <p:cNvPr id="32" name="UML activity-success box 32"/>
          <p:cNvSpPr/>
          <p:nvPr/>
        </p:nvSpPr>
        <p:spPr>
          <a:xfrm>
            <a:off x="2262188" y="3252025"/>
            <a:ext cx="1333500" cy="466344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33" name="UML activity-success label 33"/>
          <p:cNvSpPr/>
          <p:nvPr/>
        </p:nvSpPr>
        <p:spPr>
          <a:xfrm>
            <a:off x="2354104" y="3362516"/>
            <a:ext cx="1209675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显示处理结果</a:t>
            </a:r>
            <a:endParaRPr lang="zh-CN" sz="1500"/>
          </a:p>
        </p:txBody>
      </p:sp>
      <p:sp>
        <p:nvSpPr>
          <p:cNvPr id="34" name="UML activity-success anchor 34"/>
          <p:cNvSpPr/>
          <p:nvPr/>
        </p:nvSpPr>
        <p:spPr>
          <a:xfrm>
            <a:off x="2824162" y="3908870"/>
            <a:ext cx="209550" cy="209550"/>
          </a:xfrm>
          <a:prstGeom prst="ellips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35" name="UML activity-success anchor 35"/>
          <p:cNvSpPr/>
          <p:nvPr/>
        </p:nvSpPr>
        <p:spPr>
          <a:xfrm>
            <a:off x="2871788" y="3956494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36" name="UML activity-success divider 36"/>
          <p:cNvSpPr/>
          <p:nvPr/>
        </p:nvSpPr>
        <p:spPr>
          <a:xfrm>
            <a:off x="2928938" y="1747838"/>
            <a:ext cx="952" cy="19050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37" name="UML activity-success arrow 37"/>
          <p:cNvSpPr/>
          <p:nvPr/>
        </p:nvSpPr>
        <p:spPr>
          <a:xfrm>
            <a:off x="2890838" y="1843088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8" name="UML activity-success divider 38"/>
          <p:cNvSpPr/>
          <p:nvPr/>
        </p:nvSpPr>
        <p:spPr>
          <a:xfrm>
            <a:off x="2928938" y="2404682"/>
            <a:ext cx="952" cy="19050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39" name="UML activity-success arrow 39"/>
          <p:cNvSpPr/>
          <p:nvPr/>
        </p:nvSpPr>
        <p:spPr>
          <a:xfrm>
            <a:off x="2890838" y="2499932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40" name="UML activity-success divider 40"/>
          <p:cNvSpPr/>
          <p:nvPr/>
        </p:nvSpPr>
        <p:spPr>
          <a:xfrm>
            <a:off x="2928938" y="3061525"/>
            <a:ext cx="952" cy="19050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41" name="UML activity-success arrow 41"/>
          <p:cNvSpPr/>
          <p:nvPr/>
        </p:nvSpPr>
        <p:spPr>
          <a:xfrm>
            <a:off x="2890838" y="3156775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42" name="UML activity-success divider 42"/>
          <p:cNvSpPr/>
          <p:nvPr/>
        </p:nvSpPr>
        <p:spPr>
          <a:xfrm>
            <a:off x="2928938" y="3718370"/>
            <a:ext cx="952" cy="19050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43" name="UML activity-success arrow 43"/>
          <p:cNvSpPr/>
          <p:nvPr/>
        </p:nvSpPr>
        <p:spPr>
          <a:xfrm>
            <a:off x="2890838" y="3813620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7" name="content-50">
            <a:extLst>
              <a:ext uri="{FF2B5EF4-FFF2-40B4-BE49-F238E27FC236}">
                <a16:creationId xmlns:a16="http://schemas.microsoft.com/office/drawing/2014/main" id="{0519ED2C-EC20-4D73-8247-8684D6380B0F}"/>
              </a:ext>
            </a:extLst>
          </p:cNvPr>
          <p:cNvSpPr>
            <a:spLocks noGrp="1"/>
          </p:cNvSpPr>
          <p:nvPr/>
        </p:nvSpPr>
        <p:spPr>
          <a:xfrm>
            <a:off x="5638800" y="1181100"/>
            <a:ext cx="2857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适用情形</a:t>
            </a:r>
          </a:p>
        </p:txBody>
      </p:sp>
      <p:sp>
        <p:nvSpPr>
          <p:cNvPr id="8" name="content-51">
            <a:extLst>
              <a:ext uri="{FF2B5EF4-FFF2-40B4-BE49-F238E27FC236}">
                <a16:creationId xmlns:a16="http://schemas.microsoft.com/office/drawing/2014/main" id="{A2C36DA8-750C-41DB-B3B0-3519A7554F03}"/>
              </a:ext>
            </a:extLst>
          </p:cNvPr>
          <p:cNvSpPr>
            <a:spLocks noGrp="1"/>
          </p:cNvSpPr>
          <p:nvPr/>
        </p:nvSpPr>
        <p:spPr>
          <a:xfrm>
            <a:off x="5638800" y="1504950"/>
            <a:ext cx="29337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已有待处理记录；</a:t>
            </a:r>
          </a:p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余量大于0。</a:t>
            </a:r>
          </a:p>
        </p:txBody>
      </p:sp>
      <p:sp>
        <p:nvSpPr>
          <p:cNvPr id="9" name="content-52">
            <a:extLst>
              <a:ext uri="{FF2B5EF4-FFF2-40B4-BE49-F238E27FC236}">
                <a16:creationId xmlns:a16="http://schemas.microsoft.com/office/drawing/2014/main" id="{D984F67E-4A5B-4355-9E19-871C1402B2DC}"/>
              </a:ext>
            </a:extLst>
          </p:cNvPr>
          <p:cNvSpPr>
            <a:spLocks noGrp="1"/>
          </p:cNvSpPr>
          <p:nvPr/>
        </p:nvSpPr>
        <p:spPr>
          <a:xfrm>
            <a:off x="5638800" y="2314575"/>
            <a:ext cx="2857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动作</a:t>
            </a:r>
          </a:p>
        </p:txBody>
      </p:sp>
      <p:sp>
        <p:nvSpPr>
          <p:cNvPr id="10" name="content-53">
            <a:extLst>
              <a:ext uri="{FF2B5EF4-FFF2-40B4-BE49-F238E27FC236}">
                <a16:creationId xmlns:a16="http://schemas.microsoft.com/office/drawing/2014/main" id="{AAEBBC77-1920-4CB7-AA31-B95D47690710}"/>
              </a:ext>
            </a:extLst>
          </p:cNvPr>
          <p:cNvSpPr>
            <a:spLocks noGrp="1"/>
          </p:cNvSpPr>
          <p:nvPr/>
        </p:nvSpPr>
        <p:spPr>
          <a:xfrm>
            <a:off x="5638800" y="2638425"/>
            <a:ext cx="29337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读取余量、确认记录、</a:t>
            </a:r>
          </a:p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显示结果。</a:t>
            </a:r>
          </a:p>
        </p:txBody>
      </p:sp>
      <p:sp>
        <p:nvSpPr>
          <p:cNvPr id="11" name="content-54">
            <a:extLst>
              <a:ext uri="{FF2B5EF4-FFF2-40B4-BE49-F238E27FC236}">
                <a16:creationId xmlns:a16="http://schemas.microsoft.com/office/drawing/2014/main" id="{9772889A-CCC7-4F29-B1E9-2263A2BD0BD8}"/>
              </a:ext>
            </a:extLst>
          </p:cNvPr>
          <p:cNvSpPr>
            <a:spLocks noGrp="1"/>
          </p:cNvSpPr>
          <p:nvPr/>
        </p:nvSpPr>
        <p:spPr>
          <a:xfrm>
            <a:off x="5638800" y="3448050"/>
            <a:ext cx="2857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控制流</a:t>
            </a:r>
          </a:p>
        </p:txBody>
      </p:sp>
      <p:sp>
        <p:nvSpPr>
          <p:cNvPr id="12" name="content-55">
            <a:extLst>
              <a:ext uri="{FF2B5EF4-FFF2-40B4-BE49-F238E27FC236}">
                <a16:creationId xmlns:a16="http://schemas.microsoft.com/office/drawing/2014/main" id="{A0AB5340-6A81-4564-934E-C414C1E5EB1F}"/>
              </a:ext>
            </a:extLst>
          </p:cNvPr>
          <p:cNvSpPr>
            <a:spLocks noGrp="1"/>
          </p:cNvSpPr>
          <p:nvPr/>
        </p:nvSpPr>
        <p:spPr>
          <a:xfrm>
            <a:off x="5638800" y="3771900"/>
            <a:ext cx="29337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箭头表示节点间的控制传递。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-56">
            <a:extLst>
              <a:ext uri="{FF2B5EF4-FFF2-40B4-BE49-F238E27FC236}">
                <a16:creationId xmlns:a16="http://schemas.microsoft.com/office/drawing/2014/main" id="{1B952A83-E572-4319-B1D1-30147A6025A6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活动图中的选择分支</a:t>
            </a:r>
          </a:p>
        </p:txBody>
      </p:sp>
      <p:sp>
        <p:nvSpPr>
          <p:cNvPr id="2" name="frame-57">
            <a:extLst>
              <a:ext uri="{FF2B5EF4-FFF2-40B4-BE49-F238E27FC236}">
                <a16:creationId xmlns:a16="http://schemas.microsoft.com/office/drawing/2014/main" id="{C42687C6-9A55-4F5E-9397-783A99539709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58">
            <a:extLst>
              <a:ext uri="{FF2B5EF4-FFF2-40B4-BE49-F238E27FC236}">
                <a16:creationId xmlns:a16="http://schemas.microsoft.com/office/drawing/2014/main" id="{9E1AE327-8428-4741-9C07-39BA13715F4C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18A9A1D1-3045-42F8-ADD1-05A6B1676B28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5AE12F4F-8F9A-41EF-B414-C68BBD8F7E6E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07 / 78</a:t>
            </a:r>
          </a:p>
        </p:txBody>
      </p:sp>
      <p:sp>
        <p:nvSpPr>
          <p:cNvPr id="27" name="UML activity-choice anchor 27"/>
          <p:cNvSpPr/>
          <p:nvPr/>
        </p:nvSpPr>
        <p:spPr>
          <a:xfrm>
            <a:off x="2838953" y="1156785"/>
            <a:ext cx="179970" cy="179970"/>
          </a:xfrm>
          <a:prstGeom prst="ellipse">
            <a:avLst/>
          </a:prstGeom>
          <a:solidFill>
            <a:srgbClr val="1F2A44"/>
          </a:solidFill>
          <a:ln w="8998">
            <a:solidFill>
              <a:srgbClr val="000000"/>
            </a:solidFill>
          </a:ln>
        </p:spPr>
      </p:sp>
      <p:sp>
        <p:nvSpPr>
          <p:cNvPr id="28" name="UML activity-choice box 28"/>
          <p:cNvSpPr/>
          <p:nvPr/>
        </p:nvSpPr>
        <p:spPr>
          <a:xfrm>
            <a:off x="2299043" y="1516725"/>
            <a:ext cx="1259789" cy="440566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29" name="UML activity-choice label 29"/>
          <p:cNvSpPr/>
          <p:nvPr/>
        </p:nvSpPr>
        <p:spPr>
          <a:xfrm>
            <a:off x="2385878" y="1621107"/>
            <a:ext cx="1142809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读取选课余量</a:t>
            </a:r>
            <a:endParaRPr lang="zh-CN" sz="1417"/>
          </a:p>
        </p:txBody>
      </p:sp>
      <p:sp>
        <p:nvSpPr>
          <p:cNvPr id="30" name="UML activity-choice arrow 30"/>
          <p:cNvSpPr/>
          <p:nvPr/>
        </p:nvSpPr>
        <p:spPr>
          <a:xfrm>
            <a:off x="2461016" y="2238224"/>
            <a:ext cx="935843" cy="476560"/>
          </a:xfrm>
          <a:custGeom>
            <a:avLst/>
            <a:gdLst/>
            <a:ahLst/>
            <a:cxnLst/>
            <a:rect l="0" t="0" r="r" b="b"/>
            <a:pathLst>
              <a:path w="990600" h="504444" extrusionOk="0">
                <a:moveTo>
                  <a:pt x="495300" y="0"/>
                </a:moveTo>
                <a:lnTo>
                  <a:pt x="990600" y="252222"/>
                </a:lnTo>
                <a:lnTo>
                  <a:pt x="495300" y="504444"/>
                </a:lnTo>
                <a:lnTo>
                  <a:pt x="0" y="252222"/>
                </a:lnTo>
                <a:close/>
              </a:path>
            </a:pathLst>
          </a:cu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31" name="UML activity-choice label 31"/>
          <p:cNvSpPr/>
          <p:nvPr/>
        </p:nvSpPr>
        <p:spPr>
          <a:xfrm>
            <a:off x="2565848" y="2360603"/>
            <a:ext cx="782869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余量判定</a:t>
            </a:r>
            <a:endParaRPr lang="zh-CN" sz="1417"/>
          </a:p>
        </p:txBody>
      </p:sp>
      <p:sp>
        <p:nvSpPr>
          <p:cNvPr id="32" name="UML activity-choice label 32"/>
          <p:cNvSpPr/>
          <p:nvPr/>
        </p:nvSpPr>
        <p:spPr>
          <a:xfrm>
            <a:off x="1695874" y="2100007"/>
            <a:ext cx="824982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[余量 &gt; 0]</a:t>
            </a:r>
            <a:endParaRPr lang="zh-CN" sz="1417"/>
          </a:p>
        </p:txBody>
      </p:sp>
      <p:sp>
        <p:nvSpPr>
          <p:cNvPr id="33" name="UML activity-choice label 33"/>
          <p:cNvSpPr/>
          <p:nvPr/>
        </p:nvSpPr>
        <p:spPr>
          <a:xfrm>
            <a:off x="3393710" y="2144999"/>
            <a:ext cx="824982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[余量 = 0]</a:t>
            </a:r>
            <a:endParaRPr lang="zh-CN" sz="1417"/>
          </a:p>
        </p:txBody>
      </p:sp>
      <p:sp>
        <p:nvSpPr>
          <p:cNvPr id="34" name="UML activity-choice box 34"/>
          <p:cNvSpPr/>
          <p:nvPr/>
        </p:nvSpPr>
        <p:spPr>
          <a:xfrm>
            <a:off x="1579164" y="2804769"/>
            <a:ext cx="1259789" cy="440566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35" name="UML activity-choice label 35"/>
          <p:cNvSpPr/>
          <p:nvPr/>
        </p:nvSpPr>
        <p:spPr>
          <a:xfrm>
            <a:off x="1665999" y="2909151"/>
            <a:ext cx="1142809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确认选课记录</a:t>
            </a:r>
            <a:endParaRPr lang="zh-CN" sz="1417"/>
          </a:p>
        </p:txBody>
      </p:sp>
      <p:sp>
        <p:nvSpPr>
          <p:cNvPr id="36" name="UML activity-choice box 36"/>
          <p:cNvSpPr/>
          <p:nvPr/>
        </p:nvSpPr>
        <p:spPr>
          <a:xfrm>
            <a:off x="3018922" y="2804769"/>
            <a:ext cx="1259789" cy="440566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37" name="UML activity-choice label 37"/>
          <p:cNvSpPr/>
          <p:nvPr/>
        </p:nvSpPr>
        <p:spPr>
          <a:xfrm>
            <a:off x="3105758" y="2909151"/>
            <a:ext cx="1142809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拒绝选课记录</a:t>
            </a:r>
            <a:endParaRPr lang="zh-CN" sz="1417"/>
          </a:p>
        </p:txBody>
      </p:sp>
      <p:sp>
        <p:nvSpPr>
          <p:cNvPr id="38" name="UML activity-choice arrow 38"/>
          <p:cNvSpPr/>
          <p:nvPr/>
        </p:nvSpPr>
        <p:spPr>
          <a:xfrm>
            <a:off x="2820956" y="3299326"/>
            <a:ext cx="215964" cy="215964"/>
          </a:xfrm>
          <a:custGeom>
            <a:avLst/>
            <a:gdLst/>
            <a:ahLst/>
            <a:cxnLst/>
            <a:rect l="0" t="0" r="r" b="b"/>
            <a:pathLst>
              <a:path w="228600" h="228600" extrusionOk="0">
                <a:moveTo>
                  <a:pt x="114300" y="0"/>
                </a:moveTo>
                <a:lnTo>
                  <a:pt x="228600" y="114300"/>
                </a:lnTo>
                <a:lnTo>
                  <a:pt x="114300" y="228600"/>
                </a:lnTo>
                <a:lnTo>
                  <a:pt x="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39" name="UML activity-choice box 39"/>
          <p:cNvSpPr/>
          <p:nvPr/>
        </p:nvSpPr>
        <p:spPr>
          <a:xfrm>
            <a:off x="2299043" y="3695260"/>
            <a:ext cx="1259789" cy="440566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40" name="UML activity-choice label 40"/>
          <p:cNvSpPr/>
          <p:nvPr/>
        </p:nvSpPr>
        <p:spPr>
          <a:xfrm>
            <a:off x="2385878" y="3799642"/>
            <a:ext cx="1142809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显示处理结果</a:t>
            </a:r>
            <a:endParaRPr lang="zh-CN" sz="1417"/>
          </a:p>
        </p:txBody>
      </p:sp>
      <p:sp>
        <p:nvSpPr>
          <p:cNvPr id="41" name="UML activity-choice anchor 41"/>
          <p:cNvSpPr/>
          <p:nvPr/>
        </p:nvSpPr>
        <p:spPr>
          <a:xfrm>
            <a:off x="2829954" y="4315796"/>
            <a:ext cx="197967" cy="197967"/>
          </a:xfrm>
          <a:prstGeom prst="ellipse">
            <a:avLst/>
          </a:prstGeom>
          <a:noFill/>
          <a:ln w="8998">
            <a:solidFill>
              <a:srgbClr val="000000"/>
            </a:solidFill>
          </a:ln>
        </p:spPr>
      </p:sp>
      <p:sp>
        <p:nvSpPr>
          <p:cNvPr id="42" name="UML activity-choice anchor 42"/>
          <p:cNvSpPr/>
          <p:nvPr/>
        </p:nvSpPr>
        <p:spPr>
          <a:xfrm>
            <a:off x="2874947" y="4360788"/>
            <a:ext cx="107982" cy="107982"/>
          </a:xfrm>
          <a:prstGeom prst="ellipse">
            <a:avLst/>
          </a:prstGeom>
          <a:solidFill>
            <a:srgbClr val="FFFFFF"/>
          </a:solidFill>
          <a:ln w="8998">
            <a:solidFill>
              <a:srgbClr val="000000"/>
            </a:solidFill>
          </a:ln>
        </p:spPr>
      </p:sp>
      <p:sp>
        <p:nvSpPr>
          <p:cNvPr id="43" name="UML activity-choice divider 43"/>
          <p:cNvSpPr/>
          <p:nvPr/>
        </p:nvSpPr>
        <p:spPr>
          <a:xfrm>
            <a:off x="2928938" y="1336755"/>
            <a:ext cx="952" cy="17997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44" name="UML activity-choice arrow 44"/>
          <p:cNvSpPr/>
          <p:nvPr/>
        </p:nvSpPr>
        <p:spPr>
          <a:xfrm>
            <a:off x="2892944" y="1426740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45" name="UML activity-choice divider 45"/>
          <p:cNvSpPr/>
          <p:nvPr/>
        </p:nvSpPr>
        <p:spPr>
          <a:xfrm>
            <a:off x="2209058" y="2476504"/>
            <a:ext cx="251958" cy="952"/>
          </a:xfrm>
          <a:custGeom>
            <a:avLst/>
            <a:gdLst/>
            <a:ahLst/>
            <a:cxnLst/>
            <a:rect l="0" t="0" r="r" b="b"/>
            <a:pathLst>
              <a:path w="266700" h="952" fill="none" extrusionOk="0">
                <a:moveTo>
                  <a:pt x="266700" y="0"/>
                </a:moveTo>
                <a:lnTo>
                  <a:pt x="0" y="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46" name="UML activity-choice divider 46"/>
          <p:cNvSpPr/>
          <p:nvPr/>
        </p:nvSpPr>
        <p:spPr>
          <a:xfrm>
            <a:off x="2209058" y="2476504"/>
            <a:ext cx="952" cy="328265"/>
          </a:xfrm>
          <a:custGeom>
            <a:avLst/>
            <a:gdLst/>
            <a:ahLst/>
            <a:cxnLst/>
            <a:rect l="0" t="0" r="r" b="b"/>
            <a:pathLst>
              <a:path w="952" h="347472" fill="none" extrusionOk="0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47" name="UML activity-choice arrow 47"/>
          <p:cNvSpPr/>
          <p:nvPr/>
        </p:nvSpPr>
        <p:spPr>
          <a:xfrm>
            <a:off x="2173064" y="2714784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48" name="UML activity-choice divider 48"/>
          <p:cNvSpPr/>
          <p:nvPr/>
        </p:nvSpPr>
        <p:spPr>
          <a:xfrm>
            <a:off x="3396859" y="2476504"/>
            <a:ext cx="251958" cy="952"/>
          </a:xfrm>
          <a:custGeom>
            <a:avLst/>
            <a:gdLst/>
            <a:ahLst/>
            <a:cxnLst/>
            <a:rect l="0" t="0" r="r" b="b"/>
            <a:pathLst>
              <a:path w="266700" h="952" fill="none" extrusionOk="0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49" name="UML activity-choice divider 49"/>
          <p:cNvSpPr/>
          <p:nvPr/>
        </p:nvSpPr>
        <p:spPr>
          <a:xfrm>
            <a:off x="3648817" y="2476504"/>
            <a:ext cx="952" cy="328265"/>
          </a:xfrm>
          <a:custGeom>
            <a:avLst/>
            <a:gdLst/>
            <a:ahLst/>
            <a:cxnLst/>
            <a:rect l="0" t="0" r="r" b="b"/>
            <a:pathLst>
              <a:path w="952" h="347472" fill="none" extrusionOk="0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0" name="UML activity-choice arrow 50"/>
          <p:cNvSpPr/>
          <p:nvPr/>
        </p:nvSpPr>
        <p:spPr>
          <a:xfrm>
            <a:off x="3612823" y="2714784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51" name="UML activity-choice divider 51"/>
          <p:cNvSpPr/>
          <p:nvPr/>
        </p:nvSpPr>
        <p:spPr>
          <a:xfrm>
            <a:off x="2209058" y="3245335"/>
            <a:ext cx="952" cy="161973"/>
          </a:xfrm>
          <a:custGeom>
            <a:avLst/>
            <a:gdLst/>
            <a:ahLst/>
            <a:cxnLst/>
            <a:rect l="0" t="0" r="r" b="b"/>
            <a:pathLst>
              <a:path w="952" h="171450" fill="none" extrusionOk="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2" name="UML activity-choice divider 52"/>
          <p:cNvSpPr/>
          <p:nvPr/>
        </p:nvSpPr>
        <p:spPr>
          <a:xfrm>
            <a:off x="2209058" y="3407308"/>
            <a:ext cx="611897" cy="952"/>
          </a:xfrm>
          <a:custGeom>
            <a:avLst/>
            <a:gdLst/>
            <a:ahLst/>
            <a:cxnLst/>
            <a:rect l="0" t="0" r="r" b="b"/>
            <a:pathLst>
              <a:path w="647700" h="952" fill="none" extrusionOk="0">
                <a:moveTo>
                  <a:pt x="0" y="0"/>
                </a:moveTo>
                <a:lnTo>
                  <a:pt x="647700" y="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3" name="UML activity-choice arrow 53"/>
          <p:cNvSpPr/>
          <p:nvPr/>
        </p:nvSpPr>
        <p:spPr>
          <a:xfrm>
            <a:off x="2730971" y="3371314"/>
            <a:ext cx="89985" cy="71988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54" name="UML activity-choice divider 54"/>
          <p:cNvSpPr/>
          <p:nvPr/>
        </p:nvSpPr>
        <p:spPr>
          <a:xfrm>
            <a:off x="3648817" y="3245335"/>
            <a:ext cx="952" cy="161973"/>
          </a:xfrm>
          <a:custGeom>
            <a:avLst/>
            <a:gdLst/>
            <a:ahLst/>
            <a:cxnLst/>
            <a:rect l="0" t="0" r="r" b="b"/>
            <a:pathLst>
              <a:path w="952" h="171450" fill="none" extrusionOk="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5" name="UML activity-choice divider 55"/>
          <p:cNvSpPr/>
          <p:nvPr/>
        </p:nvSpPr>
        <p:spPr>
          <a:xfrm>
            <a:off x="3036919" y="3407308"/>
            <a:ext cx="611897" cy="952"/>
          </a:xfrm>
          <a:custGeom>
            <a:avLst/>
            <a:gdLst/>
            <a:ahLst/>
            <a:cxnLst/>
            <a:rect l="0" t="0" r="r" b="b"/>
            <a:pathLst>
              <a:path w="647700" h="952" fill="none" extrusionOk="0">
                <a:moveTo>
                  <a:pt x="647700" y="0"/>
                </a:moveTo>
                <a:lnTo>
                  <a:pt x="0" y="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6" name="UML activity-choice arrow 56"/>
          <p:cNvSpPr/>
          <p:nvPr/>
        </p:nvSpPr>
        <p:spPr>
          <a:xfrm>
            <a:off x="3036919" y="3371314"/>
            <a:ext cx="89985" cy="71988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95250" y="0"/>
                </a:moveTo>
                <a:lnTo>
                  <a:pt x="0" y="38100"/>
                </a:lnTo>
                <a:lnTo>
                  <a:pt x="95250" y="76200"/>
                </a:lnTo>
                <a:lnTo>
                  <a:pt x="5715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57" name="UML activity-choice divider 57"/>
          <p:cNvSpPr/>
          <p:nvPr/>
        </p:nvSpPr>
        <p:spPr>
          <a:xfrm>
            <a:off x="2928938" y="1957291"/>
            <a:ext cx="952" cy="280933"/>
          </a:xfrm>
          <a:custGeom>
            <a:avLst/>
            <a:gdLst/>
            <a:ahLst/>
            <a:cxnLst/>
            <a:rect l="0" t="0" r="r" b="b"/>
            <a:pathLst>
              <a:path w="952" h="297371" fill="none" extrusionOk="0">
                <a:moveTo>
                  <a:pt x="0" y="0"/>
                </a:moveTo>
                <a:lnTo>
                  <a:pt x="0" y="297371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8" name="UML activity-choice arrow 58"/>
          <p:cNvSpPr/>
          <p:nvPr/>
        </p:nvSpPr>
        <p:spPr>
          <a:xfrm>
            <a:off x="2892944" y="2148239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59" name="UML activity-choice divider 59"/>
          <p:cNvSpPr/>
          <p:nvPr/>
        </p:nvSpPr>
        <p:spPr>
          <a:xfrm>
            <a:off x="2928938" y="3515290"/>
            <a:ext cx="952" cy="17997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60" name="UML activity-choice arrow 60"/>
          <p:cNvSpPr/>
          <p:nvPr/>
        </p:nvSpPr>
        <p:spPr>
          <a:xfrm>
            <a:off x="2892944" y="3605275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61" name="UML activity-choice divider 61"/>
          <p:cNvSpPr/>
          <p:nvPr/>
        </p:nvSpPr>
        <p:spPr>
          <a:xfrm>
            <a:off x="2928938" y="4135826"/>
            <a:ext cx="952" cy="17997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62" name="UML activity-choice arrow 62"/>
          <p:cNvSpPr/>
          <p:nvPr/>
        </p:nvSpPr>
        <p:spPr>
          <a:xfrm>
            <a:off x="2892944" y="4225811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7" name="content-59">
            <a:extLst>
              <a:ext uri="{FF2B5EF4-FFF2-40B4-BE49-F238E27FC236}">
                <a16:creationId xmlns:a16="http://schemas.microsoft.com/office/drawing/2014/main" id="{9AFD03F1-8FFD-42AF-9246-5B6A8A31C85D}"/>
              </a:ext>
            </a:extLst>
          </p:cNvPr>
          <p:cNvSpPr>
            <a:spLocks noGrp="1"/>
          </p:cNvSpPr>
          <p:nvPr/>
        </p:nvSpPr>
        <p:spPr>
          <a:xfrm>
            <a:off x="5638800" y="1181100"/>
            <a:ext cx="2857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判定</a:t>
            </a:r>
          </a:p>
        </p:txBody>
      </p:sp>
      <p:sp>
        <p:nvSpPr>
          <p:cNvPr id="8" name="content-60">
            <a:extLst>
              <a:ext uri="{FF2B5EF4-FFF2-40B4-BE49-F238E27FC236}">
                <a16:creationId xmlns:a16="http://schemas.microsoft.com/office/drawing/2014/main" id="{361F95AD-3944-4C06-947F-2192B0493278}"/>
              </a:ext>
            </a:extLst>
          </p:cNvPr>
          <p:cNvSpPr>
            <a:spLocks noGrp="1"/>
          </p:cNvSpPr>
          <p:nvPr/>
        </p:nvSpPr>
        <p:spPr>
          <a:xfrm>
            <a:off x="5638800" y="1504950"/>
            <a:ext cx="29337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按守卫条件选择一条可行路径。</a:t>
            </a:r>
          </a:p>
        </p:txBody>
      </p:sp>
      <p:sp>
        <p:nvSpPr>
          <p:cNvPr id="9" name="content-61">
            <a:extLst>
              <a:ext uri="{FF2B5EF4-FFF2-40B4-BE49-F238E27FC236}">
                <a16:creationId xmlns:a16="http://schemas.microsoft.com/office/drawing/2014/main" id="{2A680A46-8936-40C5-952A-9C06AC0701B5}"/>
              </a:ext>
            </a:extLst>
          </p:cNvPr>
          <p:cNvSpPr>
            <a:spLocks noGrp="1"/>
          </p:cNvSpPr>
          <p:nvPr/>
        </p:nvSpPr>
        <p:spPr>
          <a:xfrm>
            <a:off x="5638800" y="2314575"/>
            <a:ext cx="2857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合并</a:t>
            </a:r>
          </a:p>
        </p:txBody>
      </p:sp>
      <p:sp>
        <p:nvSpPr>
          <p:cNvPr id="10" name="content-62">
            <a:extLst>
              <a:ext uri="{FF2B5EF4-FFF2-40B4-BE49-F238E27FC236}">
                <a16:creationId xmlns:a16="http://schemas.microsoft.com/office/drawing/2014/main" id="{21334258-C8B9-4387-846B-A9A966A34546}"/>
              </a:ext>
            </a:extLst>
          </p:cNvPr>
          <p:cNvSpPr>
            <a:spLocks noGrp="1"/>
          </p:cNvSpPr>
          <p:nvPr/>
        </p:nvSpPr>
        <p:spPr>
          <a:xfrm>
            <a:off x="5638800" y="2638425"/>
            <a:ext cx="29337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备选路径汇合，继续显示结果。</a:t>
            </a:r>
          </a:p>
        </p:txBody>
      </p:sp>
      <p:sp>
        <p:nvSpPr>
          <p:cNvPr id="11" name="content-63">
            <a:extLst>
              <a:ext uri="{FF2B5EF4-FFF2-40B4-BE49-F238E27FC236}">
                <a16:creationId xmlns:a16="http://schemas.microsoft.com/office/drawing/2014/main" id="{9C3D1A05-32A9-4018-AFA5-1F2633BF6AC2}"/>
              </a:ext>
            </a:extLst>
          </p:cNvPr>
          <p:cNvSpPr>
            <a:spLocks noGrp="1"/>
          </p:cNvSpPr>
          <p:nvPr/>
        </p:nvSpPr>
        <p:spPr>
          <a:xfrm>
            <a:off x="5638800" y="3448050"/>
            <a:ext cx="2857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本例规则</a:t>
            </a:r>
          </a:p>
        </p:txBody>
      </p:sp>
      <p:sp>
        <p:nvSpPr>
          <p:cNvPr id="12" name="content-64">
            <a:extLst>
              <a:ext uri="{FF2B5EF4-FFF2-40B4-BE49-F238E27FC236}">
                <a16:creationId xmlns:a16="http://schemas.microsoft.com/office/drawing/2014/main" id="{5D5B319F-B982-4B09-AECA-AB9D9E54CFBE}"/>
              </a:ext>
            </a:extLst>
          </p:cNvPr>
          <p:cNvSpPr>
            <a:spLocks noGrp="1"/>
          </p:cNvSpPr>
          <p:nvPr/>
        </p:nvSpPr>
        <p:spPr>
          <a:xfrm>
            <a:off x="5638800" y="3771900"/>
            <a:ext cx="29337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余量非负；两个条件互斥且覆盖输入。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-65">
            <a:extLst>
              <a:ext uri="{FF2B5EF4-FFF2-40B4-BE49-F238E27FC236}">
                <a16:creationId xmlns:a16="http://schemas.microsoft.com/office/drawing/2014/main" id="{71CA5286-1EF3-47C5-A3F1-45A0828398C0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练习：成绩判定的分支条件</a:t>
            </a:r>
          </a:p>
        </p:txBody>
      </p:sp>
      <p:sp>
        <p:nvSpPr>
          <p:cNvPr id="2" name="frame-66">
            <a:extLst>
              <a:ext uri="{FF2B5EF4-FFF2-40B4-BE49-F238E27FC236}">
                <a16:creationId xmlns:a16="http://schemas.microsoft.com/office/drawing/2014/main" id="{13D8F16C-0278-43DA-8471-E16FB9808BF5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67">
            <a:extLst>
              <a:ext uri="{FF2B5EF4-FFF2-40B4-BE49-F238E27FC236}">
                <a16:creationId xmlns:a16="http://schemas.microsoft.com/office/drawing/2014/main" id="{66248B38-8A54-446B-BD38-6B12276E4890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5E00A8BE-0C19-4482-A4C3-B91EBC90CFEE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0E28817E-3257-4FDA-BE93-FD06D4542C0F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08 / 78</a:t>
            </a:r>
          </a:p>
        </p:txBody>
      </p:sp>
      <p:sp>
        <p:nvSpPr>
          <p:cNvPr id="27" name="UML grade-quiz anchor 27"/>
          <p:cNvSpPr/>
          <p:nvPr/>
        </p:nvSpPr>
        <p:spPr>
          <a:xfrm>
            <a:off x="2838953" y="1156785"/>
            <a:ext cx="179970" cy="179970"/>
          </a:xfrm>
          <a:prstGeom prst="ellipse">
            <a:avLst/>
          </a:prstGeom>
          <a:solidFill>
            <a:srgbClr val="1F2A44"/>
          </a:solidFill>
          <a:ln w="8998">
            <a:solidFill>
              <a:srgbClr val="000000"/>
            </a:solidFill>
          </a:ln>
        </p:spPr>
      </p:sp>
      <p:sp>
        <p:nvSpPr>
          <p:cNvPr id="28" name="UML grade-quiz box 28"/>
          <p:cNvSpPr/>
          <p:nvPr/>
        </p:nvSpPr>
        <p:spPr>
          <a:xfrm>
            <a:off x="2417013" y="1516725"/>
            <a:ext cx="1023848" cy="440566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29" name="UML grade-quiz label 29"/>
          <p:cNvSpPr/>
          <p:nvPr/>
        </p:nvSpPr>
        <p:spPr>
          <a:xfrm>
            <a:off x="2503849" y="1621107"/>
            <a:ext cx="906868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读取grade</a:t>
            </a:r>
            <a:endParaRPr lang="zh-CN" sz="1417"/>
          </a:p>
        </p:txBody>
      </p:sp>
      <p:sp>
        <p:nvSpPr>
          <p:cNvPr id="30" name="UML grade-quiz arrow 30"/>
          <p:cNvSpPr/>
          <p:nvPr/>
        </p:nvSpPr>
        <p:spPr>
          <a:xfrm>
            <a:off x="2461016" y="2238224"/>
            <a:ext cx="935843" cy="476560"/>
          </a:xfrm>
          <a:custGeom>
            <a:avLst/>
            <a:gdLst/>
            <a:ahLst/>
            <a:cxnLst/>
            <a:rect l="0" t="0" r="r" b="b"/>
            <a:pathLst>
              <a:path w="990600" h="504444" extrusionOk="0">
                <a:moveTo>
                  <a:pt x="495300" y="0"/>
                </a:moveTo>
                <a:lnTo>
                  <a:pt x="990600" y="252222"/>
                </a:lnTo>
                <a:lnTo>
                  <a:pt x="495300" y="504444"/>
                </a:lnTo>
                <a:lnTo>
                  <a:pt x="0" y="252222"/>
                </a:lnTo>
                <a:close/>
              </a:path>
            </a:pathLst>
          </a:cu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31" name="UML grade-quiz label 31"/>
          <p:cNvSpPr/>
          <p:nvPr/>
        </p:nvSpPr>
        <p:spPr>
          <a:xfrm>
            <a:off x="2565848" y="2360603"/>
            <a:ext cx="782869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成绩判定</a:t>
            </a:r>
            <a:endParaRPr lang="zh-CN" sz="1417"/>
          </a:p>
        </p:txBody>
      </p:sp>
      <p:sp>
        <p:nvSpPr>
          <p:cNvPr id="32" name="UML grade-quiz label 32"/>
          <p:cNvSpPr/>
          <p:nvPr/>
        </p:nvSpPr>
        <p:spPr>
          <a:xfrm>
            <a:off x="2348445" y="2100007"/>
            <a:ext cx="242959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A</a:t>
            </a:r>
            <a:endParaRPr lang="zh-CN" sz="1417"/>
          </a:p>
        </p:txBody>
      </p:sp>
      <p:sp>
        <p:nvSpPr>
          <p:cNvPr id="33" name="UML grade-quiz label 33"/>
          <p:cNvSpPr/>
          <p:nvPr/>
        </p:nvSpPr>
        <p:spPr>
          <a:xfrm>
            <a:off x="3393710" y="2144999"/>
            <a:ext cx="242959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B</a:t>
            </a:r>
            <a:endParaRPr lang="zh-CN" sz="1417"/>
          </a:p>
        </p:txBody>
      </p:sp>
      <p:sp>
        <p:nvSpPr>
          <p:cNvPr id="34" name="UML grade-quiz box 34"/>
          <p:cNvSpPr/>
          <p:nvPr/>
        </p:nvSpPr>
        <p:spPr>
          <a:xfrm>
            <a:off x="1623616" y="2804769"/>
            <a:ext cx="1260329" cy="440566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35" name="UML grade-quiz label 35"/>
          <p:cNvSpPr/>
          <p:nvPr/>
        </p:nvSpPr>
        <p:spPr>
          <a:xfrm>
            <a:off x="1710452" y="2909151"/>
            <a:ext cx="1143348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结果 = 不及格</a:t>
            </a:r>
            <a:endParaRPr lang="zh-CN" sz="1417"/>
          </a:p>
        </p:txBody>
      </p:sp>
      <p:sp>
        <p:nvSpPr>
          <p:cNvPr id="36" name="UML grade-quiz box 36"/>
          <p:cNvSpPr/>
          <p:nvPr/>
        </p:nvSpPr>
        <p:spPr>
          <a:xfrm>
            <a:off x="3063915" y="2804769"/>
            <a:ext cx="1080359" cy="440566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37" name="UML grade-quiz label 37"/>
          <p:cNvSpPr/>
          <p:nvPr/>
        </p:nvSpPr>
        <p:spPr>
          <a:xfrm>
            <a:off x="3150750" y="2909151"/>
            <a:ext cx="963379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结果 = 及格</a:t>
            </a:r>
            <a:endParaRPr lang="zh-CN" sz="1417"/>
          </a:p>
        </p:txBody>
      </p:sp>
      <p:sp>
        <p:nvSpPr>
          <p:cNvPr id="38" name="UML grade-quiz arrow 38"/>
          <p:cNvSpPr/>
          <p:nvPr/>
        </p:nvSpPr>
        <p:spPr>
          <a:xfrm>
            <a:off x="2820956" y="3299326"/>
            <a:ext cx="215964" cy="215964"/>
          </a:xfrm>
          <a:custGeom>
            <a:avLst/>
            <a:gdLst/>
            <a:ahLst/>
            <a:cxnLst/>
            <a:rect l="0" t="0" r="r" b="b"/>
            <a:pathLst>
              <a:path w="228600" h="228600" extrusionOk="0">
                <a:moveTo>
                  <a:pt x="114300" y="0"/>
                </a:moveTo>
                <a:lnTo>
                  <a:pt x="228600" y="114300"/>
                </a:lnTo>
                <a:lnTo>
                  <a:pt x="114300" y="228600"/>
                </a:lnTo>
                <a:lnTo>
                  <a:pt x="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39" name="UML grade-quiz box 39"/>
          <p:cNvSpPr/>
          <p:nvPr/>
        </p:nvSpPr>
        <p:spPr>
          <a:xfrm>
            <a:off x="2299043" y="3695260"/>
            <a:ext cx="1259789" cy="440566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40" name="UML grade-quiz label 40"/>
          <p:cNvSpPr/>
          <p:nvPr/>
        </p:nvSpPr>
        <p:spPr>
          <a:xfrm>
            <a:off x="2385878" y="3799642"/>
            <a:ext cx="1142809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显示判定结果</a:t>
            </a:r>
            <a:endParaRPr lang="zh-CN" sz="1417"/>
          </a:p>
        </p:txBody>
      </p:sp>
      <p:sp>
        <p:nvSpPr>
          <p:cNvPr id="41" name="UML grade-quiz anchor 41"/>
          <p:cNvSpPr/>
          <p:nvPr/>
        </p:nvSpPr>
        <p:spPr>
          <a:xfrm>
            <a:off x="2829954" y="4315796"/>
            <a:ext cx="197967" cy="197967"/>
          </a:xfrm>
          <a:prstGeom prst="ellipse">
            <a:avLst/>
          </a:prstGeom>
          <a:noFill/>
          <a:ln w="8998">
            <a:solidFill>
              <a:srgbClr val="000000"/>
            </a:solidFill>
          </a:ln>
        </p:spPr>
      </p:sp>
      <p:sp>
        <p:nvSpPr>
          <p:cNvPr id="42" name="UML grade-quiz anchor 42"/>
          <p:cNvSpPr/>
          <p:nvPr/>
        </p:nvSpPr>
        <p:spPr>
          <a:xfrm>
            <a:off x="2874947" y="4360788"/>
            <a:ext cx="107982" cy="107982"/>
          </a:xfrm>
          <a:prstGeom prst="ellipse">
            <a:avLst/>
          </a:prstGeom>
          <a:solidFill>
            <a:srgbClr val="FFFFFF"/>
          </a:solidFill>
          <a:ln w="8998">
            <a:solidFill>
              <a:srgbClr val="000000"/>
            </a:solidFill>
          </a:ln>
        </p:spPr>
      </p:sp>
      <p:sp>
        <p:nvSpPr>
          <p:cNvPr id="43" name="UML grade-quiz divider 43"/>
          <p:cNvSpPr/>
          <p:nvPr/>
        </p:nvSpPr>
        <p:spPr>
          <a:xfrm>
            <a:off x="2928938" y="1336755"/>
            <a:ext cx="952" cy="17997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44" name="UML grade-quiz arrow 44"/>
          <p:cNvSpPr/>
          <p:nvPr/>
        </p:nvSpPr>
        <p:spPr>
          <a:xfrm>
            <a:off x="2892944" y="1426740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45" name="UML grade-quiz divider 45"/>
          <p:cNvSpPr/>
          <p:nvPr/>
        </p:nvSpPr>
        <p:spPr>
          <a:xfrm>
            <a:off x="2253781" y="2476504"/>
            <a:ext cx="207235" cy="952"/>
          </a:xfrm>
          <a:custGeom>
            <a:avLst/>
            <a:gdLst/>
            <a:ahLst/>
            <a:cxnLst/>
            <a:rect l="0" t="0" r="r" b="b"/>
            <a:pathLst>
              <a:path w="219361" h="952" fill="none" extrusionOk="0">
                <a:moveTo>
                  <a:pt x="219361" y="0"/>
                </a:moveTo>
                <a:lnTo>
                  <a:pt x="0" y="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46" name="UML grade-quiz divider 46"/>
          <p:cNvSpPr/>
          <p:nvPr/>
        </p:nvSpPr>
        <p:spPr>
          <a:xfrm>
            <a:off x="2253781" y="2476504"/>
            <a:ext cx="952" cy="328265"/>
          </a:xfrm>
          <a:custGeom>
            <a:avLst/>
            <a:gdLst/>
            <a:ahLst/>
            <a:cxnLst/>
            <a:rect l="0" t="0" r="r" b="b"/>
            <a:pathLst>
              <a:path w="952" h="347472" fill="none" extrusionOk="0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47" name="UML grade-quiz arrow 47"/>
          <p:cNvSpPr/>
          <p:nvPr/>
        </p:nvSpPr>
        <p:spPr>
          <a:xfrm>
            <a:off x="2217787" y="2714784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48" name="UML grade-quiz divider 48"/>
          <p:cNvSpPr/>
          <p:nvPr/>
        </p:nvSpPr>
        <p:spPr>
          <a:xfrm>
            <a:off x="3396859" y="2476504"/>
            <a:ext cx="207235" cy="952"/>
          </a:xfrm>
          <a:custGeom>
            <a:avLst/>
            <a:gdLst/>
            <a:ahLst/>
            <a:cxnLst/>
            <a:rect l="0" t="0" r="r" b="b"/>
            <a:pathLst>
              <a:path w="219361" h="952" fill="none" extrusionOk="0">
                <a:moveTo>
                  <a:pt x="0" y="0"/>
                </a:moveTo>
                <a:lnTo>
                  <a:pt x="219361" y="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49" name="UML grade-quiz divider 49"/>
          <p:cNvSpPr/>
          <p:nvPr/>
        </p:nvSpPr>
        <p:spPr>
          <a:xfrm>
            <a:off x="3604094" y="2476504"/>
            <a:ext cx="952" cy="328265"/>
          </a:xfrm>
          <a:custGeom>
            <a:avLst/>
            <a:gdLst/>
            <a:ahLst/>
            <a:cxnLst/>
            <a:rect l="0" t="0" r="r" b="b"/>
            <a:pathLst>
              <a:path w="952" h="347472" fill="none" extrusionOk="0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0" name="UML grade-quiz arrow 50"/>
          <p:cNvSpPr/>
          <p:nvPr/>
        </p:nvSpPr>
        <p:spPr>
          <a:xfrm>
            <a:off x="3568100" y="2714784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51" name="UML grade-quiz divider 51"/>
          <p:cNvSpPr/>
          <p:nvPr/>
        </p:nvSpPr>
        <p:spPr>
          <a:xfrm>
            <a:off x="2253781" y="3245335"/>
            <a:ext cx="952" cy="161973"/>
          </a:xfrm>
          <a:custGeom>
            <a:avLst/>
            <a:gdLst/>
            <a:ahLst/>
            <a:cxnLst/>
            <a:rect l="0" t="0" r="r" b="b"/>
            <a:pathLst>
              <a:path w="952" h="171450" fill="none" extrusionOk="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2" name="UML grade-quiz divider 52"/>
          <p:cNvSpPr/>
          <p:nvPr/>
        </p:nvSpPr>
        <p:spPr>
          <a:xfrm>
            <a:off x="2253781" y="3407308"/>
            <a:ext cx="567175" cy="952"/>
          </a:xfrm>
          <a:custGeom>
            <a:avLst/>
            <a:gdLst/>
            <a:ahLst/>
            <a:cxnLst/>
            <a:rect l="0" t="0" r="r" b="b"/>
            <a:pathLst>
              <a:path w="600361" h="952" fill="none" extrusionOk="0">
                <a:moveTo>
                  <a:pt x="0" y="0"/>
                </a:moveTo>
                <a:lnTo>
                  <a:pt x="600361" y="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3" name="UML grade-quiz arrow 53"/>
          <p:cNvSpPr/>
          <p:nvPr/>
        </p:nvSpPr>
        <p:spPr>
          <a:xfrm>
            <a:off x="2730971" y="3371314"/>
            <a:ext cx="89985" cy="71988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54" name="UML grade-quiz divider 54"/>
          <p:cNvSpPr/>
          <p:nvPr/>
        </p:nvSpPr>
        <p:spPr>
          <a:xfrm>
            <a:off x="3604094" y="3245335"/>
            <a:ext cx="952" cy="161973"/>
          </a:xfrm>
          <a:custGeom>
            <a:avLst/>
            <a:gdLst/>
            <a:ahLst/>
            <a:cxnLst/>
            <a:rect l="0" t="0" r="r" b="b"/>
            <a:pathLst>
              <a:path w="952" h="171450" fill="none" extrusionOk="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5" name="UML grade-quiz divider 55"/>
          <p:cNvSpPr/>
          <p:nvPr/>
        </p:nvSpPr>
        <p:spPr>
          <a:xfrm>
            <a:off x="3036919" y="3407308"/>
            <a:ext cx="567175" cy="952"/>
          </a:xfrm>
          <a:custGeom>
            <a:avLst/>
            <a:gdLst/>
            <a:ahLst/>
            <a:cxnLst/>
            <a:rect l="0" t="0" r="r" b="b"/>
            <a:pathLst>
              <a:path w="600361" h="952" fill="none" extrusionOk="0">
                <a:moveTo>
                  <a:pt x="600361" y="0"/>
                </a:moveTo>
                <a:lnTo>
                  <a:pt x="0" y="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6" name="UML grade-quiz arrow 56"/>
          <p:cNvSpPr/>
          <p:nvPr/>
        </p:nvSpPr>
        <p:spPr>
          <a:xfrm>
            <a:off x="3036919" y="3371314"/>
            <a:ext cx="89985" cy="71988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95250" y="0"/>
                </a:moveTo>
                <a:lnTo>
                  <a:pt x="0" y="38100"/>
                </a:lnTo>
                <a:lnTo>
                  <a:pt x="95250" y="76200"/>
                </a:lnTo>
                <a:lnTo>
                  <a:pt x="5715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57" name="UML grade-quiz divider 57"/>
          <p:cNvSpPr/>
          <p:nvPr/>
        </p:nvSpPr>
        <p:spPr>
          <a:xfrm>
            <a:off x="2928938" y="1957291"/>
            <a:ext cx="952" cy="280933"/>
          </a:xfrm>
          <a:custGeom>
            <a:avLst/>
            <a:gdLst/>
            <a:ahLst/>
            <a:cxnLst/>
            <a:rect l="0" t="0" r="r" b="b"/>
            <a:pathLst>
              <a:path w="952" h="297371" fill="none" extrusionOk="0">
                <a:moveTo>
                  <a:pt x="0" y="0"/>
                </a:moveTo>
                <a:lnTo>
                  <a:pt x="0" y="297371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8" name="UML grade-quiz arrow 58"/>
          <p:cNvSpPr/>
          <p:nvPr/>
        </p:nvSpPr>
        <p:spPr>
          <a:xfrm>
            <a:off x="2892944" y="2148239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59" name="UML grade-quiz divider 59"/>
          <p:cNvSpPr/>
          <p:nvPr/>
        </p:nvSpPr>
        <p:spPr>
          <a:xfrm>
            <a:off x="2928938" y="3515290"/>
            <a:ext cx="952" cy="17997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60" name="UML grade-quiz arrow 60"/>
          <p:cNvSpPr/>
          <p:nvPr/>
        </p:nvSpPr>
        <p:spPr>
          <a:xfrm>
            <a:off x="2892944" y="3605275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61" name="UML grade-quiz divider 61"/>
          <p:cNvSpPr/>
          <p:nvPr/>
        </p:nvSpPr>
        <p:spPr>
          <a:xfrm>
            <a:off x="2928938" y="4135826"/>
            <a:ext cx="952" cy="17997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62" name="UML grade-quiz arrow 62"/>
          <p:cNvSpPr/>
          <p:nvPr/>
        </p:nvSpPr>
        <p:spPr>
          <a:xfrm>
            <a:off x="2892944" y="4225811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7" name="content-68">
            <a:extLst>
              <a:ext uri="{FF2B5EF4-FFF2-40B4-BE49-F238E27FC236}">
                <a16:creationId xmlns:a16="http://schemas.microsoft.com/office/drawing/2014/main" id="{846C71AF-1B25-4D1F-B3E5-4744776C2E0C}"/>
              </a:ext>
            </a:extLst>
          </p:cNvPr>
          <p:cNvSpPr>
            <a:spLocks noGrp="1"/>
          </p:cNvSpPr>
          <p:nvPr/>
        </p:nvSpPr>
        <p:spPr>
          <a:xfrm>
            <a:off x="5638800" y="1181100"/>
            <a:ext cx="2857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练习约定</a:t>
            </a:r>
          </a:p>
        </p:txBody>
      </p:sp>
      <p:sp>
        <p:nvSpPr>
          <p:cNvPr id="8" name="content-69">
            <a:extLst>
              <a:ext uri="{FF2B5EF4-FFF2-40B4-BE49-F238E27FC236}">
                <a16:creationId xmlns:a16="http://schemas.microsoft.com/office/drawing/2014/main" id="{6173B513-2C06-4A46-9378-FD5540254FA3}"/>
              </a:ext>
            </a:extLst>
          </p:cNvPr>
          <p:cNvSpPr>
            <a:spLocks noGrp="1"/>
          </p:cNvSpPr>
          <p:nvPr/>
        </p:nvSpPr>
        <p:spPr>
          <a:xfrm>
            <a:off x="5638800" y="1504950"/>
            <a:ext cx="29337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grade已录入，取值0–100；60分及以上为及格。</a:t>
            </a:r>
          </a:p>
        </p:txBody>
      </p:sp>
      <p:sp>
        <p:nvSpPr>
          <p:cNvPr id="9" name="content-70">
            <a:extLst>
              <a:ext uri="{FF2B5EF4-FFF2-40B4-BE49-F238E27FC236}">
                <a16:creationId xmlns:a16="http://schemas.microsoft.com/office/drawing/2014/main" id="{58B1FE85-2BEF-4638-ACFA-5EE94F344A53}"/>
              </a:ext>
            </a:extLst>
          </p:cNvPr>
          <p:cNvSpPr>
            <a:spLocks noGrp="1"/>
          </p:cNvSpPr>
          <p:nvPr/>
        </p:nvSpPr>
        <p:spPr>
          <a:xfrm>
            <a:off x="5638800" y="2314575"/>
            <a:ext cx="2857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任务</a:t>
            </a:r>
          </a:p>
        </p:txBody>
      </p:sp>
      <p:sp>
        <p:nvSpPr>
          <p:cNvPr id="10" name="content-71">
            <a:extLst>
              <a:ext uri="{FF2B5EF4-FFF2-40B4-BE49-F238E27FC236}">
                <a16:creationId xmlns:a16="http://schemas.microsoft.com/office/drawing/2014/main" id="{F68F0CBC-193B-4DA2-AECC-4D199EC2B4EC}"/>
              </a:ext>
            </a:extLst>
          </p:cNvPr>
          <p:cNvSpPr>
            <a:spLocks noGrp="1"/>
          </p:cNvSpPr>
          <p:nvPr/>
        </p:nvSpPr>
        <p:spPr>
          <a:xfrm>
            <a:off x="5638800" y="2638425"/>
            <a:ext cx="29337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补全A、B两处守卫，</a:t>
            </a:r>
          </a:p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用方括号表示条件。</a:t>
            </a:r>
          </a:p>
        </p:txBody>
      </p:sp>
      <p:sp>
        <p:nvSpPr>
          <p:cNvPr id="11" name="content-72">
            <a:extLst>
              <a:ext uri="{FF2B5EF4-FFF2-40B4-BE49-F238E27FC236}">
                <a16:creationId xmlns:a16="http://schemas.microsoft.com/office/drawing/2014/main" id="{F34848E2-3C3B-4ECF-B8D7-912CD75E2294}"/>
              </a:ext>
            </a:extLst>
          </p:cNvPr>
          <p:cNvSpPr>
            <a:spLocks noGrp="1"/>
          </p:cNvSpPr>
          <p:nvPr/>
        </p:nvSpPr>
        <p:spPr>
          <a:xfrm>
            <a:off x="5638800" y="3448050"/>
            <a:ext cx="2857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边界检查</a:t>
            </a:r>
          </a:p>
        </p:txBody>
      </p:sp>
      <p:sp>
        <p:nvSpPr>
          <p:cNvPr id="12" name="content-73">
            <a:extLst>
              <a:ext uri="{FF2B5EF4-FFF2-40B4-BE49-F238E27FC236}">
                <a16:creationId xmlns:a16="http://schemas.microsoft.com/office/drawing/2014/main" id="{E7F8EB69-B7AF-4E18-AEC5-1183CCEDF6CB}"/>
              </a:ext>
            </a:extLst>
          </p:cNvPr>
          <p:cNvSpPr>
            <a:spLocks noGrp="1"/>
          </p:cNvSpPr>
          <p:nvPr/>
        </p:nvSpPr>
        <p:spPr>
          <a:xfrm>
            <a:off x="5638800" y="3771900"/>
            <a:ext cx="29337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grade为59、60、100时，各执行哪个分支？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-74">
            <a:extLst>
              <a:ext uri="{FF2B5EF4-FFF2-40B4-BE49-F238E27FC236}">
                <a16:creationId xmlns:a16="http://schemas.microsoft.com/office/drawing/2014/main" id="{16D6285C-1100-4F53-B7F7-044131A6D89D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成绩判定练习（参考）</a:t>
            </a:r>
          </a:p>
        </p:txBody>
      </p:sp>
      <p:sp>
        <p:nvSpPr>
          <p:cNvPr id="2" name="frame-75">
            <a:extLst>
              <a:ext uri="{FF2B5EF4-FFF2-40B4-BE49-F238E27FC236}">
                <a16:creationId xmlns:a16="http://schemas.microsoft.com/office/drawing/2014/main" id="{5C5145FA-2864-4498-B4EA-70DF870C70F7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76">
            <a:extLst>
              <a:ext uri="{FF2B5EF4-FFF2-40B4-BE49-F238E27FC236}">
                <a16:creationId xmlns:a16="http://schemas.microsoft.com/office/drawing/2014/main" id="{373C2727-BF35-4C6A-B671-37C496334C41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60A3652E-6F9D-4320-8763-87DF276310E5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5DA0761D-5C48-43C7-BBD3-B422116DB1AE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09 / 78</a:t>
            </a:r>
          </a:p>
        </p:txBody>
      </p:sp>
      <p:sp>
        <p:nvSpPr>
          <p:cNvPr id="27" name="UML grade-answer anchor 27"/>
          <p:cNvSpPr/>
          <p:nvPr/>
        </p:nvSpPr>
        <p:spPr>
          <a:xfrm>
            <a:off x="2838953" y="1156785"/>
            <a:ext cx="179970" cy="179970"/>
          </a:xfrm>
          <a:prstGeom prst="ellipse">
            <a:avLst/>
          </a:prstGeom>
          <a:solidFill>
            <a:srgbClr val="1F2A44"/>
          </a:solidFill>
          <a:ln w="8998">
            <a:solidFill>
              <a:srgbClr val="000000"/>
            </a:solidFill>
          </a:ln>
        </p:spPr>
      </p:sp>
      <p:sp>
        <p:nvSpPr>
          <p:cNvPr id="28" name="UML grade-answer box 28"/>
          <p:cNvSpPr/>
          <p:nvPr/>
        </p:nvSpPr>
        <p:spPr>
          <a:xfrm>
            <a:off x="2417013" y="1516725"/>
            <a:ext cx="1023848" cy="440566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29" name="UML grade-answer label 29"/>
          <p:cNvSpPr/>
          <p:nvPr/>
        </p:nvSpPr>
        <p:spPr>
          <a:xfrm>
            <a:off x="2503849" y="1621107"/>
            <a:ext cx="906868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读取grade</a:t>
            </a:r>
            <a:endParaRPr lang="zh-CN" sz="1417"/>
          </a:p>
        </p:txBody>
      </p:sp>
      <p:sp>
        <p:nvSpPr>
          <p:cNvPr id="30" name="UML grade-answer arrow 30"/>
          <p:cNvSpPr/>
          <p:nvPr/>
        </p:nvSpPr>
        <p:spPr>
          <a:xfrm>
            <a:off x="2461016" y="2238224"/>
            <a:ext cx="935843" cy="476560"/>
          </a:xfrm>
          <a:custGeom>
            <a:avLst/>
            <a:gdLst/>
            <a:ahLst/>
            <a:cxnLst/>
            <a:rect l="0" t="0" r="r" b="b"/>
            <a:pathLst>
              <a:path w="990600" h="504444" extrusionOk="0">
                <a:moveTo>
                  <a:pt x="495300" y="0"/>
                </a:moveTo>
                <a:lnTo>
                  <a:pt x="990600" y="252222"/>
                </a:lnTo>
                <a:lnTo>
                  <a:pt x="495300" y="504444"/>
                </a:lnTo>
                <a:lnTo>
                  <a:pt x="0" y="252222"/>
                </a:lnTo>
                <a:close/>
              </a:path>
            </a:pathLst>
          </a:cu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31" name="UML grade-answer label 31"/>
          <p:cNvSpPr/>
          <p:nvPr/>
        </p:nvSpPr>
        <p:spPr>
          <a:xfrm>
            <a:off x="2565848" y="2360603"/>
            <a:ext cx="782869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成绩判定</a:t>
            </a:r>
            <a:endParaRPr lang="zh-CN" sz="1417"/>
          </a:p>
        </p:txBody>
      </p:sp>
      <p:sp>
        <p:nvSpPr>
          <p:cNvPr id="32" name="UML grade-answer label 32"/>
          <p:cNvSpPr/>
          <p:nvPr/>
        </p:nvSpPr>
        <p:spPr>
          <a:xfrm>
            <a:off x="1471992" y="2100007"/>
            <a:ext cx="1048864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[grade &lt; 60]</a:t>
            </a:r>
            <a:endParaRPr lang="zh-CN" sz="1417"/>
          </a:p>
        </p:txBody>
      </p:sp>
      <p:sp>
        <p:nvSpPr>
          <p:cNvPr id="33" name="UML grade-answer label 33"/>
          <p:cNvSpPr/>
          <p:nvPr/>
        </p:nvSpPr>
        <p:spPr>
          <a:xfrm>
            <a:off x="3393710" y="2144999"/>
            <a:ext cx="1148748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[grade &gt;= 60]</a:t>
            </a:r>
            <a:endParaRPr lang="zh-CN" sz="1417"/>
          </a:p>
        </p:txBody>
      </p:sp>
      <p:sp>
        <p:nvSpPr>
          <p:cNvPr id="34" name="UML grade-answer box 34"/>
          <p:cNvSpPr/>
          <p:nvPr/>
        </p:nvSpPr>
        <p:spPr>
          <a:xfrm>
            <a:off x="1623616" y="2804769"/>
            <a:ext cx="1260329" cy="440566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35" name="UML grade-answer label 35"/>
          <p:cNvSpPr/>
          <p:nvPr/>
        </p:nvSpPr>
        <p:spPr>
          <a:xfrm>
            <a:off x="1710452" y="2909151"/>
            <a:ext cx="1143348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结果 = 不及格</a:t>
            </a:r>
            <a:endParaRPr lang="zh-CN" sz="1417"/>
          </a:p>
        </p:txBody>
      </p:sp>
      <p:sp>
        <p:nvSpPr>
          <p:cNvPr id="36" name="UML grade-answer box 36"/>
          <p:cNvSpPr/>
          <p:nvPr/>
        </p:nvSpPr>
        <p:spPr>
          <a:xfrm>
            <a:off x="3063915" y="2804769"/>
            <a:ext cx="1080359" cy="440566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37" name="UML grade-answer label 37"/>
          <p:cNvSpPr/>
          <p:nvPr/>
        </p:nvSpPr>
        <p:spPr>
          <a:xfrm>
            <a:off x="3150750" y="2909151"/>
            <a:ext cx="963379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结果 = 及格</a:t>
            </a:r>
            <a:endParaRPr lang="zh-CN" sz="1417"/>
          </a:p>
        </p:txBody>
      </p:sp>
      <p:sp>
        <p:nvSpPr>
          <p:cNvPr id="38" name="UML grade-answer arrow 38"/>
          <p:cNvSpPr/>
          <p:nvPr/>
        </p:nvSpPr>
        <p:spPr>
          <a:xfrm>
            <a:off x="2820956" y="3299326"/>
            <a:ext cx="215964" cy="215964"/>
          </a:xfrm>
          <a:custGeom>
            <a:avLst/>
            <a:gdLst/>
            <a:ahLst/>
            <a:cxnLst/>
            <a:rect l="0" t="0" r="r" b="b"/>
            <a:pathLst>
              <a:path w="228600" h="228600" extrusionOk="0">
                <a:moveTo>
                  <a:pt x="114300" y="0"/>
                </a:moveTo>
                <a:lnTo>
                  <a:pt x="228600" y="114300"/>
                </a:lnTo>
                <a:lnTo>
                  <a:pt x="114300" y="228600"/>
                </a:lnTo>
                <a:lnTo>
                  <a:pt x="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39" name="UML grade-answer box 39"/>
          <p:cNvSpPr/>
          <p:nvPr/>
        </p:nvSpPr>
        <p:spPr>
          <a:xfrm>
            <a:off x="2299043" y="3695260"/>
            <a:ext cx="1259789" cy="440566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8998">
            <a:solidFill>
              <a:srgbClr val="1F2A44"/>
            </a:solidFill>
          </a:ln>
        </p:spPr>
      </p:sp>
      <p:sp>
        <p:nvSpPr>
          <p:cNvPr id="40" name="UML grade-answer label 40"/>
          <p:cNvSpPr/>
          <p:nvPr/>
        </p:nvSpPr>
        <p:spPr>
          <a:xfrm>
            <a:off x="2385878" y="3799642"/>
            <a:ext cx="1142809" cy="262756"/>
          </a:xfrm>
          <a:prstGeom prst="rect">
            <a:avLst/>
          </a:prstGeom>
          <a:noFill/>
          <a:ln w="8998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17" dirty="0">
                <a:solidFill>
                  <a:srgbClr val="1F2A44"/>
                </a:solidFill>
                <a:latin typeface="Noto Sans SC"/>
                <a:ea typeface="Noto Sans SC"/>
              </a:rPr>
              <a:t>显示判定结果</a:t>
            </a:r>
            <a:endParaRPr lang="zh-CN" sz="1417"/>
          </a:p>
        </p:txBody>
      </p:sp>
      <p:sp>
        <p:nvSpPr>
          <p:cNvPr id="41" name="UML grade-answer anchor 41"/>
          <p:cNvSpPr/>
          <p:nvPr/>
        </p:nvSpPr>
        <p:spPr>
          <a:xfrm>
            <a:off x="2829954" y="4315796"/>
            <a:ext cx="197967" cy="197967"/>
          </a:xfrm>
          <a:prstGeom prst="ellipse">
            <a:avLst/>
          </a:prstGeom>
          <a:noFill/>
          <a:ln w="8998">
            <a:solidFill>
              <a:srgbClr val="000000"/>
            </a:solidFill>
          </a:ln>
        </p:spPr>
      </p:sp>
      <p:sp>
        <p:nvSpPr>
          <p:cNvPr id="42" name="UML grade-answer anchor 42"/>
          <p:cNvSpPr/>
          <p:nvPr/>
        </p:nvSpPr>
        <p:spPr>
          <a:xfrm>
            <a:off x="2874947" y="4360788"/>
            <a:ext cx="107982" cy="107982"/>
          </a:xfrm>
          <a:prstGeom prst="ellipse">
            <a:avLst/>
          </a:prstGeom>
          <a:solidFill>
            <a:srgbClr val="FFFFFF"/>
          </a:solidFill>
          <a:ln w="8998">
            <a:solidFill>
              <a:srgbClr val="000000"/>
            </a:solidFill>
          </a:ln>
        </p:spPr>
      </p:sp>
      <p:sp>
        <p:nvSpPr>
          <p:cNvPr id="43" name="UML grade-answer divider 43"/>
          <p:cNvSpPr/>
          <p:nvPr/>
        </p:nvSpPr>
        <p:spPr>
          <a:xfrm>
            <a:off x="2928938" y="1336755"/>
            <a:ext cx="952" cy="17997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44" name="UML grade-answer arrow 44"/>
          <p:cNvSpPr/>
          <p:nvPr/>
        </p:nvSpPr>
        <p:spPr>
          <a:xfrm>
            <a:off x="2892944" y="1426740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45" name="UML grade-answer divider 45"/>
          <p:cNvSpPr/>
          <p:nvPr/>
        </p:nvSpPr>
        <p:spPr>
          <a:xfrm>
            <a:off x="2253781" y="2476504"/>
            <a:ext cx="207235" cy="952"/>
          </a:xfrm>
          <a:custGeom>
            <a:avLst/>
            <a:gdLst/>
            <a:ahLst/>
            <a:cxnLst/>
            <a:rect l="0" t="0" r="r" b="b"/>
            <a:pathLst>
              <a:path w="219361" h="952" fill="none" extrusionOk="0">
                <a:moveTo>
                  <a:pt x="219361" y="0"/>
                </a:moveTo>
                <a:lnTo>
                  <a:pt x="0" y="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46" name="UML grade-answer divider 46"/>
          <p:cNvSpPr/>
          <p:nvPr/>
        </p:nvSpPr>
        <p:spPr>
          <a:xfrm>
            <a:off x="2253781" y="2476504"/>
            <a:ext cx="952" cy="328265"/>
          </a:xfrm>
          <a:custGeom>
            <a:avLst/>
            <a:gdLst/>
            <a:ahLst/>
            <a:cxnLst/>
            <a:rect l="0" t="0" r="r" b="b"/>
            <a:pathLst>
              <a:path w="952" h="347472" fill="none" extrusionOk="0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47" name="UML grade-answer arrow 47"/>
          <p:cNvSpPr/>
          <p:nvPr/>
        </p:nvSpPr>
        <p:spPr>
          <a:xfrm>
            <a:off x="2217787" y="2714784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48" name="UML grade-answer divider 48"/>
          <p:cNvSpPr/>
          <p:nvPr/>
        </p:nvSpPr>
        <p:spPr>
          <a:xfrm>
            <a:off x="3396859" y="2476504"/>
            <a:ext cx="207235" cy="952"/>
          </a:xfrm>
          <a:custGeom>
            <a:avLst/>
            <a:gdLst/>
            <a:ahLst/>
            <a:cxnLst/>
            <a:rect l="0" t="0" r="r" b="b"/>
            <a:pathLst>
              <a:path w="219361" h="952" fill="none" extrusionOk="0">
                <a:moveTo>
                  <a:pt x="0" y="0"/>
                </a:moveTo>
                <a:lnTo>
                  <a:pt x="219361" y="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49" name="UML grade-answer divider 49"/>
          <p:cNvSpPr/>
          <p:nvPr/>
        </p:nvSpPr>
        <p:spPr>
          <a:xfrm>
            <a:off x="3604094" y="2476504"/>
            <a:ext cx="952" cy="328265"/>
          </a:xfrm>
          <a:custGeom>
            <a:avLst/>
            <a:gdLst/>
            <a:ahLst/>
            <a:cxnLst/>
            <a:rect l="0" t="0" r="r" b="b"/>
            <a:pathLst>
              <a:path w="952" h="347472" fill="none" extrusionOk="0">
                <a:moveTo>
                  <a:pt x="0" y="0"/>
                </a:moveTo>
                <a:lnTo>
                  <a:pt x="0" y="347472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0" name="UML grade-answer arrow 50"/>
          <p:cNvSpPr/>
          <p:nvPr/>
        </p:nvSpPr>
        <p:spPr>
          <a:xfrm>
            <a:off x="3568100" y="2714784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51" name="UML grade-answer divider 51"/>
          <p:cNvSpPr/>
          <p:nvPr/>
        </p:nvSpPr>
        <p:spPr>
          <a:xfrm>
            <a:off x="2253781" y="3245335"/>
            <a:ext cx="952" cy="161973"/>
          </a:xfrm>
          <a:custGeom>
            <a:avLst/>
            <a:gdLst/>
            <a:ahLst/>
            <a:cxnLst/>
            <a:rect l="0" t="0" r="r" b="b"/>
            <a:pathLst>
              <a:path w="952" h="171450" fill="none" extrusionOk="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2" name="UML grade-answer divider 52"/>
          <p:cNvSpPr/>
          <p:nvPr/>
        </p:nvSpPr>
        <p:spPr>
          <a:xfrm>
            <a:off x="2253781" y="3407308"/>
            <a:ext cx="567175" cy="952"/>
          </a:xfrm>
          <a:custGeom>
            <a:avLst/>
            <a:gdLst/>
            <a:ahLst/>
            <a:cxnLst/>
            <a:rect l="0" t="0" r="r" b="b"/>
            <a:pathLst>
              <a:path w="600361" h="952" fill="none" extrusionOk="0">
                <a:moveTo>
                  <a:pt x="0" y="0"/>
                </a:moveTo>
                <a:lnTo>
                  <a:pt x="600361" y="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3" name="UML grade-answer arrow 53"/>
          <p:cNvSpPr/>
          <p:nvPr/>
        </p:nvSpPr>
        <p:spPr>
          <a:xfrm>
            <a:off x="2730971" y="3371314"/>
            <a:ext cx="89985" cy="71988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54" name="UML grade-answer divider 54"/>
          <p:cNvSpPr/>
          <p:nvPr/>
        </p:nvSpPr>
        <p:spPr>
          <a:xfrm>
            <a:off x="3604094" y="3245335"/>
            <a:ext cx="952" cy="161973"/>
          </a:xfrm>
          <a:custGeom>
            <a:avLst/>
            <a:gdLst/>
            <a:ahLst/>
            <a:cxnLst/>
            <a:rect l="0" t="0" r="r" b="b"/>
            <a:pathLst>
              <a:path w="952" h="171450" fill="none" extrusionOk="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5" name="UML grade-answer divider 55"/>
          <p:cNvSpPr/>
          <p:nvPr/>
        </p:nvSpPr>
        <p:spPr>
          <a:xfrm>
            <a:off x="3036919" y="3407308"/>
            <a:ext cx="567175" cy="952"/>
          </a:xfrm>
          <a:custGeom>
            <a:avLst/>
            <a:gdLst/>
            <a:ahLst/>
            <a:cxnLst/>
            <a:rect l="0" t="0" r="r" b="b"/>
            <a:pathLst>
              <a:path w="600361" h="952" fill="none" extrusionOk="0">
                <a:moveTo>
                  <a:pt x="600361" y="0"/>
                </a:moveTo>
                <a:lnTo>
                  <a:pt x="0" y="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6" name="UML grade-answer arrow 56"/>
          <p:cNvSpPr/>
          <p:nvPr/>
        </p:nvSpPr>
        <p:spPr>
          <a:xfrm>
            <a:off x="3036919" y="3371314"/>
            <a:ext cx="89985" cy="71988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95250" y="0"/>
                </a:moveTo>
                <a:lnTo>
                  <a:pt x="0" y="38100"/>
                </a:lnTo>
                <a:lnTo>
                  <a:pt x="95250" y="76200"/>
                </a:lnTo>
                <a:lnTo>
                  <a:pt x="5715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57" name="UML grade-answer divider 57"/>
          <p:cNvSpPr/>
          <p:nvPr/>
        </p:nvSpPr>
        <p:spPr>
          <a:xfrm>
            <a:off x="2928938" y="1957291"/>
            <a:ext cx="952" cy="280933"/>
          </a:xfrm>
          <a:custGeom>
            <a:avLst/>
            <a:gdLst/>
            <a:ahLst/>
            <a:cxnLst/>
            <a:rect l="0" t="0" r="r" b="b"/>
            <a:pathLst>
              <a:path w="952" h="297371" fill="none" extrusionOk="0">
                <a:moveTo>
                  <a:pt x="0" y="0"/>
                </a:moveTo>
                <a:lnTo>
                  <a:pt x="0" y="297371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58" name="UML grade-answer arrow 58"/>
          <p:cNvSpPr/>
          <p:nvPr/>
        </p:nvSpPr>
        <p:spPr>
          <a:xfrm>
            <a:off x="2892944" y="2148239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59" name="UML grade-answer divider 59"/>
          <p:cNvSpPr/>
          <p:nvPr/>
        </p:nvSpPr>
        <p:spPr>
          <a:xfrm>
            <a:off x="2928938" y="3515290"/>
            <a:ext cx="952" cy="17997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60" name="UML grade-answer arrow 60"/>
          <p:cNvSpPr/>
          <p:nvPr/>
        </p:nvSpPr>
        <p:spPr>
          <a:xfrm>
            <a:off x="2892944" y="3605275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61" name="UML grade-answer divider 61"/>
          <p:cNvSpPr/>
          <p:nvPr/>
        </p:nvSpPr>
        <p:spPr>
          <a:xfrm>
            <a:off x="2928938" y="4135826"/>
            <a:ext cx="952" cy="17997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8998">
            <a:solidFill>
              <a:srgbClr val="1F2A44"/>
            </a:solidFill>
          </a:ln>
        </p:spPr>
      </p:sp>
      <p:sp>
        <p:nvSpPr>
          <p:cNvPr id="62" name="UML grade-answer arrow 62"/>
          <p:cNvSpPr/>
          <p:nvPr/>
        </p:nvSpPr>
        <p:spPr>
          <a:xfrm>
            <a:off x="2892944" y="4225811"/>
            <a:ext cx="71988" cy="89985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8998">
            <a:solidFill>
              <a:srgbClr val="1F2A44"/>
            </a:solidFill>
          </a:ln>
        </p:spPr>
      </p:sp>
      <p:sp>
        <p:nvSpPr>
          <p:cNvPr id="7" name="content-77">
            <a:extLst>
              <a:ext uri="{FF2B5EF4-FFF2-40B4-BE49-F238E27FC236}">
                <a16:creationId xmlns:a16="http://schemas.microsoft.com/office/drawing/2014/main" id="{830214F9-1B26-4169-9606-E42FF848B75E}"/>
              </a:ext>
            </a:extLst>
          </p:cNvPr>
          <p:cNvSpPr>
            <a:spLocks noGrp="1"/>
          </p:cNvSpPr>
          <p:nvPr/>
        </p:nvSpPr>
        <p:spPr>
          <a:xfrm>
            <a:off x="5638800" y="1181100"/>
            <a:ext cx="2857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A处</a:t>
            </a:r>
          </a:p>
        </p:txBody>
      </p:sp>
      <p:sp>
        <p:nvSpPr>
          <p:cNvPr id="8" name="content-78">
            <a:extLst>
              <a:ext uri="{FF2B5EF4-FFF2-40B4-BE49-F238E27FC236}">
                <a16:creationId xmlns:a16="http://schemas.microsoft.com/office/drawing/2014/main" id="{57D020B0-4D45-49DE-A71E-6B88E081095C}"/>
              </a:ext>
            </a:extLst>
          </p:cNvPr>
          <p:cNvSpPr>
            <a:spLocks noGrp="1"/>
          </p:cNvSpPr>
          <p:nvPr/>
        </p:nvSpPr>
        <p:spPr>
          <a:xfrm>
            <a:off x="5638800" y="1504950"/>
            <a:ext cx="29337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[grade &lt; 60]</a:t>
            </a:r>
          </a:p>
        </p:txBody>
      </p:sp>
      <p:sp>
        <p:nvSpPr>
          <p:cNvPr id="9" name="content-79">
            <a:extLst>
              <a:ext uri="{FF2B5EF4-FFF2-40B4-BE49-F238E27FC236}">
                <a16:creationId xmlns:a16="http://schemas.microsoft.com/office/drawing/2014/main" id="{B39E7EF8-C32E-460B-84AD-91498D286D10}"/>
              </a:ext>
            </a:extLst>
          </p:cNvPr>
          <p:cNvSpPr>
            <a:spLocks noGrp="1"/>
          </p:cNvSpPr>
          <p:nvPr/>
        </p:nvSpPr>
        <p:spPr>
          <a:xfrm>
            <a:off x="5638800" y="2314575"/>
            <a:ext cx="2857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B处</a:t>
            </a:r>
          </a:p>
        </p:txBody>
      </p:sp>
      <p:sp>
        <p:nvSpPr>
          <p:cNvPr id="10" name="content-80">
            <a:extLst>
              <a:ext uri="{FF2B5EF4-FFF2-40B4-BE49-F238E27FC236}">
                <a16:creationId xmlns:a16="http://schemas.microsoft.com/office/drawing/2014/main" id="{5A7A76E4-8FBB-4591-B990-D23FEDFE08B1}"/>
              </a:ext>
            </a:extLst>
          </p:cNvPr>
          <p:cNvSpPr>
            <a:spLocks noGrp="1"/>
          </p:cNvSpPr>
          <p:nvPr/>
        </p:nvSpPr>
        <p:spPr>
          <a:xfrm>
            <a:off x="5638800" y="2638425"/>
            <a:ext cx="29337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[grade &gt;= 60]</a:t>
            </a:r>
          </a:p>
        </p:txBody>
      </p:sp>
      <p:sp>
        <p:nvSpPr>
          <p:cNvPr id="11" name="content-81">
            <a:extLst>
              <a:ext uri="{FF2B5EF4-FFF2-40B4-BE49-F238E27FC236}">
                <a16:creationId xmlns:a16="http://schemas.microsoft.com/office/drawing/2014/main" id="{0810A2CA-D98D-4D68-9881-AED6430E5439}"/>
              </a:ext>
            </a:extLst>
          </p:cNvPr>
          <p:cNvSpPr>
            <a:spLocks noGrp="1"/>
          </p:cNvSpPr>
          <p:nvPr/>
        </p:nvSpPr>
        <p:spPr>
          <a:xfrm>
            <a:off x="5638800" y="3448050"/>
            <a:ext cx="2857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边界结果</a:t>
            </a:r>
          </a:p>
        </p:txBody>
      </p:sp>
      <p:sp>
        <p:nvSpPr>
          <p:cNvPr id="12" name="content-82">
            <a:extLst>
              <a:ext uri="{FF2B5EF4-FFF2-40B4-BE49-F238E27FC236}">
                <a16:creationId xmlns:a16="http://schemas.microsoft.com/office/drawing/2014/main" id="{525DA021-B0E5-4000-A5ED-8305E705F6CD}"/>
              </a:ext>
            </a:extLst>
          </p:cNvPr>
          <p:cNvSpPr>
            <a:spLocks noGrp="1"/>
          </p:cNvSpPr>
          <p:nvPr/>
        </p:nvSpPr>
        <p:spPr>
          <a:xfrm>
            <a:off x="5638800" y="3771900"/>
            <a:ext cx="29337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59：不及格</a:t>
            </a:r>
          </a:p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60、100：及格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-83">
            <a:extLst>
              <a:ext uri="{FF2B5EF4-FFF2-40B4-BE49-F238E27FC236}">
                <a16:creationId xmlns:a16="http://schemas.microsoft.com/office/drawing/2014/main" id="{0D68585D-DF11-4143-9EAF-E5C43EE57C6F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从动作流程到对象交互</a:t>
            </a:r>
          </a:p>
        </p:txBody>
      </p:sp>
      <p:sp>
        <p:nvSpPr>
          <p:cNvPr id="2" name="frame-84">
            <a:extLst>
              <a:ext uri="{FF2B5EF4-FFF2-40B4-BE49-F238E27FC236}">
                <a16:creationId xmlns:a16="http://schemas.microsoft.com/office/drawing/2014/main" id="{537DAD66-5A0A-4213-91E4-B36F9666D8E3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85">
            <a:extLst>
              <a:ext uri="{FF2B5EF4-FFF2-40B4-BE49-F238E27FC236}">
                <a16:creationId xmlns:a16="http://schemas.microsoft.com/office/drawing/2014/main" id="{4AA78662-0737-433D-8847-FFD1E84246F3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F55941EA-AA4C-4227-8F3C-6EFB9E04968F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34200414-5078-4487-8840-A608A121A2B1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10 / 78</a:t>
            </a:r>
          </a:p>
        </p:txBody>
      </p:sp>
      <p:sp>
        <p:nvSpPr>
          <p:cNvPr id="6" name="content-86">
            <a:extLst>
              <a:ext uri="{FF2B5EF4-FFF2-40B4-BE49-F238E27FC236}">
                <a16:creationId xmlns:a16="http://schemas.microsoft.com/office/drawing/2014/main" id="{627660C0-8D35-4714-8F0E-B641C7C3BCCC}"/>
              </a:ext>
            </a:extLst>
          </p:cNvPr>
          <p:cNvSpPr>
            <a:spLocks noGrp="1"/>
          </p:cNvSpPr>
          <p:nvPr/>
        </p:nvSpPr>
        <p:spPr>
          <a:xfrm>
            <a:off x="476250" y="110490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活动图</a:t>
            </a:r>
          </a:p>
        </p:txBody>
      </p:sp>
      <p:sp>
        <p:nvSpPr>
          <p:cNvPr id="7" name="content-87">
            <a:extLst>
              <a:ext uri="{FF2B5EF4-FFF2-40B4-BE49-F238E27FC236}">
                <a16:creationId xmlns:a16="http://schemas.microsoft.com/office/drawing/2014/main" id="{9516A8C5-59E4-4C87-A642-8EF49BB90D8D}"/>
              </a:ext>
            </a:extLst>
          </p:cNvPr>
          <p:cNvSpPr>
            <a:spLocks noGrp="1"/>
          </p:cNvSpPr>
          <p:nvPr/>
        </p:nvSpPr>
        <p:spPr>
          <a:xfrm>
            <a:off x="2257425" y="1104900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“确认选课记录”是流程中的一个动作。</a:t>
            </a:r>
          </a:p>
        </p:txBody>
      </p:sp>
      <p:sp>
        <p:nvSpPr>
          <p:cNvPr id="8" name="frame-88">
            <a:extLst>
              <a:ext uri="{FF2B5EF4-FFF2-40B4-BE49-F238E27FC236}">
                <a16:creationId xmlns:a16="http://schemas.microsoft.com/office/drawing/2014/main" id="{F15DE177-22CE-4F09-9B84-75F60F76791E}"/>
              </a:ext>
            </a:extLst>
          </p:cNvPr>
          <p:cNvSpPr>
            <a:spLocks noGrp="1"/>
          </p:cNvSpPr>
          <p:nvPr/>
        </p:nvSpPr>
        <p:spPr>
          <a:xfrm>
            <a:off x="476250" y="190500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89">
            <a:extLst>
              <a:ext uri="{FF2B5EF4-FFF2-40B4-BE49-F238E27FC236}">
                <a16:creationId xmlns:a16="http://schemas.microsoft.com/office/drawing/2014/main" id="{D273A648-ABFD-4DBF-991D-25677B7CB45D}"/>
              </a:ext>
            </a:extLst>
          </p:cNvPr>
          <p:cNvSpPr>
            <a:spLocks noGrp="1"/>
          </p:cNvSpPr>
          <p:nvPr/>
        </p:nvSpPr>
        <p:spPr>
          <a:xfrm>
            <a:off x="476250" y="193357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交互问题</a:t>
            </a:r>
          </a:p>
        </p:txBody>
      </p:sp>
      <p:sp>
        <p:nvSpPr>
          <p:cNvPr id="10" name="content-90">
            <a:extLst>
              <a:ext uri="{FF2B5EF4-FFF2-40B4-BE49-F238E27FC236}">
                <a16:creationId xmlns:a16="http://schemas.microsoft.com/office/drawing/2014/main" id="{AC19D545-8537-4394-9643-03659EE91CC4}"/>
              </a:ext>
            </a:extLst>
          </p:cNvPr>
          <p:cNvSpPr>
            <a:spLocks noGrp="1"/>
          </p:cNvSpPr>
          <p:nvPr/>
        </p:nvSpPr>
        <p:spPr>
          <a:xfrm>
            <a:off x="2257425" y="1933575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哪个参与者发起确认？哪个参与者接收调用？</a:t>
            </a:r>
          </a:p>
        </p:txBody>
      </p:sp>
      <p:sp>
        <p:nvSpPr>
          <p:cNvPr id="11" name="frame-91">
            <a:extLst>
              <a:ext uri="{FF2B5EF4-FFF2-40B4-BE49-F238E27FC236}">
                <a16:creationId xmlns:a16="http://schemas.microsoft.com/office/drawing/2014/main" id="{FCEBC410-918B-4435-9FCB-C7F118E8D2F0}"/>
              </a:ext>
            </a:extLst>
          </p:cNvPr>
          <p:cNvSpPr>
            <a:spLocks noGrp="1"/>
          </p:cNvSpPr>
          <p:nvPr/>
        </p:nvSpPr>
        <p:spPr>
          <a:xfrm>
            <a:off x="476250" y="273367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92">
            <a:extLst>
              <a:ext uri="{FF2B5EF4-FFF2-40B4-BE49-F238E27FC236}">
                <a16:creationId xmlns:a16="http://schemas.microsoft.com/office/drawing/2014/main" id="{C0A83851-9934-4270-84CB-C36607B9D6DB}"/>
              </a:ext>
            </a:extLst>
          </p:cNvPr>
          <p:cNvSpPr>
            <a:spLocks noGrp="1"/>
          </p:cNvSpPr>
          <p:nvPr/>
        </p:nvSpPr>
        <p:spPr>
          <a:xfrm>
            <a:off x="476250" y="276225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顺序图</a:t>
            </a:r>
          </a:p>
        </p:txBody>
      </p:sp>
      <p:sp>
        <p:nvSpPr>
          <p:cNvPr id="13" name="content-93">
            <a:extLst>
              <a:ext uri="{FF2B5EF4-FFF2-40B4-BE49-F238E27FC236}">
                <a16:creationId xmlns:a16="http://schemas.microsoft.com/office/drawing/2014/main" id="{9950C2CA-396F-405D-85F0-D37D4B874BE9}"/>
              </a:ext>
            </a:extLst>
          </p:cNvPr>
          <p:cNvSpPr>
            <a:spLocks noGrp="1"/>
          </p:cNvSpPr>
          <p:nvPr/>
        </p:nvSpPr>
        <p:spPr>
          <a:xfrm>
            <a:off x="2257425" y="2762250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生命线表示参与者，消息表达参与者之间的通信。</a:t>
            </a:r>
          </a:p>
        </p:txBody>
      </p:sp>
      <p:sp>
        <p:nvSpPr>
          <p:cNvPr id="14" name="frame-94">
            <a:extLst>
              <a:ext uri="{FF2B5EF4-FFF2-40B4-BE49-F238E27FC236}">
                <a16:creationId xmlns:a16="http://schemas.microsoft.com/office/drawing/2014/main" id="{43006B3A-34AE-43DC-8382-A08F691878A4}"/>
              </a:ext>
            </a:extLst>
          </p:cNvPr>
          <p:cNvSpPr>
            <a:spLocks noGrp="1"/>
          </p:cNvSpPr>
          <p:nvPr/>
        </p:nvSpPr>
        <p:spPr>
          <a:xfrm>
            <a:off x="476250" y="35623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95">
            <a:extLst>
              <a:ext uri="{FF2B5EF4-FFF2-40B4-BE49-F238E27FC236}">
                <a16:creationId xmlns:a16="http://schemas.microsoft.com/office/drawing/2014/main" id="{6BB60AD3-1DCF-4ADC-8A7D-46B51FECAD3C}"/>
              </a:ext>
            </a:extLst>
          </p:cNvPr>
          <p:cNvSpPr>
            <a:spLocks noGrp="1"/>
          </p:cNvSpPr>
          <p:nvPr/>
        </p:nvSpPr>
        <p:spPr>
          <a:xfrm>
            <a:off x="476250" y="359092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箭头含义</a:t>
            </a:r>
          </a:p>
        </p:txBody>
      </p:sp>
      <p:sp>
        <p:nvSpPr>
          <p:cNvPr id="16" name="content-96">
            <a:extLst>
              <a:ext uri="{FF2B5EF4-FFF2-40B4-BE49-F238E27FC236}">
                <a16:creationId xmlns:a16="http://schemas.microsoft.com/office/drawing/2014/main" id="{1A305A1B-F209-4908-A3D6-6030FFE5100F}"/>
              </a:ext>
            </a:extLst>
          </p:cNvPr>
          <p:cNvSpPr>
            <a:spLocks noGrp="1"/>
          </p:cNvSpPr>
          <p:nvPr/>
        </p:nvSpPr>
        <p:spPr>
          <a:xfrm>
            <a:off x="2257425" y="3590925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控制流连接活动节点；消息连接发送端与接收端。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-97">
            <a:extLst>
              <a:ext uri="{FF2B5EF4-FFF2-40B4-BE49-F238E27FC236}">
                <a16:creationId xmlns:a16="http://schemas.microsoft.com/office/drawing/2014/main" id="{2C9774D7-56DD-421D-9D15-622B5157D470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选课交互中的参与者</a:t>
            </a:r>
          </a:p>
        </p:txBody>
      </p:sp>
      <p:sp>
        <p:nvSpPr>
          <p:cNvPr id="2" name="frame-98">
            <a:extLst>
              <a:ext uri="{FF2B5EF4-FFF2-40B4-BE49-F238E27FC236}">
                <a16:creationId xmlns:a16="http://schemas.microsoft.com/office/drawing/2014/main" id="{176C71E8-78AA-4FF0-877E-DD8AC61FA00E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99">
            <a:extLst>
              <a:ext uri="{FF2B5EF4-FFF2-40B4-BE49-F238E27FC236}">
                <a16:creationId xmlns:a16="http://schemas.microsoft.com/office/drawing/2014/main" id="{5B174F0A-FDAB-402F-9BA5-EBB6616DE554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4BBF9780-5643-4588-93DB-D41840C1A72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325648D9-8036-4500-A978-840E8CD46545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11 / 78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476250" y="1209675"/>
          <a:ext cx="8191500" cy="285750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生命线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本例职责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说明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ui : 选课界面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发起处理请求，接收结果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代表软件界面对象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svc : 选课服务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读取余量，选择处理分支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本章的一种设计方案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 : Enrollment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接收确认或拒绝操作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仍是同一条选课记录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nt-100">
            <a:extLst>
              <a:ext uri="{FF2B5EF4-FFF2-40B4-BE49-F238E27FC236}">
                <a16:creationId xmlns:a16="http://schemas.microsoft.com/office/drawing/2014/main" id="{34A7F6A6-8856-4910-8EB1-B919D67618A9}"/>
              </a:ext>
            </a:extLst>
          </p:cNvPr>
          <p:cNvSpPr>
            <a:spLocks noGrp="1"/>
          </p:cNvSpPr>
          <p:nvPr/>
        </p:nvSpPr>
        <p:spPr>
          <a:xfrm>
            <a:off x="476250" y="4381500"/>
            <a:ext cx="8191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-101">
            <a:extLst>
              <a:ext uri="{FF2B5EF4-FFF2-40B4-BE49-F238E27FC236}">
                <a16:creationId xmlns:a16="http://schemas.microsoft.com/office/drawing/2014/main" id="{4316D0C3-FC02-4929-8152-F89D9E4D3A5A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顺序图：一次成功处理的消息</a:t>
            </a:r>
          </a:p>
        </p:txBody>
      </p:sp>
      <p:sp>
        <p:nvSpPr>
          <p:cNvPr id="2" name="frame-102">
            <a:extLst>
              <a:ext uri="{FF2B5EF4-FFF2-40B4-BE49-F238E27FC236}">
                <a16:creationId xmlns:a16="http://schemas.microsoft.com/office/drawing/2014/main" id="{6E91B065-2DBD-49EB-AD55-3AE16D1FBB7B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03">
            <a:extLst>
              <a:ext uri="{FF2B5EF4-FFF2-40B4-BE49-F238E27FC236}">
                <a16:creationId xmlns:a16="http://schemas.microsoft.com/office/drawing/2014/main" id="{B29413F9-0390-40BC-BF65-8F34A17D6A2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1B0E1960-3E4C-40A2-BB21-78ECE14918A4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81906A65-E2C8-40CA-A749-AFAD234C6D52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12 / 78</a:t>
            </a:r>
          </a:p>
        </p:txBody>
      </p:sp>
      <p:sp>
        <p:nvSpPr>
          <p:cNvPr id="19" name="UML sequence-success box 19"/>
          <p:cNvSpPr/>
          <p:nvPr/>
        </p:nvSpPr>
        <p:spPr>
          <a:xfrm>
            <a:off x="2758250" y="1685544"/>
            <a:ext cx="76200" cy="2341245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" name="UML sequence-success divider 20"/>
          <p:cNvSpPr/>
          <p:nvPr/>
        </p:nvSpPr>
        <p:spPr>
          <a:xfrm>
            <a:off x="2791587" y="1685544"/>
            <a:ext cx="952" cy="2341245"/>
          </a:xfrm>
          <a:custGeom>
            <a:avLst/>
            <a:gdLst/>
            <a:ahLst/>
            <a:cxnLst/>
            <a:rect l="0" t="0" r="r" b="b"/>
            <a:pathLst>
              <a:path w="952" h="2341245" fill="none" extrusionOk="0">
                <a:moveTo>
                  <a:pt x="0" y="0"/>
                </a:moveTo>
                <a:lnTo>
                  <a:pt x="0" y="2341245"/>
                </a:lnTo>
              </a:path>
            </a:pathLst>
          </a:custGeom>
          <a:noFill/>
          <a:ln w="9525">
            <a:solidFill>
              <a:srgbClr val="697487"/>
            </a:solidFill>
            <a:prstDash val="dash"/>
          </a:ln>
        </p:spPr>
      </p:sp>
      <p:sp>
        <p:nvSpPr>
          <p:cNvPr id="21" name="UML sequence-success box 21"/>
          <p:cNvSpPr/>
          <p:nvPr/>
        </p:nvSpPr>
        <p:spPr>
          <a:xfrm>
            <a:off x="4371022" y="1685544"/>
            <a:ext cx="76200" cy="2341245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" name="UML sequence-success divider 22"/>
          <p:cNvSpPr/>
          <p:nvPr/>
        </p:nvSpPr>
        <p:spPr>
          <a:xfrm>
            <a:off x="4404360" y="1685544"/>
            <a:ext cx="952" cy="2341245"/>
          </a:xfrm>
          <a:custGeom>
            <a:avLst/>
            <a:gdLst/>
            <a:ahLst/>
            <a:cxnLst/>
            <a:rect l="0" t="0" r="r" b="b"/>
            <a:pathLst>
              <a:path w="952" h="2341245" fill="none" extrusionOk="0">
                <a:moveTo>
                  <a:pt x="0" y="0"/>
                </a:moveTo>
                <a:lnTo>
                  <a:pt x="0" y="2341245"/>
                </a:lnTo>
              </a:path>
            </a:pathLst>
          </a:custGeom>
          <a:noFill/>
          <a:ln w="9525">
            <a:solidFill>
              <a:srgbClr val="697487"/>
            </a:solidFill>
            <a:prstDash val="dash"/>
          </a:ln>
        </p:spPr>
      </p:sp>
      <p:sp>
        <p:nvSpPr>
          <p:cNvPr id="23" name="UML sequence-success box 23"/>
          <p:cNvSpPr/>
          <p:nvPr/>
        </p:nvSpPr>
        <p:spPr>
          <a:xfrm>
            <a:off x="4356735" y="2094738"/>
            <a:ext cx="95250" cy="176060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4" name="UML sequence-success box 24"/>
          <p:cNvSpPr/>
          <p:nvPr/>
        </p:nvSpPr>
        <p:spPr>
          <a:xfrm>
            <a:off x="6226874" y="1685544"/>
            <a:ext cx="76200" cy="2341245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5" name="UML sequence-success divider 25"/>
          <p:cNvSpPr/>
          <p:nvPr/>
        </p:nvSpPr>
        <p:spPr>
          <a:xfrm>
            <a:off x="6260211" y="1685544"/>
            <a:ext cx="952" cy="2341245"/>
          </a:xfrm>
          <a:custGeom>
            <a:avLst/>
            <a:gdLst/>
            <a:ahLst/>
            <a:cxnLst/>
            <a:rect l="0" t="0" r="r" b="b"/>
            <a:pathLst>
              <a:path w="952" h="2341245" fill="none" extrusionOk="0">
                <a:moveTo>
                  <a:pt x="0" y="0"/>
                </a:moveTo>
                <a:lnTo>
                  <a:pt x="0" y="2341245"/>
                </a:lnTo>
              </a:path>
            </a:pathLst>
          </a:custGeom>
          <a:noFill/>
          <a:ln w="9525">
            <a:solidFill>
              <a:srgbClr val="697487"/>
            </a:solidFill>
            <a:prstDash val="dash"/>
          </a:ln>
        </p:spPr>
      </p:sp>
      <p:sp>
        <p:nvSpPr>
          <p:cNvPr id="26" name="UML sequence-success box 26"/>
          <p:cNvSpPr/>
          <p:nvPr/>
        </p:nvSpPr>
        <p:spPr>
          <a:xfrm>
            <a:off x="6212586" y="3036951"/>
            <a:ext cx="95250" cy="40919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7" name="UML sequence-success box 27"/>
          <p:cNvSpPr/>
          <p:nvPr/>
        </p:nvSpPr>
        <p:spPr>
          <a:xfrm>
            <a:off x="2209800" y="1257300"/>
            <a:ext cx="1163574" cy="37109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8" name="UML sequence-success label 28"/>
          <p:cNvSpPr/>
          <p:nvPr/>
        </p:nvSpPr>
        <p:spPr>
          <a:xfrm>
            <a:off x="2254091" y="1320165"/>
            <a:ext cx="1134999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00000"/>
                </a:solidFill>
                <a:latin typeface="Noto Sans SC"/>
                <a:ea typeface="Noto Sans SC"/>
              </a:rPr>
              <a:t>ui : 选课界面</a:t>
            </a:r>
            <a:endParaRPr lang="zh-CN" sz="1500"/>
          </a:p>
        </p:txBody>
      </p:sp>
      <p:sp>
        <p:nvSpPr>
          <p:cNvPr id="29" name="UML sequence-success box 29"/>
          <p:cNvSpPr/>
          <p:nvPr/>
        </p:nvSpPr>
        <p:spPr>
          <a:xfrm>
            <a:off x="3763804" y="1257300"/>
            <a:ext cx="1281112" cy="37109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30" name="UML sequence-success label 30"/>
          <p:cNvSpPr/>
          <p:nvPr/>
        </p:nvSpPr>
        <p:spPr>
          <a:xfrm>
            <a:off x="3808095" y="1320165"/>
            <a:ext cx="1252538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00000"/>
                </a:solidFill>
                <a:latin typeface="Noto Sans SC"/>
                <a:ea typeface="Noto Sans SC"/>
              </a:rPr>
              <a:t>svc : 选课服务</a:t>
            </a:r>
            <a:endParaRPr lang="zh-CN" sz="1500"/>
          </a:p>
        </p:txBody>
      </p:sp>
      <p:sp>
        <p:nvSpPr>
          <p:cNvPr id="31" name="UML sequence-success box 31"/>
          <p:cNvSpPr/>
          <p:nvPr/>
        </p:nvSpPr>
        <p:spPr>
          <a:xfrm>
            <a:off x="5592699" y="1257300"/>
            <a:ext cx="1335024" cy="37109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32" name="UML sequence-success label 32"/>
          <p:cNvSpPr/>
          <p:nvPr/>
        </p:nvSpPr>
        <p:spPr>
          <a:xfrm>
            <a:off x="5636990" y="1320165"/>
            <a:ext cx="1306449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00000"/>
                </a:solidFill>
                <a:latin typeface="Noto Sans SC"/>
                <a:ea typeface="Noto Sans SC"/>
              </a:rPr>
              <a:t>e : Enrollment</a:t>
            </a:r>
            <a:endParaRPr lang="zh-CN" sz="1500"/>
          </a:p>
        </p:txBody>
      </p:sp>
      <p:sp>
        <p:nvSpPr>
          <p:cNvPr id="33" name="UML sequence-success arrow 33"/>
          <p:cNvSpPr/>
          <p:nvPr/>
        </p:nvSpPr>
        <p:spPr>
          <a:xfrm>
            <a:off x="4242435" y="2056638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4" name="UML sequence-success divider 34"/>
          <p:cNvSpPr/>
          <p:nvPr/>
        </p:nvSpPr>
        <p:spPr>
          <a:xfrm>
            <a:off x="2791587" y="2094738"/>
            <a:ext cx="1507998" cy="952"/>
          </a:xfrm>
          <a:custGeom>
            <a:avLst/>
            <a:gdLst/>
            <a:ahLst/>
            <a:cxnLst/>
            <a:rect l="0" t="0" r="r" b="b"/>
            <a:pathLst>
              <a:path w="1507998" h="952" fill="none" extrusionOk="0">
                <a:moveTo>
                  <a:pt x="0" y="0"/>
                </a:moveTo>
                <a:lnTo>
                  <a:pt x="1507998" y="0"/>
                </a:lnTo>
              </a:path>
            </a:pathLst>
          </a:custGeom>
          <a:noFill/>
          <a:ln w="12382">
            <a:solidFill>
              <a:srgbClr val="1F2A44"/>
            </a:solidFill>
          </a:ln>
        </p:spPr>
      </p:sp>
      <p:sp>
        <p:nvSpPr>
          <p:cNvPr id="35" name="UML sequence-success label 35"/>
          <p:cNvSpPr/>
          <p:nvPr/>
        </p:nvSpPr>
        <p:spPr>
          <a:xfrm>
            <a:off x="3109436" y="1815084"/>
            <a:ext cx="989457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process(e)</a:t>
            </a:r>
            <a:endParaRPr lang="zh-CN" sz="1500"/>
          </a:p>
        </p:txBody>
      </p:sp>
      <p:sp>
        <p:nvSpPr>
          <p:cNvPr id="36" name="UML sequence-success divider 36"/>
          <p:cNvSpPr/>
          <p:nvPr/>
        </p:nvSpPr>
        <p:spPr>
          <a:xfrm>
            <a:off x="4451985" y="2503932"/>
            <a:ext cx="400050" cy="952"/>
          </a:xfrm>
          <a:custGeom>
            <a:avLst/>
            <a:gdLst/>
            <a:ahLst/>
            <a:cxnLst/>
            <a:rect l="0" t="0" r="r" b="b"/>
            <a:pathLst>
              <a:path w="400050" h="952" fill="none" extrusionOk="0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2382">
            <a:solidFill>
              <a:srgbClr val="1F2A44"/>
            </a:solidFill>
          </a:ln>
        </p:spPr>
      </p:sp>
      <p:sp>
        <p:nvSpPr>
          <p:cNvPr id="37" name="UML sequence-success divider 37"/>
          <p:cNvSpPr/>
          <p:nvPr/>
        </p:nvSpPr>
        <p:spPr>
          <a:xfrm>
            <a:off x="4852035" y="2503932"/>
            <a:ext cx="952" cy="123825"/>
          </a:xfrm>
          <a:custGeom>
            <a:avLst/>
            <a:gdLst/>
            <a:ahLst/>
            <a:cxnLst/>
            <a:rect l="0" t="0" r="r" b="b"/>
            <a:pathLst>
              <a:path w="952" h="123825" fill="none" extrusionOk="0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2382">
            <a:solidFill>
              <a:srgbClr val="1F2A44"/>
            </a:solidFill>
          </a:ln>
        </p:spPr>
      </p:sp>
      <p:sp>
        <p:nvSpPr>
          <p:cNvPr id="38" name="UML sequence-success divider 38"/>
          <p:cNvSpPr/>
          <p:nvPr/>
        </p:nvSpPr>
        <p:spPr>
          <a:xfrm>
            <a:off x="4461510" y="2627757"/>
            <a:ext cx="390525" cy="952"/>
          </a:xfrm>
          <a:custGeom>
            <a:avLst/>
            <a:gdLst/>
            <a:ahLst/>
            <a:cxnLst/>
            <a:rect l="0" t="0" r="r" b="b"/>
            <a:pathLst>
              <a:path w="390525" h="952" fill="none" extrusionOk="0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12382">
            <a:solidFill>
              <a:srgbClr val="1F2A44"/>
            </a:solidFill>
          </a:ln>
        </p:spPr>
      </p:sp>
      <p:sp>
        <p:nvSpPr>
          <p:cNvPr id="39" name="UML sequence-success arrow 39"/>
          <p:cNvSpPr/>
          <p:nvPr/>
        </p:nvSpPr>
        <p:spPr>
          <a:xfrm>
            <a:off x="4461510" y="2589657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95250" y="0"/>
                </a:moveTo>
                <a:lnTo>
                  <a:pt x="0" y="38100"/>
                </a:lnTo>
                <a:lnTo>
                  <a:pt x="95250" y="762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40" name="UML sequence-success label 40"/>
          <p:cNvSpPr/>
          <p:nvPr/>
        </p:nvSpPr>
        <p:spPr>
          <a:xfrm>
            <a:off x="4515326" y="2224278"/>
            <a:ext cx="957453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读取余量()</a:t>
            </a:r>
            <a:endParaRPr lang="zh-CN" sz="1500"/>
          </a:p>
        </p:txBody>
      </p:sp>
      <p:sp>
        <p:nvSpPr>
          <p:cNvPr id="41" name="UML sequence-success arrow 41"/>
          <p:cNvSpPr/>
          <p:nvPr/>
        </p:nvSpPr>
        <p:spPr>
          <a:xfrm>
            <a:off x="6098286" y="2998851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42" name="UML sequence-success divider 42"/>
          <p:cNvSpPr/>
          <p:nvPr/>
        </p:nvSpPr>
        <p:spPr>
          <a:xfrm>
            <a:off x="4451985" y="3036951"/>
            <a:ext cx="1703451" cy="952"/>
          </a:xfrm>
          <a:custGeom>
            <a:avLst/>
            <a:gdLst/>
            <a:ahLst/>
            <a:cxnLst/>
            <a:rect l="0" t="0" r="r" b="b"/>
            <a:pathLst>
              <a:path w="1703451" h="952" fill="none" extrusionOk="0">
                <a:moveTo>
                  <a:pt x="0" y="0"/>
                </a:moveTo>
                <a:lnTo>
                  <a:pt x="1703451" y="0"/>
                </a:lnTo>
              </a:path>
            </a:pathLst>
          </a:custGeom>
          <a:noFill/>
          <a:ln w="12382">
            <a:solidFill>
              <a:srgbClr val="1F2A44"/>
            </a:solidFill>
          </a:ln>
        </p:spPr>
      </p:sp>
      <p:sp>
        <p:nvSpPr>
          <p:cNvPr id="43" name="UML sequence-success label 43"/>
          <p:cNvSpPr/>
          <p:nvPr/>
        </p:nvSpPr>
        <p:spPr>
          <a:xfrm>
            <a:off x="4917853" y="2757297"/>
            <a:ext cx="888873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confirm()</a:t>
            </a:r>
            <a:endParaRPr lang="zh-CN" sz="1500"/>
          </a:p>
        </p:txBody>
      </p:sp>
      <p:sp>
        <p:nvSpPr>
          <p:cNvPr id="44" name="UML sequence-success arrow 44"/>
          <p:cNvSpPr/>
          <p:nvPr/>
        </p:nvSpPr>
        <p:spPr>
          <a:xfrm>
            <a:off x="4461510" y="340804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95250" y="0"/>
                </a:moveTo>
                <a:lnTo>
                  <a:pt x="0" y="38100"/>
                </a:lnTo>
                <a:lnTo>
                  <a:pt x="95250" y="762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45" name="UML sequence-success divider 45"/>
          <p:cNvSpPr/>
          <p:nvPr/>
        </p:nvSpPr>
        <p:spPr>
          <a:xfrm>
            <a:off x="4499610" y="3446145"/>
            <a:ext cx="1703451" cy="952"/>
          </a:xfrm>
          <a:custGeom>
            <a:avLst/>
            <a:gdLst/>
            <a:ahLst/>
            <a:cxnLst/>
            <a:rect l="0" t="0" r="r" b="b"/>
            <a:pathLst>
              <a:path w="1703451" h="952" fill="none" extrusionOk="0">
                <a:moveTo>
                  <a:pt x="0" y="0"/>
                </a:moveTo>
                <a:lnTo>
                  <a:pt x="1703451" y="0"/>
                </a:lnTo>
              </a:path>
            </a:pathLst>
          </a:custGeom>
          <a:noFill/>
          <a:ln w="12382">
            <a:solidFill>
              <a:srgbClr val="1F2A44"/>
            </a:solidFill>
            <a:prstDash val="dash"/>
          </a:ln>
        </p:spPr>
      </p:sp>
      <p:sp>
        <p:nvSpPr>
          <p:cNvPr id="46" name="UML sequence-success label 46"/>
          <p:cNvSpPr/>
          <p:nvPr/>
        </p:nvSpPr>
        <p:spPr>
          <a:xfrm>
            <a:off x="4562951" y="3166491"/>
            <a:ext cx="1598676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confirm() : 已确认</a:t>
            </a:r>
            <a:endParaRPr lang="zh-CN" sz="1500"/>
          </a:p>
        </p:txBody>
      </p:sp>
      <p:sp>
        <p:nvSpPr>
          <p:cNvPr id="47" name="UML sequence-success arrow 47"/>
          <p:cNvSpPr/>
          <p:nvPr/>
        </p:nvSpPr>
        <p:spPr>
          <a:xfrm>
            <a:off x="2801112" y="3817239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95250" y="0"/>
                </a:moveTo>
                <a:lnTo>
                  <a:pt x="0" y="38100"/>
                </a:lnTo>
                <a:lnTo>
                  <a:pt x="95250" y="762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48" name="UML sequence-success divider 48"/>
          <p:cNvSpPr/>
          <p:nvPr/>
        </p:nvSpPr>
        <p:spPr>
          <a:xfrm>
            <a:off x="2839212" y="3855339"/>
            <a:ext cx="1507998" cy="952"/>
          </a:xfrm>
          <a:custGeom>
            <a:avLst/>
            <a:gdLst/>
            <a:ahLst/>
            <a:cxnLst/>
            <a:rect l="0" t="0" r="r" b="b"/>
            <a:pathLst>
              <a:path w="1507998" h="952" fill="none" extrusionOk="0">
                <a:moveTo>
                  <a:pt x="0" y="0"/>
                </a:moveTo>
                <a:lnTo>
                  <a:pt x="1507998" y="0"/>
                </a:lnTo>
              </a:path>
            </a:pathLst>
          </a:custGeom>
          <a:noFill/>
          <a:ln w="12382">
            <a:solidFill>
              <a:srgbClr val="1F2A44"/>
            </a:solidFill>
            <a:prstDash val="dash"/>
          </a:ln>
        </p:spPr>
      </p:sp>
      <p:sp>
        <p:nvSpPr>
          <p:cNvPr id="49" name="UML sequence-success label 49"/>
          <p:cNvSpPr/>
          <p:nvPr/>
        </p:nvSpPr>
        <p:spPr>
          <a:xfrm>
            <a:off x="2902553" y="3575685"/>
            <a:ext cx="1403223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process() : 成功</a:t>
            </a:r>
            <a:endParaRPr lang="zh-CN" sz="1500"/>
          </a:p>
        </p:txBody>
      </p:sp>
      <p:sp>
        <p:nvSpPr>
          <p:cNvPr id="7" name="content-104">
            <a:extLst>
              <a:ext uri="{FF2B5EF4-FFF2-40B4-BE49-F238E27FC236}">
                <a16:creationId xmlns:a16="http://schemas.microsoft.com/office/drawing/2014/main" id="{FA8887D1-A6C7-413B-80CF-FB91C5E8C363}"/>
              </a:ext>
            </a:extLst>
          </p:cNvPr>
          <p:cNvSpPr>
            <a:spLocks noGrp="1"/>
          </p:cNvSpPr>
          <p:nvPr/>
        </p:nvSpPr>
        <p:spPr>
          <a:xfrm>
            <a:off x="476250" y="4210050"/>
            <a:ext cx="8191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前提：e处于待处理，余量大于0。</a:t>
            </a:r>
          </a:p>
        </p:txBody>
      </p:sp>
      <p:sp>
        <p:nvSpPr>
          <p:cNvPr id="8" name="content-105">
            <a:extLst>
              <a:ext uri="{FF2B5EF4-FFF2-40B4-BE49-F238E27FC236}">
                <a16:creationId xmlns:a16="http://schemas.microsoft.com/office/drawing/2014/main" id="{66D60C00-0F0D-4403-AEC7-19B7CA36A9A2}"/>
              </a:ext>
            </a:extLst>
          </p:cNvPr>
          <p:cNvSpPr>
            <a:spLocks noGrp="1"/>
          </p:cNvSpPr>
          <p:nvPr/>
        </p:nvSpPr>
        <p:spPr>
          <a:xfrm>
            <a:off x="476250" y="4476750"/>
            <a:ext cx="8191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本图实线实心箭头为同步调用，虚线箭头为调用返回。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06">
            <a:extLst>
              <a:ext uri="{FF2B5EF4-FFF2-40B4-BE49-F238E27FC236}">
                <a16:creationId xmlns:a16="http://schemas.microsoft.com/office/drawing/2014/main" id="{355A58E4-5475-42ED-8D5F-816A9BBC804A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同步调用与返回消息</a:t>
            </a:r>
          </a:p>
        </p:txBody>
      </p:sp>
      <p:sp>
        <p:nvSpPr>
          <p:cNvPr id="2" name="frame-107">
            <a:extLst>
              <a:ext uri="{FF2B5EF4-FFF2-40B4-BE49-F238E27FC236}">
                <a16:creationId xmlns:a16="http://schemas.microsoft.com/office/drawing/2014/main" id="{1B0BA6C4-3E41-4506-A215-FA862C632B4D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08">
            <a:extLst>
              <a:ext uri="{FF2B5EF4-FFF2-40B4-BE49-F238E27FC236}">
                <a16:creationId xmlns:a16="http://schemas.microsoft.com/office/drawing/2014/main" id="{96BF8103-4AD9-4A65-A6AB-F679BA040571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89F6FAFA-1E8C-40D5-8C19-C5546949D728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7AD1452A-BB80-479B-998B-6F2004D60D9E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13 / 78</a:t>
            </a:r>
          </a:p>
        </p:txBody>
      </p:sp>
      <p:sp>
        <p:nvSpPr>
          <p:cNvPr id="21" name="UML sequence-call box 21"/>
          <p:cNvSpPr/>
          <p:nvPr/>
        </p:nvSpPr>
        <p:spPr>
          <a:xfrm>
            <a:off x="3617119" y="2104644"/>
            <a:ext cx="76200" cy="989838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" name="UML sequence-call divider 22"/>
          <p:cNvSpPr/>
          <p:nvPr/>
        </p:nvSpPr>
        <p:spPr>
          <a:xfrm>
            <a:off x="3650456" y="2104644"/>
            <a:ext cx="952" cy="989838"/>
          </a:xfrm>
          <a:custGeom>
            <a:avLst/>
            <a:gdLst/>
            <a:ahLst/>
            <a:cxnLst/>
            <a:rect l="0" t="0" r="r" b="b"/>
            <a:pathLst>
              <a:path w="952" h="989838" fill="none" extrusionOk="0">
                <a:moveTo>
                  <a:pt x="0" y="0"/>
                </a:moveTo>
                <a:lnTo>
                  <a:pt x="0" y="989838"/>
                </a:lnTo>
              </a:path>
            </a:pathLst>
          </a:custGeom>
          <a:noFill/>
          <a:ln w="9525">
            <a:solidFill>
              <a:srgbClr val="697487"/>
            </a:solidFill>
            <a:prstDash val="dash"/>
          </a:ln>
        </p:spPr>
      </p:sp>
      <p:sp>
        <p:nvSpPr>
          <p:cNvPr id="23" name="UML sequence-call box 23"/>
          <p:cNvSpPr/>
          <p:nvPr/>
        </p:nvSpPr>
        <p:spPr>
          <a:xfrm>
            <a:off x="5425345" y="2104644"/>
            <a:ext cx="76200" cy="989838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4" name="UML sequence-call divider 24"/>
          <p:cNvSpPr/>
          <p:nvPr/>
        </p:nvSpPr>
        <p:spPr>
          <a:xfrm>
            <a:off x="5458682" y="2104644"/>
            <a:ext cx="952" cy="989838"/>
          </a:xfrm>
          <a:custGeom>
            <a:avLst/>
            <a:gdLst/>
            <a:ahLst/>
            <a:cxnLst/>
            <a:rect l="0" t="0" r="r" b="b"/>
            <a:pathLst>
              <a:path w="952" h="989838" fill="none" extrusionOk="0">
                <a:moveTo>
                  <a:pt x="0" y="0"/>
                </a:moveTo>
                <a:lnTo>
                  <a:pt x="0" y="989838"/>
                </a:lnTo>
              </a:path>
            </a:pathLst>
          </a:custGeom>
          <a:noFill/>
          <a:ln w="9525">
            <a:solidFill>
              <a:srgbClr val="697487"/>
            </a:solidFill>
            <a:prstDash val="dash"/>
          </a:ln>
        </p:spPr>
      </p:sp>
      <p:sp>
        <p:nvSpPr>
          <p:cNvPr id="25" name="UML sequence-call box 25"/>
          <p:cNvSpPr/>
          <p:nvPr/>
        </p:nvSpPr>
        <p:spPr>
          <a:xfrm>
            <a:off x="5411057" y="2513838"/>
            <a:ext cx="95250" cy="40919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26" name="UML sequence-call box 26"/>
          <p:cNvSpPr/>
          <p:nvPr/>
        </p:nvSpPr>
        <p:spPr>
          <a:xfrm>
            <a:off x="3009900" y="1676400"/>
            <a:ext cx="1281112" cy="37109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7" name="UML sequence-call label 27"/>
          <p:cNvSpPr/>
          <p:nvPr/>
        </p:nvSpPr>
        <p:spPr>
          <a:xfrm>
            <a:off x="3054191" y="1739265"/>
            <a:ext cx="1252538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00000"/>
                </a:solidFill>
                <a:latin typeface="Noto Sans SC"/>
                <a:ea typeface="Noto Sans SC"/>
              </a:rPr>
              <a:t>svc : 选课服务</a:t>
            </a:r>
            <a:endParaRPr lang="zh-CN" sz="1500"/>
          </a:p>
        </p:txBody>
      </p:sp>
      <p:sp>
        <p:nvSpPr>
          <p:cNvPr id="28" name="UML sequence-call box 28"/>
          <p:cNvSpPr/>
          <p:nvPr/>
        </p:nvSpPr>
        <p:spPr>
          <a:xfrm>
            <a:off x="4791170" y="1676400"/>
            <a:ext cx="1335024" cy="37109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9" name="UML sequence-call label 29"/>
          <p:cNvSpPr/>
          <p:nvPr/>
        </p:nvSpPr>
        <p:spPr>
          <a:xfrm>
            <a:off x="4835462" y="1739265"/>
            <a:ext cx="1306449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00000"/>
                </a:solidFill>
                <a:latin typeface="Noto Sans SC"/>
                <a:ea typeface="Noto Sans SC"/>
              </a:rPr>
              <a:t>e : Enrollment</a:t>
            </a:r>
            <a:endParaRPr lang="zh-CN" sz="1500"/>
          </a:p>
        </p:txBody>
      </p:sp>
      <p:sp>
        <p:nvSpPr>
          <p:cNvPr id="30" name="UML sequence-call arrow 30"/>
          <p:cNvSpPr/>
          <p:nvPr/>
        </p:nvSpPr>
        <p:spPr>
          <a:xfrm>
            <a:off x="5296757" y="2475738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1" name="UML sequence-call divider 31"/>
          <p:cNvSpPr/>
          <p:nvPr/>
        </p:nvSpPr>
        <p:spPr>
          <a:xfrm>
            <a:off x="3650456" y="2513838"/>
            <a:ext cx="1703451" cy="952"/>
          </a:xfrm>
          <a:custGeom>
            <a:avLst/>
            <a:gdLst/>
            <a:ahLst/>
            <a:cxnLst/>
            <a:rect l="0" t="0" r="r" b="b"/>
            <a:pathLst>
              <a:path w="1703451" h="952" fill="none" extrusionOk="0">
                <a:moveTo>
                  <a:pt x="0" y="0"/>
                </a:moveTo>
                <a:lnTo>
                  <a:pt x="1703451" y="0"/>
                </a:lnTo>
              </a:path>
            </a:pathLst>
          </a:custGeom>
          <a:noFill/>
          <a:ln w="12382">
            <a:solidFill>
              <a:srgbClr val="1F2A44"/>
            </a:solidFill>
          </a:ln>
        </p:spPr>
      </p:sp>
      <p:sp>
        <p:nvSpPr>
          <p:cNvPr id="32" name="UML sequence-call label 32"/>
          <p:cNvSpPr/>
          <p:nvPr/>
        </p:nvSpPr>
        <p:spPr>
          <a:xfrm>
            <a:off x="4116324" y="2234184"/>
            <a:ext cx="888873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confirm()</a:t>
            </a:r>
            <a:endParaRPr lang="zh-CN" sz="1500"/>
          </a:p>
        </p:txBody>
      </p:sp>
      <p:sp>
        <p:nvSpPr>
          <p:cNvPr id="33" name="UML sequence-call arrow 33"/>
          <p:cNvSpPr/>
          <p:nvPr/>
        </p:nvSpPr>
        <p:spPr>
          <a:xfrm>
            <a:off x="3659981" y="2884932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95250" y="0"/>
                </a:moveTo>
                <a:lnTo>
                  <a:pt x="0" y="38100"/>
                </a:lnTo>
                <a:lnTo>
                  <a:pt x="95250" y="762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4" name="UML sequence-call divider 34"/>
          <p:cNvSpPr/>
          <p:nvPr/>
        </p:nvSpPr>
        <p:spPr>
          <a:xfrm>
            <a:off x="3698081" y="2923032"/>
            <a:ext cx="1703451" cy="952"/>
          </a:xfrm>
          <a:custGeom>
            <a:avLst/>
            <a:gdLst/>
            <a:ahLst/>
            <a:cxnLst/>
            <a:rect l="0" t="0" r="r" b="b"/>
            <a:pathLst>
              <a:path w="1703451" h="952" fill="none" extrusionOk="0">
                <a:moveTo>
                  <a:pt x="0" y="0"/>
                </a:moveTo>
                <a:lnTo>
                  <a:pt x="1703451" y="0"/>
                </a:lnTo>
              </a:path>
            </a:pathLst>
          </a:custGeom>
          <a:noFill/>
          <a:ln w="12382">
            <a:solidFill>
              <a:srgbClr val="1F2A44"/>
            </a:solidFill>
            <a:prstDash val="dash"/>
          </a:ln>
        </p:spPr>
      </p:sp>
      <p:sp>
        <p:nvSpPr>
          <p:cNvPr id="35" name="UML sequence-call label 35"/>
          <p:cNvSpPr/>
          <p:nvPr/>
        </p:nvSpPr>
        <p:spPr>
          <a:xfrm>
            <a:off x="3761422" y="2643378"/>
            <a:ext cx="1598676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confirm() : 已确认</a:t>
            </a:r>
            <a:endParaRPr lang="zh-CN" sz="1500"/>
          </a:p>
        </p:txBody>
      </p:sp>
      <p:sp>
        <p:nvSpPr>
          <p:cNvPr id="7" name="content-109">
            <a:extLst>
              <a:ext uri="{FF2B5EF4-FFF2-40B4-BE49-F238E27FC236}">
                <a16:creationId xmlns:a16="http://schemas.microsoft.com/office/drawing/2014/main" id="{C1D5948E-0071-40DC-B9DA-F9BE1E5E7372}"/>
              </a:ext>
            </a:extLst>
          </p:cNvPr>
          <p:cNvSpPr>
            <a:spLocks noGrp="1"/>
          </p:cNvSpPr>
          <p:nvPr/>
        </p:nvSpPr>
        <p:spPr>
          <a:xfrm>
            <a:off x="476250" y="37147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同步调用：调用方等待被调用行为完成。</a:t>
            </a:r>
          </a:p>
        </p:txBody>
      </p:sp>
      <p:sp>
        <p:nvSpPr>
          <p:cNvPr id="8" name="content-110">
            <a:extLst>
              <a:ext uri="{FF2B5EF4-FFF2-40B4-BE49-F238E27FC236}">
                <a16:creationId xmlns:a16="http://schemas.microsoft.com/office/drawing/2014/main" id="{2E999389-1170-4D1E-A643-700FC93BD5E3}"/>
              </a:ext>
            </a:extLst>
          </p:cNvPr>
          <p:cNvSpPr>
            <a:spLocks noGrp="1"/>
          </p:cNvSpPr>
          <p:nvPr/>
        </p:nvSpPr>
        <p:spPr>
          <a:xfrm>
            <a:off x="476250" y="40195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本图虚线消息为返回，生命线上的细长矩形为执行规格。</a:t>
            </a:r>
          </a:p>
        </p:txBody>
      </p:sp>
      <p:sp>
        <p:nvSpPr>
          <p:cNvPr id="9" name="content-111">
            <a:extLst>
              <a:ext uri="{FF2B5EF4-FFF2-40B4-BE49-F238E27FC236}">
                <a16:creationId xmlns:a16="http://schemas.microsoft.com/office/drawing/2014/main" id="{18F3CE1F-2925-4660-8852-0C13E0B0906C}"/>
              </a:ext>
            </a:extLst>
          </p:cNvPr>
          <p:cNvSpPr>
            <a:spLocks noGrp="1"/>
          </p:cNvSpPr>
          <p:nvPr/>
        </p:nvSpPr>
        <p:spPr>
          <a:xfrm>
            <a:off x="476250" y="43243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执行规格表示执行的一段，不能据此判断对象是否被删除。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-112">
            <a:extLst>
              <a:ext uri="{FF2B5EF4-FFF2-40B4-BE49-F238E27FC236}">
                <a16:creationId xmlns:a16="http://schemas.microsoft.com/office/drawing/2014/main" id="{EE3FBEEF-B3C2-49A3-99B9-93AA28E34785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顺序图中的备选交互：alt</a:t>
            </a:r>
          </a:p>
        </p:txBody>
      </p:sp>
      <p:sp>
        <p:nvSpPr>
          <p:cNvPr id="2" name="frame-113">
            <a:extLst>
              <a:ext uri="{FF2B5EF4-FFF2-40B4-BE49-F238E27FC236}">
                <a16:creationId xmlns:a16="http://schemas.microsoft.com/office/drawing/2014/main" id="{3E17ECCC-2EB8-45B8-839E-5579A00CE1A4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14">
            <a:extLst>
              <a:ext uri="{FF2B5EF4-FFF2-40B4-BE49-F238E27FC236}">
                <a16:creationId xmlns:a16="http://schemas.microsoft.com/office/drawing/2014/main" id="{66B63DA0-EA54-46A1-B791-4926B950B1FF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DCF93210-4F78-4287-8EB0-17B91EACE3ED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44BC0CCC-36D3-4977-A88B-6356F54A06C2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14 / 78</a:t>
            </a:r>
          </a:p>
        </p:txBody>
      </p:sp>
      <p:sp>
        <p:nvSpPr>
          <p:cNvPr id="19" name="UML sequence-alt box 19"/>
          <p:cNvSpPr/>
          <p:nvPr/>
        </p:nvSpPr>
        <p:spPr>
          <a:xfrm>
            <a:off x="3607594" y="1961769"/>
            <a:ext cx="1898618" cy="167449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0" name="UML sequence-alt box 20"/>
          <p:cNvSpPr/>
          <p:nvPr/>
        </p:nvSpPr>
        <p:spPr>
          <a:xfrm>
            <a:off x="3607594" y="1961769"/>
            <a:ext cx="1898618" cy="1674495"/>
          </a:xfrm>
          <a:prstGeom prst="rect">
            <a:avLst/>
          </a:prstGeom>
          <a:noFill/>
          <a:ln w="9525">
            <a:solidFill>
              <a:srgbClr val="1F2A44"/>
            </a:solidFill>
          </a:ln>
        </p:spPr>
      </p:sp>
      <p:sp>
        <p:nvSpPr>
          <p:cNvPr id="21" name="UML sequence-alt box 21"/>
          <p:cNvSpPr/>
          <p:nvPr/>
        </p:nvSpPr>
        <p:spPr>
          <a:xfrm>
            <a:off x="3726656" y="1847469"/>
            <a:ext cx="76200" cy="2017395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" name="UML sequence-alt divider 22"/>
          <p:cNvSpPr/>
          <p:nvPr/>
        </p:nvSpPr>
        <p:spPr>
          <a:xfrm>
            <a:off x="3759994" y="1847469"/>
            <a:ext cx="952" cy="2017395"/>
          </a:xfrm>
          <a:custGeom>
            <a:avLst/>
            <a:gdLst/>
            <a:ahLst/>
            <a:cxnLst/>
            <a:rect l="0" t="0" r="r" b="b"/>
            <a:pathLst>
              <a:path w="952" h="2017395" fill="none" extrusionOk="0">
                <a:moveTo>
                  <a:pt x="0" y="0"/>
                </a:moveTo>
                <a:lnTo>
                  <a:pt x="0" y="2017395"/>
                </a:lnTo>
              </a:path>
            </a:pathLst>
          </a:custGeom>
          <a:noFill/>
          <a:ln w="9525">
            <a:solidFill>
              <a:srgbClr val="697487"/>
            </a:solidFill>
            <a:prstDash val="dash"/>
          </a:ln>
        </p:spPr>
      </p:sp>
      <p:sp>
        <p:nvSpPr>
          <p:cNvPr id="23" name="UML sequence-alt box 23"/>
          <p:cNvSpPr/>
          <p:nvPr/>
        </p:nvSpPr>
        <p:spPr>
          <a:xfrm>
            <a:off x="5320474" y="1847469"/>
            <a:ext cx="76200" cy="2017395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4" name="UML sequence-alt divider 24"/>
          <p:cNvSpPr/>
          <p:nvPr/>
        </p:nvSpPr>
        <p:spPr>
          <a:xfrm>
            <a:off x="5353812" y="1847469"/>
            <a:ext cx="952" cy="2017395"/>
          </a:xfrm>
          <a:custGeom>
            <a:avLst/>
            <a:gdLst/>
            <a:ahLst/>
            <a:cxnLst/>
            <a:rect l="0" t="0" r="r" b="b"/>
            <a:pathLst>
              <a:path w="952" h="2017395" fill="none" extrusionOk="0">
                <a:moveTo>
                  <a:pt x="0" y="0"/>
                </a:moveTo>
                <a:lnTo>
                  <a:pt x="0" y="2017395"/>
                </a:lnTo>
              </a:path>
            </a:pathLst>
          </a:custGeom>
          <a:noFill/>
          <a:ln w="9525">
            <a:solidFill>
              <a:srgbClr val="697487"/>
            </a:solidFill>
            <a:prstDash val="dash"/>
          </a:ln>
        </p:spPr>
      </p:sp>
      <p:sp>
        <p:nvSpPr>
          <p:cNvPr id="25" name="UML sequence-alt box 25"/>
          <p:cNvSpPr/>
          <p:nvPr/>
        </p:nvSpPr>
        <p:spPr>
          <a:xfrm>
            <a:off x="3119438" y="1419225"/>
            <a:ext cx="1281112" cy="37109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6" name="UML sequence-alt label 26"/>
          <p:cNvSpPr/>
          <p:nvPr/>
        </p:nvSpPr>
        <p:spPr>
          <a:xfrm>
            <a:off x="3163729" y="1482090"/>
            <a:ext cx="1252538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00000"/>
                </a:solidFill>
                <a:latin typeface="Noto Sans SC"/>
                <a:ea typeface="Noto Sans SC"/>
              </a:rPr>
              <a:t>svc : 选课服务</a:t>
            </a:r>
            <a:endParaRPr lang="zh-CN" sz="1500"/>
          </a:p>
        </p:txBody>
      </p:sp>
      <p:sp>
        <p:nvSpPr>
          <p:cNvPr id="27" name="UML sequence-alt box 27"/>
          <p:cNvSpPr/>
          <p:nvPr/>
        </p:nvSpPr>
        <p:spPr>
          <a:xfrm>
            <a:off x="4686300" y="1419225"/>
            <a:ext cx="1335024" cy="37109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8" name="UML sequence-alt label 28"/>
          <p:cNvSpPr/>
          <p:nvPr/>
        </p:nvSpPr>
        <p:spPr>
          <a:xfrm>
            <a:off x="4730591" y="1482090"/>
            <a:ext cx="1306449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00000"/>
                </a:solidFill>
                <a:latin typeface="Noto Sans SC"/>
                <a:ea typeface="Noto Sans SC"/>
              </a:rPr>
              <a:t>e : Enrollment</a:t>
            </a:r>
            <a:endParaRPr lang="zh-CN" sz="1500"/>
          </a:p>
        </p:txBody>
      </p:sp>
      <p:sp>
        <p:nvSpPr>
          <p:cNvPr id="29" name="UML sequence-alt connection 29"/>
          <p:cNvSpPr/>
          <p:nvPr/>
        </p:nvSpPr>
        <p:spPr>
          <a:xfrm>
            <a:off x="3607594" y="1961769"/>
            <a:ext cx="661797" cy="294894"/>
          </a:xfrm>
          <a:custGeom>
            <a:avLst/>
            <a:gdLst/>
            <a:ahLst/>
            <a:cxnLst/>
            <a:rect l="0" t="0" r="r" b="b"/>
            <a:pathLst>
              <a:path w="661797" h="294894" extrusionOk="0">
                <a:moveTo>
                  <a:pt x="0" y="0"/>
                </a:moveTo>
                <a:lnTo>
                  <a:pt x="661797" y="0"/>
                </a:lnTo>
                <a:lnTo>
                  <a:pt x="661797" y="199644"/>
                </a:lnTo>
                <a:lnTo>
                  <a:pt x="566547" y="294894"/>
                </a:lnTo>
                <a:lnTo>
                  <a:pt x="0" y="294894"/>
                </a:lnTo>
                <a:lnTo>
                  <a:pt x="0" y="0"/>
                </a:lnTo>
              </a:path>
            </a:pathLst>
          </a:custGeom>
          <a:solidFill>
            <a:srgbClr val="F7F2E9"/>
          </a:solidFill>
          <a:ln w="9525">
            <a:solidFill>
              <a:srgbClr val="1F2A44"/>
            </a:solidFill>
          </a:ln>
        </p:spPr>
      </p:sp>
      <p:sp>
        <p:nvSpPr>
          <p:cNvPr id="30" name="UML sequence-alt box 30"/>
          <p:cNvSpPr/>
          <p:nvPr/>
        </p:nvSpPr>
        <p:spPr>
          <a:xfrm>
            <a:off x="3607594" y="1961769"/>
            <a:ext cx="1898618" cy="1674495"/>
          </a:xfrm>
          <a:prstGeom prst="rect">
            <a:avLst/>
          </a:prstGeom>
          <a:noFill/>
          <a:ln w="9525">
            <a:solidFill>
              <a:srgbClr val="1F2A44"/>
            </a:solidFill>
          </a:ln>
        </p:spPr>
      </p:sp>
      <p:sp>
        <p:nvSpPr>
          <p:cNvPr id="31" name="UML sequence-alt label 31"/>
          <p:cNvSpPr/>
          <p:nvPr/>
        </p:nvSpPr>
        <p:spPr>
          <a:xfrm>
            <a:off x="3747135" y="1986534"/>
            <a:ext cx="299847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00000"/>
                </a:solidFill>
                <a:latin typeface="Noto Sans SC"/>
                <a:ea typeface="Noto Sans SC"/>
              </a:rPr>
              <a:t>alt</a:t>
            </a:r>
            <a:endParaRPr lang="zh-CN" sz="1500"/>
          </a:p>
        </p:txBody>
      </p:sp>
      <p:sp>
        <p:nvSpPr>
          <p:cNvPr id="32" name="UML sequence-alt label 32"/>
          <p:cNvSpPr/>
          <p:nvPr/>
        </p:nvSpPr>
        <p:spPr>
          <a:xfrm>
            <a:off x="4408932" y="1996059"/>
            <a:ext cx="873252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00000"/>
                </a:solidFill>
                <a:latin typeface="Noto Sans SC"/>
                <a:ea typeface="Noto Sans SC"/>
              </a:rPr>
              <a:t>[余量 &gt; 0]</a:t>
            </a:r>
            <a:endParaRPr lang="zh-CN" sz="1500"/>
          </a:p>
        </p:txBody>
      </p:sp>
      <p:sp>
        <p:nvSpPr>
          <p:cNvPr id="33" name="UML sequence-alt arrow 33"/>
          <p:cNvSpPr/>
          <p:nvPr/>
        </p:nvSpPr>
        <p:spPr>
          <a:xfrm>
            <a:off x="5239512" y="2779776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4" name="UML sequence-alt divider 34"/>
          <p:cNvSpPr/>
          <p:nvPr/>
        </p:nvSpPr>
        <p:spPr>
          <a:xfrm>
            <a:off x="3759994" y="2817876"/>
            <a:ext cx="1536668" cy="952"/>
          </a:xfrm>
          <a:custGeom>
            <a:avLst/>
            <a:gdLst/>
            <a:ahLst/>
            <a:cxnLst/>
            <a:rect l="0" t="0" r="r" b="b"/>
            <a:pathLst>
              <a:path w="1536668" h="952" fill="none" extrusionOk="0">
                <a:moveTo>
                  <a:pt x="0" y="0"/>
                </a:moveTo>
                <a:lnTo>
                  <a:pt x="1536668" y="0"/>
                </a:lnTo>
              </a:path>
            </a:pathLst>
          </a:custGeom>
          <a:noFill/>
          <a:ln w="12382">
            <a:solidFill>
              <a:srgbClr val="1F2A44"/>
            </a:solidFill>
          </a:ln>
        </p:spPr>
      </p:sp>
      <p:sp>
        <p:nvSpPr>
          <p:cNvPr id="35" name="UML sequence-alt label 35"/>
          <p:cNvSpPr/>
          <p:nvPr/>
        </p:nvSpPr>
        <p:spPr>
          <a:xfrm>
            <a:off x="4142470" y="2538222"/>
            <a:ext cx="888873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confirm()</a:t>
            </a:r>
            <a:endParaRPr lang="zh-CN" sz="1500"/>
          </a:p>
        </p:txBody>
      </p:sp>
      <p:sp>
        <p:nvSpPr>
          <p:cNvPr id="36" name="UML sequence-alt divider 36"/>
          <p:cNvSpPr/>
          <p:nvPr/>
        </p:nvSpPr>
        <p:spPr>
          <a:xfrm>
            <a:off x="3607594" y="2903601"/>
            <a:ext cx="1898618" cy="952"/>
          </a:xfrm>
          <a:custGeom>
            <a:avLst/>
            <a:gdLst/>
            <a:ahLst/>
            <a:cxnLst/>
            <a:rect l="0" t="0" r="r" b="b"/>
            <a:pathLst>
              <a:path w="1898618" h="952" fill="none" extrusionOk="0">
                <a:moveTo>
                  <a:pt x="0" y="0"/>
                </a:moveTo>
                <a:lnTo>
                  <a:pt x="1898618" y="0"/>
                </a:lnTo>
              </a:path>
            </a:pathLst>
          </a:custGeom>
          <a:noFill/>
          <a:ln w="9525">
            <a:solidFill>
              <a:srgbClr val="1F2A44"/>
            </a:solidFill>
            <a:prstDash val="dash"/>
          </a:ln>
        </p:spPr>
      </p:sp>
      <p:sp>
        <p:nvSpPr>
          <p:cNvPr id="37" name="UML sequence-alt label 37"/>
          <p:cNvSpPr/>
          <p:nvPr/>
        </p:nvSpPr>
        <p:spPr>
          <a:xfrm>
            <a:off x="3651885" y="2937891"/>
            <a:ext cx="873252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00000"/>
                </a:solidFill>
                <a:latin typeface="Noto Sans SC"/>
                <a:ea typeface="Noto Sans SC"/>
              </a:rPr>
              <a:t>[余量 = 0]</a:t>
            </a:r>
            <a:endParaRPr lang="zh-CN" sz="1500"/>
          </a:p>
        </p:txBody>
      </p:sp>
      <p:sp>
        <p:nvSpPr>
          <p:cNvPr id="38" name="UML sequence-alt arrow 38"/>
          <p:cNvSpPr/>
          <p:nvPr/>
        </p:nvSpPr>
        <p:spPr>
          <a:xfrm>
            <a:off x="5239512" y="3521964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9" name="UML sequence-alt divider 39"/>
          <p:cNvSpPr/>
          <p:nvPr/>
        </p:nvSpPr>
        <p:spPr>
          <a:xfrm>
            <a:off x="3759994" y="3560064"/>
            <a:ext cx="1536668" cy="952"/>
          </a:xfrm>
          <a:custGeom>
            <a:avLst/>
            <a:gdLst/>
            <a:ahLst/>
            <a:cxnLst/>
            <a:rect l="0" t="0" r="r" b="b"/>
            <a:pathLst>
              <a:path w="1536668" h="952" fill="none" extrusionOk="0">
                <a:moveTo>
                  <a:pt x="0" y="0"/>
                </a:moveTo>
                <a:lnTo>
                  <a:pt x="1536668" y="0"/>
                </a:lnTo>
              </a:path>
            </a:pathLst>
          </a:custGeom>
          <a:noFill/>
          <a:ln w="12382">
            <a:solidFill>
              <a:srgbClr val="1F2A44"/>
            </a:solidFill>
          </a:ln>
        </p:spPr>
      </p:sp>
      <p:sp>
        <p:nvSpPr>
          <p:cNvPr id="40" name="UML sequence-alt label 40"/>
          <p:cNvSpPr/>
          <p:nvPr/>
        </p:nvSpPr>
        <p:spPr>
          <a:xfrm>
            <a:off x="4236006" y="3280410"/>
            <a:ext cx="701802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reject()</a:t>
            </a:r>
            <a:endParaRPr lang="zh-CN" sz="1500"/>
          </a:p>
        </p:txBody>
      </p:sp>
      <p:sp>
        <p:nvSpPr>
          <p:cNvPr id="7" name="content-115">
            <a:extLst>
              <a:ext uri="{FF2B5EF4-FFF2-40B4-BE49-F238E27FC236}">
                <a16:creationId xmlns:a16="http://schemas.microsoft.com/office/drawing/2014/main" id="{E986ED63-4162-44FA-B690-AB5677474F73}"/>
              </a:ext>
            </a:extLst>
          </p:cNvPr>
          <p:cNvSpPr>
            <a:spLocks noGrp="1"/>
          </p:cNvSpPr>
          <p:nvPr/>
        </p:nvSpPr>
        <p:spPr>
          <a:xfrm>
            <a:off x="476250" y="4210050"/>
            <a:ext cx="8191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本例用[余量 &gt; 0]与[余量 = 0]选择两种处理。</a:t>
            </a:r>
          </a:p>
        </p:txBody>
      </p:sp>
      <p:sp>
        <p:nvSpPr>
          <p:cNvPr id="8" name="content-116">
            <a:extLst>
              <a:ext uri="{FF2B5EF4-FFF2-40B4-BE49-F238E27FC236}">
                <a16:creationId xmlns:a16="http://schemas.microsoft.com/office/drawing/2014/main" id="{93C96E86-6AB1-4435-86E6-B69386724770}"/>
              </a:ext>
            </a:extLst>
          </p:cNvPr>
          <p:cNvSpPr>
            <a:spLocks noGrp="1"/>
          </p:cNvSpPr>
          <p:nvPr/>
        </p:nvSpPr>
        <p:spPr>
          <a:xfrm>
            <a:off x="476250" y="4476750"/>
            <a:ext cx="8191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本图展开服务与记录之间的调用，界面交互和返回消息从略。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-117">
            <a:extLst>
              <a:ext uri="{FF2B5EF4-FFF2-40B4-BE49-F238E27FC236}">
                <a16:creationId xmlns:a16="http://schemas.microsoft.com/office/drawing/2014/main" id="{89D42132-9C26-46DC-AEEF-CA4F71FA5D06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练习：成绩查询的消息方向</a:t>
            </a:r>
          </a:p>
        </p:txBody>
      </p:sp>
      <p:sp>
        <p:nvSpPr>
          <p:cNvPr id="2" name="frame-118">
            <a:extLst>
              <a:ext uri="{FF2B5EF4-FFF2-40B4-BE49-F238E27FC236}">
                <a16:creationId xmlns:a16="http://schemas.microsoft.com/office/drawing/2014/main" id="{A17A6F7A-81D8-4147-B681-B11BA39A483B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19">
            <a:extLst>
              <a:ext uri="{FF2B5EF4-FFF2-40B4-BE49-F238E27FC236}">
                <a16:creationId xmlns:a16="http://schemas.microsoft.com/office/drawing/2014/main" id="{FF73D657-F230-4D99-B1CC-361E1BF73B0C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C0BCFB35-51A3-4AAB-AD33-FBC1A7A0E404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42074CE8-DA38-4F85-96FC-0A6B771DE37E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15 / 78</a:t>
            </a:r>
          </a:p>
        </p:txBody>
      </p:sp>
      <p:sp>
        <p:nvSpPr>
          <p:cNvPr id="19" name="UML grade-sequence-wrong box 19"/>
          <p:cNvSpPr/>
          <p:nvPr/>
        </p:nvSpPr>
        <p:spPr>
          <a:xfrm>
            <a:off x="2815400" y="1952244"/>
            <a:ext cx="76200" cy="1808226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" name="UML grade-sequence-wrong divider 20"/>
          <p:cNvSpPr/>
          <p:nvPr/>
        </p:nvSpPr>
        <p:spPr>
          <a:xfrm>
            <a:off x="2848737" y="1952244"/>
            <a:ext cx="952" cy="1808226"/>
          </a:xfrm>
          <a:custGeom>
            <a:avLst/>
            <a:gdLst/>
            <a:ahLst/>
            <a:cxnLst/>
            <a:rect l="0" t="0" r="r" b="b"/>
            <a:pathLst>
              <a:path w="952" h="1808226" fill="none" extrusionOk="0">
                <a:moveTo>
                  <a:pt x="0" y="0"/>
                </a:moveTo>
                <a:lnTo>
                  <a:pt x="0" y="1808226"/>
                </a:lnTo>
              </a:path>
            </a:pathLst>
          </a:custGeom>
          <a:noFill/>
          <a:ln w="9525">
            <a:solidFill>
              <a:srgbClr val="697487"/>
            </a:solidFill>
            <a:prstDash val="dash"/>
          </a:ln>
        </p:spPr>
      </p:sp>
      <p:sp>
        <p:nvSpPr>
          <p:cNvPr id="21" name="UML grade-sequence-wrong box 21"/>
          <p:cNvSpPr/>
          <p:nvPr/>
        </p:nvSpPr>
        <p:spPr>
          <a:xfrm>
            <a:off x="4571048" y="1952244"/>
            <a:ext cx="76200" cy="1808226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" name="UML grade-sequence-wrong divider 22"/>
          <p:cNvSpPr/>
          <p:nvPr/>
        </p:nvSpPr>
        <p:spPr>
          <a:xfrm>
            <a:off x="4604385" y="1952244"/>
            <a:ext cx="952" cy="1808226"/>
          </a:xfrm>
          <a:custGeom>
            <a:avLst/>
            <a:gdLst/>
            <a:ahLst/>
            <a:cxnLst/>
            <a:rect l="0" t="0" r="r" b="b"/>
            <a:pathLst>
              <a:path w="952" h="1808226" fill="none" extrusionOk="0">
                <a:moveTo>
                  <a:pt x="0" y="0"/>
                </a:moveTo>
                <a:lnTo>
                  <a:pt x="0" y="1808226"/>
                </a:lnTo>
              </a:path>
            </a:pathLst>
          </a:custGeom>
          <a:noFill/>
          <a:ln w="9525">
            <a:solidFill>
              <a:srgbClr val="697487"/>
            </a:solidFill>
            <a:prstDash val="dash"/>
          </a:ln>
        </p:spPr>
      </p:sp>
      <p:sp>
        <p:nvSpPr>
          <p:cNvPr id="23" name="UML grade-sequence-wrong box 23"/>
          <p:cNvSpPr/>
          <p:nvPr/>
        </p:nvSpPr>
        <p:spPr>
          <a:xfrm>
            <a:off x="6165818" y="1952244"/>
            <a:ext cx="76200" cy="1808226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4" name="UML grade-sequence-wrong divider 24"/>
          <p:cNvSpPr/>
          <p:nvPr/>
        </p:nvSpPr>
        <p:spPr>
          <a:xfrm>
            <a:off x="6199156" y="1952244"/>
            <a:ext cx="952" cy="1808226"/>
          </a:xfrm>
          <a:custGeom>
            <a:avLst/>
            <a:gdLst/>
            <a:ahLst/>
            <a:cxnLst/>
            <a:rect l="0" t="0" r="r" b="b"/>
            <a:pathLst>
              <a:path w="952" h="1808226" fill="none" extrusionOk="0">
                <a:moveTo>
                  <a:pt x="0" y="0"/>
                </a:moveTo>
                <a:lnTo>
                  <a:pt x="0" y="1808226"/>
                </a:lnTo>
              </a:path>
            </a:pathLst>
          </a:custGeom>
          <a:noFill/>
          <a:ln w="9525">
            <a:solidFill>
              <a:srgbClr val="697487"/>
            </a:solidFill>
            <a:prstDash val="dash"/>
          </a:ln>
        </p:spPr>
      </p:sp>
      <p:sp>
        <p:nvSpPr>
          <p:cNvPr id="25" name="UML grade-sequence-wrong box 25"/>
          <p:cNvSpPr/>
          <p:nvPr/>
        </p:nvSpPr>
        <p:spPr>
          <a:xfrm>
            <a:off x="2266950" y="1524000"/>
            <a:ext cx="1163574" cy="37109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6" name="UML grade-sequence-wrong label 26"/>
          <p:cNvSpPr/>
          <p:nvPr/>
        </p:nvSpPr>
        <p:spPr>
          <a:xfrm>
            <a:off x="2311241" y="1586865"/>
            <a:ext cx="1134999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00000"/>
                </a:solidFill>
                <a:latin typeface="Noto Sans SC"/>
                <a:ea typeface="Noto Sans SC"/>
              </a:rPr>
              <a:t>ui : 成绩界面</a:t>
            </a:r>
            <a:endParaRPr lang="zh-CN" sz="1500"/>
          </a:p>
        </p:txBody>
      </p:sp>
      <p:sp>
        <p:nvSpPr>
          <p:cNvPr id="27" name="UML grade-sequence-wrong box 27"/>
          <p:cNvSpPr/>
          <p:nvPr/>
        </p:nvSpPr>
        <p:spPr>
          <a:xfrm>
            <a:off x="3963829" y="1524000"/>
            <a:ext cx="1281112" cy="37109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8" name="UML grade-sequence-wrong label 28"/>
          <p:cNvSpPr/>
          <p:nvPr/>
        </p:nvSpPr>
        <p:spPr>
          <a:xfrm>
            <a:off x="4008120" y="1586865"/>
            <a:ext cx="1252538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00000"/>
                </a:solidFill>
                <a:latin typeface="Noto Sans SC"/>
                <a:ea typeface="Noto Sans SC"/>
              </a:rPr>
              <a:t>svc : 成绩服务</a:t>
            </a:r>
            <a:endParaRPr lang="zh-CN" sz="1500"/>
          </a:p>
        </p:txBody>
      </p:sp>
      <p:sp>
        <p:nvSpPr>
          <p:cNvPr id="29" name="UML grade-sequence-wrong box 29"/>
          <p:cNvSpPr/>
          <p:nvPr/>
        </p:nvSpPr>
        <p:spPr>
          <a:xfrm>
            <a:off x="5530691" y="1524000"/>
            <a:ext cx="1336929" cy="37109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30" name="UML grade-sequence-wrong label 30"/>
          <p:cNvSpPr/>
          <p:nvPr/>
        </p:nvSpPr>
        <p:spPr>
          <a:xfrm>
            <a:off x="5574982" y="1586865"/>
            <a:ext cx="1308354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00000"/>
                </a:solidFill>
                <a:latin typeface="Noto Sans SC"/>
                <a:ea typeface="Noto Sans SC"/>
              </a:rPr>
              <a:t>g : Enrollment</a:t>
            </a:r>
            <a:endParaRPr lang="zh-CN" sz="1500"/>
          </a:p>
        </p:txBody>
      </p:sp>
      <p:sp>
        <p:nvSpPr>
          <p:cNvPr id="31" name="UML grade-sequence-wrong arrow 31"/>
          <p:cNvSpPr/>
          <p:nvPr/>
        </p:nvSpPr>
        <p:spPr>
          <a:xfrm>
            <a:off x="4490085" y="2323338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2" name="UML grade-sequence-wrong divider 32"/>
          <p:cNvSpPr/>
          <p:nvPr/>
        </p:nvSpPr>
        <p:spPr>
          <a:xfrm>
            <a:off x="2848737" y="2361438"/>
            <a:ext cx="1698498" cy="952"/>
          </a:xfrm>
          <a:custGeom>
            <a:avLst/>
            <a:gdLst/>
            <a:ahLst/>
            <a:cxnLst/>
            <a:rect l="0" t="0" r="r" b="b"/>
            <a:pathLst>
              <a:path w="1698498" h="952" fill="none" extrusionOk="0">
                <a:moveTo>
                  <a:pt x="0" y="0"/>
                </a:moveTo>
                <a:lnTo>
                  <a:pt x="1698498" y="0"/>
                </a:lnTo>
              </a:path>
            </a:pathLst>
          </a:custGeom>
          <a:noFill/>
          <a:ln w="12382">
            <a:solidFill>
              <a:srgbClr val="1F2A44"/>
            </a:solidFill>
          </a:ln>
        </p:spPr>
      </p:sp>
      <p:sp>
        <p:nvSpPr>
          <p:cNvPr id="33" name="UML grade-sequence-wrong label 33"/>
          <p:cNvSpPr/>
          <p:nvPr/>
        </p:nvSpPr>
        <p:spPr>
          <a:xfrm>
            <a:off x="3080861" y="2081784"/>
            <a:ext cx="1351407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queryGrade(g)</a:t>
            </a:r>
            <a:endParaRPr lang="zh-CN" sz="1500"/>
          </a:p>
        </p:txBody>
      </p:sp>
      <p:sp>
        <p:nvSpPr>
          <p:cNvPr id="34" name="UML grade-sequence-wrong arrow 34"/>
          <p:cNvSpPr/>
          <p:nvPr/>
        </p:nvSpPr>
        <p:spPr>
          <a:xfrm>
            <a:off x="4613910" y="2732532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95250" y="0"/>
                </a:moveTo>
                <a:lnTo>
                  <a:pt x="0" y="38100"/>
                </a:lnTo>
                <a:lnTo>
                  <a:pt x="95250" y="762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5" name="UML grade-sequence-wrong divider 35"/>
          <p:cNvSpPr/>
          <p:nvPr/>
        </p:nvSpPr>
        <p:spPr>
          <a:xfrm>
            <a:off x="4652010" y="2770632"/>
            <a:ext cx="1537621" cy="952"/>
          </a:xfrm>
          <a:custGeom>
            <a:avLst/>
            <a:gdLst/>
            <a:ahLst/>
            <a:cxnLst/>
            <a:rect l="0" t="0" r="r" b="b"/>
            <a:pathLst>
              <a:path w="1537621" h="952" fill="none" extrusionOk="0">
                <a:moveTo>
                  <a:pt x="0" y="0"/>
                </a:moveTo>
                <a:lnTo>
                  <a:pt x="1537621" y="0"/>
                </a:lnTo>
              </a:path>
            </a:pathLst>
          </a:custGeom>
          <a:noFill/>
          <a:ln w="12382">
            <a:solidFill>
              <a:srgbClr val="1F2A44"/>
            </a:solidFill>
          </a:ln>
        </p:spPr>
      </p:sp>
      <p:sp>
        <p:nvSpPr>
          <p:cNvPr id="36" name="UML grade-sequence-wrong label 36"/>
          <p:cNvSpPr/>
          <p:nvPr/>
        </p:nvSpPr>
        <p:spPr>
          <a:xfrm>
            <a:off x="4923615" y="2490978"/>
            <a:ext cx="1016318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getGrade()</a:t>
            </a:r>
            <a:endParaRPr lang="zh-CN" sz="1500"/>
          </a:p>
        </p:txBody>
      </p:sp>
      <p:sp>
        <p:nvSpPr>
          <p:cNvPr id="37" name="UML grade-sequence-wrong arrow 37"/>
          <p:cNvSpPr/>
          <p:nvPr/>
        </p:nvSpPr>
        <p:spPr>
          <a:xfrm>
            <a:off x="4613910" y="3141726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95250" y="0"/>
                </a:moveTo>
                <a:lnTo>
                  <a:pt x="0" y="38100"/>
                </a:lnTo>
                <a:lnTo>
                  <a:pt x="95250" y="762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8" name="UML grade-sequence-wrong divider 38"/>
          <p:cNvSpPr/>
          <p:nvPr/>
        </p:nvSpPr>
        <p:spPr>
          <a:xfrm>
            <a:off x="4652010" y="3179826"/>
            <a:ext cx="1537621" cy="952"/>
          </a:xfrm>
          <a:custGeom>
            <a:avLst/>
            <a:gdLst/>
            <a:ahLst/>
            <a:cxnLst/>
            <a:rect l="0" t="0" r="r" b="b"/>
            <a:pathLst>
              <a:path w="1537621" h="952" fill="none" extrusionOk="0">
                <a:moveTo>
                  <a:pt x="0" y="0"/>
                </a:moveTo>
                <a:lnTo>
                  <a:pt x="1537621" y="0"/>
                </a:lnTo>
              </a:path>
            </a:pathLst>
          </a:custGeom>
          <a:noFill/>
          <a:ln w="12382">
            <a:solidFill>
              <a:srgbClr val="1F2A44"/>
            </a:solidFill>
            <a:prstDash val="dash"/>
          </a:ln>
        </p:spPr>
      </p:sp>
      <p:sp>
        <p:nvSpPr>
          <p:cNvPr id="39" name="UML grade-sequence-wrong label 39"/>
          <p:cNvSpPr/>
          <p:nvPr/>
        </p:nvSpPr>
        <p:spPr>
          <a:xfrm>
            <a:off x="4748736" y="2900172"/>
            <a:ext cx="1366075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getGrade() : 78</a:t>
            </a:r>
            <a:endParaRPr lang="zh-CN" sz="1500"/>
          </a:p>
        </p:txBody>
      </p:sp>
      <p:sp>
        <p:nvSpPr>
          <p:cNvPr id="40" name="UML grade-sequence-wrong arrow 40"/>
          <p:cNvSpPr/>
          <p:nvPr/>
        </p:nvSpPr>
        <p:spPr>
          <a:xfrm>
            <a:off x="2858262" y="355092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95250" y="0"/>
                </a:moveTo>
                <a:lnTo>
                  <a:pt x="0" y="38100"/>
                </a:lnTo>
                <a:lnTo>
                  <a:pt x="95250" y="762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41" name="UML grade-sequence-wrong divider 41"/>
          <p:cNvSpPr/>
          <p:nvPr/>
        </p:nvSpPr>
        <p:spPr>
          <a:xfrm>
            <a:off x="2896362" y="3589020"/>
            <a:ext cx="1698498" cy="952"/>
          </a:xfrm>
          <a:custGeom>
            <a:avLst/>
            <a:gdLst/>
            <a:ahLst/>
            <a:cxnLst/>
            <a:rect l="0" t="0" r="r" b="b"/>
            <a:pathLst>
              <a:path w="1698498" h="952" fill="none" extrusionOk="0">
                <a:moveTo>
                  <a:pt x="0" y="0"/>
                </a:moveTo>
                <a:lnTo>
                  <a:pt x="1698498" y="0"/>
                </a:lnTo>
              </a:path>
            </a:pathLst>
          </a:custGeom>
          <a:noFill/>
          <a:ln w="12382">
            <a:solidFill>
              <a:srgbClr val="1F2A44"/>
            </a:solidFill>
            <a:prstDash val="dash"/>
          </a:ln>
        </p:spPr>
      </p:sp>
      <p:sp>
        <p:nvSpPr>
          <p:cNvPr id="42" name="UML grade-sequence-wrong label 42"/>
          <p:cNvSpPr/>
          <p:nvPr/>
        </p:nvSpPr>
        <p:spPr>
          <a:xfrm>
            <a:off x="2959703" y="3309366"/>
            <a:ext cx="1593723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queryGrade() : 78</a:t>
            </a:r>
            <a:endParaRPr lang="zh-CN" sz="1500"/>
          </a:p>
        </p:txBody>
      </p:sp>
      <p:sp>
        <p:nvSpPr>
          <p:cNvPr id="7" name="content-120">
            <a:extLst>
              <a:ext uri="{FF2B5EF4-FFF2-40B4-BE49-F238E27FC236}">
                <a16:creationId xmlns:a16="http://schemas.microsoft.com/office/drawing/2014/main" id="{6488EA6C-D4B9-456E-809E-B2F8331EFFDE}"/>
              </a:ext>
            </a:extLst>
          </p:cNvPr>
          <p:cNvSpPr>
            <a:spLocks noGrp="1"/>
          </p:cNvSpPr>
          <p:nvPr/>
        </p:nvSpPr>
        <p:spPr>
          <a:xfrm>
            <a:off x="476250" y="4210050"/>
            <a:ext cx="8191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练习约定：ui经svc读取g中的成绩，g.grade为78。</a:t>
            </a:r>
          </a:p>
        </p:txBody>
      </p:sp>
      <p:sp>
        <p:nvSpPr>
          <p:cNvPr id="8" name="content-121">
            <a:extLst>
              <a:ext uri="{FF2B5EF4-FFF2-40B4-BE49-F238E27FC236}">
                <a16:creationId xmlns:a16="http://schemas.microsoft.com/office/drawing/2014/main" id="{60F1D085-90E3-41B2-B8EF-3CF4C3C5BD68}"/>
              </a:ext>
            </a:extLst>
          </p:cNvPr>
          <p:cNvSpPr>
            <a:spLocks noGrp="1"/>
          </p:cNvSpPr>
          <p:nvPr/>
        </p:nvSpPr>
        <p:spPr>
          <a:xfrm>
            <a:off x="476250" y="4476750"/>
            <a:ext cx="8191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检查getGrade()的发送者、接收者和箭头方向。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-122">
            <a:extLst>
              <a:ext uri="{FF2B5EF4-FFF2-40B4-BE49-F238E27FC236}">
                <a16:creationId xmlns:a16="http://schemas.microsoft.com/office/drawing/2014/main" id="{ED6B7C59-5D95-4E85-B5CD-43511E7FB22D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成绩查询交互（参考）</a:t>
            </a:r>
          </a:p>
        </p:txBody>
      </p:sp>
      <p:sp>
        <p:nvSpPr>
          <p:cNvPr id="2" name="frame-123">
            <a:extLst>
              <a:ext uri="{FF2B5EF4-FFF2-40B4-BE49-F238E27FC236}">
                <a16:creationId xmlns:a16="http://schemas.microsoft.com/office/drawing/2014/main" id="{0C9809F6-845A-46B5-93DD-EB2CB66E635A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24">
            <a:extLst>
              <a:ext uri="{FF2B5EF4-FFF2-40B4-BE49-F238E27FC236}">
                <a16:creationId xmlns:a16="http://schemas.microsoft.com/office/drawing/2014/main" id="{BD320D04-8902-47E9-B1BA-C39B97218565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86DD2405-0686-422B-B4E3-AE2B7F2D78D4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EB663BD5-EEDF-4EA4-BDC9-7FE464ED087B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16 / 78</a:t>
            </a:r>
          </a:p>
        </p:txBody>
      </p:sp>
      <p:sp>
        <p:nvSpPr>
          <p:cNvPr id="19" name="UML grade-sequence-answer box 19"/>
          <p:cNvSpPr/>
          <p:nvPr/>
        </p:nvSpPr>
        <p:spPr>
          <a:xfrm>
            <a:off x="2815400" y="1952244"/>
            <a:ext cx="76200" cy="1808226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" name="UML grade-sequence-answer divider 20"/>
          <p:cNvSpPr/>
          <p:nvPr/>
        </p:nvSpPr>
        <p:spPr>
          <a:xfrm>
            <a:off x="2848737" y="1952244"/>
            <a:ext cx="952" cy="1808226"/>
          </a:xfrm>
          <a:custGeom>
            <a:avLst/>
            <a:gdLst/>
            <a:ahLst/>
            <a:cxnLst/>
            <a:rect l="0" t="0" r="r" b="b"/>
            <a:pathLst>
              <a:path w="952" h="1808226" fill="none" extrusionOk="0">
                <a:moveTo>
                  <a:pt x="0" y="0"/>
                </a:moveTo>
                <a:lnTo>
                  <a:pt x="0" y="1808226"/>
                </a:lnTo>
              </a:path>
            </a:pathLst>
          </a:custGeom>
          <a:noFill/>
          <a:ln w="9525">
            <a:solidFill>
              <a:srgbClr val="697487"/>
            </a:solidFill>
            <a:prstDash val="dash"/>
          </a:ln>
        </p:spPr>
      </p:sp>
      <p:sp>
        <p:nvSpPr>
          <p:cNvPr id="21" name="UML grade-sequence-answer box 21"/>
          <p:cNvSpPr/>
          <p:nvPr/>
        </p:nvSpPr>
        <p:spPr>
          <a:xfrm>
            <a:off x="4571048" y="1952244"/>
            <a:ext cx="76200" cy="1808226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2" name="UML grade-sequence-answer divider 22"/>
          <p:cNvSpPr/>
          <p:nvPr/>
        </p:nvSpPr>
        <p:spPr>
          <a:xfrm>
            <a:off x="4604385" y="1952244"/>
            <a:ext cx="952" cy="1808226"/>
          </a:xfrm>
          <a:custGeom>
            <a:avLst/>
            <a:gdLst/>
            <a:ahLst/>
            <a:cxnLst/>
            <a:rect l="0" t="0" r="r" b="b"/>
            <a:pathLst>
              <a:path w="952" h="1808226" fill="none" extrusionOk="0">
                <a:moveTo>
                  <a:pt x="0" y="0"/>
                </a:moveTo>
                <a:lnTo>
                  <a:pt x="0" y="1808226"/>
                </a:lnTo>
              </a:path>
            </a:pathLst>
          </a:custGeom>
          <a:noFill/>
          <a:ln w="9525">
            <a:solidFill>
              <a:srgbClr val="697487"/>
            </a:solidFill>
            <a:prstDash val="dash"/>
          </a:ln>
        </p:spPr>
      </p:sp>
      <p:sp>
        <p:nvSpPr>
          <p:cNvPr id="23" name="UML grade-sequence-answer box 23"/>
          <p:cNvSpPr/>
          <p:nvPr/>
        </p:nvSpPr>
        <p:spPr>
          <a:xfrm>
            <a:off x="6165818" y="1952244"/>
            <a:ext cx="76200" cy="1808226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4" name="UML grade-sequence-answer divider 24"/>
          <p:cNvSpPr/>
          <p:nvPr/>
        </p:nvSpPr>
        <p:spPr>
          <a:xfrm>
            <a:off x="6199156" y="1952244"/>
            <a:ext cx="952" cy="1808226"/>
          </a:xfrm>
          <a:custGeom>
            <a:avLst/>
            <a:gdLst/>
            <a:ahLst/>
            <a:cxnLst/>
            <a:rect l="0" t="0" r="r" b="b"/>
            <a:pathLst>
              <a:path w="952" h="1808226" fill="none" extrusionOk="0">
                <a:moveTo>
                  <a:pt x="0" y="0"/>
                </a:moveTo>
                <a:lnTo>
                  <a:pt x="0" y="1808226"/>
                </a:lnTo>
              </a:path>
            </a:pathLst>
          </a:custGeom>
          <a:noFill/>
          <a:ln w="9525">
            <a:solidFill>
              <a:srgbClr val="697487"/>
            </a:solidFill>
            <a:prstDash val="dash"/>
          </a:ln>
        </p:spPr>
      </p:sp>
      <p:sp>
        <p:nvSpPr>
          <p:cNvPr id="25" name="UML grade-sequence-answer box 25"/>
          <p:cNvSpPr/>
          <p:nvPr/>
        </p:nvSpPr>
        <p:spPr>
          <a:xfrm>
            <a:off x="2266950" y="1524000"/>
            <a:ext cx="1163574" cy="37109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6" name="UML grade-sequence-answer label 26"/>
          <p:cNvSpPr/>
          <p:nvPr/>
        </p:nvSpPr>
        <p:spPr>
          <a:xfrm>
            <a:off x="2311241" y="1586865"/>
            <a:ext cx="1134999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00000"/>
                </a:solidFill>
                <a:latin typeface="Noto Sans SC"/>
                <a:ea typeface="Noto Sans SC"/>
              </a:rPr>
              <a:t>ui : 成绩界面</a:t>
            </a:r>
            <a:endParaRPr lang="zh-CN" sz="1500"/>
          </a:p>
        </p:txBody>
      </p:sp>
      <p:sp>
        <p:nvSpPr>
          <p:cNvPr id="27" name="UML grade-sequence-answer box 27"/>
          <p:cNvSpPr/>
          <p:nvPr/>
        </p:nvSpPr>
        <p:spPr>
          <a:xfrm>
            <a:off x="3963829" y="1524000"/>
            <a:ext cx="1281112" cy="37109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8" name="UML grade-sequence-answer label 28"/>
          <p:cNvSpPr/>
          <p:nvPr/>
        </p:nvSpPr>
        <p:spPr>
          <a:xfrm>
            <a:off x="4008120" y="1586865"/>
            <a:ext cx="1252538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00000"/>
                </a:solidFill>
                <a:latin typeface="Noto Sans SC"/>
                <a:ea typeface="Noto Sans SC"/>
              </a:rPr>
              <a:t>svc : 成绩服务</a:t>
            </a:r>
            <a:endParaRPr lang="zh-CN" sz="1500"/>
          </a:p>
        </p:txBody>
      </p:sp>
      <p:sp>
        <p:nvSpPr>
          <p:cNvPr id="29" name="UML grade-sequence-answer box 29"/>
          <p:cNvSpPr/>
          <p:nvPr/>
        </p:nvSpPr>
        <p:spPr>
          <a:xfrm>
            <a:off x="5530691" y="1524000"/>
            <a:ext cx="1336929" cy="37109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30" name="UML grade-sequence-answer label 30"/>
          <p:cNvSpPr/>
          <p:nvPr/>
        </p:nvSpPr>
        <p:spPr>
          <a:xfrm>
            <a:off x="5574982" y="1586865"/>
            <a:ext cx="1308354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000000"/>
                </a:solidFill>
                <a:latin typeface="Noto Sans SC"/>
                <a:ea typeface="Noto Sans SC"/>
              </a:rPr>
              <a:t>g : Enrollment</a:t>
            </a:r>
            <a:endParaRPr lang="zh-CN" sz="1500"/>
          </a:p>
        </p:txBody>
      </p:sp>
      <p:sp>
        <p:nvSpPr>
          <p:cNvPr id="31" name="UML grade-sequence-answer arrow 31"/>
          <p:cNvSpPr/>
          <p:nvPr/>
        </p:nvSpPr>
        <p:spPr>
          <a:xfrm>
            <a:off x="4490085" y="2323338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2" name="UML grade-sequence-answer divider 32"/>
          <p:cNvSpPr/>
          <p:nvPr/>
        </p:nvSpPr>
        <p:spPr>
          <a:xfrm>
            <a:off x="2848737" y="2361438"/>
            <a:ext cx="1698498" cy="952"/>
          </a:xfrm>
          <a:custGeom>
            <a:avLst/>
            <a:gdLst/>
            <a:ahLst/>
            <a:cxnLst/>
            <a:rect l="0" t="0" r="r" b="b"/>
            <a:pathLst>
              <a:path w="1698498" h="952" fill="none" extrusionOk="0">
                <a:moveTo>
                  <a:pt x="0" y="0"/>
                </a:moveTo>
                <a:lnTo>
                  <a:pt x="1698498" y="0"/>
                </a:lnTo>
              </a:path>
            </a:pathLst>
          </a:custGeom>
          <a:noFill/>
          <a:ln w="12382">
            <a:solidFill>
              <a:srgbClr val="1F2A44"/>
            </a:solidFill>
          </a:ln>
        </p:spPr>
      </p:sp>
      <p:sp>
        <p:nvSpPr>
          <p:cNvPr id="33" name="UML grade-sequence-answer label 33"/>
          <p:cNvSpPr/>
          <p:nvPr/>
        </p:nvSpPr>
        <p:spPr>
          <a:xfrm>
            <a:off x="3080861" y="2081784"/>
            <a:ext cx="1351407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queryGrade(g)</a:t>
            </a:r>
            <a:endParaRPr lang="zh-CN" sz="1500"/>
          </a:p>
        </p:txBody>
      </p:sp>
      <p:sp>
        <p:nvSpPr>
          <p:cNvPr id="34" name="UML grade-sequence-answer arrow 34"/>
          <p:cNvSpPr/>
          <p:nvPr/>
        </p:nvSpPr>
        <p:spPr>
          <a:xfrm>
            <a:off x="6084856" y="2732532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5" name="UML grade-sequence-answer divider 35"/>
          <p:cNvSpPr/>
          <p:nvPr/>
        </p:nvSpPr>
        <p:spPr>
          <a:xfrm>
            <a:off x="4604385" y="2770632"/>
            <a:ext cx="1537621" cy="952"/>
          </a:xfrm>
          <a:custGeom>
            <a:avLst/>
            <a:gdLst/>
            <a:ahLst/>
            <a:cxnLst/>
            <a:rect l="0" t="0" r="r" b="b"/>
            <a:pathLst>
              <a:path w="1537621" h="952" fill="none" extrusionOk="0">
                <a:moveTo>
                  <a:pt x="0" y="0"/>
                </a:moveTo>
                <a:lnTo>
                  <a:pt x="1537621" y="0"/>
                </a:lnTo>
              </a:path>
            </a:pathLst>
          </a:custGeom>
          <a:noFill/>
          <a:ln w="12382">
            <a:solidFill>
              <a:srgbClr val="1F2A44"/>
            </a:solidFill>
          </a:ln>
        </p:spPr>
      </p:sp>
      <p:sp>
        <p:nvSpPr>
          <p:cNvPr id="36" name="UML grade-sequence-answer label 36"/>
          <p:cNvSpPr/>
          <p:nvPr/>
        </p:nvSpPr>
        <p:spPr>
          <a:xfrm>
            <a:off x="4923615" y="2490978"/>
            <a:ext cx="1016318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getGrade()</a:t>
            </a:r>
            <a:endParaRPr lang="zh-CN" sz="1500"/>
          </a:p>
        </p:txBody>
      </p:sp>
      <p:sp>
        <p:nvSpPr>
          <p:cNvPr id="37" name="UML grade-sequence-answer arrow 37"/>
          <p:cNvSpPr/>
          <p:nvPr/>
        </p:nvSpPr>
        <p:spPr>
          <a:xfrm>
            <a:off x="4613910" y="3141726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95250" y="0"/>
                </a:moveTo>
                <a:lnTo>
                  <a:pt x="0" y="38100"/>
                </a:lnTo>
                <a:lnTo>
                  <a:pt x="95250" y="762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8" name="UML grade-sequence-answer divider 38"/>
          <p:cNvSpPr/>
          <p:nvPr/>
        </p:nvSpPr>
        <p:spPr>
          <a:xfrm>
            <a:off x="4652010" y="3179826"/>
            <a:ext cx="1537621" cy="952"/>
          </a:xfrm>
          <a:custGeom>
            <a:avLst/>
            <a:gdLst/>
            <a:ahLst/>
            <a:cxnLst/>
            <a:rect l="0" t="0" r="r" b="b"/>
            <a:pathLst>
              <a:path w="1537621" h="952" fill="none" extrusionOk="0">
                <a:moveTo>
                  <a:pt x="0" y="0"/>
                </a:moveTo>
                <a:lnTo>
                  <a:pt x="1537621" y="0"/>
                </a:lnTo>
              </a:path>
            </a:pathLst>
          </a:custGeom>
          <a:noFill/>
          <a:ln w="12382">
            <a:solidFill>
              <a:srgbClr val="1F2A44"/>
            </a:solidFill>
            <a:prstDash val="dash"/>
          </a:ln>
        </p:spPr>
      </p:sp>
      <p:sp>
        <p:nvSpPr>
          <p:cNvPr id="39" name="UML grade-sequence-answer label 39"/>
          <p:cNvSpPr/>
          <p:nvPr/>
        </p:nvSpPr>
        <p:spPr>
          <a:xfrm>
            <a:off x="4748736" y="2900172"/>
            <a:ext cx="1366075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getGrade() : 78</a:t>
            </a:r>
            <a:endParaRPr lang="zh-CN" sz="1500"/>
          </a:p>
        </p:txBody>
      </p:sp>
      <p:sp>
        <p:nvSpPr>
          <p:cNvPr id="40" name="UML grade-sequence-answer arrow 40"/>
          <p:cNvSpPr/>
          <p:nvPr/>
        </p:nvSpPr>
        <p:spPr>
          <a:xfrm>
            <a:off x="2858262" y="355092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95250" y="0"/>
                </a:moveTo>
                <a:lnTo>
                  <a:pt x="0" y="38100"/>
                </a:lnTo>
                <a:lnTo>
                  <a:pt x="95250" y="762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41" name="UML grade-sequence-answer divider 41"/>
          <p:cNvSpPr/>
          <p:nvPr/>
        </p:nvSpPr>
        <p:spPr>
          <a:xfrm>
            <a:off x="2896362" y="3589020"/>
            <a:ext cx="1698498" cy="952"/>
          </a:xfrm>
          <a:custGeom>
            <a:avLst/>
            <a:gdLst/>
            <a:ahLst/>
            <a:cxnLst/>
            <a:rect l="0" t="0" r="r" b="b"/>
            <a:pathLst>
              <a:path w="1698498" h="952" fill="none" extrusionOk="0">
                <a:moveTo>
                  <a:pt x="0" y="0"/>
                </a:moveTo>
                <a:lnTo>
                  <a:pt x="1698498" y="0"/>
                </a:lnTo>
              </a:path>
            </a:pathLst>
          </a:custGeom>
          <a:noFill/>
          <a:ln w="12382">
            <a:solidFill>
              <a:srgbClr val="1F2A44"/>
            </a:solidFill>
            <a:prstDash val="dash"/>
          </a:ln>
        </p:spPr>
      </p:sp>
      <p:sp>
        <p:nvSpPr>
          <p:cNvPr id="42" name="UML grade-sequence-answer label 42"/>
          <p:cNvSpPr/>
          <p:nvPr/>
        </p:nvSpPr>
        <p:spPr>
          <a:xfrm>
            <a:off x="2959703" y="3309366"/>
            <a:ext cx="1593723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queryGrade() : 78</a:t>
            </a:r>
            <a:endParaRPr lang="zh-CN" sz="1500"/>
          </a:p>
        </p:txBody>
      </p:sp>
      <p:sp>
        <p:nvSpPr>
          <p:cNvPr id="7" name="content-125">
            <a:extLst>
              <a:ext uri="{FF2B5EF4-FFF2-40B4-BE49-F238E27FC236}">
                <a16:creationId xmlns:a16="http://schemas.microsoft.com/office/drawing/2014/main" id="{54CE4495-AF10-4042-ACBF-DFE052DEAC61}"/>
              </a:ext>
            </a:extLst>
          </p:cNvPr>
          <p:cNvSpPr>
            <a:spLocks noGrp="1"/>
          </p:cNvSpPr>
          <p:nvPr/>
        </p:nvSpPr>
        <p:spPr>
          <a:xfrm>
            <a:off x="476250" y="4210050"/>
            <a:ext cx="8191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svc向g调用getGrade()，g向svc返回78。</a:t>
            </a:r>
          </a:p>
        </p:txBody>
      </p:sp>
      <p:sp>
        <p:nvSpPr>
          <p:cNvPr id="8" name="content-126">
            <a:extLst>
              <a:ext uri="{FF2B5EF4-FFF2-40B4-BE49-F238E27FC236}">
                <a16:creationId xmlns:a16="http://schemas.microsoft.com/office/drawing/2014/main" id="{5C66CE54-29C2-4E9A-896E-C0D079F4CE9F}"/>
              </a:ext>
            </a:extLst>
          </p:cNvPr>
          <p:cNvSpPr>
            <a:spLocks noGrp="1"/>
          </p:cNvSpPr>
          <p:nvPr/>
        </p:nvSpPr>
        <p:spPr>
          <a:xfrm>
            <a:off x="476250" y="4476750"/>
            <a:ext cx="8191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svc再向ui返回查询结果；虚线消息与相应调用对应。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-127">
            <a:extLst>
              <a:ext uri="{FF2B5EF4-FFF2-40B4-BE49-F238E27FC236}">
                <a16:creationId xmlns:a16="http://schemas.microsoft.com/office/drawing/2014/main" id="{DF94A614-FCB1-41E0-97EF-4B00DF93B9D9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从对象交互到单个对象的状态</a:t>
            </a:r>
          </a:p>
        </p:txBody>
      </p:sp>
      <p:sp>
        <p:nvSpPr>
          <p:cNvPr id="2" name="frame-128">
            <a:extLst>
              <a:ext uri="{FF2B5EF4-FFF2-40B4-BE49-F238E27FC236}">
                <a16:creationId xmlns:a16="http://schemas.microsoft.com/office/drawing/2014/main" id="{CED3229C-291E-40D1-AA39-A4629AC58B43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29">
            <a:extLst>
              <a:ext uri="{FF2B5EF4-FFF2-40B4-BE49-F238E27FC236}">
                <a16:creationId xmlns:a16="http://schemas.microsoft.com/office/drawing/2014/main" id="{1AD05CB3-41AB-4AEB-9EA9-84F06AD4D39F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10BBE382-05CD-45DE-895D-EDD9DD02E3FC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70A99AB9-7D5D-483F-A950-B09B7B0AB208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17 / 78</a:t>
            </a:r>
          </a:p>
        </p:txBody>
      </p:sp>
      <p:sp>
        <p:nvSpPr>
          <p:cNvPr id="6" name="content-130">
            <a:extLst>
              <a:ext uri="{FF2B5EF4-FFF2-40B4-BE49-F238E27FC236}">
                <a16:creationId xmlns:a16="http://schemas.microsoft.com/office/drawing/2014/main" id="{9FFE169E-3DB1-4C06-A56A-60B2864A1330}"/>
              </a:ext>
            </a:extLst>
          </p:cNvPr>
          <p:cNvSpPr>
            <a:spLocks noGrp="1"/>
          </p:cNvSpPr>
          <p:nvPr/>
        </p:nvSpPr>
        <p:spPr>
          <a:xfrm>
            <a:off x="476250" y="110490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顺序图</a:t>
            </a:r>
          </a:p>
        </p:txBody>
      </p:sp>
      <p:sp>
        <p:nvSpPr>
          <p:cNvPr id="7" name="content-131">
            <a:extLst>
              <a:ext uri="{FF2B5EF4-FFF2-40B4-BE49-F238E27FC236}">
                <a16:creationId xmlns:a16="http://schemas.microsoft.com/office/drawing/2014/main" id="{7A092C3A-4E14-4FB2-A3CD-0AEC0BD07197}"/>
              </a:ext>
            </a:extLst>
          </p:cNvPr>
          <p:cNvSpPr>
            <a:spLocks noGrp="1"/>
          </p:cNvSpPr>
          <p:nvPr/>
        </p:nvSpPr>
        <p:spPr>
          <a:xfrm>
            <a:off x="2257425" y="1104900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本例svc向e调用confirm()或reject()。</a:t>
            </a:r>
          </a:p>
        </p:txBody>
      </p:sp>
      <p:sp>
        <p:nvSpPr>
          <p:cNvPr id="8" name="frame-132">
            <a:extLst>
              <a:ext uri="{FF2B5EF4-FFF2-40B4-BE49-F238E27FC236}">
                <a16:creationId xmlns:a16="http://schemas.microsoft.com/office/drawing/2014/main" id="{D32ECAE0-995E-411B-BAAE-41AC5C3F03B4}"/>
              </a:ext>
            </a:extLst>
          </p:cNvPr>
          <p:cNvSpPr>
            <a:spLocks noGrp="1"/>
          </p:cNvSpPr>
          <p:nvPr/>
        </p:nvSpPr>
        <p:spPr>
          <a:xfrm>
            <a:off x="476250" y="190500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133">
            <a:extLst>
              <a:ext uri="{FF2B5EF4-FFF2-40B4-BE49-F238E27FC236}">
                <a16:creationId xmlns:a16="http://schemas.microsoft.com/office/drawing/2014/main" id="{1AB4EA9A-2E14-4EC4-9382-3AF191E37CEA}"/>
              </a:ext>
            </a:extLst>
          </p:cNvPr>
          <p:cNvSpPr>
            <a:spLocks noGrp="1"/>
          </p:cNvSpPr>
          <p:nvPr/>
        </p:nvSpPr>
        <p:spPr>
          <a:xfrm>
            <a:off x="476250" y="193357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状态问题</a:t>
            </a:r>
          </a:p>
        </p:txBody>
      </p:sp>
      <p:sp>
        <p:nvSpPr>
          <p:cNvPr id="10" name="content-134">
            <a:extLst>
              <a:ext uri="{FF2B5EF4-FFF2-40B4-BE49-F238E27FC236}">
                <a16:creationId xmlns:a16="http://schemas.microsoft.com/office/drawing/2014/main" id="{36495E0C-8FA2-4369-B24F-BE11DE5E160D}"/>
              </a:ext>
            </a:extLst>
          </p:cNvPr>
          <p:cNvSpPr>
            <a:spLocks noGrp="1"/>
          </p:cNvSpPr>
          <p:nvPr/>
        </p:nvSpPr>
        <p:spPr>
          <a:xfrm>
            <a:off x="2257425" y="1933575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e当前处于什么状态？该调用能否引起迁移？</a:t>
            </a:r>
          </a:p>
        </p:txBody>
      </p:sp>
      <p:sp>
        <p:nvSpPr>
          <p:cNvPr id="11" name="frame-135">
            <a:extLst>
              <a:ext uri="{FF2B5EF4-FFF2-40B4-BE49-F238E27FC236}">
                <a16:creationId xmlns:a16="http://schemas.microsoft.com/office/drawing/2014/main" id="{CFCC21DA-A25F-4DED-8D9D-2B0815A3B744}"/>
              </a:ext>
            </a:extLst>
          </p:cNvPr>
          <p:cNvSpPr>
            <a:spLocks noGrp="1"/>
          </p:cNvSpPr>
          <p:nvPr/>
        </p:nvSpPr>
        <p:spPr>
          <a:xfrm>
            <a:off x="476250" y="273367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136">
            <a:extLst>
              <a:ext uri="{FF2B5EF4-FFF2-40B4-BE49-F238E27FC236}">
                <a16:creationId xmlns:a16="http://schemas.microsoft.com/office/drawing/2014/main" id="{26C1ED0D-02DD-4DF9-9B09-77393381DFCE}"/>
              </a:ext>
            </a:extLst>
          </p:cNvPr>
          <p:cNvSpPr>
            <a:spLocks noGrp="1"/>
          </p:cNvSpPr>
          <p:nvPr/>
        </p:nvSpPr>
        <p:spPr>
          <a:xfrm>
            <a:off x="476250" y="276225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状态机图</a:t>
            </a:r>
          </a:p>
        </p:txBody>
      </p:sp>
      <p:sp>
        <p:nvSpPr>
          <p:cNvPr id="13" name="content-137">
            <a:extLst>
              <a:ext uri="{FF2B5EF4-FFF2-40B4-BE49-F238E27FC236}">
                <a16:creationId xmlns:a16="http://schemas.microsoft.com/office/drawing/2014/main" id="{BD1B91F4-E791-4BD3-AFDD-719684B9DFB3}"/>
              </a:ext>
            </a:extLst>
          </p:cNvPr>
          <p:cNvSpPr>
            <a:spLocks noGrp="1"/>
          </p:cNvSpPr>
          <p:nvPr/>
        </p:nvSpPr>
        <p:spPr>
          <a:xfrm>
            <a:off x="2257425" y="2762250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本例聚焦e的状态、触发事件、守卫与迁移效果。</a:t>
            </a:r>
          </a:p>
        </p:txBody>
      </p:sp>
      <p:sp>
        <p:nvSpPr>
          <p:cNvPr id="14" name="frame-138">
            <a:extLst>
              <a:ext uri="{FF2B5EF4-FFF2-40B4-BE49-F238E27FC236}">
                <a16:creationId xmlns:a16="http://schemas.microsoft.com/office/drawing/2014/main" id="{06DB9B05-C9AC-4FAB-A290-128FC654228A}"/>
              </a:ext>
            </a:extLst>
          </p:cNvPr>
          <p:cNvSpPr>
            <a:spLocks noGrp="1"/>
          </p:cNvSpPr>
          <p:nvPr/>
        </p:nvSpPr>
        <p:spPr>
          <a:xfrm>
            <a:off x="476250" y="35623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139">
            <a:extLst>
              <a:ext uri="{FF2B5EF4-FFF2-40B4-BE49-F238E27FC236}">
                <a16:creationId xmlns:a16="http://schemas.microsoft.com/office/drawing/2014/main" id="{605AD368-9A34-4A02-9579-3B236B2D268F}"/>
              </a:ext>
            </a:extLst>
          </p:cNvPr>
          <p:cNvSpPr>
            <a:spLocks noGrp="1"/>
          </p:cNvSpPr>
          <p:nvPr/>
        </p:nvSpPr>
        <p:spPr>
          <a:xfrm>
            <a:off x="476250" y="359092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区别</a:t>
            </a:r>
          </a:p>
        </p:txBody>
      </p:sp>
      <p:sp>
        <p:nvSpPr>
          <p:cNvPr id="16" name="content-140">
            <a:extLst>
              <a:ext uri="{FF2B5EF4-FFF2-40B4-BE49-F238E27FC236}">
                <a16:creationId xmlns:a16="http://schemas.microsoft.com/office/drawing/2014/main" id="{82D52937-CE3C-4CBD-8AC3-8A69D791E222}"/>
              </a:ext>
            </a:extLst>
          </p:cNvPr>
          <p:cNvSpPr>
            <a:spLocks noGrp="1"/>
          </p:cNvSpPr>
          <p:nvPr/>
        </p:nvSpPr>
        <p:spPr>
          <a:xfrm>
            <a:off x="2257425" y="3590925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交互关注参与者之间的通信；状态机关注状态及响应规则。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41">
            <a:extLst>
              <a:ext uri="{FF2B5EF4-FFF2-40B4-BE49-F238E27FC236}">
                <a16:creationId xmlns:a16="http://schemas.microsoft.com/office/drawing/2014/main" id="{370A6160-4CAC-4D67-B498-C8833CCF725B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状态机图：一条选课记录的状态</a:t>
            </a:r>
          </a:p>
        </p:txBody>
      </p:sp>
      <p:sp>
        <p:nvSpPr>
          <p:cNvPr id="2" name="frame-142">
            <a:extLst>
              <a:ext uri="{FF2B5EF4-FFF2-40B4-BE49-F238E27FC236}">
                <a16:creationId xmlns:a16="http://schemas.microsoft.com/office/drawing/2014/main" id="{712DAB51-7CE8-4210-B09D-2953331A7C8E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43">
            <a:extLst>
              <a:ext uri="{FF2B5EF4-FFF2-40B4-BE49-F238E27FC236}">
                <a16:creationId xmlns:a16="http://schemas.microsoft.com/office/drawing/2014/main" id="{CF0B7C97-B1BE-4605-B8EE-0E0617FC58F8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A3762702-3934-42D1-8146-053A2E4749C2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F06833F7-CAC0-42C5-A798-9CD62B90E0FE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18 / 78</a:t>
            </a:r>
          </a:p>
        </p:txBody>
      </p:sp>
      <p:sp>
        <p:nvSpPr>
          <p:cNvPr id="21" name="UML state-basic box 21"/>
          <p:cNvSpPr/>
          <p:nvPr/>
        </p:nvSpPr>
        <p:spPr>
          <a:xfrm>
            <a:off x="3400425" y="2119312"/>
            <a:ext cx="819150" cy="493928"/>
          </a:xfrm>
          <a:prstGeom prst="roundRect">
            <a:avLst>
              <a:gd name="adj" fmla="val 24105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2" name="UML state-basic divider 22"/>
          <p:cNvSpPr/>
          <p:nvPr/>
        </p:nvSpPr>
        <p:spPr>
          <a:xfrm>
            <a:off x="3400425" y="2517991"/>
            <a:ext cx="819150" cy="952"/>
          </a:xfrm>
          <a:custGeom>
            <a:avLst/>
            <a:gdLst/>
            <a:ahLst/>
            <a:cxnLst/>
            <a:rect l="0" t="0" r="r" b="b"/>
            <a:pathLst>
              <a:path w="819150" h="952" fill="none" extrusionOk="0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23" name="UML state-basic label 23"/>
          <p:cNvSpPr/>
          <p:nvPr/>
        </p:nvSpPr>
        <p:spPr>
          <a:xfrm>
            <a:off x="3492341" y="2183702"/>
            <a:ext cx="701992" cy="30594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650" dirty="0">
                <a:solidFill>
                  <a:srgbClr val="1F2A44"/>
                </a:solidFill>
                <a:latin typeface="Noto Sans SC"/>
                <a:ea typeface="Noto Sans SC"/>
              </a:rPr>
              <a:t>待处理</a:t>
            </a:r>
            <a:endParaRPr lang="zh-CN" sz="1650"/>
          </a:p>
        </p:txBody>
      </p:sp>
      <p:sp>
        <p:nvSpPr>
          <p:cNvPr id="24" name="UML state-basic box 24"/>
          <p:cNvSpPr/>
          <p:nvPr/>
        </p:nvSpPr>
        <p:spPr>
          <a:xfrm>
            <a:off x="5419725" y="1785938"/>
            <a:ext cx="819150" cy="493928"/>
          </a:xfrm>
          <a:prstGeom prst="roundRect">
            <a:avLst>
              <a:gd name="adj" fmla="val 24105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5" name="UML state-basic divider 25"/>
          <p:cNvSpPr/>
          <p:nvPr/>
        </p:nvSpPr>
        <p:spPr>
          <a:xfrm>
            <a:off x="5419725" y="2184616"/>
            <a:ext cx="819150" cy="952"/>
          </a:xfrm>
          <a:custGeom>
            <a:avLst/>
            <a:gdLst/>
            <a:ahLst/>
            <a:cxnLst/>
            <a:rect l="0" t="0" r="r" b="b"/>
            <a:pathLst>
              <a:path w="819150" h="952" fill="none" extrusionOk="0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26" name="UML state-basic label 26"/>
          <p:cNvSpPr/>
          <p:nvPr/>
        </p:nvSpPr>
        <p:spPr>
          <a:xfrm>
            <a:off x="5511641" y="1850326"/>
            <a:ext cx="701992" cy="30594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650" dirty="0">
                <a:solidFill>
                  <a:srgbClr val="1F2A44"/>
                </a:solidFill>
                <a:latin typeface="Noto Sans SC"/>
                <a:ea typeface="Noto Sans SC"/>
              </a:rPr>
              <a:t>已确认</a:t>
            </a:r>
            <a:endParaRPr lang="zh-CN" sz="1650"/>
          </a:p>
        </p:txBody>
      </p:sp>
      <p:sp>
        <p:nvSpPr>
          <p:cNvPr id="27" name="UML state-basic box 27"/>
          <p:cNvSpPr/>
          <p:nvPr/>
        </p:nvSpPr>
        <p:spPr>
          <a:xfrm>
            <a:off x="5419725" y="2452688"/>
            <a:ext cx="819150" cy="493928"/>
          </a:xfrm>
          <a:prstGeom prst="roundRect">
            <a:avLst>
              <a:gd name="adj" fmla="val 24105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8" name="UML state-basic divider 28"/>
          <p:cNvSpPr/>
          <p:nvPr/>
        </p:nvSpPr>
        <p:spPr>
          <a:xfrm>
            <a:off x="5419725" y="2851366"/>
            <a:ext cx="819150" cy="952"/>
          </a:xfrm>
          <a:custGeom>
            <a:avLst/>
            <a:gdLst/>
            <a:ahLst/>
            <a:cxnLst/>
            <a:rect l="0" t="0" r="r" b="b"/>
            <a:pathLst>
              <a:path w="819150" h="952" fill="none" extrusionOk="0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29" name="UML state-basic label 29"/>
          <p:cNvSpPr/>
          <p:nvPr/>
        </p:nvSpPr>
        <p:spPr>
          <a:xfrm>
            <a:off x="5511641" y="2517076"/>
            <a:ext cx="701992" cy="30594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650" dirty="0">
                <a:solidFill>
                  <a:srgbClr val="1F2A44"/>
                </a:solidFill>
                <a:latin typeface="Noto Sans SC"/>
                <a:ea typeface="Noto Sans SC"/>
              </a:rPr>
              <a:t>已拒绝</a:t>
            </a:r>
            <a:endParaRPr lang="zh-CN" sz="1650"/>
          </a:p>
        </p:txBody>
      </p:sp>
      <p:sp>
        <p:nvSpPr>
          <p:cNvPr id="30" name="UML state-basic anchor 30"/>
          <p:cNvSpPr/>
          <p:nvPr/>
        </p:nvSpPr>
        <p:spPr>
          <a:xfrm>
            <a:off x="2857500" y="2252662"/>
            <a:ext cx="190500" cy="190500"/>
          </a:xfrm>
          <a:prstGeom prst="ellipse">
            <a:avLst/>
          </a:prstGeom>
          <a:solidFill>
            <a:srgbClr val="1F2A44"/>
          </a:solidFill>
          <a:ln w="9525">
            <a:solidFill>
              <a:srgbClr val="000000"/>
            </a:solidFill>
          </a:ln>
        </p:spPr>
      </p:sp>
      <p:sp>
        <p:nvSpPr>
          <p:cNvPr id="31" name="UML state-basic arrow 31"/>
          <p:cNvSpPr/>
          <p:nvPr/>
        </p:nvSpPr>
        <p:spPr>
          <a:xfrm>
            <a:off x="3314690" y="2328862"/>
            <a:ext cx="85725" cy="76200"/>
          </a:xfrm>
          <a:custGeom>
            <a:avLst/>
            <a:gdLst/>
            <a:ahLst/>
            <a:cxnLst/>
            <a:rect l="0" t="0" r="r" b="b"/>
            <a:pathLst>
              <a:path w="85725" h="76200" extrusionOk="0">
                <a:moveTo>
                  <a:pt x="85725" y="38100"/>
                </a:moveTo>
                <a:lnTo>
                  <a:pt x="0" y="0"/>
                </a:lnTo>
                <a:lnTo>
                  <a:pt x="38100" y="38100"/>
                </a:lnTo>
                <a:lnTo>
                  <a:pt x="0" y="76200"/>
                </a:lnTo>
                <a:lnTo>
                  <a:pt x="85725" y="381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2" name="UML state-basic connection 32"/>
          <p:cNvSpPr/>
          <p:nvPr/>
        </p:nvSpPr>
        <p:spPr>
          <a:xfrm>
            <a:off x="3048819" y="2366962"/>
            <a:ext cx="303971" cy="952"/>
          </a:xfrm>
          <a:custGeom>
            <a:avLst/>
            <a:gdLst/>
            <a:ahLst/>
            <a:cxnLst/>
            <a:rect l="0" t="0" r="r" b="b"/>
            <a:pathLst>
              <a:path w="303971" h="952" fill="none" extrusionOk="0">
                <a:moveTo>
                  <a:pt x="0" y="0"/>
                </a:moveTo>
                <a:cubicBezTo>
                  <a:pt x="84496" y="0"/>
                  <a:pt x="171688" y="0"/>
                  <a:pt x="303971" y="0"/>
                </a:cubicBez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33" name="UML state-basic arrow 33"/>
          <p:cNvSpPr/>
          <p:nvPr/>
        </p:nvSpPr>
        <p:spPr>
          <a:xfrm>
            <a:off x="5327218" y="2077050"/>
            <a:ext cx="90821" cy="75171"/>
          </a:xfrm>
          <a:custGeom>
            <a:avLst/>
            <a:gdLst/>
            <a:ahLst/>
            <a:cxnLst/>
            <a:rect l="0" t="0" r="r" b="b"/>
            <a:pathLst>
              <a:path w="90821" h="75171" extrusionOk="0">
                <a:moveTo>
                  <a:pt x="90821" y="23489"/>
                </a:moveTo>
                <a:lnTo>
                  <a:pt x="0" y="0"/>
                </a:lnTo>
                <a:lnTo>
                  <a:pt x="43853" y="31318"/>
                </a:lnTo>
                <a:lnTo>
                  <a:pt x="12535" y="75171"/>
                </a:lnTo>
                <a:lnTo>
                  <a:pt x="90821" y="23489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4" name="UML state-basic connection 34"/>
          <p:cNvSpPr/>
          <p:nvPr/>
        </p:nvSpPr>
        <p:spPr>
          <a:xfrm>
            <a:off x="4221899" y="2108368"/>
            <a:ext cx="1149172" cy="191529"/>
          </a:xfrm>
          <a:custGeom>
            <a:avLst/>
            <a:gdLst/>
            <a:ahLst/>
            <a:cxnLst/>
            <a:rect l="0" t="0" r="r" b="b"/>
            <a:pathLst>
              <a:path w="1149172" h="191529" fill="none" extrusionOk="0">
                <a:moveTo>
                  <a:pt x="0" y="191529"/>
                </a:moveTo>
                <a:cubicBezTo>
                  <a:pt x="347958" y="133540"/>
                  <a:pt x="801405" y="57969"/>
                  <a:pt x="1149172" y="0"/>
                </a:cubicBez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35" name="UML state-basic label 35"/>
          <p:cNvSpPr/>
          <p:nvPr/>
        </p:nvSpPr>
        <p:spPr>
          <a:xfrm>
            <a:off x="4406741" y="1867852"/>
            <a:ext cx="888873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confirm()</a:t>
            </a:r>
            <a:endParaRPr lang="zh-CN" sz="1500"/>
          </a:p>
        </p:txBody>
      </p:sp>
      <p:sp>
        <p:nvSpPr>
          <p:cNvPr id="36" name="UML state-basic arrow 36"/>
          <p:cNvSpPr/>
          <p:nvPr/>
        </p:nvSpPr>
        <p:spPr>
          <a:xfrm>
            <a:off x="5331314" y="2675258"/>
            <a:ext cx="85773" cy="76200"/>
          </a:xfrm>
          <a:custGeom>
            <a:avLst/>
            <a:gdLst/>
            <a:ahLst/>
            <a:cxnLst/>
            <a:rect l="0" t="0" r="r" b="b"/>
            <a:pathLst>
              <a:path w="85773" h="76200" extrusionOk="0">
                <a:moveTo>
                  <a:pt x="85773" y="37995"/>
                </a:moveTo>
                <a:lnTo>
                  <a:pt x="0" y="0"/>
                </a:lnTo>
                <a:lnTo>
                  <a:pt x="38148" y="38052"/>
                </a:lnTo>
                <a:lnTo>
                  <a:pt x="95" y="76200"/>
                </a:lnTo>
                <a:lnTo>
                  <a:pt x="85773" y="37995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7" name="UML state-basic connection 37"/>
          <p:cNvSpPr/>
          <p:nvPr/>
        </p:nvSpPr>
        <p:spPr>
          <a:xfrm>
            <a:off x="4222528" y="2562054"/>
            <a:ext cx="1146934" cy="151619"/>
          </a:xfrm>
          <a:custGeom>
            <a:avLst/>
            <a:gdLst/>
            <a:ahLst/>
            <a:cxnLst/>
            <a:rect l="0" t="0" r="r" b="b"/>
            <a:pathLst>
              <a:path w="1146934" h="151619" fill="none" extrusionOk="0">
                <a:moveTo>
                  <a:pt x="0" y="0"/>
                </a:moveTo>
                <a:cubicBezTo>
                  <a:pt x="55597" y="20831"/>
                  <a:pt x="112757" y="39243"/>
                  <a:pt x="168497" y="52559"/>
                </a:cubicBezTo>
                <a:cubicBezTo>
                  <a:pt x="508083" y="133655"/>
                  <a:pt x="857650" y="151619"/>
                  <a:pt x="1146934" y="151257"/>
                </a:cubicBez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38" name="UML state-basic label 38"/>
          <p:cNvSpPr/>
          <p:nvPr/>
        </p:nvSpPr>
        <p:spPr>
          <a:xfrm>
            <a:off x="4501991" y="2344102"/>
            <a:ext cx="701802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reject()</a:t>
            </a:r>
            <a:endParaRPr lang="zh-CN" sz="1500"/>
          </a:p>
        </p:txBody>
      </p:sp>
      <p:sp>
        <p:nvSpPr>
          <p:cNvPr id="7" name="content-144">
            <a:extLst>
              <a:ext uri="{FF2B5EF4-FFF2-40B4-BE49-F238E27FC236}">
                <a16:creationId xmlns:a16="http://schemas.microsoft.com/office/drawing/2014/main" id="{04AC31B9-5EB3-4636-AEEF-1EF5E040BD97}"/>
              </a:ext>
            </a:extLst>
          </p:cNvPr>
          <p:cNvSpPr>
            <a:spLocks noGrp="1"/>
          </p:cNvSpPr>
          <p:nvPr/>
        </p:nvSpPr>
        <p:spPr>
          <a:xfrm>
            <a:off x="476250" y="37147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研究对象：e : Enrollment。</a:t>
            </a:r>
          </a:p>
        </p:txBody>
      </p:sp>
      <p:sp>
        <p:nvSpPr>
          <p:cNvPr id="8" name="content-145">
            <a:extLst>
              <a:ext uri="{FF2B5EF4-FFF2-40B4-BE49-F238E27FC236}">
                <a16:creationId xmlns:a16="http://schemas.microsoft.com/office/drawing/2014/main" id="{D1BC72C8-6404-454F-B1D2-B37767E45561}"/>
              </a:ext>
            </a:extLst>
          </p:cNvPr>
          <p:cNvSpPr>
            <a:spLocks noGrp="1"/>
          </p:cNvSpPr>
          <p:nvPr/>
        </p:nvSpPr>
        <p:spPr>
          <a:xfrm>
            <a:off x="476250" y="40195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confirm()、reject()表示接收操作调用的事件。</a:t>
            </a:r>
          </a:p>
        </p:txBody>
      </p:sp>
      <p:sp>
        <p:nvSpPr>
          <p:cNvPr id="9" name="content-146">
            <a:extLst>
              <a:ext uri="{FF2B5EF4-FFF2-40B4-BE49-F238E27FC236}">
                <a16:creationId xmlns:a16="http://schemas.microsoft.com/office/drawing/2014/main" id="{40A7E616-3451-4EA2-A889-19138A1735DA}"/>
              </a:ext>
            </a:extLst>
          </p:cNvPr>
          <p:cNvSpPr>
            <a:spLocks noGrp="1"/>
          </p:cNvSpPr>
          <p:nvPr/>
        </p:nvSpPr>
        <p:spPr>
          <a:xfrm>
            <a:off x="476250" y="43243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本页展示状态概览，迁移条件和效果将在后面补充。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47">
            <a:extLst>
              <a:ext uri="{FF2B5EF4-FFF2-40B4-BE49-F238E27FC236}">
                <a16:creationId xmlns:a16="http://schemas.microsoft.com/office/drawing/2014/main" id="{EAD7DC48-54BA-485C-9A29-7B13899EDAB6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状态迁移：事件、守卫与效果</a:t>
            </a:r>
          </a:p>
        </p:txBody>
      </p:sp>
      <p:sp>
        <p:nvSpPr>
          <p:cNvPr id="2" name="frame-148">
            <a:extLst>
              <a:ext uri="{FF2B5EF4-FFF2-40B4-BE49-F238E27FC236}">
                <a16:creationId xmlns:a16="http://schemas.microsoft.com/office/drawing/2014/main" id="{E67F9ABA-4227-4D5C-A732-4BA335AC7BD0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49">
            <a:extLst>
              <a:ext uri="{FF2B5EF4-FFF2-40B4-BE49-F238E27FC236}">
                <a16:creationId xmlns:a16="http://schemas.microsoft.com/office/drawing/2014/main" id="{EAE44B71-CA2A-4E78-9F21-F442CF7D6434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799D36BF-AB8E-4821-A2C8-EB8DA115CED0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0A1B1F6C-BDEC-4BC7-BA14-1395886DFAF1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19 / 78</a:t>
            </a:r>
          </a:p>
        </p:txBody>
      </p:sp>
      <p:sp>
        <p:nvSpPr>
          <p:cNvPr id="21" name="UML state-label box 21"/>
          <p:cNvSpPr/>
          <p:nvPr/>
        </p:nvSpPr>
        <p:spPr>
          <a:xfrm>
            <a:off x="2524125" y="2240852"/>
            <a:ext cx="819150" cy="493928"/>
          </a:xfrm>
          <a:prstGeom prst="roundRect">
            <a:avLst>
              <a:gd name="adj" fmla="val 24105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2" name="UML state-label divider 22"/>
          <p:cNvSpPr/>
          <p:nvPr/>
        </p:nvSpPr>
        <p:spPr>
          <a:xfrm>
            <a:off x="2524125" y="2639530"/>
            <a:ext cx="819150" cy="952"/>
          </a:xfrm>
          <a:custGeom>
            <a:avLst/>
            <a:gdLst/>
            <a:ahLst/>
            <a:cxnLst/>
            <a:rect l="0" t="0" r="r" b="b"/>
            <a:pathLst>
              <a:path w="819150" h="952" fill="none" extrusionOk="0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23" name="UML state-label label 23"/>
          <p:cNvSpPr/>
          <p:nvPr/>
        </p:nvSpPr>
        <p:spPr>
          <a:xfrm>
            <a:off x="2616041" y="2305240"/>
            <a:ext cx="701992" cy="30594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650" dirty="0">
                <a:solidFill>
                  <a:srgbClr val="1F2A44"/>
                </a:solidFill>
                <a:latin typeface="Noto Sans SC"/>
                <a:ea typeface="Noto Sans SC"/>
              </a:rPr>
              <a:t>待处理</a:t>
            </a:r>
            <a:endParaRPr lang="zh-CN" sz="1650"/>
          </a:p>
        </p:txBody>
      </p:sp>
      <p:sp>
        <p:nvSpPr>
          <p:cNvPr id="24" name="UML state-label box 24"/>
          <p:cNvSpPr/>
          <p:nvPr/>
        </p:nvSpPr>
        <p:spPr>
          <a:xfrm>
            <a:off x="5753100" y="2240852"/>
            <a:ext cx="819150" cy="493928"/>
          </a:xfrm>
          <a:prstGeom prst="roundRect">
            <a:avLst>
              <a:gd name="adj" fmla="val 24105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5" name="UML state-label divider 25"/>
          <p:cNvSpPr/>
          <p:nvPr/>
        </p:nvSpPr>
        <p:spPr>
          <a:xfrm>
            <a:off x="5753100" y="2639530"/>
            <a:ext cx="819150" cy="952"/>
          </a:xfrm>
          <a:custGeom>
            <a:avLst/>
            <a:gdLst/>
            <a:ahLst/>
            <a:cxnLst/>
            <a:rect l="0" t="0" r="r" b="b"/>
            <a:pathLst>
              <a:path w="819150" h="952" fill="none" extrusionOk="0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26" name="UML state-label label 26"/>
          <p:cNvSpPr/>
          <p:nvPr/>
        </p:nvSpPr>
        <p:spPr>
          <a:xfrm>
            <a:off x="5845016" y="2305240"/>
            <a:ext cx="701992" cy="30594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650" dirty="0">
                <a:solidFill>
                  <a:srgbClr val="1F2A44"/>
                </a:solidFill>
                <a:latin typeface="Noto Sans SC"/>
                <a:ea typeface="Noto Sans SC"/>
              </a:rPr>
              <a:t>已确认</a:t>
            </a:r>
            <a:endParaRPr lang="zh-CN" sz="1650"/>
          </a:p>
        </p:txBody>
      </p:sp>
      <p:sp>
        <p:nvSpPr>
          <p:cNvPr id="27" name="UML state-label arrow 27"/>
          <p:cNvSpPr/>
          <p:nvPr/>
        </p:nvSpPr>
        <p:spPr>
          <a:xfrm>
            <a:off x="5665784" y="2450402"/>
            <a:ext cx="85725" cy="76200"/>
          </a:xfrm>
          <a:custGeom>
            <a:avLst/>
            <a:gdLst/>
            <a:ahLst/>
            <a:cxnLst/>
            <a:rect l="0" t="0" r="r" b="b"/>
            <a:pathLst>
              <a:path w="85725" h="76200" extrusionOk="0">
                <a:moveTo>
                  <a:pt x="85725" y="38100"/>
                </a:moveTo>
                <a:lnTo>
                  <a:pt x="0" y="0"/>
                </a:lnTo>
                <a:lnTo>
                  <a:pt x="38100" y="38100"/>
                </a:lnTo>
                <a:lnTo>
                  <a:pt x="0" y="76200"/>
                </a:lnTo>
                <a:lnTo>
                  <a:pt x="85725" y="381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28" name="UML state-label connection 28"/>
          <p:cNvSpPr/>
          <p:nvPr/>
        </p:nvSpPr>
        <p:spPr>
          <a:xfrm>
            <a:off x="3346514" y="2488502"/>
            <a:ext cx="2357371" cy="952"/>
          </a:xfrm>
          <a:custGeom>
            <a:avLst/>
            <a:gdLst/>
            <a:ahLst/>
            <a:cxnLst/>
            <a:rect l="0" t="0" r="r" b="b"/>
            <a:pathLst>
              <a:path w="2357371" h="952" fill="none" extrusionOk="0">
                <a:moveTo>
                  <a:pt x="0" y="0"/>
                </a:moveTo>
                <a:cubicBezTo>
                  <a:pt x="617125" y="0"/>
                  <a:pt x="1741237" y="0"/>
                  <a:pt x="2357371" y="0"/>
                </a:cubicBez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29" name="UML state-label label 29"/>
          <p:cNvSpPr/>
          <p:nvPr/>
        </p:nvSpPr>
        <p:spPr>
          <a:xfrm>
            <a:off x="3711416" y="1941767"/>
            <a:ext cx="1738122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confirm() [余量 &gt; 0]</a:t>
            </a:r>
            <a:endParaRPr lang="zh-CN" sz="1500"/>
          </a:p>
        </p:txBody>
      </p:sp>
      <p:sp>
        <p:nvSpPr>
          <p:cNvPr id="30" name="UML state-label label 30"/>
          <p:cNvSpPr/>
          <p:nvPr/>
        </p:nvSpPr>
        <p:spPr>
          <a:xfrm>
            <a:off x="3916966" y="2217610"/>
            <a:ext cx="1327023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/ 写入确认结果</a:t>
            </a:r>
            <a:endParaRPr lang="zh-CN" sz="1500"/>
          </a:p>
        </p:txBody>
      </p:sp>
      <p:sp>
        <p:nvSpPr>
          <p:cNvPr id="7" name="content-150">
            <a:extLst>
              <a:ext uri="{FF2B5EF4-FFF2-40B4-BE49-F238E27FC236}">
                <a16:creationId xmlns:a16="http://schemas.microsoft.com/office/drawing/2014/main" id="{C0B18AFC-FB9B-4554-92F1-9F5A46380747}"/>
              </a:ext>
            </a:extLst>
          </p:cNvPr>
          <p:cNvSpPr>
            <a:spLocks noGrp="1"/>
          </p:cNvSpPr>
          <p:nvPr/>
        </p:nvSpPr>
        <p:spPr>
          <a:xfrm>
            <a:off x="476250" y="37147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读法：收到confirm()，且余量大于0时，写入确认结果。</a:t>
            </a:r>
          </a:p>
        </p:txBody>
      </p:sp>
      <p:sp>
        <p:nvSpPr>
          <p:cNvPr id="8" name="content-151">
            <a:extLst>
              <a:ext uri="{FF2B5EF4-FFF2-40B4-BE49-F238E27FC236}">
                <a16:creationId xmlns:a16="http://schemas.microsoft.com/office/drawing/2014/main" id="{1946F5DA-A220-4A25-815A-479F79448C09}"/>
              </a:ext>
            </a:extLst>
          </p:cNvPr>
          <p:cNvSpPr>
            <a:spLocks noGrp="1"/>
          </p:cNvSpPr>
          <p:nvPr/>
        </p:nvSpPr>
        <p:spPr>
          <a:xfrm>
            <a:off x="476250" y="40195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源状态为“待处理”，目标状态为“已确认”。</a:t>
            </a:r>
          </a:p>
        </p:txBody>
      </p:sp>
      <p:sp>
        <p:nvSpPr>
          <p:cNvPr id="9" name="content-152">
            <a:extLst>
              <a:ext uri="{FF2B5EF4-FFF2-40B4-BE49-F238E27FC236}">
                <a16:creationId xmlns:a16="http://schemas.microsoft.com/office/drawing/2014/main" id="{7B6F6D06-FDEA-4791-AA2D-9A0102A22BFE}"/>
              </a:ext>
            </a:extLst>
          </p:cNvPr>
          <p:cNvSpPr>
            <a:spLocks noGrp="1"/>
          </p:cNvSpPr>
          <p:nvPr/>
        </p:nvSpPr>
        <p:spPr>
          <a:xfrm>
            <a:off x="476250" y="43243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迁移标签的格式：事件 [守卫条件] / 效果。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53">
            <a:extLst>
              <a:ext uri="{FF2B5EF4-FFF2-40B4-BE49-F238E27FC236}">
                <a16:creationId xmlns:a16="http://schemas.microsoft.com/office/drawing/2014/main" id="{817CFBB9-41C1-407A-81CA-67A760C1D9D3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练习：守卫不成立时会怎样？</a:t>
            </a:r>
          </a:p>
        </p:txBody>
      </p:sp>
      <p:sp>
        <p:nvSpPr>
          <p:cNvPr id="2" name="frame-154">
            <a:extLst>
              <a:ext uri="{FF2B5EF4-FFF2-40B4-BE49-F238E27FC236}">
                <a16:creationId xmlns:a16="http://schemas.microsoft.com/office/drawing/2014/main" id="{EF251E12-6579-4F5E-8BD8-A6A5D612FB67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55">
            <a:extLst>
              <a:ext uri="{FF2B5EF4-FFF2-40B4-BE49-F238E27FC236}">
                <a16:creationId xmlns:a16="http://schemas.microsoft.com/office/drawing/2014/main" id="{34213DF5-D7C3-481B-ACF1-A6836E36ECF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F0C8185A-C181-400C-B9AE-E4327D8152C2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A2A1BA53-FE86-4EE3-A89E-E92C716311FB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20 / 78</a:t>
            </a:r>
          </a:p>
        </p:txBody>
      </p:sp>
      <p:sp>
        <p:nvSpPr>
          <p:cNvPr id="21" name="UML state-guard box 21"/>
          <p:cNvSpPr/>
          <p:nvPr/>
        </p:nvSpPr>
        <p:spPr>
          <a:xfrm>
            <a:off x="2795588" y="2119312"/>
            <a:ext cx="819150" cy="493928"/>
          </a:xfrm>
          <a:prstGeom prst="roundRect">
            <a:avLst>
              <a:gd name="adj" fmla="val 24105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2" name="UML state-guard divider 22"/>
          <p:cNvSpPr/>
          <p:nvPr/>
        </p:nvSpPr>
        <p:spPr>
          <a:xfrm>
            <a:off x="2795588" y="2517991"/>
            <a:ext cx="819150" cy="952"/>
          </a:xfrm>
          <a:custGeom>
            <a:avLst/>
            <a:gdLst/>
            <a:ahLst/>
            <a:cxnLst/>
            <a:rect l="0" t="0" r="r" b="b"/>
            <a:pathLst>
              <a:path w="819150" h="952" fill="none" extrusionOk="0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23" name="UML state-guard label 23"/>
          <p:cNvSpPr/>
          <p:nvPr/>
        </p:nvSpPr>
        <p:spPr>
          <a:xfrm>
            <a:off x="2887504" y="2183702"/>
            <a:ext cx="701992" cy="30594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650" dirty="0">
                <a:solidFill>
                  <a:srgbClr val="1F2A44"/>
                </a:solidFill>
                <a:latin typeface="Noto Sans SC"/>
                <a:ea typeface="Noto Sans SC"/>
              </a:rPr>
              <a:t>待处理</a:t>
            </a:r>
            <a:endParaRPr lang="zh-CN" sz="1650"/>
          </a:p>
        </p:txBody>
      </p:sp>
      <p:sp>
        <p:nvSpPr>
          <p:cNvPr id="24" name="UML state-guard box 24"/>
          <p:cNvSpPr/>
          <p:nvPr/>
        </p:nvSpPr>
        <p:spPr>
          <a:xfrm>
            <a:off x="6024562" y="2119312"/>
            <a:ext cx="819150" cy="493928"/>
          </a:xfrm>
          <a:prstGeom prst="roundRect">
            <a:avLst>
              <a:gd name="adj" fmla="val 24105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5" name="UML state-guard divider 25"/>
          <p:cNvSpPr/>
          <p:nvPr/>
        </p:nvSpPr>
        <p:spPr>
          <a:xfrm>
            <a:off x="6024562" y="2517991"/>
            <a:ext cx="819150" cy="952"/>
          </a:xfrm>
          <a:custGeom>
            <a:avLst/>
            <a:gdLst/>
            <a:ahLst/>
            <a:cxnLst/>
            <a:rect l="0" t="0" r="r" b="b"/>
            <a:pathLst>
              <a:path w="819150" h="952" fill="none" extrusionOk="0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26" name="UML state-guard label 26"/>
          <p:cNvSpPr/>
          <p:nvPr/>
        </p:nvSpPr>
        <p:spPr>
          <a:xfrm>
            <a:off x="6116479" y="2183702"/>
            <a:ext cx="701992" cy="30594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650" dirty="0">
                <a:solidFill>
                  <a:srgbClr val="1F2A44"/>
                </a:solidFill>
                <a:latin typeface="Noto Sans SC"/>
                <a:ea typeface="Noto Sans SC"/>
              </a:rPr>
              <a:t>已确认</a:t>
            </a:r>
            <a:endParaRPr lang="zh-CN" sz="1650"/>
          </a:p>
        </p:txBody>
      </p:sp>
      <p:sp>
        <p:nvSpPr>
          <p:cNvPr id="27" name="UML state-guard anchor 27"/>
          <p:cNvSpPr/>
          <p:nvPr/>
        </p:nvSpPr>
        <p:spPr>
          <a:xfrm>
            <a:off x="2252662" y="2252662"/>
            <a:ext cx="190500" cy="190500"/>
          </a:xfrm>
          <a:prstGeom prst="ellipse">
            <a:avLst/>
          </a:prstGeom>
          <a:solidFill>
            <a:srgbClr val="1F2A44"/>
          </a:solidFill>
          <a:ln w="9525">
            <a:solidFill>
              <a:srgbClr val="000000"/>
            </a:solidFill>
          </a:ln>
        </p:spPr>
      </p:sp>
      <p:sp>
        <p:nvSpPr>
          <p:cNvPr id="28" name="UML state-guard arrow 28"/>
          <p:cNvSpPr/>
          <p:nvPr/>
        </p:nvSpPr>
        <p:spPr>
          <a:xfrm>
            <a:off x="2709853" y="2328862"/>
            <a:ext cx="85725" cy="76200"/>
          </a:xfrm>
          <a:custGeom>
            <a:avLst/>
            <a:gdLst/>
            <a:ahLst/>
            <a:cxnLst/>
            <a:rect l="0" t="0" r="r" b="b"/>
            <a:pathLst>
              <a:path w="85725" h="76200" extrusionOk="0">
                <a:moveTo>
                  <a:pt x="85725" y="38100"/>
                </a:moveTo>
                <a:lnTo>
                  <a:pt x="0" y="0"/>
                </a:lnTo>
                <a:lnTo>
                  <a:pt x="38100" y="38100"/>
                </a:lnTo>
                <a:lnTo>
                  <a:pt x="0" y="76200"/>
                </a:lnTo>
                <a:lnTo>
                  <a:pt x="85725" y="381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29" name="UML state-guard connection 29"/>
          <p:cNvSpPr/>
          <p:nvPr/>
        </p:nvSpPr>
        <p:spPr>
          <a:xfrm>
            <a:off x="2443982" y="2366962"/>
            <a:ext cx="303971" cy="952"/>
          </a:xfrm>
          <a:custGeom>
            <a:avLst/>
            <a:gdLst/>
            <a:ahLst/>
            <a:cxnLst/>
            <a:rect l="0" t="0" r="r" b="b"/>
            <a:pathLst>
              <a:path w="303971" h="952" fill="none" extrusionOk="0">
                <a:moveTo>
                  <a:pt x="0" y="0"/>
                </a:moveTo>
                <a:cubicBezTo>
                  <a:pt x="84496" y="0"/>
                  <a:pt x="171688" y="0"/>
                  <a:pt x="303971" y="0"/>
                </a:cubicBez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30" name="UML state-guard arrow 30"/>
          <p:cNvSpPr/>
          <p:nvPr/>
        </p:nvSpPr>
        <p:spPr>
          <a:xfrm>
            <a:off x="5937247" y="2328862"/>
            <a:ext cx="85725" cy="76200"/>
          </a:xfrm>
          <a:custGeom>
            <a:avLst/>
            <a:gdLst/>
            <a:ahLst/>
            <a:cxnLst/>
            <a:rect l="0" t="0" r="r" b="b"/>
            <a:pathLst>
              <a:path w="85725" h="76200" extrusionOk="0">
                <a:moveTo>
                  <a:pt x="85725" y="38100"/>
                </a:moveTo>
                <a:lnTo>
                  <a:pt x="0" y="0"/>
                </a:lnTo>
                <a:lnTo>
                  <a:pt x="38100" y="38100"/>
                </a:lnTo>
                <a:lnTo>
                  <a:pt x="0" y="76200"/>
                </a:lnTo>
                <a:lnTo>
                  <a:pt x="85725" y="381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1" name="UML state-guard connection 31"/>
          <p:cNvSpPr/>
          <p:nvPr/>
        </p:nvSpPr>
        <p:spPr>
          <a:xfrm>
            <a:off x="3617976" y="2366962"/>
            <a:ext cx="2357371" cy="952"/>
          </a:xfrm>
          <a:custGeom>
            <a:avLst/>
            <a:gdLst/>
            <a:ahLst/>
            <a:cxnLst/>
            <a:rect l="0" t="0" r="r" b="b"/>
            <a:pathLst>
              <a:path w="2357371" h="952" fill="none" extrusionOk="0">
                <a:moveTo>
                  <a:pt x="0" y="0"/>
                </a:moveTo>
                <a:cubicBezTo>
                  <a:pt x="617125" y="0"/>
                  <a:pt x="1741237" y="0"/>
                  <a:pt x="2357371" y="0"/>
                </a:cubicBez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32" name="UML state-guard label 32"/>
          <p:cNvSpPr/>
          <p:nvPr/>
        </p:nvSpPr>
        <p:spPr>
          <a:xfrm>
            <a:off x="3982879" y="2096452"/>
            <a:ext cx="1738122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confirm() [余量 &gt; 0]</a:t>
            </a:r>
            <a:endParaRPr lang="zh-CN" sz="1500"/>
          </a:p>
        </p:txBody>
      </p:sp>
      <p:sp>
        <p:nvSpPr>
          <p:cNvPr id="7" name="content-156">
            <a:extLst>
              <a:ext uri="{FF2B5EF4-FFF2-40B4-BE49-F238E27FC236}">
                <a16:creationId xmlns:a16="http://schemas.microsoft.com/office/drawing/2014/main" id="{8121C0C7-A8F3-45FF-90C6-C7FBEEBA13B9}"/>
              </a:ext>
            </a:extLst>
          </p:cNvPr>
          <p:cNvSpPr>
            <a:spLocks noGrp="1"/>
          </p:cNvSpPr>
          <p:nvPr/>
        </p:nvSpPr>
        <p:spPr>
          <a:xfrm>
            <a:off x="476250" y="37147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e处于待处理，余量为0，却收到了confirm()调用。</a:t>
            </a:r>
          </a:p>
        </p:txBody>
      </p:sp>
      <p:sp>
        <p:nvSpPr>
          <p:cNvPr id="8" name="content-157">
            <a:extLst>
              <a:ext uri="{FF2B5EF4-FFF2-40B4-BE49-F238E27FC236}">
                <a16:creationId xmlns:a16="http://schemas.microsoft.com/office/drawing/2014/main" id="{34740B14-C007-4DED-BFA5-9B1C42973593}"/>
              </a:ext>
            </a:extLst>
          </p:cNvPr>
          <p:cNvSpPr>
            <a:spLocks noGrp="1"/>
          </p:cNvSpPr>
          <p:nvPr/>
        </p:nvSpPr>
        <p:spPr>
          <a:xfrm>
            <a:off x="476250" y="40195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只依据图中的这一条迁移，e会自动进入“已拒绝”吗？</a:t>
            </a:r>
          </a:p>
        </p:txBody>
      </p:sp>
      <p:sp>
        <p:nvSpPr>
          <p:cNvPr id="9" name="content-158">
            <a:extLst>
              <a:ext uri="{FF2B5EF4-FFF2-40B4-BE49-F238E27FC236}">
                <a16:creationId xmlns:a16="http://schemas.microsoft.com/office/drawing/2014/main" id="{3F3759C3-AC3C-4BCB-9AB0-38DA29216764}"/>
              </a:ext>
            </a:extLst>
          </p:cNvPr>
          <p:cNvSpPr>
            <a:spLocks noGrp="1"/>
          </p:cNvSpPr>
          <p:nvPr/>
        </p:nvSpPr>
        <p:spPr>
          <a:xfrm>
            <a:off x="476250" y="43243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若要按业务规则拒绝，应由交互方案安排什么消息？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-159">
            <a:extLst>
              <a:ext uri="{FF2B5EF4-FFF2-40B4-BE49-F238E27FC236}">
                <a16:creationId xmlns:a16="http://schemas.microsoft.com/office/drawing/2014/main" id="{E73DC733-52A9-459F-BFE1-BA4176B53C9C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选课记录的状态迁移（参考）</a:t>
            </a:r>
          </a:p>
        </p:txBody>
      </p:sp>
      <p:sp>
        <p:nvSpPr>
          <p:cNvPr id="2" name="frame-160">
            <a:extLst>
              <a:ext uri="{FF2B5EF4-FFF2-40B4-BE49-F238E27FC236}">
                <a16:creationId xmlns:a16="http://schemas.microsoft.com/office/drawing/2014/main" id="{EBD026D4-1813-4CC3-BE46-5543225578AC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61">
            <a:extLst>
              <a:ext uri="{FF2B5EF4-FFF2-40B4-BE49-F238E27FC236}">
                <a16:creationId xmlns:a16="http://schemas.microsoft.com/office/drawing/2014/main" id="{89004A65-06B3-4D65-874B-4F86909BEC0F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68CBD2A1-2F77-4D3A-A8FC-0EA8CA8D9EA1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9A7D3CBA-13B7-4469-91C7-FC03D27CB8C8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21 / 78</a:t>
            </a:r>
          </a:p>
        </p:txBody>
      </p:sp>
      <p:sp>
        <p:nvSpPr>
          <p:cNvPr id="21" name="UML state-complete box 21"/>
          <p:cNvSpPr/>
          <p:nvPr/>
        </p:nvSpPr>
        <p:spPr>
          <a:xfrm>
            <a:off x="2976562" y="2231326"/>
            <a:ext cx="819150" cy="493928"/>
          </a:xfrm>
          <a:prstGeom prst="roundRect">
            <a:avLst>
              <a:gd name="adj" fmla="val 24105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2" name="UML state-complete divider 22"/>
          <p:cNvSpPr/>
          <p:nvPr/>
        </p:nvSpPr>
        <p:spPr>
          <a:xfrm>
            <a:off x="2976562" y="2630005"/>
            <a:ext cx="819150" cy="952"/>
          </a:xfrm>
          <a:custGeom>
            <a:avLst/>
            <a:gdLst/>
            <a:ahLst/>
            <a:cxnLst/>
            <a:rect l="0" t="0" r="r" b="b"/>
            <a:pathLst>
              <a:path w="819150" h="952" fill="none" extrusionOk="0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23" name="UML state-complete label 23"/>
          <p:cNvSpPr/>
          <p:nvPr/>
        </p:nvSpPr>
        <p:spPr>
          <a:xfrm>
            <a:off x="3068479" y="2295716"/>
            <a:ext cx="701992" cy="30594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650" dirty="0">
                <a:solidFill>
                  <a:srgbClr val="1F2A44"/>
                </a:solidFill>
                <a:latin typeface="Noto Sans SC"/>
                <a:ea typeface="Noto Sans SC"/>
              </a:rPr>
              <a:t>待处理</a:t>
            </a:r>
            <a:endParaRPr lang="zh-CN" sz="1650"/>
          </a:p>
        </p:txBody>
      </p:sp>
      <p:sp>
        <p:nvSpPr>
          <p:cNvPr id="24" name="UML state-complete box 24"/>
          <p:cNvSpPr/>
          <p:nvPr/>
        </p:nvSpPr>
        <p:spPr>
          <a:xfrm>
            <a:off x="5843588" y="1831276"/>
            <a:ext cx="819150" cy="493928"/>
          </a:xfrm>
          <a:prstGeom prst="roundRect">
            <a:avLst>
              <a:gd name="adj" fmla="val 24105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5" name="UML state-complete divider 25"/>
          <p:cNvSpPr/>
          <p:nvPr/>
        </p:nvSpPr>
        <p:spPr>
          <a:xfrm>
            <a:off x="5843588" y="2229955"/>
            <a:ext cx="819150" cy="952"/>
          </a:xfrm>
          <a:custGeom>
            <a:avLst/>
            <a:gdLst/>
            <a:ahLst/>
            <a:cxnLst/>
            <a:rect l="0" t="0" r="r" b="b"/>
            <a:pathLst>
              <a:path w="819150" h="952" fill="none" extrusionOk="0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26" name="UML state-complete label 26"/>
          <p:cNvSpPr/>
          <p:nvPr/>
        </p:nvSpPr>
        <p:spPr>
          <a:xfrm>
            <a:off x="5935504" y="1895665"/>
            <a:ext cx="701992" cy="30594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650" dirty="0">
                <a:solidFill>
                  <a:srgbClr val="1F2A44"/>
                </a:solidFill>
                <a:latin typeface="Noto Sans SC"/>
                <a:ea typeface="Noto Sans SC"/>
              </a:rPr>
              <a:t>已确认</a:t>
            </a:r>
            <a:endParaRPr lang="zh-CN" sz="1650"/>
          </a:p>
        </p:txBody>
      </p:sp>
      <p:sp>
        <p:nvSpPr>
          <p:cNvPr id="27" name="UML state-complete box 27"/>
          <p:cNvSpPr/>
          <p:nvPr/>
        </p:nvSpPr>
        <p:spPr>
          <a:xfrm>
            <a:off x="5843588" y="2631376"/>
            <a:ext cx="819150" cy="493928"/>
          </a:xfrm>
          <a:prstGeom prst="roundRect">
            <a:avLst>
              <a:gd name="adj" fmla="val 24105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28" name="UML state-complete divider 28"/>
          <p:cNvSpPr/>
          <p:nvPr/>
        </p:nvSpPr>
        <p:spPr>
          <a:xfrm>
            <a:off x="5843588" y="3030055"/>
            <a:ext cx="819150" cy="952"/>
          </a:xfrm>
          <a:custGeom>
            <a:avLst/>
            <a:gdLst/>
            <a:ahLst/>
            <a:cxnLst/>
            <a:rect l="0" t="0" r="r" b="b"/>
            <a:pathLst>
              <a:path w="819150" h="952" fill="none" extrusionOk="0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29" name="UML state-complete label 29"/>
          <p:cNvSpPr/>
          <p:nvPr/>
        </p:nvSpPr>
        <p:spPr>
          <a:xfrm>
            <a:off x="5935504" y="2695766"/>
            <a:ext cx="701992" cy="30594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650" dirty="0">
                <a:solidFill>
                  <a:srgbClr val="1F2A44"/>
                </a:solidFill>
                <a:latin typeface="Noto Sans SC"/>
                <a:ea typeface="Noto Sans SC"/>
              </a:rPr>
              <a:t>已拒绝</a:t>
            </a:r>
            <a:endParaRPr lang="zh-CN" sz="1650"/>
          </a:p>
        </p:txBody>
      </p:sp>
      <p:sp>
        <p:nvSpPr>
          <p:cNvPr id="30" name="UML state-complete anchor 30"/>
          <p:cNvSpPr/>
          <p:nvPr/>
        </p:nvSpPr>
        <p:spPr>
          <a:xfrm>
            <a:off x="2433638" y="2364676"/>
            <a:ext cx="190500" cy="190500"/>
          </a:xfrm>
          <a:prstGeom prst="ellipse">
            <a:avLst/>
          </a:prstGeom>
          <a:solidFill>
            <a:srgbClr val="1F2A44"/>
          </a:solidFill>
          <a:ln w="9525">
            <a:solidFill>
              <a:srgbClr val="000000"/>
            </a:solidFill>
          </a:ln>
        </p:spPr>
      </p:sp>
      <p:sp>
        <p:nvSpPr>
          <p:cNvPr id="31" name="UML state-complete arrow 31"/>
          <p:cNvSpPr/>
          <p:nvPr/>
        </p:nvSpPr>
        <p:spPr>
          <a:xfrm>
            <a:off x="2890828" y="2440876"/>
            <a:ext cx="85725" cy="76200"/>
          </a:xfrm>
          <a:custGeom>
            <a:avLst/>
            <a:gdLst/>
            <a:ahLst/>
            <a:cxnLst/>
            <a:rect l="0" t="0" r="r" b="b"/>
            <a:pathLst>
              <a:path w="85725" h="76200" extrusionOk="0">
                <a:moveTo>
                  <a:pt x="85725" y="38100"/>
                </a:moveTo>
                <a:lnTo>
                  <a:pt x="0" y="0"/>
                </a:lnTo>
                <a:lnTo>
                  <a:pt x="38100" y="38100"/>
                </a:lnTo>
                <a:lnTo>
                  <a:pt x="0" y="76200"/>
                </a:lnTo>
                <a:lnTo>
                  <a:pt x="85725" y="381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2" name="UML state-complete connection 32"/>
          <p:cNvSpPr/>
          <p:nvPr/>
        </p:nvSpPr>
        <p:spPr>
          <a:xfrm>
            <a:off x="2624957" y="2478976"/>
            <a:ext cx="303971" cy="952"/>
          </a:xfrm>
          <a:custGeom>
            <a:avLst/>
            <a:gdLst/>
            <a:ahLst/>
            <a:cxnLst/>
            <a:rect l="0" t="0" r="r" b="b"/>
            <a:pathLst>
              <a:path w="303971" h="952" fill="none" extrusionOk="0">
                <a:moveTo>
                  <a:pt x="0" y="0"/>
                </a:moveTo>
                <a:cubicBezTo>
                  <a:pt x="84496" y="0"/>
                  <a:pt x="171688" y="0"/>
                  <a:pt x="303971" y="0"/>
                </a:cubicBez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33" name="UML state-complete arrow 33"/>
          <p:cNvSpPr/>
          <p:nvPr/>
        </p:nvSpPr>
        <p:spPr>
          <a:xfrm>
            <a:off x="5753538" y="2053190"/>
            <a:ext cx="87068" cy="76143"/>
          </a:xfrm>
          <a:custGeom>
            <a:avLst/>
            <a:gdLst/>
            <a:ahLst/>
            <a:cxnLst/>
            <a:rect l="0" t="0" r="r" b="b"/>
            <a:pathLst>
              <a:path w="87068" h="76143" extrusionOk="0">
                <a:moveTo>
                  <a:pt x="87068" y="34919"/>
                </a:moveTo>
                <a:lnTo>
                  <a:pt x="0" y="0"/>
                </a:lnTo>
                <a:lnTo>
                  <a:pt x="39472" y="36671"/>
                </a:lnTo>
                <a:lnTo>
                  <a:pt x="2800" y="76143"/>
                </a:lnTo>
                <a:lnTo>
                  <a:pt x="87068" y="34919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4" name="UML state-complete connection 34"/>
          <p:cNvSpPr/>
          <p:nvPr/>
        </p:nvSpPr>
        <p:spPr>
          <a:xfrm>
            <a:off x="3798360" y="2089861"/>
            <a:ext cx="1994649" cy="242126"/>
          </a:xfrm>
          <a:custGeom>
            <a:avLst/>
            <a:gdLst/>
            <a:ahLst/>
            <a:cxnLst/>
            <a:rect l="0" t="0" r="r" b="b"/>
            <a:pathLst>
              <a:path w="1994649" h="242126" fill="none" extrusionOk="0">
                <a:moveTo>
                  <a:pt x="0" y="242126"/>
                </a:moveTo>
                <a:cubicBezTo>
                  <a:pt x="56150" y="225390"/>
                  <a:pt x="113528" y="210207"/>
                  <a:pt x="168802" y="198615"/>
                </a:cubicBezTo>
                <a:cubicBezTo>
                  <a:pt x="815550" y="62951"/>
                  <a:pt x="1536392" y="16859"/>
                  <a:pt x="1994649" y="0"/>
                </a:cubicBez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35" name="UML state-complete label 35"/>
          <p:cNvSpPr/>
          <p:nvPr/>
        </p:nvSpPr>
        <p:spPr>
          <a:xfrm>
            <a:off x="3982879" y="1551242"/>
            <a:ext cx="1738122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confirm() [余量 &gt; 0]</a:t>
            </a:r>
            <a:endParaRPr lang="zh-CN" sz="1500"/>
          </a:p>
        </p:txBody>
      </p:sp>
      <p:sp>
        <p:nvSpPr>
          <p:cNvPr id="36" name="UML state-complete label 36"/>
          <p:cNvSpPr/>
          <p:nvPr/>
        </p:nvSpPr>
        <p:spPr>
          <a:xfrm>
            <a:off x="4188428" y="1827086"/>
            <a:ext cx="1327023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/ 写入确认结果</a:t>
            </a:r>
            <a:endParaRPr lang="zh-CN" sz="1500"/>
          </a:p>
        </p:txBody>
      </p:sp>
      <p:sp>
        <p:nvSpPr>
          <p:cNvPr id="37" name="UML state-complete arrow 37"/>
          <p:cNvSpPr/>
          <p:nvPr/>
        </p:nvSpPr>
        <p:spPr>
          <a:xfrm>
            <a:off x="5749881" y="2938615"/>
            <a:ext cx="90859" cy="75143"/>
          </a:xfrm>
          <a:custGeom>
            <a:avLst/>
            <a:gdLst/>
            <a:ahLst/>
            <a:cxnLst/>
            <a:rect l="0" t="0" r="r" b="b"/>
            <a:pathLst>
              <a:path w="90859" h="75143" extrusionOk="0">
                <a:moveTo>
                  <a:pt x="90859" y="23355"/>
                </a:moveTo>
                <a:lnTo>
                  <a:pt x="0" y="0"/>
                </a:lnTo>
                <a:lnTo>
                  <a:pt x="43891" y="31252"/>
                </a:lnTo>
                <a:lnTo>
                  <a:pt x="12640" y="75143"/>
                </a:lnTo>
                <a:lnTo>
                  <a:pt x="90859" y="23355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38" name="UML state-complete connection 38"/>
          <p:cNvSpPr/>
          <p:nvPr/>
        </p:nvSpPr>
        <p:spPr>
          <a:xfrm>
            <a:off x="3653971" y="2727855"/>
            <a:ext cx="2139801" cy="389106"/>
          </a:xfrm>
          <a:custGeom>
            <a:avLst/>
            <a:gdLst/>
            <a:ahLst/>
            <a:cxnLst/>
            <a:rect l="0" t="0" r="r" b="b"/>
            <a:pathLst>
              <a:path w="2139801" h="389106" fill="none" extrusionOk="0">
                <a:moveTo>
                  <a:pt x="0" y="0"/>
                </a:moveTo>
                <a:cubicBezTo>
                  <a:pt x="91631" y="72409"/>
                  <a:pt x="200235" y="142094"/>
                  <a:pt x="313192" y="179746"/>
                </a:cubicBezTo>
                <a:cubicBezTo>
                  <a:pt x="941270" y="389106"/>
                  <a:pt x="1675047" y="320164"/>
                  <a:pt x="2139801" y="242011"/>
                </a:cubicBez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39" name="UML state-complete label 39"/>
          <p:cNvSpPr/>
          <p:nvPr/>
        </p:nvSpPr>
        <p:spPr>
          <a:xfrm>
            <a:off x="4078129" y="2360866"/>
            <a:ext cx="1551051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reject() [余量 = 0]</a:t>
            </a:r>
            <a:endParaRPr lang="zh-CN" sz="1500"/>
          </a:p>
        </p:txBody>
      </p:sp>
      <p:sp>
        <p:nvSpPr>
          <p:cNvPr id="40" name="UML state-complete label 40"/>
          <p:cNvSpPr/>
          <p:nvPr/>
        </p:nvSpPr>
        <p:spPr>
          <a:xfrm>
            <a:off x="4190143" y="2636710"/>
            <a:ext cx="1327023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/ 写入拒绝结果</a:t>
            </a:r>
            <a:endParaRPr lang="zh-CN" sz="1500"/>
          </a:p>
        </p:txBody>
      </p:sp>
      <p:sp>
        <p:nvSpPr>
          <p:cNvPr id="7" name="content-162">
            <a:extLst>
              <a:ext uri="{FF2B5EF4-FFF2-40B4-BE49-F238E27FC236}">
                <a16:creationId xmlns:a16="http://schemas.microsoft.com/office/drawing/2014/main" id="{14BE8A1E-D063-4532-97B9-25D79C860F3A}"/>
              </a:ext>
            </a:extLst>
          </p:cNvPr>
          <p:cNvSpPr>
            <a:spLocks noGrp="1"/>
          </p:cNvSpPr>
          <p:nvPr/>
        </p:nvSpPr>
        <p:spPr>
          <a:xfrm>
            <a:off x="476250" y="37147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confirm()与reject()分别触发本例的确认和拒绝迁移。</a:t>
            </a:r>
          </a:p>
        </p:txBody>
      </p:sp>
      <p:sp>
        <p:nvSpPr>
          <p:cNvPr id="8" name="content-163">
            <a:extLst>
              <a:ext uri="{FF2B5EF4-FFF2-40B4-BE49-F238E27FC236}">
                <a16:creationId xmlns:a16="http://schemas.microsoft.com/office/drawing/2014/main" id="{D6DCD4D9-8676-4882-93A2-BA982B647CCE}"/>
              </a:ext>
            </a:extLst>
          </p:cNvPr>
          <p:cNvSpPr>
            <a:spLocks noGrp="1"/>
          </p:cNvSpPr>
          <p:nvPr/>
        </p:nvSpPr>
        <p:spPr>
          <a:xfrm>
            <a:off x="476250" y="40195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收到相应调用后，还需满足该迁移的守卫条件。</a:t>
            </a:r>
          </a:p>
        </p:txBody>
      </p:sp>
      <p:sp>
        <p:nvSpPr>
          <p:cNvPr id="9" name="content-164">
            <a:extLst>
              <a:ext uri="{FF2B5EF4-FFF2-40B4-BE49-F238E27FC236}">
                <a16:creationId xmlns:a16="http://schemas.microsoft.com/office/drawing/2014/main" id="{63545EBC-062D-4FDE-93EF-FD6DEEED32C9}"/>
              </a:ext>
            </a:extLst>
          </p:cNvPr>
          <p:cNvSpPr>
            <a:spLocks noGrp="1"/>
          </p:cNvSpPr>
          <p:nvPr/>
        </p:nvSpPr>
        <p:spPr>
          <a:xfrm>
            <a:off x="476250" y="4324350"/>
            <a:ext cx="819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未画出的候补、退选和重新申请行为仍待业务确认。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-165">
            <a:extLst>
              <a:ext uri="{FF2B5EF4-FFF2-40B4-BE49-F238E27FC236}">
                <a16:creationId xmlns:a16="http://schemas.microsoft.com/office/drawing/2014/main" id="{208507FD-044C-4E5E-B09C-F9B188FF15B7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练习：三种图是否一致？</a:t>
            </a:r>
          </a:p>
        </p:txBody>
      </p:sp>
      <p:sp>
        <p:nvSpPr>
          <p:cNvPr id="2" name="frame-166">
            <a:extLst>
              <a:ext uri="{FF2B5EF4-FFF2-40B4-BE49-F238E27FC236}">
                <a16:creationId xmlns:a16="http://schemas.microsoft.com/office/drawing/2014/main" id="{20742883-3C5E-47CA-8566-A94365CFAAE4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67">
            <a:extLst>
              <a:ext uri="{FF2B5EF4-FFF2-40B4-BE49-F238E27FC236}">
                <a16:creationId xmlns:a16="http://schemas.microsoft.com/office/drawing/2014/main" id="{EC862048-FC4B-48E2-8096-0E25576D4DC6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A41A76D5-2A1D-451C-A30D-B66B13B86EDD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EC69ADAC-2039-44C9-8493-FC58F8FDE103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22 / 78</a:t>
            </a:r>
          </a:p>
        </p:txBody>
      </p:sp>
      <p:sp>
        <p:nvSpPr>
          <p:cNvPr id="6" name="content-168">
            <a:extLst>
              <a:ext uri="{FF2B5EF4-FFF2-40B4-BE49-F238E27FC236}">
                <a16:creationId xmlns:a16="http://schemas.microsoft.com/office/drawing/2014/main" id="{FBEAA091-38C3-4C67-B506-FA7CA4465637}"/>
              </a:ext>
            </a:extLst>
          </p:cNvPr>
          <p:cNvSpPr>
            <a:spLocks noGrp="1"/>
          </p:cNvSpPr>
          <p:nvPr/>
        </p:nvSpPr>
        <p:spPr>
          <a:xfrm>
            <a:off x="476250" y="1066800"/>
            <a:ext cx="819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已知：e处于待处理，余量为2。三图描述同一次处理。</a:t>
            </a:r>
          </a:p>
        </p:txBody>
      </p:sp>
      <p:sp>
        <p:nvSpPr>
          <p:cNvPr id="7" name="content-169">
            <a:extLst>
              <a:ext uri="{FF2B5EF4-FFF2-40B4-BE49-F238E27FC236}">
                <a16:creationId xmlns:a16="http://schemas.microsoft.com/office/drawing/2014/main" id="{594B7635-16DD-428D-A60B-A11D928EAA6E}"/>
              </a:ext>
            </a:extLst>
          </p:cNvPr>
          <p:cNvSpPr>
            <a:spLocks noGrp="1"/>
          </p:cNvSpPr>
          <p:nvPr/>
        </p:nvSpPr>
        <p:spPr>
          <a:xfrm>
            <a:off x="476250" y="15049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活动图</a:t>
            </a:r>
          </a:p>
        </p:txBody>
      </p:sp>
      <p:sp>
        <p:nvSpPr>
          <p:cNvPr id="33" name="UML cross-activity anchor 33"/>
          <p:cNvSpPr/>
          <p:nvPr/>
        </p:nvSpPr>
        <p:spPr>
          <a:xfrm>
            <a:off x="1552575" y="2033588"/>
            <a:ext cx="190500" cy="190500"/>
          </a:xfrm>
          <a:prstGeom prst="ellipse">
            <a:avLst/>
          </a:prstGeom>
          <a:solidFill>
            <a:srgbClr val="1F2A44"/>
          </a:solidFill>
          <a:ln w="9525">
            <a:solidFill>
              <a:srgbClr val="000000"/>
            </a:solidFill>
          </a:ln>
        </p:spPr>
      </p:sp>
      <p:sp>
        <p:nvSpPr>
          <p:cNvPr id="34" name="UML cross-activity box 34"/>
          <p:cNvSpPr/>
          <p:nvPr/>
        </p:nvSpPr>
        <p:spPr>
          <a:xfrm>
            <a:off x="1171575" y="2414588"/>
            <a:ext cx="952500" cy="466344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35" name="UML cross-activity label 35"/>
          <p:cNvSpPr/>
          <p:nvPr/>
        </p:nvSpPr>
        <p:spPr>
          <a:xfrm>
            <a:off x="1263491" y="2525078"/>
            <a:ext cx="828675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确认记录</a:t>
            </a:r>
            <a:endParaRPr lang="zh-CN" sz="1500"/>
          </a:p>
        </p:txBody>
      </p:sp>
      <p:sp>
        <p:nvSpPr>
          <p:cNvPr id="36" name="UML cross-activity box 36"/>
          <p:cNvSpPr/>
          <p:nvPr/>
        </p:nvSpPr>
        <p:spPr>
          <a:xfrm>
            <a:off x="1171575" y="3071432"/>
            <a:ext cx="952500" cy="466344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37" name="UML cross-activity label 37"/>
          <p:cNvSpPr/>
          <p:nvPr/>
        </p:nvSpPr>
        <p:spPr>
          <a:xfrm>
            <a:off x="1263491" y="3181922"/>
            <a:ext cx="828675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显示成功</a:t>
            </a:r>
            <a:endParaRPr lang="zh-CN" sz="1500"/>
          </a:p>
        </p:txBody>
      </p:sp>
      <p:sp>
        <p:nvSpPr>
          <p:cNvPr id="38" name="UML cross-activity anchor 38"/>
          <p:cNvSpPr/>
          <p:nvPr/>
        </p:nvSpPr>
        <p:spPr>
          <a:xfrm>
            <a:off x="1543050" y="3728275"/>
            <a:ext cx="209550" cy="209550"/>
          </a:xfrm>
          <a:prstGeom prst="ellips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39" name="UML cross-activity anchor 39"/>
          <p:cNvSpPr/>
          <p:nvPr/>
        </p:nvSpPr>
        <p:spPr>
          <a:xfrm>
            <a:off x="1590675" y="3775900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40" name="UML cross-activity divider 40"/>
          <p:cNvSpPr/>
          <p:nvPr/>
        </p:nvSpPr>
        <p:spPr>
          <a:xfrm>
            <a:off x="1647825" y="2224088"/>
            <a:ext cx="952" cy="19050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41" name="UML cross-activity arrow 41"/>
          <p:cNvSpPr/>
          <p:nvPr/>
        </p:nvSpPr>
        <p:spPr>
          <a:xfrm>
            <a:off x="1609725" y="2319338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42" name="UML cross-activity divider 42"/>
          <p:cNvSpPr/>
          <p:nvPr/>
        </p:nvSpPr>
        <p:spPr>
          <a:xfrm>
            <a:off x="1647825" y="2880932"/>
            <a:ext cx="952" cy="19050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43" name="UML cross-activity arrow 43"/>
          <p:cNvSpPr/>
          <p:nvPr/>
        </p:nvSpPr>
        <p:spPr>
          <a:xfrm>
            <a:off x="1609725" y="2976182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44" name="UML cross-activity divider 44"/>
          <p:cNvSpPr/>
          <p:nvPr/>
        </p:nvSpPr>
        <p:spPr>
          <a:xfrm>
            <a:off x="1647825" y="3537775"/>
            <a:ext cx="952" cy="19050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45" name="UML cross-activity arrow 45"/>
          <p:cNvSpPr/>
          <p:nvPr/>
        </p:nvSpPr>
        <p:spPr>
          <a:xfrm>
            <a:off x="1609725" y="3633025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9" name="content-170">
            <a:extLst>
              <a:ext uri="{FF2B5EF4-FFF2-40B4-BE49-F238E27FC236}">
                <a16:creationId xmlns:a16="http://schemas.microsoft.com/office/drawing/2014/main" id="{01AE19CD-E936-4DAC-9EF1-629014A371B5}"/>
              </a:ext>
            </a:extLst>
          </p:cNvPr>
          <p:cNvSpPr>
            <a:spLocks noGrp="1"/>
          </p:cNvSpPr>
          <p:nvPr/>
        </p:nvSpPr>
        <p:spPr>
          <a:xfrm>
            <a:off x="3381375" y="15049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顺序图</a:t>
            </a:r>
          </a:p>
        </p:txBody>
      </p:sp>
      <p:sp>
        <p:nvSpPr>
          <p:cNvPr id="46" name="UML cross-sequence box 46"/>
          <p:cNvSpPr/>
          <p:nvPr/>
        </p:nvSpPr>
        <p:spPr>
          <a:xfrm>
            <a:off x="3714294" y="2758436"/>
            <a:ext cx="72989" cy="948121"/>
          </a:xfrm>
          <a:prstGeom prst="rect">
            <a:avLst/>
          </a:prstGeom>
          <a:noFill/>
          <a:ln w="9124">
            <a:noFill/>
          </a:ln>
        </p:spPr>
      </p:sp>
      <p:sp>
        <p:nvSpPr>
          <p:cNvPr id="47" name="UML cross-sequence divider 47"/>
          <p:cNvSpPr/>
          <p:nvPr/>
        </p:nvSpPr>
        <p:spPr>
          <a:xfrm>
            <a:off x="3746226" y="2758436"/>
            <a:ext cx="952" cy="948121"/>
          </a:xfrm>
          <a:custGeom>
            <a:avLst/>
            <a:gdLst/>
            <a:ahLst/>
            <a:cxnLst/>
            <a:rect l="0" t="0" r="r" b="b"/>
            <a:pathLst>
              <a:path w="952" h="989838" fill="none" extrusionOk="0">
                <a:moveTo>
                  <a:pt x="0" y="0"/>
                </a:moveTo>
                <a:lnTo>
                  <a:pt x="0" y="989838"/>
                </a:lnTo>
              </a:path>
            </a:pathLst>
          </a:custGeom>
          <a:noFill/>
          <a:ln w="9124">
            <a:solidFill>
              <a:srgbClr val="697487"/>
            </a:solidFill>
            <a:prstDash val="dash"/>
          </a:ln>
        </p:spPr>
      </p:sp>
      <p:sp>
        <p:nvSpPr>
          <p:cNvPr id="48" name="UML cross-sequence box 48"/>
          <p:cNvSpPr/>
          <p:nvPr/>
        </p:nvSpPr>
        <p:spPr>
          <a:xfrm>
            <a:off x="5446311" y="2758436"/>
            <a:ext cx="72989" cy="948121"/>
          </a:xfrm>
          <a:prstGeom prst="rect">
            <a:avLst/>
          </a:prstGeom>
          <a:noFill/>
          <a:ln w="9124">
            <a:noFill/>
          </a:ln>
        </p:spPr>
      </p:sp>
      <p:sp>
        <p:nvSpPr>
          <p:cNvPr id="49" name="UML cross-sequence divider 49"/>
          <p:cNvSpPr/>
          <p:nvPr/>
        </p:nvSpPr>
        <p:spPr>
          <a:xfrm>
            <a:off x="5478244" y="2758436"/>
            <a:ext cx="952" cy="948121"/>
          </a:xfrm>
          <a:custGeom>
            <a:avLst/>
            <a:gdLst/>
            <a:ahLst/>
            <a:cxnLst/>
            <a:rect l="0" t="0" r="r" b="b"/>
            <a:pathLst>
              <a:path w="952" h="989838" fill="none" extrusionOk="0">
                <a:moveTo>
                  <a:pt x="0" y="0"/>
                </a:moveTo>
                <a:lnTo>
                  <a:pt x="0" y="989838"/>
                </a:lnTo>
              </a:path>
            </a:pathLst>
          </a:custGeom>
          <a:noFill/>
          <a:ln w="9124">
            <a:solidFill>
              <a:srgbClr val="697487"/>
            </a:solidFill>
            <a:prstDash val="dash"/>
          </a:ln>
        </p:spPr>
      </p:sp>
      <p:sp>
        <p:nvSpPr>
          <p:cNvPr id="50" name="UML cross-sequence box 50"/>
          <p:cNvSpPr/>
          <p:nvPr/>
        </p:nvSpPr>
        <p:spPr>
          <a:xfrm>
            <a:off x="5432626" y="3150385"/>
            <a:ext cx="91236" cy="391948"/>
          </a:xfrm>
          <a:prstGeom prst="rect">
            <a:avLst/>
          </a:prstGeom>
          <a:solidFill>
            <a:srgbClr val="FFFFFF"/>
          </a:solidFill>
          <a:ln w="9124">
            <a:solidFill>
              <a:srgbClr val="000000"/>
            </a:solidFill>
          </a:ln>
        </p:spPr>
      </p:sp>
      <p:sp>
        <p:nvSpPr>
          <p:cNvPr id="51" name="UML cross-sequence box 51"/>
          <p:cNvSpPr/>
          <p:nvPr/>
        </p:nvSpPr>
        <p:spPr>
          <a:xfrm>
            <a:off x="3563846" y="2348241"/>
            <a:ext cx="364760" cy="35545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124">
            <a:solidFill>
              <a:srgbClr val="1F2A44"/>
            </a:solidFill>
          </a:ln>
        </p:spPr>
      </p:sp>
      <p:sp>
        <p:nvSpPr>
          <p:cNvPr id="52" name="UML cross-sequence label 52"/>
          <p:cNvSpPr/>
          <p:nvPr/>
        </p:nvSpPr>
        <p:spPr>
          <a:xfrm>
            <a:off x="3606271" y="2408456"/>
            <a:ext cx="337389" cy="266408"/>
          </a:xfrm>
          <a:prstGeom prst="rect">
            <a:avLst/>
          </a:prstGeom>
          <a:noFill/>
          <a:ln w="9124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37" dirty="0">
                <a:solidFill>
                  <a:srgbClr val="000000"/>
                </a:solidFill>
                <a:latin typeface="Noto Sans SC"/>
                <a:ea typeface="Noto Sans SC"/>
              </a:rPr>
              <a:t>svc</a:t>
            </a:r>
            <a:endParaRPr lang="zh-CN" sz="1437"/>
          </a:p>
        </p:txBody>
      </p:sp>
      <p:sp>
        <p:nvSpPr>
          <p:cNvPr id="53" name="UML cross-sequence box 53"/>
          <p:cNvSpPr/>
          <p:nvPr/>
        </p:nvSpPr>
        <p:spPr>
          <a:xfrm>
            <a:off x="5382081" y="2348241"/>
            <a:ext cx="192325" cy="355454"/>
          </a:xfrm>
          <a:prstGeom prst="roundRect">
            <a:avLst>
              <a:gd name="adj" fmla="val 11860"/>
            </a:avLst>
          </a:prstGeom>
          <a:solidFill>
            <a:srgbClr val="FFFFFF"/>
          </a:solidFill>
          <a:ln w="9124">
            <a:solidFill>
              <a:srgbClr val="1F2A44"/>
            </a:solidFill>
          </a:ln>
        </p:spPr>
      </p:sp>
      <p:sp>
        <p:nvSpPr>
          <p:cNvPr id="54" name="UML cross-sequence label 54"/>
          <p:cNvSpPr/>
          <p:nvPr/>
        </p:nvSpPr>
        <p:spPr>
          <a:xfrm>
            <a:off x="5424506" y="2408456"/>
            <a:ext cx="246336" cy="266408"/>
          </a:xfrm>
          <a:prstGeom prst="rect">
            <a:avLst/>
          </a:prstGeom>
          <a:noFill/>
          <a:ln w="9124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37" dirty="0">
                <a:solidFill>
                  <a:srgbClr val="000000"/>
                </a:solidFill>
                <a:latin typeface="Noto Sans SC"/>
                <a:ea typeface="Noto Sans SC"/>
              </a:rPr>
              <a:t>e</a:t>
            </a:r>
            <a:endParaRPr lang="zh-CN" sz="1437"/>
          </a:p>
        </p:txBody>
      </p:sp>
      <p:sp>
        <p:nvSpPr>
          <p:cNvPr id="55" name="UML cross-sequence arrow 55"/>
          <p:cNvSpPr/>
          <p:nvPr/>
        </p:nvSpPr>
        <p:spPr>
          <a:xfrm>
            <a:off x="5323143" y="3113890"/>
            <a:ext cx="91236" cy="72989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F2A44"/>
          </a:solidFill>
          <a:ln w="9124">
            <a:solidFill>
              <a:srgbClr val="1F2A44"/>
            </a:solidFill>
          </a:ln>
        </p:spPr>
      </p:sp>
      <p:sp>
        <p:nvSpPr>
          <p:cNvPr id="56" name="UML cross-sequence divider 56"/>
          <p:cNvSpPr/>
          <p:nvPr/>
        </p:nvSpPr>
        <p:spPr>
          <a:xfrm>
            <a:off x="3746226" y="3150385"/>
            <a:ext cx="1631658" cy="952"/>
          </a:xfrm>
          <a:custGeom>
            <a:avLst/>
            <a:gdLst/>
            <a:ahLst/>
            <a:cxnLst/>
            <a:rect l="0" t="0" r="r" b="b"/>
            <a:pathLst>
              <a:path w="1703451" h="952" fill="none" extrusionOk="0">
                <a:moveTo>
                  <a:pt x="0" y="0"/>
                </a:moveTo>
                <a:lnTo>
                  <a:pt x="1703451" y="0"/>
                </a:lnTo>
              </a:path>
            </a:pathLst>
          </a:custGeom>
          <a:noFill/>
          <a:ln w="11861">
            <a:solidFill>
              <a:srgbClr val="1F2A44"/>
            </a:solidFill>
          </a:ln>
        </p:spPr>
      </p:sp>
      <p:sp>
        <p:nvSpPr>
          <p:cNvPr id="57" name="UML cross-sequence label 57"/>
          <p:cNvSpPr/>
          <p:nvPr/>
        </p:nvSpPr>
        <p:spPr>
          <a:xfrm>
            <a:off x="4192460" y="2882517"/>
            <a:ext cx="851411" cy="266408"/>
          </a:xfrm>
          <a:prstGeom prst="rect">
            <a:avLst/>
          </a:prstGeom>
          <a:noFill/>
          <a:ln w="9124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37" dirty="0">
                <a:solidFill>
                  <a:srgbClr val="1F2A44"/>
                </a:solidFill>
                <a:latin typeface="Noto Sans SC"/>
                <a:ea typeface="Noto Sans SC"/>
              </a:rPr>
              <a:t>confirm()</a:t>
            </a:r>
            <a:endParaRPr lang="zh-CN" sz="1437"/>
          </a:p>
        </p:txBody>
      </p:sp>
      <p:sp>
        <p:nvSpPr>
          <p:cNvPr id="58" name="UML cross-sequence arrow 58"/>
          <p:cNvSpPr/>
          <p:nvPr/>
        </p:nvSpPr>
        <p:spPr>
          <a:xfrm>
            <a:off x="3755350" y="3505839"/>
            <a:ext cx="91236" cy="72989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95250" y="0"/>
                </a:moveTo>
                <a:lnTo>
                  <a:pt x="0" y="38100"/>
                </a:lnTo>
                <a:lnTo>
                  <a:pt x="95250" y="76200"/>
                </a:lnTo>
                <a:close/>
              </a:path>
            </a:pathLst>
          </a:custGeom>
          <a:solidFill>
            <a:srgbClr val="1F2A44"/>
          </a:solidFill>
          <a:ln w="9124">
            <a:solidFill>
              <a:srgbClr val="1F2A44"/>
            </a:solidFill>
          </a:ln>
        </p:spPr>
      </p:sp>
      <p:sp>
        <p:nvSpPr>
          <p:cNvPr id="59" name="UML cross-sequence divider 59"/>
          <p:cNvSpPr/>
          <p:nvPr/>
        </p:nvSpPr>
        <p:spPr>
          <a:xfrm>
            <a:off x="3791844" y="3542333"/>
            <a:ext cx="1631658" cy="952"/>
          </a:xfrm>
          <a:custGeom>
            <a:avLst/>
            <a:gdLst/>
            <a:ahLst/>
            <a:cxnLst/>
            <a:rect l="0" t="0" r="r" b="b"/>
            <a:pathLst>
              <a:path w="1703451" h="952" fill="none" extrusionOk="0">
                <a:moveTo>
                  <a:pt x="0" y="0"/>
                </a:moveTo>
                <a:lnTo>
                  <a:pt x="1703451" y="0"/>
                </a:lnTo>
              </a:path>
            </a:pathLst>
          </a:custGeom>
          <a:noFill/>
          <a:ln w="11861">
            <a:solidFill>
              <a:srgbClr val="1F2A44"/>
            </a:solidFill>
            <a:prstDash val="dash"/>
          </a:ln>
        </p:spPr>
      </p:sp>
      <p:sp>
        <p:nvSpPr>
          <p:cNvPr id="60" name="UML cross-sequence label 60"/>
          <p:cNvSpPr/>
          <p:nvPr/>
        </p:nvSpPr>
        <p:spPr>
          <a:xfrm>
            <a:off x="3852516" y="3274465"/>
            <a:ext cx="1531299" cy="266408"/>
          </a:xfrm>
          <a:prstGeom prst="rect">
            <a:avLst/>
          </a:prstGeom>
          <a:noFill/>
          <a:ln w="9124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37" dirty="0">
                <a:solidFill>
                  <a:srgbClr val="1F2A44"/>
                </a:solidFill>
                <a:latin typeface="Noto Sans SC"/>
                <a:ea typeface="Noto Sans SC"/>
              </a:rPr>
              <a:t>confirm() : 已确认</a:t>
            </a:r>
            <a:endParaRPr lang="zh-CN" sz="1437"/>
          </a:p>
        </p:txBody>
      </p:sp>
      <p:sp>
        <p:nvSpPr>
          <p:cNvPr id="11" name="content-171">
            <a:extLst>
              <a:ext uri="{FF2B5EF4-FFF2-40B4-BE49-F238E27FC236}">
                <a16:creationId xmlns:a16="http://schemas.microsoft.com/office/drawing/2014/main" id="{3BF46E53-BC8B-44FE-91DE-BCC86F50767B}"/>
              </a:ext>
            </a:extLst>
          </p:cNvPr>
          <p:cNvSpPr>
            <a:spLocks noGrp="1"/>
          </p:cNvSpPr>
          <p:nvPr/>
        </p:nvSpPr>
        <p:spPr>
          <a:xfrm>
            <a:off x="6286500" y="15049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状态机图（e）</a:t>
            </a:r>
          </a:p>
        </p:txBody>
      </p:sp>
      <p:sp>
        <p:nvSpPr>
          <p:cNvPr id="61" name="UML cross-state-wrong box 61"/>
          <p:cNvSpPr/>
          <p:nvPr/>
        </p:nvSpPr>
        <p:spPr>
          <a:xfrm>
            <a:off x="6694181" y="1974948"/>
            <a:ext cx="732579" cy="45786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157">
            <a:solidFill>
              <a:srgbClr val="1F2A44"/>
            </a:solidFill>
          </a:ln>
        </p:spPr>
      </p:sp>
      <p:sp>
        <p:nvSpPr>
          <p:cNvPr id="62" name="UML cross-state-wrong divider 62"/>
          <p:cNvSpPr/>
          <p:nvPr/>
        </p:nvSpPr>
        <p:spPr>
          <a:xfrm>
            <a:off x="6694181" y="2331714"/>
            <a:ext cx="732579" cy="952"/>
          </a:xfrm>
          <a:custGeom>
            <a:avLst/>
            <a:gdLst/>
            <a:ahLst/>
            <a:cxnLst/>
            <a:rect l="0" t="0" r="r" b="b"/>
            <a:pathLst>
              <a:path w="762000" h="952" fill="none" extrusionOk="0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9157">
            <a:solidFill>
              <a:srgbClr val="1F2A44"/>
            </a:solidFill>
          </a:ln>
        </p:spPr>
      </p:sp>
      <p:sp>
        <p:nvSpPr>
          <p:cNvPr id="63" name="UML cross-state-wrong label 63"/>
          <p:cNvSpPr/>
          <p:nvPr/>
        </p:nvSpPr>
        <p:spPr>
          <a:xfrm>
            <a:off x="6782548" y="2035386"/>
            <a:ext cx="613535" cy="267391"/>
          </a:xfrm>
          <a:prstGeom prst="rect">
            <a:avLst/>
          </a:prstGeom>
          <a:noFill/>
          <a:ln w="9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42" dirty="0">
                <a:solidFill>
                  <a:srgbClr val="1F2A44"/>
                </a:solidFill>
                <a:latin typeface="Noto Sans SC"/>
                <a:ea typeface="Noto Sans SC"/>
              </a:rPr>
              <a:t>待处理</a:t>
            </a:r>
            <a:endParaRPr lang="zh-CN" sz="1442"/>
          </a:p>
        </p:txBody>
      </p:sp>
      <p:sp>
        <p:nvSpPr>
          <p:cNvPr id="64" name="UML cross-state-wrong box 64"/>
          <p:cNvSpPr/>
          <p:nvPr/>
        </p:nvSpPr>
        <p:spPr>
          <a:xfrm>
            <a:off x="6694181" y="3586622"/>
            <a:ext cx="732579" cy="45786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157">
            <a:solidFill>
              <a:srgbClr val="1F2A44"/>
            </a:solidFill>
          </a:ln>
        </p:spPr>
      </p:sp>
      <p:sp>
        <p:nvSpPr>
          <p:cNvPr id="65" name="UML cross-state-wrong divider 65"/>
          <p:cNvSpPr/>
          <p:nvPr/>
        </p:nvSpPr>
        <p:spPr>
          <a:xfrm>
            <a:off x="6694181" y="3943388"/>
            <a:ext cx="732579" cy="952"/>
          </a:xfrm>
          <a:custGeom>
            <a:avLst/>
            <a:gdLst/>
            <a:ahLst/>
            <a:cxnLst/>
            <a:rect l="0" t="0" r="r" b="b"/>
            <a:pathLst>
              <a:path w="762000" h="952" fill="none" extrusionOk="0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9157">
            <a:solidFill>
              <a:srgbClr val="1F2A44"/>
            </a:solidFill>
          </a:ln>
        </p:spPr>
      </p:sp>
      <p:sp>
        <p:nvSpPr>
          <p:cNvPr id="66" name="UML cross-state-wrong label 66"/>
          <p:cNvSpPr/>
          <p:nvPr/>
        </p:nvSpPr>
        <p:spPr>
          <a:xfrm>
            <a:off x="6782548" y="3647060"/>
            <a:ext cx="613535" cy="267391"/>
          </a:xfrm>
          <a:prstGeom prst="rect">
            <a:avLst/>
          </a:prstGeom>
          <a:noFill/>
          <a:ln w="9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42" dirty="0">
                <a:solidFill>
                  <a:srgbClr val="1F2A44"/>
                </a:solidFill>
                <a:latin typeface="Noto Sans SC"/>
                <a:ea typeface="Noto Sans SC"/>
              </a:rPr>
              <a:t>已拒绝</a:t>
            </a:r>
            <a:endParaRPr lang="zh-CN" sz="1442"/>
          </a:p>
        </p:txBody>
      </p:sp>
      <p:sp>
        <p:nvSpPr>
          <p:cNvPr id="67" name="UML cross-state-wrong arrow 67"/>
          <p:cNvSpPr/>
          <p:nvPr/>
        </p:nvSpPr>
        <p:spPr>
          <a:xfrm>
            <a:off x="7023842" y="3501753"/>
            <a:ext cx="73258" cy="82415"/>
          </a:xfrm>
          <a:custGeom>
            <a:avLst/>
            <a:gdLst/>
            <a:ahLst/>
            <a:cxnLst/>
            <a:rect l="0" t="0" r="r" b="b"/>
            <a:pathLst>
              <a:path w="76200" h="85725" extrusionOk="0">
                <a:moveTo>
                  <a:pt x="38100" y="85725"/>
                </a:moveTo>
                <a:lnTo>
                  <a:pt x="76200" y="0"/>
                </a:lnTo>
                <a:lnTo>
                  <a:pt x="38100" y="38100"/>
                </a:lnTo>
                <a:lnTo>
                  <a:pt x="0" y="0"/>
                </a:lnTo>
                <a:lnTo>
                  <a:pt x="38100" y="85725"/>
                </a:lnTo>
                <a:close/>
              </a:path>
            </a:pathLst>
          </a:custGeom>
          <a:solidFill>
            <a:srgbClr val="1F2A44"/>
          </a:solidFill>
          <a:ln w="9157">
            <a:solidFill>
              <a:srgbClr val="1F2A44"/>
            </a:solidFill>
          </a:ln>
        </p:spPr>
      </p:sp>
      <p:sp>
        <p:nvSpPr>
          <p:cNvPr id="68" name="UML cross-state-wrong connection 68"/>
          <p:cNvSpPr/>
          <p:nvPr/>
        </p:nvSpPr>
        <p:spPr>
          <a:xfrm>
            <a:off x="7060471" y="2434587"/>
            <a:ext cx="952" cy="1103795"/>
          </a:xfrm>
          <a:custGeom>
            <a:avLst/>
            <a:gdLst/>
            <a:ahLst/>
            <a:cxnLst/>
            <a:rect l="0" t="0" r="r" b="b"/>
            <a:pathLst>
              <a:path w="952" h="1148124" fill="none" extrusionOk="0">
                <a:moveTo>
                  <a:pt x="0" y="0"/>
                </a:moveTo>
                <a:cubicBezTo>
                  <a:pt x="0" y="315754"/>
                  <a:pt x="0" y="831999"/>
                  <a:pt x="0" y="1148124"/>
                </a:cubicBezTo>
              </a:path>
            </a:pathLst>
          </a:custGeom>
          <a:noFill/>
          <a:ln w="9157">
            <a:solidFill>
              <a:srgbClr val="1F2A44"/>
            </a:solidFill>
          </a:ln>
        </p:spPr>
      </p:sp>
      <p:sp>
        <p:nvSpPr>
          <p:cNvPr id="69" name="UML cross-state-wrong label 69"/>
          <p:cNvSpPr/>
          <p:nvPr/>
        </p:nvSpPr>
        <p:spPr>
          <a:xfrm>
            <a:off x="7286197" y="2630606"/>
            <a:ext cx="854554" cy="267391"/>
          </a:xfrm>
          <a:prstGeom prst="rect">
            <a:avLst/>
          </a:prstGeom>
          <a:noFill/>
          <a:ln w="9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42" dirty="0">
                <a:solidFill>
                  <a:srgbClr val="1F2A44"/>
                </a:solidFill>
                <a:latin typeface="Noto Sans SC"/>
                <a:ea typeface="Noto Sans SC"/>
              </a:rPr>
              <a:t>confirm()</a:t>
            </a:r>
            <a:endParaRPr lang="zh-CN" sz="1442"/>
          </a:p>
        </p:txBody>
      </p:sp>
      <p:sp>
        <p:nvSpPr>
          <p:cNvPr id="70" name="UML cross-state-wrong label 70"/>
          <p:cNvSpPr/>
          <p:nvPr/>
        </p:nvSpPr>
        <p:spPr>
          <a:xfrm>
            <a:off x="7293705" y="2895800"/>
            <a:ext cx="839536" cy="267391"/>
          </a:xfrm>
          <a:prstGeom prst="rect">
            <a:avLst/>
          </a:prstGeom>
          <a:noFill/>
          <a:ln w="9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42" dirty="0">
                <a:solidFill>
                  <a:srgbClr val="1F2A44"/>
                </a:solidFill>
                <a:latin typeface="Noto Sans SC"/>
                <a:ea typeface="Noto Sans SC"/>
              </a:rPr>
              <a:t>[余量 &gt; 0]</a:t>
            </a:r>
            <a:endParaRPr lang="zh-CN" sz="1442"/>
          </a:p>
        </p:txBody>
      </p:sp>
      <p:sp>
        <p:nvSpPr>
          <p:cNvPr id="71" name="UML cross-state-wrong label 71"/>
          <p:cNvSpPr/>
          <p:nvPr/>
        </p:nvSpPr>
        <p:spPr>
          <a:xfrm>
            <a:off x="7075580" y="3160994"/>
            <a:ext cx="1275787" cy="267391"/>
          </a:xfrm>
          <a:prstGeom prst="rect">
            <a:avLst/>
          </a:prstGeom>
          <a:noFill/>
          <a:ln w="9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42" dirty="0">
                <a:solidFill>
                  <a:srgbClr val="1F2A44"/>
                </a:solidFill>
                <a:latin typeface="Noto Sans SC"/>
                <a:ea typeface="Noto Sans SC"/>
              </a:rPr>
              <a:t>/ 写入确认结果</a:t>
            </a:r>
            <a:endParaRPr lang="zh-CN" sz="1442"/>
          </a:p>
        </p:txBody>
      </p:sp>
      <p:sp>
        <p:nvSpPr>
          <p:cNvPr id="13" name="frame-172">
            <a:extLst>
              <a:ext uri="{FF2B5EF4-FFF2-40B4-BE49-F238E27FC236}">
                <a16:creationId xmlns:a16="http://schemas.microsoft.com/office/drawing/2014/main" id="{61DC2881-02BA-4992-8B79-394B2E6F35FB}"/>
              </a:ext>
            </a:extLst>
          </p:cNvPr>
          <p:cNvSpPr>
            <a:spLocks noGrp="1"/>
          </p:cNvSpPr>
          <p:nvPr/>
        </p:nvSpPr>
        <p:spPr>
          <a:xfrm>
            <a:off x="3114675" y="1504950"/>
            <a:ext cx="6668" cy="268605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4" name="frame-173">
            <a:extLst>
              <a:ext uri="{FF2B5EF4-FFF2-40B4-BE49-F238E27FC236}">
                <a16:creationId xmlns:a16="http://schemas.microsoft.com/office/drawing/2014/main" id="{0D2D2FC6-E916-415E-876A-54FBFC22708E}"/>
              </a:ext>
            </a:extLst>
          </p:cNvPr>
          <p:cNvSpPr>
            <a:spLocks noGrp="1"/>
          </p:cNvSpPr>
          <p:nvPr/>
        </p:nvSpPr>
        <p:spPr>
          <a:xfrm>
            <a:off x="6019800" y="1504950"/>
            <a:ext cx="6668" cy="268605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174">
            <a:extLst>
              <a:ext uri="{FF2B5EF4-FFF2-40B4-BE49-F238E27FC236}">
                <a16:creationId xmlns:a16="http://schemas.microsoft.com/office/drawing/2014/main" id="{021A928F-6B4D-439A-84E1-562FE3972E23}"/>
              </a:ext>
            </a:extLst>
          </p:cNvPr>
          <p:cNvSpPr>
            <a:spLocks noGrp="1"/>
          </p:cNvSpPr>
          <p:nvPr/>
        </p:nvSpPr>
        <p:spPr>
          <a:xfrm>
            <a:off x="476250" y="4324350"/>
            <a:ext cx="8191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找出不一致之处，并说明修改依据。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-175">
            <a:extLst>
              <a:ext uri="{FF2B5EF4-FFF2-40B4-BE49-F238E27FC236}">
                <a16:creationId xmlns:a16="http://schemas.microsoft.com/office/drawing/2014/main" id="{A7F1E152-F591-49CE-9993-DF64A7FC0133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三图一致性检查（参考）</a:t>
            </a:r>
          </a:p>
        </p:txBody>
      </p:sp>
      <p:sp>
        <p:nvSpPr>
          <p:cNvPr id="2" name="frame-176">
            <a:extLst>
              <a:ext uri="{FF2B5EF4-FFF2-40B4-BE49-F238E27FC236}">
                <a16:creationId xmlns:a16="http://schemas.microsoft.com/office/drawing/2014/main" id="{2665CCC6-31DC-42DF-A8E8-98EBBAACFE78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77">
            <a:extLst>
              <a:ext uri="{FF2B5EF4-FFF2-40B4-BE49-F238E27FC236}">
                <a16:creationId xmlns:a16="http://schemas.microsoft.com/office/drawing/2014/main" id="{7271025C-B65C-4B27-9026-1D408AD379ED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34A0FA48-63F3-4141-BFFA-39363D8A43F2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9F05A991-7964-4D07-B7B9-D6AE49080207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23 / 78</a:t>
            </a:r>
          </a:p>
        </p:txBody>
      </p:sp>
      <p:sp>
        <p:nvSpPr>
          <p:cNvPr id="6" name="content-178">
            <a:extLst>
              <a:ext uri="{FF2B5EF4-FFF2-40B4-BE49-F238E27FC236}">
                <a16:creationId xmlns:a16="http://schemas.microsoft.com/office/drawing/2014/main" id="{C974954B-6410-4BFE-A4C7-A1A9970863BF}"/>
              </a:ext>
            </a:extLst>
          </p:cNvPr>
          <p:cNvSpPr>
            <a:spLocks noGrp="1"/>
          </p:cNvSpPr>
          <p:nvPr/>
        </p:nvSpPr>
        <p:spPr>
          <a:xfrm>
            <a:off x="476250" y="1066800"/>
            <a:ext cx="819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同一输入：e处于待处理，余量为2。</a:t>
            </a:r>
          </a:p>
        </p:txBody>
      </p:sp>
      <p:sp>
        <p:nvSpPr>
          <p:cNvPr id="7" name="content-179">
            <a:extLst>
              <a:ext uri="{FF2B5EF4-FFF2-40B4-BE49-F238E27FC236}">
                <a16:creationId xmlns:a16="http://schemas.microsoft.com/office/drawing/2014/main" id="{291AE29C-222C-42B7-A7A2-88CB77FEF0A5}"/>
              </a:ext>
            </a:extLst>
          </p:cNvPr>
          <p:cNvSpPr>
            <a:spLocks noGrp="1"/>
          </p:cNvSpPr>
          <p:nvPr/>
        </p:nvSpPr>
        <p:spPr>
          <a:xfrm>
            <a:off x="476250" y="15049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活动图</a:t>
            </a:r>
          </a:p>
        </p:txBody>
      </p:sp>
      <p:sp>
        <p:nvSpPr>
          <p:cNvPr id="33" name="UML cross-activity anchor 33"/>
          <p:cNvSpPr/>
          <p:nvPr/>
        </p:nvSpPr>
        <p:spPr>
          <a:xfrm>
            <a:off x="1552575" y="2033588"/>
            <a:ext cx="190500" cy="190500"/>
          </a:xfrm>
          <a:prstGeom prst="ellipse">
            <a:avLst/>
          </a:prstGeom>
          <a:solidFill>
            <a:srgbClr val="1F2A44"/>
          </a:solidFill>
          <a:ln w="9525">
            <a:solidFill>
              <a:srgbClr val="000000"/>
            </a:solidFill>
          </a:ln>
        </p:spPr>
      </p:sp>
      <p:sp>
        <p:nvSpPr>
          <p:cNvPr id="34" name="UML cross-activity box 34"/>
          <p:cNvSpPr/>
          <p:nvPr/>
        </p:nvSpPr>
        <p:spPr>
          <a:xfrm>
            <a:off x="1171575" y="2414588"/>
            <a:ext cx="952500" cy="466344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35" name="UML cross-activity label 35"/>
          <p:cNvSpPr/>
          <p:nvPr/>
        </p:nvSpPr>
        <p:spPr>
          <a:xfrm>
            <a:off x="1263491" y="2525078"/>
            <a:ext cx="828675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确认记录</a:t>
            </a:r>
            <a:endParaRPr lang="zh-CN" sz="1500"/>
          </a:p>
        </p:txBody>
      </p:sp>
      <p:sp>
        <p:nvSpPr>
          <p:cNvPr id="36" name="UML cross-activity box 36"/>
          <p:cNvSpPr/>
          <p:nvPr/>
        </p:nvSpPr>
        <p:spPr>
          <a:xfrm>
            <a:off x="1171575" y="3071432"/>
            <a:ext cx="952500" cy="466344"/>
          </a:xfrm>
          <a:prstGeom prst="roundRect">
            <a:avLst>
              <a:gd name="adj" fmla="val 25531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</p:spPr>
      </p:sp>
      <p:sp>
        <p:nvSpPr>
          <p:cNvPr id="37" name="UML cross-activity label 37"/>
          <p:cNvSpPr/>
          <p:nvPr/>
        </p:nvSpPr>
        <p:spPr>
          <a:xfrm>
            <a:off x="1263491" y="3181922"/>
            <a:ext cx="828675" cy="2781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500" dirty="0">
                <a:solidFill>
                  <a:srgbClr val="1F2A44"/>
                </a:solidFill>
                <a:latin typeface="Noto Sans SC"/>
                <a:ea typeface="Noto Sans SC"/>
              </a:rPr>
              <a:t>显示成功</a:t>
            </a:r>
            <a:endParaRPr lang="zh-CN" sz="1500"/>
          </a:p>
        </p:txBody>
      </p:sp>
      <p:sp>
        <p:nvSpPr>
          <p:cNvPr id="38" name="UML cross-activity anchor 38"/>
          <p:cNvSpPr/>
          <p:nvPr/>
        </p:nvSpPr>
        <p:spPr>
          <a:xfrm>
            <a:off x="1543050" y="3728275"/>
            <a:ext cx="209550" cy="209550"/>
          </a:xfrm>
          <a:prstGeom prst="ellipse">
            <a:avLst/>
          </a:prstGeom>
          <a:noFill/>
          <a:ln w="9525">
            <a:solidFill>
              <a:srgbClr val="000000"/>
            </a:solidFill>
          </a:ln>
        </p:spPr>
      </p:sp>
      <p:sp>
        <p:nvSpPr>
          <p:cNvPr id="39" name="UML cross-activity anchor 39"/>
          <p:cNvSpPr/>
          <p:nvPr/>
        </p:nvSpPr>
        <p:spPr>
          <a:xfrm>
            <a:off x="1590675" y="3775900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40" name="UML cross-activity divider 40"/>
          <p:cNvSpPr/>
          <p:nvPr/>
        </p:nvSpPr>
        <p:spPr>
          <a:xfrm>
            <a:off x="1647825" y="2224088"/>
            <a:ext cx="952" cy="19050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41" name="UML cross-activity arrow 41"/>
          <p:cNvSpPr/>
          <p:nvPr/>
        </p:nvSpPr>
        <p:spPr>
          <a:xfrm>
            <a:off x="1609725" y="2319338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42" name="UML cross-activity divider 42"/>
          <p:cNvSpPr/>
          <p:nvPr/>
        </p:nvSpPr>
        <p:spPr>
          <a:xfrm>
            <a:off x="1647825" y="2880932"/>
            <a:ext cx="952" cy="19050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43" name="UML cross-activity arrow 43"/>
          <p:cNvSpPr/>
          <p:nvPr/>
        </p:nvSpPr>
        <p:spPr>
          <a:xfrm>
            <a:off x="1609725" y="2976182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44" name="UML cross-activity divider 44"/>
          <p:cNvSpPr/>
          <p:nvPr/>
        </p:nvSpPr>
        <p:spPr>
          <a:xfrm>
            <a:off x="1647825" y="3537775"/>
            <a:ext cx="952" cy="190500"/>
          </a:xfrm>
          <a:custGeom>
            <a:avLst/>
            <a:gdLst/>
            <a:ahLst/>
            <a:cxnLst/>
            <a:rect l="0" t="0" r="r" b="b"/>
            <a:pathLst>
              <a:path w="952" h="190500" fill="none" extrusionOk="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1F2A44"/>
            </a:solidFill>
          </a:ln>
        </p:spPr>
      </p:sp>
      <p:sp>
        <p:nvSpPr>
          <p:cNvPr id="45" name="UML cross-activity arrow 45"/>
          <p:cNvSpPr/>
          <p:nvPr/>
        </p:nvSpPr>
        <p:spPr>
          <a:xfrm>
            <a:off x="1609725" y="3633025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 extrusionOk="0">
                <a:moveTo>
                  <a:pt x="0" y="0"/>
                </a:moveTo>
                <a:lnTo>
                  <a:pt x="38100" y="95250"/>
                </a:lnTo>
                <a:lnTo>
                  <a:pt x="762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1F2A44"/>
          </a:solidFill>
          <a:ln w="9525">
            <a:solidFill>
              <a:srgbClr val="1F2A44"/>
            </a:solidFill>
          </a:ln>
        </p:spPr>
      </p:sp>
      <p:sp>
        <p:nvSpPr>
          <p:cNvPr id="9" name="content-180">
            <a:extLst>
              <a:ext uri="{FF2B5EF4-FFF2-40B4-BE49-F238E27FC236}">
                <a16:creationId xmlns:a16="http://schemas.microsoft.com/office/drawing/2014/main" id="{F9D892C1-F4A2-4C09-998A-4B53C159225C}"/>
              </a:ext>
            </a:extLst>
          </p:cNvPr>
          <p:cNvSpPr>
            <a:spLocks noGrp="1"/>
          </p:cNvSpPr>
          <p:nvPr/>
        </p:nvSpPr>
        <p:spPr>
          <a:xfrm>
            <a:off x="3381375" y="15049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顺序图</a:t>
            </a:r>
          </a:p>
        </p:txBody>
      </p:sp>
      <p:sp>
        <p:nvSpPr>
          <p:cNvPr id="46" name="UML cross-sequence box 46"/>
          <p:cNvSpPr/>
          <p:nvPr/>
        </p:nvSpPr>
        <p:spPr>
          <a:xfrm>
            <a:off x="3714294" y="2758436"/>
            <a:ext cx="72989" cy="948121"/>
          </a:xfrm>
          <a:prstGeom prst="rect">
            <a:avLst/>
          </a:prstGeom>
          <a:noFill/>
          <a:ln w="9124">
            <a:noFill/>
          </a:ln>
        </p:spPr>
      </p:sp>
      <p:sp>
        <p:nvSpPr>
          <p:cNvPr id="47" name="UML cross-sequence divider 47"/>
          <p:cNvSpPr/>
          <p:nvPr/>
        </p:nvSpPr>
        <p:spPr>
          <a:xfrm>
            <a:off x="3746226" y="2758436"/>
            <a:ext cx="952" cy="948121"/>
          </a:xfrm>
          <a:custGeom>
            <a:avLst/>
            <a:gdLst/>
            <a:ahLst/>
            <a:cxnLst/>
            <a:rect l="0" t="0" r="r" b="b"/>
            <a:pathLst>
              <a:path w="952" h="989838" fill="none" extrusionOk="0">
                <a:moveTo>
                  <a:pt x="0" y="0"/>
                </a:moveTo>
                <a:lnTo>
                  <a:pt x="0" y="989838"/>
                </a:lnTo>
              </a:path>
            </a:pathLst>
          </a:custGeom>
          <a:noFill/>
          <a:ln w="9124">
            <a:solidFill>
              <a:srgbClr val="697487"/>
            </a:solidFill>
            <a:prstDash val="dash"/>
          </a:ln>
        </p:spPr>
      </p:sp>
      <p:sp>
        <p:nvSpPr>
          <p:cNvPr id="48" name="UML cross-sequence box 48"/>
          <p:cNvSpPr/>
          <p:nvPr/>
        </p:nvSpPr>
        <p:spPr>
          <a:xfrm>
            <a:off x="5446311" y="2758436"/>
            <a:ext cx="72989" cy="948121"/>
          </a:xfrm>
          <a:prstGeom prst="rect">
            <a:avLst/>
          </a:prstGeom>
          <a:noFill/>
          <a:ln w="9124">
            <a:noFill/>
          </a:ln>
        </p:spPr>
      </p:sp>
      <p:sp>
        <p:nvSpPr>
          <p:cNvPr id="49" name="UML cross-sequence divider 49"/>
          <p:cNvSpPr/>
          <p:nvPr/>
        </p:nvSpPr>
        <p:spPr>
          <a:xfrm>
            <a:off x="5478244" y="2758436"/>
            <a:ext cx="952" cy="948121"/>
          </a:xfrm>
          <a:custGeom>
            <a:avLst/>
            <a:gdLst/>
            <a:ahLst/>
            <a:cxnLst/>
            <a:rect l="0" t="0" r="r" b="b"/>
            <a:pathLst>
              <a:path w="952" h="989838" fill="none" extrusionOk="0">
                <a:moveTo>
                  <a:pt x="0" y="0"/>
                </a:moveTo>
                <a:lnTo>
                  <a:pt x="0" y="989838"/>
                </a:lnTo>
              </a:path>
            </a:pathLst>
          </a:custGeom>
          <a:noFill/>
          <a:ln w="9124">
            <a:solidFill>
              <a:srgbClr val="697487"/>
            </a:solidFill>
            <a:prstDash val="dash"/>
          </a:ln>
        </p:spPr>
      </p:sp>
      <p:sp>
        <p:nvSpPr>
          <p:cNvPr id="50" name="UML cross-sequence box 50"/>
          <p:cNvSpPr/>
          <p:nvPr/>
        </p:nvSpPr>
        <p:spPr>
          <a:xfrm>
            <a:off x="5432626" y="3150385"/>
            <a:ext cx="91236" cy="391948"/>
          </a:xfrm>
          <a:prstGeom prst="rect">
            <a:avLst/>
          </a:prstGeom>
          <a:solidFill>
            <a:srgbClr val="FFFFFF"/>
          </a:solidFill>
          <a:ln w="9124">
            <a:solidFill>
              <a:srgbClr val="000000"/>
            </a:solidFill>
          </a:ln>
        </p:spPr>
      </p:sp>
      <p:sp>
        <p:nvSpPr>
          <p:cNvPr id="51" name="UML cross-sequence box 51"/>
          <p:cNvSpPr/>
          <p:nvPr/>
        </p:nvSpPr>
        <p:spPr>
          <a:xfrm>
            <a:off x="3563846" y="2348241"/>
            <a:ext cx="364760" cy="35545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124">
            <a:solidFill>
              <a:srgbClr val="1F2A44"/>
            </a:solidFill>
          </a:ln>
        </p:spPr>
      </p:sp>
      <p:sp>
        <p:nvSpPr>
          <p:cNvPr id="52" name="UML cross-sequence label 52"/>
          <p:cNvSpPr/>
          <p:nvPr/>
        </p:nvSpPr>
        <p:spPr>
          <a:xfrm>
            <a:off x="3606271" y="2408456"/>
            <a:ext cx="337389" cy="266408"/>
          </a:xfrm>
          <a:prstGeom prst="rect">
            <a:avLst/>
          </a:prstGeom>
          <a:noFill/>
          <a:ln w="9124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37" dirty="0">
                <a:solidFill>
                  <a:srgbClr val="000000"/>
                </a:solidFill>
                <a:latin typeface="Noto Sans SC"/>
                <a:ea typeface="Noto Sans SC"/>
              </a:rPr>
              <a:t>svc</a:t>
            </a:r>
            <a:endParaRPr lang="zh-CN" sz="1437"/>
          </a:p>
        </p:txBody>
      </p:sp>
      <p:sp>
        <p:nvSpPr>
          <p:cNvPr id="53" name="UML cross-sequence box 53"/>
          <p:cNvSpPr/>
          <p:nvPr/>
        </p:nvSpPr>
        <p:spPr>
          <a:xfrm>
            <a:off x="5382081" y="2348241"/>
            <a:ext cx="192325" cy="355454"/>
          </a:xfrm>
          <a:prstGeom prst="roundRect">
            <a:avLst>
              <a:gd name="adj" fmla="val 11860"/>
            </a:avLst>
          </a:prstGeom>
          <a:solidFill>
            <a:srgbClr val="FFFFFF"/>
          </a:solidFill>
          <a:ln w="9124">
            <a:solidFill>
              <a:srgbClr val="1F2A44"/>
            </a:solidFill>
          </a:ln>
        </p:spPr>
      </p:sp>
      <p:sp>
        <p:nvSpPr>
          <p:cNvPr id="54" name="UML cross-sequence label 54"/>
          <p:cNvSpPr/>
          <p:nvPr/>
        </p:nvSpPr>
        <p:spPr>
          <a:xfrm>
            <a:off x="5424506" y="2408456"/>
            <a:ext cx="246336" cy="266408"/>
          </a:xfrm>
          <a:prstGeom prst="rect">
            <a:avLst/>
          </a:prstGeom>
          <a:noFill/>
          <a:ln w="9124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37" dirty="0">
                <a:solidFill>
                  <a:srgbClr val="000000"/>
                </a:solidFill>
                <a:latin typeface="Noto Sans SC"/>
                <a:ea typeface="Noto Sans SC"/>
              </a:rPr>
              <a:t>e</a:t>
            </a:r>
            <a:endParaRPr lang="zh-CN" sz="1437"/>
          </a:p>
        </p:txBody>
      </p:sp>
      <p:sp>
        <p:nvSpPr>
          <p:cNvPr id="55" name="UML cross-sequence arrow 55"/>
          <p:cNvSpPr/>
          <p:nvPr/>
        </p:nvSpPr>
        <p:spPr>
          <a:xfrm>
            <a:off x="5323143" y="3113890"/>
            <a:ext cx="91236" cy="72989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F2A44"/>
          </a:solidFill>
          <a:ln w="9124">
            <a:solidFill>
              <a:srgbClr val="1F2A44"/>
            </a:solidFill>
          </a:ln>
        </p:spPr>
      </p:sp>
      <p:sp>
        <p:nvSpPr>
          <p:cNvPr id="56" name="UML cross-sequence divider 56"/>
          <p:cNvSpPr/>
          <p:nvPr/>
        </p:nvSpPr>
        <p:spPr>
          <a:xfrm>
            <a:off x="3746226" y="3150385"/>
            <a:ext cx="1631658" cy="952"/>
          </a:xfrm>
          <a:custGeom>
            <a:avLst/>
            <a:gdLst/>
            <a:ahLst/>
            <a:cxnLst/>
            <a:rect l="0" t="0" r="r" b="b"/>
            <a:pathLst>
              <a:path w="1703451" h="952" fill="none" extrusionOk="0">
                <a:moveTo>
                  <a:pt x="0" y="0"/>
                </a:moveTo>
                <a:lnTo>
                  <a:pt x="1703451" y="0"/>
                </a:lnTo>
              </a:path>
            </a:pathLst>
          </a:custGeom>
          <a:noFill/>
          <a:ln w="11861">
            <a:solidFill>
              <a:srgbClr val="1F2A44"/>
            </a:solidFill>
          </a:ln>
        </p:spPr>
      </p:sp>
      <p:sp>
        <p:nvSpPr>
          <p:cNvPr id="57" name="UML cross-sequence label 57"/>
          <p:cNvSpPr/>
          <p:nvPr/>
        </p:nvSpPr>
        <p:spPr>
          <a:xfrm>
            <a:off x="4192460" y="2882517"/>
            <a:ext cx="851411" cy="266408"/>
          </a:xfrm>
          <a:prstGeom prst="rect">
            <a:avLst/>
          </a:prstGeom>
          <a:noFill/>
          <a:ln w="9124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37" dirty="0">
                <a:solidFill>
                  <a:srgbClr val="1F2A44"/>
                </a:solidFill>
                <a:latin typeface="Noto Sans SC"/>
                <a:ea typeface="Noto Sans SC"/>
              </a:rPr>
              <a:t>confirm()</a:t>
            </a:r>
            <a:endParaRPr lang="zh-CN" sz="1437"/>
          </a:p>
        </p:txBody>
      </p:sp>
      <p:sp>
        <p:nvSpPr>
          <p:cNvPr id="58" name="UML cross-sequence arrow 58"/>
          <p:cNvSpPr/>
          <p:nvPr/>
        </p:nvSpPr>
        <p:spPr>
          <a:xfrm>
            <a:off x="3755350" y="3505839"/>
            <a:ext cx="91236" cy="72989"/>
          </a:xfrm>
          <a:custGeom>
            <a:avLst/>
            <a:gdLst/>
            <a:ahLst/>
            <a:cxnLst/>
            <a:rect l="0" t="0" r="r" b="b"/>
            <a:pathLst>
              <a:path w="95250" h="76200" extrusionOk="0">
                <a:moveTo>
                  <a:pt x="95250" y="0"/>
                </a:moveTo>
                <a:lnTo>
                  <a:pt x="0" y="38100"/>
                </a:lnTo>
                <a:lnTo>
                  <a:pt x="95250" y="76200"/>
                </a:lnTo>
                <a:close/>
              </a:path>
            </a:pathLst>
          </a:custGeom>
          <a:solidFill>
            <a:srgbClr val="1F2A44"/>
          </a:solidFill>
          <a:ln w="9124">
            <a:solidFill>
              <a:srgbClr val="1F2A44"/>
            </a:solidFill>
          </a:ln>
        </p:spPr>
      </p:sp>
      <p:sp>
        <p:nvSpPr>
          <p:cNvPr id="59" name="UML cross-sequence divider 59"/>
          <p:cNvSpPr/>
          <p:nvPr/>
        </p:nvSpPr>
        <p:spPr>
          <a:xfrm>
            <a:off x="3791844" y="3542333"/>
            <a:ext cx="1631658" cy="952"/>
          </a:xfrm>
          <a:custGeom>
            <a:avLst/>
            <a:gdLst/>
            <a:ahLst/>
            <a:cxnLst/>
            <a:rect l="0" t="0" r="r" b="b"/>
            <a:pathLst>
              <a:path w="1703451" h="952" fill="none" extrusionOk="0">
                <a:moveTo>
                  <a:pt x="0" y="0"/>
                </a:moveTo>
                <a:lnTo>
                  <a:pt x="1703451" y="0"/>
                </a:lnTo>
              </a:path>
            </a:pathLst>
          </a:custGeom>
          <a:noFill/>
          <a:ln w="11861">
            <a:solidFill>
              <a:srgbClr val="1F2A44"/>
            </a:solidFill>
            <a:prstDash val="dash"/>
          </a:ln>
        </p:spPr>
      </p:sp>
      <p:sp>
        <p:nvSpPr>
          <p:cNvPr id="60" name="UML cross-sequence label 60"/>
          <p:cNvSpPr/>
          <p:nvPr/>
        </p:nvSpPr>
        <p:spPr>
          <a:xfrm>
            <a:off x="3852516" y="3274465"/>
            <a:ext cx="1531299" cy="266408"/>
          </a:xfrm>
          <a:prstGeom prst="rect">
            <a:avLst/>
          </a:prstGeom>
          <a:noFill/>
          <a:ln w="9124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37" dirty="0">
                <a:solidFill>
                  <a:srgbClr val="1F2A44"/>
                </a:solidFill>
                <a:latin typeface="Noto Sans SC"/>
                <a:ea typeface="Noto Sans SC"/>
              </a:rPr>
              <a:t>confirm() : 已确认</a:t>
            </a:r>
            <a:endParaRPr lang="zh-CN" sz="1437"/>
          </a:p>
        </p:txBody>
      </p:sp>
      <p:sp>
        <p:nvSpPr>
          <p:cNvPr id="11" name="content-181">
            <a:extLst>
              <a:ext uri="{FF2B5EF4-FFF2-40B4-BE49-F238E27FC236}">
                <a16:creationId xmlns:a16="http://schemas.microsoft.com/office/drawing/2014/main" id="{D7E78C05-4C7B-4345-87E4-EDD03813CDE8}"/>
              </a:ext>
            </a:extLst>
          </p:cNvPr>
          <p:cNvSpPr>
            <a:spLocks noGrp="1"/>
          </p:cNvSpPr>
          <p:nvPr/>
        </p:nvSpPr>
        <p:spPr>
          <a:xfrm>
            <a:off x="6286500" y="15049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状态机图（e）</a:t>
            </a:r>
          </a:p>
        </p:txBody>
      </p:sp>
      <p:sp>
        <p:nvSpPr>
          <p:cNvPr id="61" name="UML cross-state-answer box 61"/>
          <p:cNvSpPr/>
          <p:nvPr/>
        </p:nvSpPr>
        <p:spPr>
          <a:xfrm>
            <a:off x="6694181" y="1974948"/>
            <a:ext cx="732579" cy="45786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157">
            <a:solidFill>
              <a:srgbClr val="1F2A44"/>
            </a:solidFill>
          </a:ln>
        </p:spPr>
      </p:sp>
      <p:sp>
        <p:nvSpPr>
          <p:cNvPr id="62" name="UML cross-state-answer divider 62"/>
          <p:cNvSpPr/>
          <p:nvPr/>
        </p:nvSpPr>
        <p:spPr>
          <a:xfrm>
            <a:off x="6694181" y="2331714"/>
            <a:ext cx="732579" cy="952"/>
          </a:xfrm>
          <a:custGeom>
            <a:avLst/>
            <a:gdLst/>
            <a:ahLst/>
            <a:cxnLst/>
            <a:rect l="0" t="0" r="r" b="b"/>
            <a:pathLst>
              <a:path w="762000" h="952" fill="none" extrusionOk="0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9157">
            <a:solidFill>
              <a:srgbClr val="1F2A44"/>
            </a:solidFill>
          </a:ln>
        </p:spPr>
      </p:sp>
      <p:sp>
        <p:nvSpPr>
          <p:cNvPr id="63" name="UML cross-state-answer label 63"/>
          <p:cNvSpPr/>
          <p:nvPr/>
        </p:nvSpPr>
        <p:spPr>
          <a:xfrm>
            <a:off x="6782548" y="2035386"/>
            <a:ext cx="613535" cy="267391"/>
          </a:xfrm>
          <a:prstGeom prst="rect">
            <a:avLst/>
          </a:prstGeom>
          <a:noFill/>
          <a:ln w="9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42" dirty="0">
                <a:solidFill>
                  <a:srgbClr val="1F2A44"/>
                </a:solidFill>
                <a:latin typeface="Noto Sans SC"/>
                <a:ea typeface="Noto Sans SC"/>
              </a:rPr>
              <a:t>待处理</a:t>
            </a:r>
            <a:endParaRPr lang="zh-CN" sz="1442"/>
          </a:p>
        </p:txBody>
      </p:sp>
      <p:sp>
        <p:nvSpPr>
          <p:cNvPr id="64" name="UML cross-state-answer box 64"/>
          <p:cNvSpPr/>
          <p:nvPr/>
        </p:nvSpPr>
        <p:spPr>
          <a:xfrm>
            <a:off x="6694181" y="3586622"/>
            <a:ext cx="732579" cy="45786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157">
            <a:solidFill>
              <a:srgbClr val="1F2A44"/>
            </a:solidFill>
          </a:ln>
        </p:spPr>
      </p:sp>
      <p:sp>
        <p:nvSpPr>
          <p:cNvPr id="65" name="UML cross-state-answer divider 65"/>
          <p:cNvSpPr/>
          <p:nvPr/>
        </p:nvSpPr>
        <p:spPr>
          <a:xfrm>
            <a:off x="6694181" y="3943388"/>
            <a:ext cx="732579" cy="952"/>
          </a:xfrm>
          <a:custGeom>
            <a:avLst/>
            <a:gdLst/>
            <a:ahLst/>
            <a:cxnLst/>
            <a:rect l="0" t="0" r="r" b="b"/>
            <a:pathLst>
              <a:path w="762000" h="952" fill="none" extrusionOk="0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9157">
            <a:solidFill>
              <a:srgbClr val="1F2A44"/>
            </a:solidFill>
          </a:ln>
        </p:spPr>
      </p:sp>
      <p:sp>
        <p:nvSpPr>
          <p:cNvPr id="66" name="UML cross-state-answer label 66"/>
          <p:cNvSpPr/>
          <p:nvPr/>
        </p:nvSpPr>
        <p:spPr>
          <a:xfrm>
            <a:off x="6782548" y="3647060"/>
            <a:ext cx="613535" cy="267391"/>
          </a:xfrm>
          <a:prstGeom prst="rect">
            <a:avLst/>
          </a:prstGeom>
          <a:noFill/>
          <a:ln w="9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42" dirty="0">
                <a:solidFill>
                  <a:srgbClr val="1F2A44"/>
                </a:solidFill>
                <a:latin typeface="Noto Sans SC"/>
                <a:ea typeface="Noto Sans SC"/>
              </a:rPr>
              <a:t>已确认</a:t>
            </a:r>
            <a:endParaRPr lang="zh-CN" sz="1442"/>
          </a:p>
        </p:txBody>
      </p:sp>
      <p:sp>
        <p:nvSpPr>
          <p:cNvPr id="67" name="UML cross-state-answer arrow 67"/>
          <p:cNvSpPr/>
          <p:nvPr/>
        </p:nvSpPr>
        <p:spPr>
          <a:xfrm>
            <a:off x="7023842" y="3501753"/>
            <a:ext cx="73258" cy="82415"/>
          </a:xfrm>
          <a:custGeom>
            <a:avLst/>
            <a:gdLst/>
            <a:ahLst/>
            <a:cxnLst/>
            <a:rect l="0" t="0" r="r" b="b"/>
            <a:pathLst>
              <a:path w="76200" h="85725" extrusionOk="0">
                <a:moveTo>
                  <a:pt x="38100" y="85725"/>
                </a:moveTo>
                <a:lnTo>
                  <a:pt x="76200" y="0"/>
                </a:lnTo>
                <a:lnTo>
                  <a:pt x="38100" y="38100"/>
                </a:lnTo>
                <a:lnTo>
                  <a:pt x="0" y="0"/>
                </a:lnTo>
                <a:lnTo>
                  <a:pt x="38100" y="85725"/>
                </a:lnTo>
                <a:close/>
              </a:path>
            </a:pathLst>
          </a:custGeom>
          <a:solidFill>
            <a:srgbClr val="1F2A44"/>
          </a:solidFill>
          <a:ln w="9157">
            <a:solidFill>
              <a:srgbClr val="1F2A44"/>
            </a:solidFill>
          </a:ln>
        </p:spPr>
      </p:sp>
      <p:sp>
        <p:nvSpPr>
          <p:cNvPr id="68" name="UML cross-state-answer connection 68"/>
          <p:cNvSpPr/>
          <p:nvPr/>
        </p:nvSpPr>
        <p:spPr>
          <a:xfrm>
            <a:off x="7060471" y="2434587"/>
            <a:ext cx="952" cy="1103795"/>
          </a:xfrm>
          <a:custGeom>
            <a:avLst/>
            <a:gdLst/>
            <a:ahLst/>
            <a:cxnLst/>
            <a:rect l="0" t="0" r="r" b="b"/>
            <a:pathLst>
              <a:path w="952" h="1148124" fill="none" extrusionOk="0">
                <a:moveTo>
                  <a:pt x="0" y="0"/>
                </a:moveTo>
                <a:cubicBezTo>
                  <a:pt x="0" y="315754"/>
                  <a:pt x="0" y="831999"/>
                  <a:pt x="0" y="1148124"/>
                </a:cubicBezTo>
              </a:path>
            </a:pathLst>
          </a:custGeom>
          <a:noFill/>
          <a:ln w="9157">
            <a:solidFill>
              <a:srgbClr val="1F2A44"/>
            </a:solidFill>
          </a:ln>
        </p:spPr>
      </p:sp>
      <p:sp>
        <p:nvSpPr>
          <p:cNvPr id="69" name="UML cross-state-answer label 69"/>
          <p:cNvSpPr/>
          <p:nvPr/>
        </p:nvSpPr>
        <p:spPr>
          <a:xfrm>
            <a:off x="7286197" y="2630606"/>
            <a:ext cx="854554" cy="267391"/>
          </a:xfrm>
          <a:prstGeom prst="rect">
            <a:avLst/>
          </a:prstGeom>
          <a:noFill/>
          <a:ln w="9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42" dirty="0">
                <a:solidFill>
                  <a:srgbClr val="1F2A44"/>
                </a:solidFill>
                <a:latin typeface="Noto Sans SC"/>
                <a:ea typeface="Noto Sans SC"/>
              </a:rPr>
              <a:t>confirm()</a:t>
            </a:r>
            <a:endParaRPr lang="zh-CN" sz="1442"/>
          </a:p>
        </p:txBody>
      </p:sp>
      <p:sp>
        <p:nvSpPr>
          <p:cNvPr id="70" name="UML cross-state-answer label 70"/>
          <p:cNvSpPr/>
          <p:nvPr/>
        </p:nvSpPr>
        <p:spPr>
          <a:xfrm>
            <a:off x="7293705" y="2895800"/>
            <a:ext cx="839536" cy="267391"/>
          </a:xfrm>
          <a:prstGeom prst="rect">
            <a:avLst/>
          </a:prstGeom>
          <a:noFill/>
          <a:ln w="9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42" dirty="0">
                <a:solidFill>
                  <a:srgbClr val="1F2A44"/>
                </a:solidFill>
                <a:latin typeface="Noto Sans SC"/>
                <a:ea typeface="Noto Sans SC"/>
              </a:rPr>
              <a:t>[余量 &gt; 0]</a:t>
            </a:r>
            <a:endParaRPr lang="zh-CN" sz="1442"/>
          </a:p>
        </p:txBody>
      </p:sp>
      <p:sp>
        <p:nvSpPr>
          <p:cNvPr id="71" name="UML cross-state-answer label 71"/>
          <p:cNvSpPr/>
          <p:nvPr/>
        </p:nvSpPr>
        <p:spPr>
          <a:xfrm>
            <a:off x="7075580" y="3160994"/>
            <a:ext cx="1275787" cy="267391"/>
          </a:xfrm>
          <a:prstGeom prst="rect">
            <a:avLst/>
          </a:prstGeom>
          <a:noFill/>
          <a:ln w="9157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42" dirty="0">
                <a:solidFill>
                  <a:srgbClr val="1F2A44"/>
                </a:solidFill>
                <a:latin typeface="Noto Sans SC"/>
                <a:ea typeface="Noto Sans SC"/>
              </a:rPr>
              <a:t>/ 写入确认结果</a:t>
            </a:r>
            <a:endParaRPr lang="zh-CN" sz="1442"/>
          </a:p>
        </p:txBody>
      </p:sp>
      <p:sp>
        <p:nvSpPr>
          <p:cNvPr id="13" name="frame-182">
            <a:extLst>
              <a:ext uri="{FF2B5EF4-FFF2-40B4-BE49-F238E27FC236}">
                <a16:creationId xmlns:a16="http://schemas.microsoft.com/office/drawing/2014/main" id="{78DE93F2-9503-4794-B617-75C64395D81C}"/>
              </a:ext>
            </a:extLst>
          </p:cNvPr>
          <p:cNvSpPr>
            <a:spLocks noGrp="1"/>
          </p:cNvSpPr>
          <p:nvPr/>
        </p:nvSpPr>
        <p:spPr>
          <a:xfrm>
            <a:off x="3114675" y="1504950"/>
            <a:ext cx="6668" cy="268605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4" name="frame-183">
            <a:extLst>
              <a:ext uri="{FF2B5EF4-FFF2-40B4-BE49-F238E27FC236}">
                <a16:creationId xmlns:a16="http://schemas.microsoft.com/office/drawing/2014/main" id="{181631FD-5E7B-4604-BEBB-63D791507E64}"/>
              </a:ext>
            </a:extLst>
          </p:cNvPr>
          <p:cNvSpPr>
            <a:spLocks noGrp="1"/>
          </p:cNvSpPr>
          <p:nvPr/>
        </p:nvSpPr>
        <p:spPr>
          <a:xfrm>
            <a:off x="6019800" y="1504950"/>
            <a:ext cx="6668" cy="268605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184">
            <a:extLst>
              <a:ext uri="{FF2B5EF4-FFF2-40B4-BE49-F238E27FC236}">
                <a16:creationId xmlns:a16="http://schemas.microsoft.com/office/drawing/2014/main" id="{806F550B-050B-40F0-9C35-94D30A864791}"/>
              </a:ext>
            </a:extLst>
          </p:cNvPr>
          <p:cNvSpPr>
            <a:spLocks noGrp="1"/>
          </p:cNvSpPr>
          <p:nvPr/>
        </p:nvSpPr>
        <p:spPr>
          <a:xfrm>
            <a:off x="476250" y="4324350"/>
            <a:ext cx="8191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第三图的目标状态应为“已确认”，与动作和返回结果一致。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-185">
            <a:extLst>
              <a:ext uri="{FF2B5EF4-FFF2-40B4-BE49-F238E27FC236}">
                <a16:creationId xmlns:a16="http://schemas.microsoft.com/office/drawing/2014/main" id="{02CA4A67-7819-4C86-9CC8-7EDA8F35A711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课堂练习：根据问题选择模型</a:t>
            </a:r>
          </a:p>
        </p:txBody>
      </p:sp>
      <p:sp>
        <p:nvSpPr>
          <p:cNvPr id="2" name="frame-186">
            <a:extLst>
              <a:ext uri="{FF2B5EF4-FFF2-40B4-BE49-F238E27FC236}">
                <a16:creationId xmlns:a16="http://schemas.microsoft.com/office/drawing/2014/main" id="{F8942F2A-52DB-4783-84A3-89BA9CB9DD4C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87">
            <a:extLst>
              <a:ext uri="{FF2B5EF4-FFF2-40B4-BE49-F238E27FC236}">
                <a16:creationId xmlns:a16="http://schemas.microsoft.com/office/drawing/2014/main" id="{4835E578-0841-475F-9076-3D55B5A3C75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1A15EB3E-FA4B-4640-95E8-8D5E09D5D902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F7F7E89B-66FD-40AF-AD84-1218E5E44A0F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24 / 78</a:t>
            </a:r>
          </a:p>
        </p:txBody>
      </p:sp>
      <p:sp>
        <p:nvSpPr>
          <p:cNvPr id="6" name="content-188">
            <a:extLst>
              <a:ext uri="{FF2B5EF4-FFF2-40B4-BE49-F238E27FC236}">
                <a16:creationId xmlns:a16="http://schemas.microsoft.com/office/drawing/2014/main" id="{FA2BAA9C-16D6-48BB-B02D-D1D6727FDD93}"/>
              </a:ext>
            </a:extLst>
          </p:cNvPr>
          <p:cNvSpPr>
            <a:spLocks noGrp="1"/>
          </p:cNvSpPr>
          <p:nvPr/>
        </p:nvSpPr>
        <p:spPr>
          <a:xfrm>
            <a:off x="476250" y="1104900"/>
            <a:ext cx="1219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问题一</a:t>
            </a:r>
          </a:p>
        </p:txBody>
      </p:sp>
      <p:sp>
        <p:nvSpPr>
          <p:cNvPr id="7" name="content-189">
            <a:extLst>
              <a:ext uri="{FF2B5EF4-FFF2-40B4-BE49-F238E27FC236}">
                <a16:creationId xmlns:a16="http://schemas.microsoft.com/office/drawing/2014/main" id="{135959B3-FF77-4FE5-AA5A-DC69249D5272}"/>
              </a:ext>
            </a:extLst>
          </p:cNvPr>
          <p:cNvSpPr>
            <a:spLocks noGrp="1"/>
          </p:cNvSpPr>
          <p:nvPr/>
        </p:nvSpPr>
        <p:spPr>
          <a:xfrm>
            <a:off x="1905000" y="1104900"/>
            <a:ext cx="6553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需要分析已确认记录是否允许响应退选事件。</a:t>
            </a:r>
          </a:p>
        </p:txBody>
      </p:sp>
      <p:sp>
        <p:nvSpPr>
          <p:cNvPr id="8" name="frame-190">
            <a:extLst>
              <a:ext uri="{FF2B5EF4-FFF2-40B4-BE49-F238E27FC236}">
                <a16:creationId xmlns:a16="http://schemas.microsoft.com/office/drawing/2014/main" id="{C4E7E0BB-9064-4764-9569-4F919C4D789E}"/>
              </a:ext>
            </a:extLst>
          </p:cNvPr>
          <p:cNvSpPr>
            <a:spLocks noGrp="1"/>
          </p:cNvSpPr>
          <p:nvPr/>
        </p:nvSpPr>
        <p:spPr>
          <a:xfrm>
            <a:off x="476250" y="214312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191">
            <a:extLst>
              <a:ext uri="{FF2B5EF4-FFF2-40B4-BE49-F238E27FC236}">
                <a16:creationId xmlns:a16="http://schemas.microsoft.com/office/drawing/2014/main" id="{ECB14F3D-FB8F-449D-B818-CA17E70990C2}"/>
              </a:ext>
            </a:extLst>
          </p:cNvPr>
          <p:cNvSpPr>
            <a:spLocks noGrp="1"/>
          </p:cNvSpPr>
          <p:nvPr/>
        </p:nvSpPr>
        <p:spPr>
          <a:xfrm>
            <a:off x="476250" y="2171700"/>
            <a:ext cx="1219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问题二</a:t>
            </a:r>
          </a:p>
        </p:txBody>
      </p:sp>
      <p:sp>
        <p:nvSpPr>
          <p:cNvPr id="10" name="content-192">
            <a:extLst>
              <a:ext uri="{FF2B5EF4-FFF2-40B4-BE49-F238E27FC236}">
                <a16:creationId xmlns:a16="http://schemas.microsoft.com/office/drawing/2014/main" id="{FEEE30F1-7895-4F50-8891-EA6DFB159C88}"/>
              </a:ext>
            </a:extLst>
          </p:cNvPr>
          <p:cNvSpPr>
            <a:spLocks noGrp="1"/>
          </p:cNvSpPr>
          <p:nvPr/>
        </p:nvSpPr>
        <p:spPr>
          <a:xfrm>
            <a:off x="1905000" y="2171700"/>
            <a:ext cx="6553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需要补齐成绩判定的及格与不及格分支。</a:t>
            </a:r>
          </a:p>
        </p:txBody>
      </p:sp>
      <p:sp>
        <p:nvSpPr>
          <p:cNvPr id="11" name="frame-193">
            <a:extLst>
              <a:ext uri="{FF2B5EF4-FFF2-40B4-BE49-F238E27FC236}">
                <a16:creationId xmlns:a16="http://schemas.microsoft.com/office/drawing/2014/main" id="{D06D6621-D72F-47E8-A6CF-097D634DB3E6}"/>
              </a:ext>
            </a:extLst>
          </p:cNvPr>
          <p:cNvSpPr>
            <a:spLocks noGrp="1"/>
          </p:cNvSpPr>
          <p:nvPr/>
        </p:nvSpPr>
        <p:spPr>
          <a:xfrm>
            <a:off x="476250" y="320992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194">
            <a:extLst>
              <a:ext uri="{FF2B5EF4-FFF2-40B4-BE49-F238E27FC236}">
                <a16:creationId xmlns:a16="http://schemas.microsoft.com/office/drawing/2014/main" id="{10E3E762-B22F-4A8B-84EC-5DDC01F49379}"/>
              </a:ext>
            </a:extLst>
          </p:cNvPr>
          <p:cNvSpPr>
            <a:spLocks noGrp="1"/>
          </p:cNvSpPr>
          <p:nvPr/>
        </p:nvSpPr>
        <p:spPr>
          <a:xfrm>
            <a:off x="476250" y="3238500"/>
            <a:ext cx="1219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问题三</a:t>
            </a:r>
          </a:p>
        </p:txBody>
      </p:sp>
      <p:sp>
        <p:nvSpPr>
          <p:cNvPr id="13" name="content-195">
            <a:extLst>
              <a:ext uri="{FF2B5EF4-FFF2-40B4-BE49-F238E27FC236}">
                <a16:creationId xmlns:a16="http://schemas.microsoft.com/office/drawing/2014/main" id="{C578735B-01A5-4D8F-A73E-E891BF4F0851}"/>
              </a:ext>
            </a:extLst>
          </p:cNvPr>
          <p:cNvSpPr>
            <a:spLocks noGrp="1"/>
          </p:cNvSpPr>
          <p:nvPr/>
        </p:nvSpPr>
        <p:spPr>
          <a:xfrm>
            <a:off x="1905000" y="3238500"/>
            <a:ext cx="6553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需要确定成绩查询的调用对象和返回方向。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-196">
            <a:extLst>
              <a:ext uri="{FF2B5EF4-FFF2-40B4-BE49-F238E27FC236}">
                <a16:creationId xmlns:a16="http://schemas.microsoft.com/office/drawing/2014/main" id="{2D92ADA2-E2A6-43BA-8E72-D53EEDDFD3B6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模型选择与判读（参考）</a:t>
            </a:r>
          </a:p>
        </p:txBody>
      </p:sp>
      <p:sp>
        <p:nvSpPr>
          <p:cNvPr id="2" name="frame-197">
            <a:extLst>
              <a:ext uri="{FF2B5EF4-FFF2-40B4-BE49-F238E27FC236}">
                <a16:creationId xmlns:a16="http://schemas.microsoft.com/office/drawing/2014/main" id="{E05A0D10-89AA-4A36-A934-5554042A5237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198">
            <a:extLst>
              <a:ext uri="{FF2B5EF4-FFF2-40B4-BE49-F238E27FC236}">
                <a16:creationId xmlns:a16="http://schemas.microsoft.com/office/drawing/2014/main" id="{7CC993A9-4FA6-4F6D-8E2D-623C45BB093D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6EBE33CE-1618-4C15-92B6-9A7CFFE1B04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C3B3F156-573D-4F37-9BEB-94C338DAB66E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25 / 78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476250" y="1209675"/>
          <a:ext cx="8191500" cy="28575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问题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优先采用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判读依据</a:t>
                      </a:r>
                    </a:p>
                  </a:txBody>
                  <a:tcPr marL="95250" marR="95250" marT="76200" marB="76200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能否响应退选事件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状态机图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当前状态、事件及允许迁移的条件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成绩判定分支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活动图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分支条件、动作及后续流程</a:t>
                      </a:r>
                    </a:p>
                  </a:txBody>
                  <a:tcPr marL="95250" marR="95250" marT="76200" marB="76200" anchor="ctr">
                    <a:solidFill>
                      <a:srgbClr val="F7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查询调用与返回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顺序图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消息双方、方向和调用返回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nt-199">
            <a:extLst>
              <a:ext uri="{FF2B5EF4-FFF2-40B4-BE49-F238E27FC236}">
                <a16:creationId xmlns:a16="http://schemas.microsoft.com/office/drawing/2014/main" id="{048B34BC-0918-42B1-87EA-FD6689010933}"/>
              </a:ext>
            </a:extLst>
          </p:cNvPr>
          <p:cNvSpPr>
            <a:spLocks noGrp="1"/>
          </p:cNvSpPr>
          <p:nvPr/>
        </p:nvSpPr>
        <p:spPr>
          <a:xfrm>
            <a:off x="476250" y="4381500"/>
            <a:ext cx="8191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退选规则仍待确认；模型选择不能替代需求确认。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-200">
            <a:extLst>
              <a:ext uri="{FF2B5EF4-FFF2-40B4-BE49-F238E27FC236}">
                <a16:creationId xmlns:a16="http://schemas.microsoft.com/office/drawing/2014/main" id="{43825B27-0EE0-4A77-8973-3A31F3A63334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课堂小结：解释一条失败路径</a:t>
            </a:r>
          </a:p>
        </p:txBody>
      </p:sp>
      <p:sp>
        <p:nvSpPr>
          <p:cNvPr id="2" name="frame-201">
            <a:extLst>
              <a:ext uri="{FF2B5EF4-FFF2-40B4-BE49-F238E27FC236}">
                <a16:creationId xmlns:a16="http://schemas.microsoft.com/office/drawing/2014/main" id="{60C18E47-8DE9-49AA-869B-B7A1C18A6BD8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202">
            <a:extLst>
              <a:ext uri="{FF2B5EF4-FFF2-40B4-BE49-F238E27FC236}">
                <a16:creationId xmlns:a16="http://schemas.microsoft.com/office/drawing/2014/main" id="{BF6703B5-A8F8-47C8-BD93-697D57B11014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FB4B72F7-83E5-4CCC-BEDC-4E58D518130E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874B6CCC-3D17-47B2-9DEC-3A3B01C4A9DE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26 / 78</a:t>
            </a:r>
          </a:p>
        </p:txBody>
      </p:sp>
      <p:sp>
        <p:nvSpPr>
          <p:cNvPr id="6" name="content-203">
            <a:extLst>
              <a:ext uri="{FF2B5EF4-FFF2-40B4-BE49-F238E27FC236}">
                <a16:creationId xmlns:a16="http://schemas.microsoft.com/office/drawing/2014/main" id="{6D080BD9-DF8E-40FC-BD88-5F14F1C5391D}"/>
              </a:ext>
            </a:extLst>
          </p:cNvPr>
          <p:cNvSpPr>
            <a:spLocks noGrp="1"/>
          </p:cNvSpPr>
          <p:nvPr/>
        </p:nvSpPr>
        <p:spPr>
          <a:xfrm>
            <a:off x="476250" y="1104900"/>
            <a:ext cx="1219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活动图</a:t>
            </a:r>
          </a:p>
        </p:txBody>
      </p:sp>
      <p:sp>
        <p:nvSpPr>
          <p:cNvPr id="7" name="content-204">
            <a:extLst>
              <a:ext uri="{FF2B5EF4-FFF2-40B4-BE49-F238E27FC236}">
                <a16:creationId xmlns:a16="http://schemas.microsoft.com/office/drawing/2014/main" id="{E169B1AA-9360-45D9-9A06-B3E3055BB30A}"/>
              </a:ext>
            </a:extLst>
          </p:cNvPr>
          <p:cNvSpPr>
            <a:spLocks noGrp="1"/>
          </p:cNvSpPr>
          <p:nvPr/>
        </p:nvSpPr>
        <p:spPr>
          <a:xfrm>
            <a:off x="1905000" y="1104900"/>
            <a:ext cx="6553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余量为0时，写出从读取余量到结束的动作路径。</a:t>
            </a:r>
          </a:p>
        </p:txBody>
      </p:sp>
      <p:sp>
        <p:nvSpPr>
          <p:cNvPr id="8" name="frame-205">
            <a:extLst>
              <a:ext uri="{FF2B5EF4-FFF2-40B4-BE49-F238E27FC236}">
                <a16:creationId xmlns:a16="http://schemas.microsoft.com/office/drawing/2014/main" id="{463C13E2-47BF-4844-86A5-C085E9EB6690}"/>
              </a:ext>
            </a:extLst>
          </p:cNvPr>
          <p:cNvSpPr>
            <a:spLocks noGrp="1"/>
          </p:cNvSpPr>
          <p:nvPr/>
        </p:nvSpPr>
        <p:spPr>
          <a:xfrm>
            <a:off x="476250" y="214312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206">
            <a:extLst>
              <a:ext uri="{FF2B5EF4-FFF2-40B4-BE49-F238E27FC236}">
                <a16:creationId xmlns:a16="http://schemas.microsoft.com/office/drawing/2014/main" id="{7F26E704-355B-47A4-AC0A-58D18EBFA9F6}"/>
              </a:ext>
            </a:extLst>
          </p:cNvPr>
          <p:cNvSpPr>
            <a:spLocks noGrp="1"/>
          </p:cNvSpPr>
          <p:nvPr/>
        </p:nvSpPr>
        <p:spPr>
          <a:xfrm>
            <a:off x="476250" y="2171700"/>
            <a:ext cx="1219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顺序图</a:t>
            </a:r>
          </a:p>
        </p:txBody>
      </p:sp>
      <p:sp>
        <p:nvSpPr>
          <p:cNvPr id="10" name="content-207">
            <a:extLst>
              <a:ext uri="{FF2B5EF4-FFF2-40B4-BE49-F238E27FC236}">
                <a16:creationId xmlns:a16="http://schemas.microsoft.com/office/drawing/2014/main" id="{D24A792C-01E3-45C5-A1AD-C81ECBEA834F}"/>
              </a:ext>
            </a:extLst>
          </p:cNvPr>
          <p:cNvSpPr>
            <a:spLocks noGrp="1"/>
          </p:cNvSpPr>
          <p:nvPr/>
        </p:nvSpPr>
        <p:spPr>
          <a:xfrm>
            <a:off x="1905000" y="2171700"/>
            <a:ext cx="6553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写出拒绝调用的发送者、接收者及消息名。</a:t>
            </a:r>
          </a:p>
        </p:txBody>
      </p:sp>
      <p:sp>
        <p:nvSpPr>
          <p:cNvPr id="11" name="frame-208">
            <a:extLst>
              <a:ext uri="{FF2B5EF4-FFF2-40B4-BE49-F238E27FC236}">
                <a16:creationId xmlns:a16="http://schemas.microsoft.com/office/drawing/2014/main" id="{0F03D282-6CDC-4F68-A499-CCCC1D150FAE}"/>
              </a:ext>
            </a:extLst>
          </p:cNvPr>
          <p:cNvSpPr>
            <a:spLocks noGrp="1"/>
          </p:cNvSpPr>
          <p:nvPr/>
        </p:nvSpPr>
        <p:spPr>
          <a:xfrm>
            <a:off x="476250" y="320992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209">
            <a:extLst>
              <a:ext uri="{FF2B5EF4-FFF2-40B4-BE49-F238E27FC236}">
                <a16:creationId xmlns:a16="http://schemas.microsoft.com/office/drawing/2014/main" id="{955E6DA4-7BA6-4DB7-A32D-29C38127D83E}"/>
              </a:ext>
            </a:extLst>
          </p:cNvPr>
          <p:cNvSpPr>
            <a:spLocks noGrp="1"/>
          </p:cNvSpPr>
          <p:nvPr/>
        </p:nvSpPr>
        <p:spPr>
          <a:xfrm>
            <a:off x="476250" y="3238500"/>
            <a:ext cx="1219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状态机图</a:t>
            </a:r>
          </a:p>
        </p:txBody>
      </p:sp>
      <p:sp>
        <p:nvSpPr>
          <p:cNvPr id="13" name="content-210">
            <a:extLst>
              <a:ext uri="{FF2B5EF4-FFF2-40B4-BE49-F238E27FC236}">
                <a16:creationId xmlns:a16="http://schemas.microsoft.com/office/drawing/2014/main" id="{7ECDC2ED-7017-4E36-8FBF-026C75DF1090}"/>
              </a:ext>
            </a:extLst>
          </p:cNvPr>
          <p:cNvSpPr>
            <a:spLocks noGrp="1"/>
          </p:cNvSpPr>
          <p:nvPr/>
        </p:nvSpPr>
        <p:spPr>
          <a:xfrm>
            <a:off x="1905000" y="3238500"/>
            <a:ext cx="6553200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写出对应的源状态、事件、守卫和目标状态。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-211">
            <a:extLst>
              <a:ext uri="{FF2B5EF4-FFF2-40B4-BE49-F238E27FC236}">
                <a16:creationId xmlns:a16="http://schemas.microsoft.com/office/drawing/2014/main" id="{605800BF-AB44-482C-B763-5DBE6686D38C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拓展与原稿查阅</a:t>
            </a:r>
          </a:p>
        </p:txBody>
      </p:sp>
      <p:sp>
        <p:nvSpPr>
          <p:cNvPr id="2" name="frame-212">
            <a:extLst>
              <a:ext uri="{FF2B5EF4-FFF2-40B4-BE49-F238E27FC236}">
                <a16:creationId xmlns:a16="http://schemas.microsoft.com/office/drawing/2014/main" id="{F2CEE0C6-0F49-4292-B6C0-EFC599AC5F0B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213">
            <a:extLst>
              <a:ext uri="{FF2B5EF4-FFF2-40B4-BE49-F238E27FC236}">
                <a16:creationId xmlns:a16="http://schemas.microsoft.com/office/drawing/2014/main" id="{E04AD513-8D48-41AF-8117-4613843F7FE3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DB1D01DC-ECAE-4FD5-A640-C275C9068709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A8496FB4-F9C3-4D21-9F77-932FA3E73C53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27 / 78</a:t>
            </a:r>
          </a:p>
        </p:txBody>
      </p:sp>
      <p:sp>
        <p:nvSpPr>
          <p:cNvPr id="6" name="content-214">
            <a:extLst>
              <a:ext uri="{FF2B5EF4-FFF2-40B4-BE49-F238E27FC236}">
                <a16:creationId xmlns:a16="http://schemas.microsoft.com/office/drawing/2014/main" id="{4D6B36F2-F264-4779-A41A-297D7C8DBFCE}"/>
              </a:ext>
            </a:extLst>
          </p:cNvPr>
          <p:cNvSpPr>
            <a:spLocks noGrp="1"/>
          </p:cNvSpPr>
          <p:nvPr/>
        </p:nvSpPr>
        <p:spPr>
          <a:xfrm>
            <a:off x="476250" y="110490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活动图</a:t>
            </a:r>
          </a:p>
        </p:txBody>
      </p:sp>
      <p:sp>
        <p:nvSpPr>
          <p:cNvPr id="7" name="content-215">
            <a:extLst>
              <a:ext uri="{FF2B5EF4-FFF2-40B4-BE49-F238E27FC236}">
                <a16:creationId xmlns:a16="http://schemas.microsoft.com/office/drawing/2014/main" id="{F81BC51B-601B-410A-9A93-27E4DF7382FB}"/>
              </a:ext>
            </a:extLst>
          </p:cNvPr>
          <p:cNvSpPr>
            <a:spLocks noGrp="1"/>
          </p:cNvSpPr>
          <p:nvPr/>
        </p:nvSpPr>
        <p:spPr>
          <a:xfrm>
            <a:off x="2257425" y="1104900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并发与同步、对象流、信号、异常与中断区域。</a:t>
            </a:r>
          </a:p>
        </p:txBody>
      </p:sp>
      <p:sp>
        <p:nvSpPr>
          <p:cNvPr id="8" name="frame-216">
            <a:extLst>
              <a:ext uri="{FF2B5EF4-FFF2-40B4-BE49-F238E27FC236}">
                <a16:creationId xmlns:a16="http://schemas.microsoft.com/office/drawing/2014/main" id="{BE5761CF-BE05-48BF-A952-6D7B3E07AC33}"/>
              </a:ext>
            </a:extLst>
          </p:cNvPr>
          <p:cNvSpPr>
            <a:spLocks noGrp="1"/>
          </p:cNvSpPr>
          <p:nvPr/>
        </p:nvSpPr>
        <p:spPr>
          <a:xfrm>
            <a:off x="476250" y="190500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217">
            <a:extLst>
              <a:ext uri="{FF2B5EF4-FFF2-40B4-BE49-F238E27FC236}">
                <a16:creationId xmlns:a16="http://schemas.microsoft.com/office/drawing/2014/main" id="{36A1FE69-F914-4EB9-B422-2B19783D0B59}"/>
              </a:ext>
            </a:extLst>
          </p:cNvPr>
          <p:cNvSpPr>
            <a:spLocks noGrp="1"/>
          </p:cNvSpPr>
          <p:nvPr/>
        </p:nvSpPr>
        <p:spPr>
          <a:xfrm>
            <a:off x="476250" y="193357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顺序图</a:t>
            </a:r>
          </a:p>
        </p:txBody>
      </p:sp>
      <p:sp>
        <p:nvSpPr>
          <p:cNvPr id="10" name="content-218">
            <a:extLst>
              <a:ext uri="{FF2B5EF4-FFF2-40B4-BE49-F238E27FC236}">
                <a16:creationId xmlns:a16="http://schemas.microsoft.com/office/drawing/2014/main" id="{184BBADE-5351-402C-B17B-78F6AB5B30C0}"/>
              </a:ext>
            </a:extLst>
          </p:cNvPr>
          <p:cNvSpPr>
            <a:spLocks noGrp="1"/>
          </p:cNvSpPr>
          <p:nvPr/>
        </p:nvSpPr>
        <p:spPr>
          <a:xfrm>
            <a:off x="2257425" y="1933575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完整消息表示、opt/loop/break、seq/strict/par。</a:t>
            </a:r>
          </a:p>
        </p:txBody>
      </p:sp>
      <p:sp>
        <p:nvSpPr>
          <p:cNvPr id="11" name="frame-219">
            <a:extLst>
              <a:ext uri="{FF2B5EF4-FFF2-40B4-BE49-F238E27FC236}">
                <a16:creationId xmlns:a16="http://schemas.microsoft.com/office/drawing/2014/main" id="{166E7B1C-4095-4D13-8062-9E7E37B5616B}"/>
              </a:ext>
            </a:extLst>
          </p:cNvPr>
          <p:cNvSpPr>
            <a:spLocks noGrp="1"/>
          </p:cNvSpPr>
          <p:nvPr/>
        </p:nvSpPr>
        <p:spPr>
          <a:xfrm>
            <a:off x="476250" y="273367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220">
            <a:extLst>
              <a:ext uri="{FF2B5EF4-FFF2-40B4-BE49-F238E27FC236}">
                <a16:creationId xmlns:a16="http://schemas.microsoft.com/office/drawing/2014/main" id="{267FDB5F-F596-4FC4-8039-774339C3CD76}"/>
              </a:ext>
            </a:extLst>
          </p:cNvPr>
          <p:cNvSpPr>
            <a:spLocks noGrp="1"/>
          </p:cNvSpPr>
          <p:nvPr/>
        </p:nvSpPr>
        <p:spPr>
          <a:xfrm>
            <a:off x="476250" y="276225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状态机图</a:t>
            </a:r>
          </a:p>
        </p:txBody>
      </p:sp>
      <p:sp>
        <p:nvSpPr>
          <p:cNvPr id="13" name="content-221">
            <a:extLst>
              <a:ext uri="{FF2B5EF4-FFF2-40B4-BE49-F238E27FC236}">
                <a16:creationId xmlns:a16="http://schemas.microsoft.com/office/drawing/2014/main" id="{45AC91E5-943B-4CF4-B321-FE5FBE65E6CD}"/>
              </a:ext>
            </a:extLst>
          </p:cNvPr>
          <p:cNvSpPr>
            <a:spLocks noGrp="1"/>
          </p:cNvSpPr>
          <p:nvPr/>
        </p:nvSpPr>
        <p:spPr>
          <a:xfrm>
            <a:off x="2257425" y="2762250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entry/do/exit、复杂事件、复合状态及ATM案例。</a:t>
            </a:r>
          </a:p>
        </p:txBody>
      </p:sp>
      <p:sp>
        <p:nvSpPr>
          <p:cNvPr id="14" name="frame-222">
            <a:extLst>
              <a:ext uri="{FF2B5EF4-FFF2-40B4-BE49-F238E27FC236}">
                <a16:creationId xmlns:a16="http://schemas.microsoft.com/office/drawing/2014/main" id="{8FC89BE9-D939-409D-A35C-30C5C72F1A50}"/>
              </a:ext>
            </a:extLst>
          </p:cNvPr>
          <p:cNvSpPr>
            <a:spLocks noGrp="1"/>
          </p:cNvSpPr>
          <p:nvPr/>
        </p:nvSpPr>
        <p:spPr>
          <a:xfrm>
            <a:off x="476250" y="35623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223">
            <a:extLst>
              <a:ext uri="{FF2B5EF4-FFF2-40B4-BE49-F238E27FC236}">
                <a16:creationId xmlns:a16="http://schemas.microsoft.com/office/drawing/2014/main" id="{834A8AEA-06D2-4A6B-9CE4-130726EAF0D9}"/>
              </a:ext>
            </a:extLst>
          </p:cNvPr>
          <p:cNvSpPr>
            <a:spLocks noGrp="1"/>
          </p:cNvSpPr>
          <p:nvPr/>
        </p:nvSpPr>
        <p:spPr>
          <a:xfrm>
            <a:off x="476250" y="359092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查阅原则</a:t>
            </a:r>
          </a:p>
        </p:txBody>
      </p:sp>
      <p:sp>
        <p:nvSpPr>
          <p:cNvPr id="16" name="content-224">
            <a:extLst>
              <a:ext uri="{FF2B5EF4-FFF2-40B4-BE49-F238E27FC236}">
                <a16:creationId xmlns:a16="http://schemas.microsoft.com/office/drawing/2014/main" id="{33BAEC6D-D418-48EF-8E57-7ED3A3F222BE}"/>
              </a:ext>
            </a:extLst>
          </p:cNvPr>
          <p:cNvSpPr>
            <a:spLocks noGrp="1"/>
          </p:cNvSpPr>
          <p:nvPr/>
        </p:nvSpPr>
        <p:spPr>
          <a:xfrm>
            <a:off x="2257425" y="3590925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原图按其自身情境阅读，未定义规则保留疑问。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" name="frame-19">
            <a:extLst>
              <a:ext uri="{FF2B5EF4-FFF2-40B4-BE49-F238E27FC236}">
                <a16:creationId xmlns:a16="http://schemas.microsoft.com/office/drawing/2014/main" id="{69A31A78-FB1E-46D9-B636-3BC1C45DA98D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活动图概要</a:t>
            </a:r>
          </a:p>
        </p:txBody>
      </p:sp>
      <p:sp>
        <p:nvSpPr>
          <p:cNvPr id="10001" name="frame-20">
            <a:extLst>
              <a:ext uri="{FF2B5EF4-FFF2-40B4-BE49-F238E27FC236}">
                <a16:creationId xmlns:a16="http://schemas.microsoft.com/office/drawing/2014/main" id="{EE0FAC54-AC47-4E07-8697-152D7B1B0376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1">
            <a:extLst>
              <a:ext uri="{FF2B5EF4-FFF2-40B4-BE49-F238E27FC236}">
                <a16:creationId xmlns:a16="http://schemas.microsoft.com/office/drawing/2014/main" id="{AC811E87-EB79-46EA-A262-8264D1579D6F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2">
            <a:extLst>
              <a:ext uri="{FF2B5EF4-FFF2-40B4-BE49-F238E27FC236}">
                <a16:creationId xmlns:a16="http://schemas.microsoft.com/office/drawing/2014/main" id="{384A47E8-5B71-4991-9EB2-40ADDBFBAD31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P03　软件开发过程与技术</a:t>
            </a:r>
          </a:p>
        </p:txBody>
      </p:sp>
      <p:sp>
        <p:nvSpPr>
          <p:cNvPr id="10004" name="frame-23">
            <a:extLst>
              <a:ext uri="{FF2B5EF4-FFF2-40B4-BE49-F238E27FC236}">
                <a16:creationId xmlns:a16="http://schemas.microsoft.com/office/drawing/2014/main" id="{AC457E75-8948-470D-BF28-5604AF5497E4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28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  <p:sp>
        <p:nvSpPr>
          <p:cNvPr id="20000" name="teaching-4-0">
            <a:extLst>
              <a:ext uri="{FF2B5EF4-FFF2-40B4-BE49-F238E27FC236}">
                <a16:creationId xmlns:a16="http://schemas.microsoft.com/office/drawing/2014/main" id="{7F37498D-2830-4795-A672-827FCA56EBB9}"/>
              </a:ext>
            </a:extLst>
          </p:cNvPr>
          <p:cNvSpPr>
            <a:spLocks noGrp="1"/>
          </p:cNvSpPr>
          <p:nvPr/>
        </p:nvSpPr>
        <p:spPr>
          <a:xfrm>
            <a:off x="476250" y="1133475"/>
            <a:ext cx="80962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活动图描述完成目标所需的动作、控制流与对象流。</a:t>
            </a:r>
          </a:p>
        </p:txBody>
      </p:sp>
      <p:sp>
        <p:nvSpPr>
          <p:cNvPr id="20001" name="teaching-4-1">
            <a:extLst>
              <a:ext uri="{FF2B5EF4-FFF2-40B4-BE49-F238E27FC236}">
                <a16:creationId xmlns:a16="http://schemas.microsoft.com/office/drawing/2014/main" id="{8D36F0E2-DE8F-496E-9D58-9977F9E852BF}"/>
              </a:ext>
            </a:extLst>
          </p:cNvPr>
          <p:cNvSpPr>
            <a:spLocks noGrp="1"/>
          </p:cNvSpPr>
          <p:nvPr/>
        </p:nvSpPr>
        <p:spPr>
          <a:xfrm>
            <a:off x="476250" y="1752600"/>
            <a:ext cx="8096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先找起点与终点，再沿箭头追踪一条具体路径。</a:t>
            </a:r>
          </a:p>
        </p:txBody>
      </p:sp>
      <p:sp>
        <p:nvSpPr>
          <p:cNvPr id="20002" name="teaching-4-2">
            <a:extLst>
              <a:ext uri="{FF2B5EF4-FFF2-40B4-BE49-F238E27FC236}">
                <a16:creationId xmlns:a16="http://schemas.microsoft.com/office/drawing/2014/main" id="{3F585288-F084-4F7D-A6A3-82E52947C82B}"/>
              </a:ext>
            </a:extLst>
          </p:cNvPr>
          <p:cNvSpPr>
            <a:spLocks noGrp="1"/>
          </p:cNvSpPr>
          <p:nvPr/>
        </p:nvSpPr>
        <p:spPr>
          <a:xfrm>
            <a:off x="476250" y="2238375"/>
            <a:ext cx="8096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遇到分支看条件，遇到并发看哪些路径需要等待。</a:t>
            </a:r>
          </a:p>
        </p:txBody>
      </p:sp>
      <p:sp>
        <p:nvSpPr>
          <p:cNvPr id="20003" name="teaching-4-3">
            <a:extLst>
              <a:ext uri="{FF2B5EF4-FFF2-40B4-BE49-F238E27FC236}">
                <a16:creationId xmlns:a16="http://schemas.microsoft.com/office/drawing/2014/main" id="{09B6CEE5-D029-4F78-BC18-CB3E67D8E1F3}"/>
              </a:ext>
            </a:extLst>
          </p:cNvPr>
          <p:cNvSpPr>
            <a:spLocks noGrp="1"/>
          </p:cNvSpPr>
          <p:nvPr/>
        </p:nvSpPr>
        <p:spPr>
          <a:xfrm>
            <a:off x="476250" y="2952750"/>
            <a:ext cx="809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课堂案例：检查选课余量，有余量确认记录，无余量拒绝记录。</a:t>
            </a:r>
          </a:p>
        </p:txBody>
      </p:sp>
      <p:sp>
        <p:nvSpPr>
          <p:cNvPr id="20004" name="teaching-4-4">
            <a:extLst>
              <a:ext uri="{FF2B5EF4-FFF2-40B4-BE49-F238E27FC236}">
                <a16:creationId xmlns:a16="http://schemas.microsoft.com/office/drawing/2014/main" id="{A19D748B-4B1A-4D14-B03D-61A56BCF6BDC}"/>
              </a:ext>
            </a:extLst>
          </p:cNvPr>
          <p:cNvSpPr>
            <a:spLocks noGrp="1"/>
          </p:cNvSpPr>
          <p:nvPr/>
        </p:nvSpPr>
        <p:spPr>
          <a:xfrm>
            <a:off x="476250" y="3743325"/>
            <a:ext cx="8096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应用：业务过程、用例场景及软件行为，均可用活动图表达。</a:t>
            </a:r>
          </a:p>
        </p:txBody>
      </p:sp>
      <p:sp>
        <p:nvSpPr>
          <p:cNvPr id="20005" name="teaching-4-5">
            <a:extLst>
              <a:ext uri="{FF2B5EF4-FFF2-40B4-BE49-F238E27FC236}">
                <a16:creationId xmlns:a16="http://schemas.microsoft.com/office/drawing/2014/main" id="{BF253E94-E9EB-4A6A-96DC-9B8EE6C4F821}"/>
              </a:ext>
            </a:extLst>
          </p:cNvPr>
          <p:cNvSpPr>
            <a:spLocks noGrp="1"/>
          </p:cNvSpPr>
          <p:nvPr/>
        </p:nvSpPr>
        <p:spPr>
          <a:xfrm>
            <a:off x="476250" y="4286250"/>
            <a:ext cx="8096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读图问题：这个动作由谁负责？失败后走向哪里？</a:t>
            </a:r>
          </a:p>
        </p:txBody>
      </p:sp>
    </p:spTree>
    <p:extLst>
      <p:ext uri="{BB962C8B-B14F-4D97-AF65-F5344CB8AC3E}">
        <p14:creationId xmlns:p14="http://schemas.microsoft.com/office/powerpoint/2010/main" val="7089814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示&#10;&#10;AI 生成的内容可能不正确。">
            <a:extLst>
              <a:ext uri="{FF2B5EF4-FFF2-40B4-BE49-F238E27FC236}">
                <a16:creationId xmlns:a16="http://schemas.microsoft.com/office/drawing/2014/main" id="{EDD63E33-6988-834B-D535-F500DB7DC7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042" y="1383920"/>
            <a:ext cx="4018528" cy="15333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9952A3F-C9F9-9E4A-A998-BA02B5E66E42}"/>
              </a:ext>
            </a:extLst>
          </p:cNvPr>
          <p:cNvSpPr txBox="1"/>
          <p:nvPr/>
        </p:nvSpPr>
        <p:spPr>
          <a:xfrm>
            <a:off x="1239628" y="1082029"/>
            <a:ext cx="2306961" cy="2484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 defTabSz="615154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00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办理登机手续用例的活动图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B17838-86EA-655D-1E1E-637A614E0F01}"/>
              </a:ext>
            </a:extLst>
          </p:cNvPr>
          <p:cNvSpPr txBox="1"/>
          <p:nvPr/>
        </p:nvSpPr>
        <p:spPr>
          <a:xfrm>
            <a:off x="5550694" y="1076325"/>
            <a:ext cx="2044373" cy="2484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 defTabSz="615154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00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描述对象交互的活动图</a:t>
            </a:r>
          </a:p>
        </p:txBody>
      </p:sp>
      <p:pic>
        <p:nvPicPr>
          <p:cNvPr id="19" name="图片 18" descr="图示&#10;&#10;AI 生成的内容可能不正确。">
            <a:extLst>
              <a:ext uri="{FF2B5EF4-FFF2-40B4-BE49-F238E27FC236}">
                <a16:creationId xmlns:a16="http://schemas.microsoft.com/office/drawing/2014/main" id="{EC9D7831-8A15-0509-E4C8-3A0B49789C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430" y="1401044"/>
            <a:ext cx="2831947" cy="3199531"/>
          </a:xfrm>
          <a:prstGeom prst="rect">
            <a:avLst/>
          </a:prstGeom>
        </p:spPr>
      </p:pic>
      <p:sp>
        <p:nvSpPr>
          <p:cNvPr id="10000" name="frame-24">
            <a:extLst>
              <a:ext uri="{FF2B5EF4-FFF2-40B4-BE49-F238E27FC236}">
                <a16:creationId xmlns:a16="http://schemas.microsoft.com/office/drawing/2014/main" id="{491BE0E5-69DC-495D-82D5-995644015215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活动图概要</a:t>
            </a:r>
          </a:p>
        </p:txBody>
      </p:sp>
      <p:sp>
        <p:nvSpPr>
          <p:cNvPr id="10001" name="frame-25">
            <a:extLst>
              <a:ext uri="{FF2B5EF4-FFF2-40B4-BE49-F238E27FC236}">
                <a16:creationId xmlns:a16="http://schemas.microsoft.com/office/drawing/2014/main" id="{2EC5A839-823D-4DCB-AA12-8DEB9897642E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6">
            <a:extLst>
              <a:ext uri="{FF2B5EF4-FFF2-40B4-BE49-F238E27FC236}">
                <a16:creationId xmlns:a16="http://schemas.microsoft.com/office/drawing/2014/main" id="{534C978F-B444-4299-83D7-6FD0E0311BEC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7">
            <a:extLst>
              <a:ext uri="{FF2B5EF4-FFF2-40B4-BE49-F238E27FC236}">
                <a16:creationId xmlns:a16="http://schemas.microsoft.com/office/drawing/2014/main" id="{37109DB5-ED2B-4963-BA55-6B8EF5A5C5BF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P04　软件开发过程与技术</a:t>
            </a:r>
          </a:p>
        </p:txBody>
      </p:sp>
      <p:sp>
        <p:nvSpPr>
          <p:cNvPr id="10004" name="frame-28">
            <a:extLst>
              <a:ext uri="{FF2B5EF4-FFF2-40B4-BE49-F238E27FC236}">
                <a16:creationId xmlns:a16="http://schemas.microsoft.com/office/drawing/2014/main" id="{930CE7C7-E604-47B7-88B6-28865EB72042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29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58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7075" name="Group 3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1482391006"/>
              </p:ext>
            </p:extLst>
          </p:nvPr>
        </p:nvGraphicFramePr>
        <p:xfrm>
          <a:off x="1459109" y="1076325"/>
          <a:ext cx="6225782" cy="3524250"/>
        </p:xfrm>
        <a:graphic>
          <a:graphicData uri="http://schemas.openxmlformats.org/drawingml/2006/table">
            <a:tbl>
              <a:tblPr/>
              <a:tblGrid>
                <a:gridCol w="1598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8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13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Name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Notation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86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Action node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Activity node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Represents an action (atomic!)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Represents an activity (can be broken down further)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21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Initial node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Start of the execution of an activity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8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Activity final node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End of ALL execution paths of 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activity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433" y="2862946"/>
            <a:ext cx="181304" cy="181304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433" y="3931483"/>
            <a:ext cx="181304" cy="181304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892" y="1427505"/>
            <a:ext cx="1014389" cy="392445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892" y="1958296"/>
            <a:ext cx="1014389" cy="392445"/>
          </a:xfrm>
          <a:prstGeom prst="rect">
            <a:avLst/>
          </a:prstGeom>
        </p:spPr>
      </p:pic>
      <p:sp>
        <p:nvSpPr>
          <p:cNvPr id="10000" name="frame-29">
            <a:extLst>
              <a:ext uri="{FF2B5EF4-FFF2-40B4-BE49-F238E27FC236}">
                <a16:creationId xmlns:a16="http://schemas.microsoft.com/office/drawing/2014/main" id="{F895FDE2-39F8-4775-BD24-F9C0379D3187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活动图概要：表示法</a:t>
            </a:r>
          </a:p>
        </p:txBody>
      </p:sp>
      <p:sp>
        <p:nvSpPr>
          <p:cNvPr id="10001" name="frame-30">
            <a:extLst>
              <a:ext uri="{FF2B5EF4-FFF2-40B4-BE49-F238E27FC236}">
                <a16:creationId xmlns:a16="http://schemas.microsoft.com/office/drawing/2014/main" id="{480D3C73-14E1-476A-8AFD-52CAB95ECE24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31">
            <a:extLst>
              <a:ext uri="{FF2B5EF4-FFF2-40B4-BE49-F238E27FC236}">
                <a16:creationId xmlns:a16="http://schemas.microsoft.com/office/drawing/2014/main" id="{B6954250-3F8F-42D5-A374-CCF9E4B77DED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32">
            <a:extLst>
              <a:ext uri="{FF2B5EF4-FFF2-40B4-BE49-F238E27FC236}">
                <a16:creationId xmlns:a16="http://schemas.microsoft.com/office/drawing/2014/main" id="{19A03DB8-C040-4761-853E-E296659CEB3F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P05　软件开发过程与技术</a:t>
            </a:r>
          </a:p>
        </p:txBody>
      </p:sp>
      <p:sp>
        <p:nvSpPr>
          <p:cNvPr id="10004" name="frame-33">
            <a:extLst>
              <a:ext uri="{FF2B5EF4-FFF2-40B4-BE49-F238E27FC236}">
                <a16:creationId xmlns:a16="http://schemas.microsoft.com/office/drawing/2014/main" id="{04E1C72B-C3BC-4B9A-A214-9BF4FD0AC3C1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30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9123" name="Group 3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4064965414"/>
              </p:ext>
            </p:extLst>
          </p:nvPr>
        </p:nvGraphicFramePr>
        <p:xfrm>
          <a:off x="1298253" y="1076325"/>
          <a:ext cx="6547495" cy="3298850"/>
        </p:xfrm>
        <a:graphic>
          <a:graphicData uri="http://schemas.openxmlformats.org/drawingml/2006/table">
            <a:tbl>
              <a:tblPr/>
              <a:tblGrid>
                <a:gridCol w="1886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Name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Notation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Decision</a:t>
                      </a:r>
                      <a:r>
                        <a:rPr kumimoji="0" lang="de-AT" sz="13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 </a:t>
                      </a:r>
                      <a:r>
                        <a:rPr kumimoji="0" lang="de-AT" sz="13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node</a:t>
                      </a: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Merge</a:t>
                      </a:r>
                      <a:r>
                        <a:rPr kumimoji="0" lang="de-AT" sz="13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 </a:t>
                      </a:r>
                      <a:r>
                        <a:rPr kumimoji="0" lang="de-AT" sz="13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node</a:t>
                      </a: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Splitting of one execution path</a:t>
                      </a:r>
                    </a:p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into alternative execution paths</a:t>
                      </a:r>
                    </a:p>
                    <a:p>
                      <a:endParaRPr kumimoji="0" lang="en-US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Merging of alternative execution</a:t>
                      </a:r>
                    </a:p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paths into one execution path</a:t>
                      </a:r>
                      <a:endParaRPr kumimoji="0" lang="de-AT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49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Parallelization node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Synchronization node</a:t>
                      </a:r>
                      <a:endParaRPr kumimoji="0" lang="de-AT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Splitting of one execution path</a:t>
                      </a:r>
                    </a:p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into concurrent execution paths</a:t>
                      </a:r>
                    </a:p>
                    <a:p>
                      <a:endParaRPr kumimoji="0" lang="en-US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Merging of concurrent execution</a:t>
                      </a:r>
                    </a:p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paths into one execution path</a:t>
                      </a:r>
                      <a:endParaRPr kumimoji="0" lang="de-AT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94" y="1627198"/>
            <a:ext cx="719970" cy="281727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94" y="2277569"/>
            <a:ext cx="719970" cy="281727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533" y="3012217"/>
            <a:ext cx="515296" cy="450282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533" y="3662588"/>
            <a:ext cx="515296" cy="450282"/>
          </a:xfrm>
          <a:prstGeom prst="rect">
            <a:avLst/>
          </a:prstGeom>
        </p:spPr>
      </p:pic>
      <p:sp>
        <p:nvSpPr>
          <p:cNvPr id="10000" name="frame-34">
            <a:extLst>
              <a:ext uri="{FF2B5EF4-FFF2-40B4-BE49-F238E27FC236}">
                <a16:creationId xmlns:a16="http://schemas.microsoft.com/office/drawing/2014/main" id="{D1B088CF-E02A-4302-9421-961ABE4849E8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活动图概要：表示法</a:t>
            </a:r>
          </a:p>
        </p:txBody>
      </p:sp>
      <p:sp>
        <p:nvSpPr>
          <p:cNvPr id="10001" name="frame-35">
            <a:extLst>
              <a:ext uri="{FF2B5EF4-FFF2-40B4-BE49-F238E27FC236}">
                <a16:creationId xmlns:a16="http://schemas.microsoft.com/office/drawing/2014/main" id="{9AB1E66E-B9BC-4661-BD4F-9A3A894E6C41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36">
            <a:extLst>
              <a:ext uri="{FF2B5EF4-FFF2-40B4-BE49-F238E27FC236}">
                <a16:creationId xmlns:a16="http://schemas.microsoft.com/office/drawing/2014/main" id="{09DC28B7-6C70-4326-8853-805B1139D494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37">
            <a:extLst>
              <a:ext uri="{FF2B5EF4-FFF2-40B4-BE49-F238E27FC236}">
                <a16:creationId xmlns:a16="http://schemas.microsoft.com/office/drawing/2014/main" id="{5D122622-E958-4C93-8A31-9ADB4961ED4C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P06　软件开发过程与技术</a:t>
            </a:r>
          </a:p>
        </p:txBody>
      </p:sp>
      <p:sp>
        <p:nvSpPr>
          <p:cNvPr id="10004" name="frame-38">
            <a:extLst>
              <a:ext uri="{FF2B5EF4-FFF2-40B4-BE49-F238E27FC236}">
                <a16:creationId xmlns:a16="http://schemas.microsoft.com/office/drawing/2014/main" id="{6174D797-D737-47A7-919D-3A289CA84969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31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8099" name="Group 3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1625685829"/>
              </p:ext>
            </p:extLst>
          </p:nvPr>
        </p:nvGraphicFramePr>
        <p:xfrm>
          <a:off x="1539071" y="1076325"/>
          <a:ext cx="6065859" cy="3524250"/>
        </p:xfrm>
        <a:graphic>
          <a:graphicData uri="http://schemas.openxmlformats.org/drawingml/2006/table">
            <a:tbl>
              <a:tblPr/>
              <a:tblGrid>
                <a:gridCol w="1557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6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7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Name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Notation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0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Flow final </a:t>
                      </a:r>
                      <a:r>
                        <a:rPr kumimoji="0" lang="de-AT" sz="13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node</a:t>
                      </a: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kern="1200" baseline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End of ONE execution path of an</a:t>
                      </a:r>
                    </a:p>
                    <a:p>
                      <a:r>
                        <a:rPr lang="en-US" sz="1350" kern="1200" baseline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activity</a:t>
                      </a: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8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  <a:defRPr sz="1350">
                          <a:latin typeface="Noto Sans SC"/>
                          <a:ea typeface="Noto Sans SC"/>
                          <a:cs typeface="Noto Sans SC"/>
                        </a:defRPr>
                      </a:pPr>
                      <a:r>
                        <a:rPr kumimoji="0" lang="de-AT" sz="13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Edge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Connection between the nodes of</a:t>
                      </a:r>
                    </a:p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an activity</a:t>
                      </a:r>
                      <a:endParaRPr kumimoji="0" lang="de-AT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6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  <a:defRPr sz="1350">
                          <a:latin typeface="Noto Sans SC"/>
                          <a:ea typeface="Noto Sans SC"/>
                          <a:cs typeface="Noto Sans SC"/>
                        </a:defRPr>
                      </a:pPr>
                      <a:r>
                        <a:rPr kumimoji="0" lang="de-AT" sz="13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Call </a:t>
                      </a:r>
                      <a:r>
                        <a:rPr kumimoji="0" lang="de-AT" sz="13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behavior</a:t>
                      </a:r>
                      <a:r>
                        <a:rPr kumimoji="0" lang="de-AT" sz="13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 </a:t>
                      </a:r>
                      <a:r>
                        <a:rPr kumimoji="0" lang="de-AT" sz="13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action</a:t>
                      </a: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Action A refers to an activity of</a:t>
                      </a:r>
                    </a:p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the same name</a:t>
                      </a:r>
                      <a:endParaRPr kumimoji="0" lang="de-AT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7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Partition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Grouping of nodes and edges</a:t>
                      </a:r>
                    </a:p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within an activity</a:t>
                      </a:r>
                      <a:endParaRPr kumimoji="0" lang="de-AT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272" y="1638637"/>
            <a:ext cx="176232" cy="176232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883" y="2235659"/>
            <a:ext cx="1189014" cy="363620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384" y="2940180"/>
            <a:ext cx="986012" cy="381466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767" y="3750824"/>
            <a:ext cx="1191245" cy="582238"/>
          </a:xfrm>
          <a:prstGeom prst="rect">
            <a:avLst/>
          </a:prstGeom>
        </p:spPr>
      </p:pic>
      <p:sp>
        <p:nvSpPr>
          <p:cNvPr id="10000" name="frame-39">
            <a:extLst>
              <a:ext uri="{FF2B5EF4-FFF2-40B4-BE49-F238E27FC236}">
                <a16:creationId xmlns:a16="http://schemas.microsoft.com/office/drawing/2014/main" id="{D3151F4E-3253-4408-B4CE-E201F75A9084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活动图概要：表示法</a:t>
            </a:r>
          </a:p>
        </p:txBody>
      </p:sp>
      <p:sp>
        <p:nvSpPr>
          <p:cNvPr id="10001" name="frame-40">
            <a:extLst>
              <a:ext uri="{FF2B5EF4-FFF2-40B4-BE49-F238E27FC236}">
                <a16:creationId xmlns:a16="http://schemas.microsoft.com/office/drawing/2014/main" id="{2263175F-95FC-47FD-A7F0-D4CEF46C7BA7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41">
            <a:extLst>
              <a:ext uri="{FF2B5EF4-FFF2-40B4-BE49-F238E27FC236}">
                <a16:creationId xmlns:a16="http://schemas.microsoft.com/office/drawing/2014/main" id="{5A7822AA-D86A-43DE-8880-89EC159E673B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42">
            <a:extLst>
              <a:ext uri="{FF2B5EF4-FFF2-40B4-BE49-F238E27FC236}">
                <a16:creationId xmlns:a16="http://schemas.microsoft.com/office/drawing/2014/main" id="{21F21F34-1EB3-4A77-AB45-16CF09FFBA61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P07　软件开发过程与技术</a:t>
            </a:r>
          </a:p>
        </p:txBody>
      </p:sp>
      <p:sp>
        <p:nvSpPr>
          <p:cNvPr id="10004" name="frame-43">
            <a:extLst>
              <a:ext uri="{FF2B5EF4-FFF2-40B4-BE49-F238E27FC236}">
                <a16:creationId xmlns:a16="http://schemas.microsoft.com/office/drawing/2014/main" id="{0B7F6852-8E99-4E2C-8CD0-2A04A6C94515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32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0147" name="Group 3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2698757769"/>
              </p:ext>
            </p:extLst>
          </p:nvPr>
        </p:nvGraphicFramePr>
        <p:xfrm>
          <a:off x="1445254" y="1076325"/>
          <a:ext cx="6253491" cy="3524250"/>
        </p:xfrm>
        <a:graphic>
          <a:graphicData uri="http://schemas.openxmlformats.org/drawingml/2006/table">
            <a:tbl>
              <a:tblPr/>
              <a:tblGrid>
                <a:gridCol w="1605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3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5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Name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Notation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0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buNone/>
                        <a:tabLst/>
                        <a:defRPr sz="1350">
                          <a:latin typeface="Noto Sans SC"/>
                          <a:ea typeface="Noto Sans SC"/>
                          <a:cs typeface="Noto Sans SC"/>
                        </a:defRPr>
                      </a:pPr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Send signal action</a:t>
                      </a:r>
                      <a:endParaRPr kumimoji="0" lang="de-AT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buNone/>
                        <a:tabLst/>
                      </a:pPr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Transmission of a signal to a receiver</a:t>
                      </a:r>
                      <a:endParaRPr kumimoji="0" lang="de-AT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2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buNone/>
                        <a:tabLst/>
                        <a:defRPr sz="1350">
                          <a:latin typeface="Noto Sans SC"/>
                          <a:ea typeface="Noto Sans SC"/>
                          <a:cs typeface="Noto Sans SC"/>
                        </a:defRPr>
                      </a:pPr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Asynchronous accept (timing) event action</a:t>
                      </a:r>
                      <a:endParaRPr kumimoji="0" lang="de-AT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buNone/>
                        <a:tabLst/>
                      </a:pPr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Wait for an event </a:t>
                      </a:r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49" charset="0"/>
                          <a:ea typeface="Noto Sans SC"/>
                          <a:cs typeface="Noto Sans SC"/>
                        </a:rPr>
                        <a:t>E</a:t>
                      </a:r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 or a time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buNone/>
                        <a:tabLst/>
                      </a:pPr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event </a:t>
                      </a:r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49" charset="0"/>
                          <a:ea typeface="Noto Sans SC"/>
                          <a:cs typeface="Noto Sans SC"/>
                        </a:rPr>
                        <a:t>T</a:t>
                      </a:r>
                      <a:endParaRPr kumimoji="0" lang="de-AT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49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3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buNone/>
                        <a:tabLst/>
                        <a:defRPr sz="1350">
                          <a:latin typeface="Noto Sans SC"/>
                          <a:ea typeface="Noto Sans SC"/>
                          <a:cs typeface="Noto Sans SC"/>
                        </a:defRPr>
                      </a:pPr>
                      <a:r>
                        <a:rPr kumimoji="0" lang="de-AT" sz="13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Object</a:t>
                      </a:r>
                      <a:r>
                        <a:rPr kumimoji="0" lang="de-AT" sz="13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 </a:t>
                      </a:r>
                      <a:r>
                        <a:rPr kumimoji="0" lang="de-AT" sz="13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node</a:t>
                      </a: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Contains data or objects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2983">
                <a:tc>
                  <a:txBody>
                    <a:bodyPr/>
                    <a:lstStyle/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Parameter for activities</a:t>
                      </a:r>
                    </a:p>
                    <a:p>
                      <a:endParaRPr kumimoji="0" lang="en-US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Parameter for actions (pins)</a:t>
                      </a:r>
                      <a:endParaRPr kumimoji="0" lang="de-AT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en-US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Contains data and objects as input</a:t>
                      </a:r>
                    </a:p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and output parameters</a:t>
                      </a:r>
                      <a:endParaRPr kumimoji="0" lang="de-AT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850" y="2958543"/>
            <a:ext cx="1018904" cy="394191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626" y="3557695"/>
            <a:ext cx="1173352" cy="394191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626" y="4147243"/>
            <a:ext cx="1173352" cy="394191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165" y="1472194"/>
            <a:ext cx="606271" cy="352697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353" y="2126617"/>
            <a:ext cx="1237898" cy="587829"/>
          </a:xfrm>
          <a:prstGeom prst="rect">
            <a:avLst/>
          </a:prstGeom>
        </p:spPr>
      </p:pic>
      <p:sp>
        <p:nvSpPr>
          <p:cNvPr id="10000" name="frame-44">
            <a:extLst>
              <a:ext uri="{FF2B5EF4-FFF2-40B4-BE49-F238E27FC236}">
                <a16:creationId xmlns:a16="http://schemas.microsoft.com/office/drawing/2014/main" id="{741BFBD0-6044-40B2-BD6A-C35A84CEF461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活动图概要：表示法</a:t>
            </a:r>
          </a:p>
        </p:txBody>
      </p:sp>
      <p:sp>
        <p:nvSpPr>
          <p:cNvPr id="10001" name="frame-45">
            <a:extLst>
              <a:ext uri="{FF2B5EF4-FFF2-40B4-BE49-F238E27FC236}">
                <a16:creationId xmlns:a16="http://schemas.microsoft.com/office/drawing/2014/main" id="{1169FCB1-6DFB-422A-8E95-378BD6CC0A78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46">
            <a:extLst>
              <a:ext uri="{FF2B5EF4-FFF2-40B4-BE49-F238E27FC236}">
                <a16:creationId xmlns:a16="http://schemas.microsoft.com/office/drawing/2014/main" id="{33427E65-427C-4001-AD41-7079535617C5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47">
            <a:extLst>
              <a:ext uri="{FF2B5EF4-FFF2-40B4-BE49-F238E27FC236}">
                <a16:creationId xmlns:a16="http://schemas.microsoft.com/office/drawing/2014/main" id="{B0CA81BD-EA00-42EE-B4D3-15ABE2C8568E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P08　软件开发过程与技术</a:t>
            </a:r>
          </a:p>
        </p:txBody>
      </p:sp>
      <p:sp>
        <p:nvSpPr>
          <p:cNvPr id="10004" name="frame-48">
            <a:extLst>
              <a:ext uri="{FF2B5EF4-FFF2-40B4-BE49-F238E27FC236}">
                <a16:creationId xmlns:a16="http://schemas.microsoft.com/office/drawing/2014/main" id="{4EB9F4E2-C196-4A11-B4C1-639B9E7B7138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33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0147" name="Group 3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240523843"/>
              </p:ext>
            </p:extLst>
          </p:nvPr>
        </p:nvGraphicFramePr>
        <p:xfrm>
          <a:off x="1305935" y="1076325"/>
          <a:ext cx="6532129" cy="2833469"/>
        </p:xfrm>
        <a:graphic>
          <a:graphicData uri="http://schemas.openxmlformats.org/drawingml/2006/table">
            <a:tbl>
              <a:tblPr/>
              <a:tblGrid>
                <a:gridCol w="1677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6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6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Name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Notation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Exception</a:t>
                      </a:r>
                      <a:r>
                        <a:rPr kumimoji="0" lang="de-AT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 </a:t>
                      </a:r>
                      <a:r>
                        <a:rPr kumimoji="0" lang="de-AT" sz="135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Handler</a:t>
                      </a:r>
                      <a:r>
                        <a:rPr kumimoji="0" lang="de-AT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 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Exception handler is executed instead of the action in the event of an error </a:t>
                      </a:r>
                      <a:r>
                        <a:rPr kumimoji="0" lang="en-US" sz="13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49" charset="0"/>
                          <a:ea typeface="Noto Sans SC"/>
                          <a:cs typeface="Noto Sans SC"/>
                        </a:rPr>
                        <a:t>e</a:t>
                      </a:r>
                      <a:endParaRPr kumimoji="0" lang="de-AT" sz="135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49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33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Interruptible activity region</a:t>
                      </a:r>
                      <a:endParaRPr kumimoji="0" lang="de-AT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de-AT" sz="13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Flow continues on a different</a:t>
                      </a:r>
                    </a:p>
                    <a:p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path if event </a:t>
                      </a:r>
                      <a:r>
                        <a:rPr kumimoji="0" lang="en-US" sz="13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49" charset="0"/>
                          <a:ea typeface="Noto Sans SC"/>
                          <a:cs typeface="Noto Sans SC"/>
                        </a:rPr>
                        <a:t>E</a:t>
                      </a:r>
                      <a:r>
                        <a:rPr kumimoji="0" lang="en-US" sz="13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 is detected</a:t>
                      </a:r>
                      <a:endParaRPr kumimoji="0" lang="de-AT" sz="13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490" y="1560559"/>
            <a:ext cx="1289519" cy="770863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218" y="2549017"/>
            <a:ext cx="1322062" cy="1289519"/>
          </a:xfrm>
          <a:prstGeom prst="rect">
            <a:avLst/>
          </a:prstGeom>
        </p:spPr>
      </p:pic>
      <p:sp>
        <p:nvSpPr>
          <p:cNvPr id="10000" name="frame-49">
            <a:extLst>
              <a:ext uri="{FF2B5EF4-FFF2-40B4-BE49-F238E27FC236}">
                <a16:creationId xmlns:a16="http://schemas.microsoft.com/office/drawing/2014/main" id="{1F75A129-0A3D-4686-9439-20116981BD07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活动图概要：表示法</a:t>
            </a:r>
          </a:p>
        </p:txBody>
      </p:sp>
      <p:sp>
        <p:nvSpPr>
          <p:cNvPr id="10001" name="frame-50">
            <a:extLst>
              <a:ext uri="{FF2B5EF4-FFF2-40B4-BE49-F238E27FC236}">
                <a16:creationId xmlns:a16="http://schemas.microsoft.com/office/drawing/2014/main" id="{AE7424BD-6804-4EAD-948E-E8C7A4337233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51">
            <a:extLst>
              <a:ext uri="{FF2B5EF4-FFF2-40B4-BE49-F238E27FC236}">
                <a16:creationId xmlns:a16="http://schemas.microsoft.com/office/drawing/2014/main" id="{7167BEF1-DECB-45FD-9B47-D07DFB61827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52">
            <a:extLst>
              <a:ext uri="{FF2B5EF4-FFF2-40B4-BE49-F238E27FC236}">
                <a16:creationId xmlns:a16="http://schemas.microsoft.com/office/drawing/2014/main" id="{2F95C07B-6A9E-4D3A-B05D-FD5DC8DC62BD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P09　软件开发过程与技术</a:t>
            </a:r>
          </a:p>
        </p:txBody>
      </p:sp>
      <p:sp>
        <p:nvSpPr>
          <p:cNvPr id="10004" name="frame-53">
            <a:extLst>
              <a:ext uri="{FF2B5EF4-FFF2-40B4-BE49-F238E27FC236}">
                <a16:creationId xmlns:a16="http://schemas.microsoft.com/office/drawing/2014/main" id="{8050ADD8-39CD-4052-AABF-B671ABE9A56A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34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6B6A08-D865-134C-A69E-50D7B7B61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E1B6C01-D423-CF59-B919-76CB7555E76B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7787090" cy="3524250"/>
          </a:xfrm>
        </p:spPr>
        <p:txBody>
          <a:bodyPr lIns="0" tIns="0" rIns="0" bIns="0" anchor="t">
            <a:noAutofit/>
          </a:bodyPr>
          <a:lstStyle/>
          <a:p>
            <a:pPr marL="228600" indent="-133350" algn="l" defTabSz="695195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用例活动图用于描述 “为完成某一用例目标需执行的活动及执行顺序”，是对</a:t>
            </a:r>
            <a:r>
              <a:rPr lang="zh-CN" altLang="en-US" sz="150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用例场景</a:t>
            </a: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的建模</a:t>
            </a:r>
            <a:endParaRPr lang="en-US" altLang="zh-CN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457200" lvl="2" indent="-133350" algn="l" defTabSz="695195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聚焦过程：不描述对象交互细节，专注 “做什么活动、按什么顺序做”；</a:t>
            </a:r>
          </a:p>
          <a:p>
            <a:pPr marL="457200" lvl="2" indent="-133350" algn="l" defTabSz="695195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面向用例：仅针对单个用例场景，不跨用例建模；</a:t>
            </a:r>
          </a:p>
          <a:p>
            <a:pPr marL="457200" lvl="2" indent="-133350" algn="l" defTabSz="695195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半结构化：兼顾面向过程的 “流程性” 与面向对象的 “职责划分”（体现在泳道）</a:t>
            </a:r>
            <a:endParaRPr lang="en-US" altLang="zh-CN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228600" lvl="1" indent="-133350" algn="l" defTabSz="695195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用例活动图可以在不同抽象阶段使用</a:t>
            </a:r>
            <a:endParaRPr lang="en-US" altLang="zh-CN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457200" lvl="2" indent="-133350" algn="l" defTabSz="695195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业务场景建模（业务用例活动图）：从业务主角度描述业务过程，目的是为了获取业务用例</a:t>
            </a:r>
            <a:endParaRPr lang="en-US" altLang="zh-CN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457200" lvl="2" indent="-133350" algn="l" defTabSz="695195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用例场景建模（系统用例活动图）：从参与者角度描述其在业务过程中的业务用例如何实现，目的是为了获取概念用例</a:t>
            </a:r>
          </a:p>
        </p:txBody>
      </p:sp>
      <p:sp>
        <p:nvSpPr>
          <p:cNvPr id="10000" name="frame-54">
            <a:extLst>
              <a:ext uri="{FF2B5EF4-FFF2-40B4-BE49-F238E27FC236}">
                <a16:creationId xmlns:a16="http://schemas.microsoft.com/office/drawing/2014/main" id="{13DA7A9B-3962-4122-A23F-C87D4F4C0941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活动图概要：用例活动图</a:t>
            </a:r>
          </a:p>
        </p:txBody>
      </p:sp>
      <p:sp>
        <p:nvSpPr>
          <p:cNvPr id="10001" name="frame-55">
            <a:extLst>
              <a:ext uri="{FF2B5EF4-FFF2-40B4-BE49-F238E27FC236}">
                <a16:creationId xmlns:a16="http://schemas.microsoft.com/office/drawing/2014/main" id="{ED31AD39-7C2E-4418-8CE2-652E0D2DB799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56">
            <a:extLst>
              <a:ext uri="{FF2B5EF4-FFF2-40B4-BE49-F238E27FC236}">
                <a16:creationId xmlns:a16="http://schemas.microsoft.com/office/drawing/2014/main" id="{0E6D9725-803B-4B17-9FDA-AD35CA54A3A1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57">
            <a:extLst>
              <a:ext uri="{FF2B5EF4-FFF2-40B4-BE49-F238E27FC236}">
                <a16:creationId xmlns:a16="http://schemas.microsoft.com/office/drawing/2014/main" id="{FC1EE86D-7AB2-4227-A7A9-B6EAD31D7D63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P10　软件开发过程与技术</a:t>
            </a:r>
          </a:p>
        </p:txBody>
      </p:sp>
      <p:sp>
        <p:nvSpPr>
          <p:cNvPr id="10004" name="frame-58">
            <a:extLst>
              <a:ext uri="{FF2B5EF4-FFF2-40B4-BE49-F238E27FC236}">
                <a16:creationId xmlns:a16="http://schemas.microsoft.com/office/drawing/2014/main" id="{07C4D72C-1F30-48AE-8D01-06A61C8A83A7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35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0298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4C545A4-5C8E-C2DA-244A-1F030C166D63}"/>
              </a:ext>
            </a:extLst>
          </p:cNvPr>
          <p:cNvSpPr>
            <a:spLocks noGrp="1"/>
          </p:cNvSpPr>
          <p:nvPr/>
        </p:nvSpPr>
        <p:spPr>
          <a:xfrm>
            <a:off x="476250" y="1306000"/>
            <a:ext cx="4121100" cy="3294575"/>
          </a:xfrm>
        </p:spPr>
        <p:txBody>
          <a:bodyPr lIns="0" tIns="0" rIns="0" bIns="0" anchor="t">
            <a:noAutofit/>
          </a:bodyPr>
          <a:lstStyle/>
          <a:p>
            <a:pPr marL="228600" indent="-133350" algn="l" defTabSz="641314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关键建模元素</a:t>
            </a:r>
            <a:endParaRPr lang="en-US" altLang="zh-CN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457200" lvl="1" indent="-133350" algn="l" defTabSz="641314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起始点</a:t>
            </a:r>
            <a:r>
              <a:rPr lang="en-US" altLang="zh-CN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结束点、活动、转移、判断</a:t>
            </a:r>
            <a:r>
              <a:rPr lang="en-US" altLang="zh-CN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合并、并发</a:t>
            </a:r>
            <a:r>
              <a:rPr lang="en-US" altLang="zh-CN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同步</a:t>
            </a:r>
            <a:endParaRPr lang="en-US" altLang="zh-CN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228600" indent="-133350" algn="l" defTabSz="641314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业务流程路径</a:t>
            </a:r>
            <a:endParaRPr lang="en-US" altLang="zh-CN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457200" lvl="1" indent="-133350" algn="l" defTabSz="641314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基本流：最主要、频繁使用的、默认的业务流程路径</a:t>
            </a:r>
            <a:endParaRPr lang="en-US" altLang="zh-CN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457200" lvl="1" indent="-133350" algn="l" defTabSz="641314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备选流：某个条件触发的、非默认的业务流程路径</a:t>
            </a:r>
            <a:endParaRPr lang="en-US" altLang="zh-CN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457200" lvl="1" indent="-133350" algn="l" defTabSz="641314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异常流：非正常的、不是业务目标期待的，容错性的，处理意外情况的业务流程路径</a:t>
            </a:r>
          </a:p>
        </p:txBody>
      </p:sp>
      <p:pic>
        <p:nvPicPr>
          <p:cNvPr id="7" name="内容占位符 7" descr="图示&#10;&#10;AI 生成的内容可能不正确。">
            <a:extLst>
              <a:ext uri="{FF2B5EF4-FFF2-40B4-BE49-F238E27FC236}">
                <a16:creationId xmlns:a16="http://schemas.microsoft.com/office/drawing/2014/main" id="{F439E6B2-DA17-3A8F-ED0E-B11EB1386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390" y="1367249"/>
            <a:ext cx="2665960" cy="3152524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3289BE3-8DC9-6ACA-9F94-F3A8AB1A66CF}"/>
              </a:ext>
            </a:extLst>
          </p:cNvPr>
          <p:cNvSpPr txBox="1"/>
          <p:nvPr/>
        </p:nvSpPr>
        <p:spPr>
          <a:xfrm>
            <a:off x="5691048" y="1076325"/>
            <a:ext cx="2405065" cy="2590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 defTabSz="641314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00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办理登机手续用例活动图示例</a:t>
            </a:r>
          </a:p>
        </p:txBody>
      </p:sp>
      <p:sp>
        <p:nvSpPr>
          <p:cNvPr id="10000" name="frame-59">
            <a:extLst>
              <a:ext uri="{FF2B5EF4-FFF2-40B4-BE49-F238E27FC236}">
                <a16:creationId xmlns:a16="http://schemas.microsoft.com/office/drawing/2014/main" id="{DD2ACED3-8F08-4007-BBE7-85689D69F07F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活动图概要：用例活动图</a:t>
            </a:r>
          </a:p>
        </p:txBody>
      </p:sp>
      <p:sp>
        <p:nvSpPr>
          <p:cNvPr id="10001" name="frame-60">
            <a:extLst>
              <a:ext uri="{FF2B5EF4-FFF2-40B4-BE49-F238E27FC236}">
                <a16:creationId xmlns:a16="http://schemas.microsoft.com/office/drawing/2014/main" id="{EA03FE4E-E8D4-4771-A8DB-89A7433D049F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61">
            <a:extLst>
              <a:ext uri="{FF2B5EF4-FFF2-40B4-BE49-F238E27FC236}">
                <a16:creationId xmlns:a16="http://schemas.microsoft.com/office/drawing/2014/main" id="{DFF8205F-3643-4888-8EBE-3883F0EC7FFA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62">
            <a:extLst>
              <a:ext uri="{FF2B5EF4-FFF2-40B4-BE49-F238E27FC236}">
                <a16:creationId xmlns:a16="http://schemas.microsoft.com/office/drawing/2014/main" id="{2D67686F-5132-4D81-99CB-8A5D3D647B9D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P11　软件开发过程与技术</a:t>
            </a:r>
          </a:p>
        </p:txBody>
      </p:sp>
      <p:sp>
        <p:nvSpPr>
          <p:cNvPr id="10004" name="frame-63">
            <a:extLst>
              <a:ext uri="{FF2B5EF4-FFF2-40B4-BE49-F238E27FC236}">
                <a16:creationId xmlns:a16="http://schemas.microsoft.com/office/drawing/2014/main" id="{5AB4A0B5-A07C-4C15-A506-49C0123CD05E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36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4226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2709F99F-DB45-8A50-E20C-25CB6E741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" y="2171700"/>
            <a:ext cx="3408998" cy="1246822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C0018DB0-D06D-010F-6038-6A5FA8DA6CDD}"/>
              </a:ext>
            </a:extLst>
          </p:cNvPr>
          <p:cNvSpPr/>
          <p:nvPr/>
        </p:nvSpPr>
        <p:spPr>
          <a:xfrm>
            <a:off x="2424364" y="2810353"/>
            <a:ext cx="894277" cy="328032"/>
          </a:xfrm>
          <a:prstGeom prst="ellipse">
            <a:avLst/>
          </a:prstGeom>
          <a:noFill/>
          <a:ln w="38618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512" tIns="34756" rIns="69512" bIns="34756" rtlCol="0" anchor="ctr">
            <a:noAutofit/>
          </a:bodyPr>
          <a:lstStyle/>
          <a:p>
            <a:pPr marL="0" algn="ctr" defTabSz="695115" rtl="0" eaLnBrk="1" latinLnBrk="0" hangingPunct="1">
              <a:defRPr sz="136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368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B4E88F1-DD9C-B069-D1F8-8D15BF522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3162300"/>
            <a:ext cx="4381500" cy="1225868"/>
          </a:xfrm>
          <a:prstGeom prst="rect">
            <a:avLst/>
          </a:prstGeom>
        </p:spPr>
      </p:pic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09E48B1-A7F9-D71A-E9A9-6CCBD6F856F8}"/>
              </a:ext>
            </a:extLst>
          </p:cNvPr>
          <p:cNvCxnSpPr>
            <a:cxnSpLocks/>
          </p:cNvCxnSpPr>
          <p:nvPr/>
        </p:nvCxnSpPr>
        <p:spPr>
          <a:xfrm>
            <a:off x="2852738" y="3133725"/>
            <a:ext cx="4762" cy="381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02DDA5F-5835-B065-F589-CCF590C1FED7}"/>
              </a:ext>
            </a:extLst>
          </p:cNvPr>
          <p:cNvCxnSpPr>
            <a:cxnSpLocks/>
          </p:cNvCxnSpPr>
          <p:nvPr/>
        </p:nvCxnSpPr>
        <p:spPr>
          <a:xfrm>
            <a:off x="2857500" y="3514725"/>
            <a:ext cx="1333500" cy="4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5183F3F9-CCC4-5BE8-9727-D086D31DF7B2}"/>
              </a:ext>
            </a:extLst>
          </p:cNvPr>
          <p:cNvSpPr txBox="1"/>
          <p:nvPr/>
        </p:nvSpPr>
        <p:spPr>
          <a:xfrm>
            <a:off x="476250" y="3609975"/>
            <a:ext cx="3238500" cy="981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 defTabSz="695115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00" kern="1200" dirty="0">
                <a:solidFill>
                  <a:srgbClr val="F07F00"/>
                </a:solidFill>
                <a:latin typeface="Noto Sans SC"/>
                <a:ea typeface="Noto Sans SC"/>
                <a:cs typeface="Noto Sans SC"/>
              </a:rPr>
              <a:t>用例的每个场景对应一个用例实现（</a:t>
            </a:r>
            <a:r>
              <a:rPr lang="en-US" altLang="zh-CN" sz="1200" kern="1200" dirty="0">
                <a:solidFill>
                  <a:srgbClr val="F07F00"/>
                </a:solidFill>
                <a:latin typeface="Noto Sans SC"/>
                <a:ea typeface="Noto Sans SC"/>
                <a:cs typeface="Noto Sans SC"/>
              </a:rPr>
              <a:t>UML</a:t>
            </a:r>
            <a:r>
              <a:rPr lang="zh-CN" altLang="en-US" sz="1200" kern="1200" dirty="0">
                <a:solidFill>
                  <a:srgbClr val="F07F00"/>
                </a:solidFill>
                <a:latin typeface="Noto Sans SC"/>
                <a:ea typeface="Noto Sans SC"/>
                <a:cs typeface="Noto Sans SC"/>
              </a:rPr>
              <a:t>叫协作），用例实现的描述通常采用顺序图</a:t>
            </a:r>
          </a:p>
        </p:txBody>
      </p:sp>
      <p:sp>
        <p:nvSpPr>
          <p:cNvPr id="10000" name="frame-64">
            <a:extLst>
              <a:ext uri="{FF2B5EF4-FFF2-40B4-BE49-F238E27FC236}">
                <a16:creationId xmlns:a16="http://schemas.microsoft.com/office/drawing/2014/main" id="{9965119E-D67D-4E46-B88C-21131085C2D1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顺序图概要</a:t>
            </a:r>
          </a:p>
        </p:txBody>
      </p:sp>
      <p:sp>
        <p:nvSpPr>
          <p:cNvPr id="10001" name="frame-65">
            <a:extLst>
              <a:ext uri="{FF2B5EF4-FFF2-40B4-BE49-F238E27FC236}">
                <a16:creationId xmlns:a16="http://schemas.microsoft.com/office/drawing/2014/main" id="{1D695200-416F-4CC2-B401-04F8EEBDBB48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66">
            <a:extLst>
              <a:ext uri="{FF2B5EF4-FFF2-40B4-BE49-F238E27FC236}">
                <a16:creationId xmlns:a16="http://schemas.microsoft.com/office/drawing/2014/main" id="{E494139B-EACD-46EC-B58E-F037C90FA45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67">
            <a:extLst>
              <a:ext uri="{FF2B5EF4-FFF2-40B4-BE49-F238E27FC236}">
                <a16:creationId xmlns:a16="http://schemas.microsoft.com/office/drawing/2014/main" id="{3BAF0E1F-3E3A-4A50-B3AE-C478AA4AA1BF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P12　软件开发过程与技术</a:t>
            </a:r>
          </a:p>
        </p:txBody>
      </p:sp>
      <p:sp>
        <p:nvSpPr>
          <p:cNvPr id="10004" name="frame-68">
            <a:extLst>
              <a:ext uri="{FF2B5EF4-FFF2-40B4-BE49-F238E27FC236}">
                <a16:creationId xmlns:a16="http://schemas.microsoft.com/office/drawing/2014/main" id="{12270CB6-8F92-4B48-809F-A0280C04517F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37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  <p:sp>
        <p:nvSpPr>
          <p:cNvPr id="20000" name="teaching-13-0">
            <a:extLst>
              <a:ext uri="{FF2B5EF4-FFF2-40B4-BE49-F238E27FC236}">
                <a16:creationId xmlns:a16="http://schemas.microsoft.com/office/drawing/2014/main" id="{5682899D-C4DE-4372-9BF6-27DC35BEF660}"/>
              </a:ext>
            </a:extLst>
          </p:cNvPr>
          <p:cNvSpPr>
            <a:spLocks noGrp="1"/>
          </p:cNvSpPr>
          <p:nvPr/>
        </p:nvSpPr>
        <p:spPr>
          <a:xfrm>
            <a:off x="476250" y="1095375"/>
            <a:ext cx="80962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顺序图描述交互参与者之间的消息，以及事件发生的先后约束。</a:t>
            </a:r>
          </a:p>
        </p:txBody>
      </p:sp>
      <p:sp>
        <p:nvSpPr>
          <p:cNvPr id="20001" name="teaching-13-1">
            <a:extLst>
              <a:ext uri="{FF2B5EF4-FFF2-40B4-BE49-F238E27FC236}">
                <a16:creationId xmlns:a16="http://schemas.microsoft.com/office/drawing/2014/main" id="{1F701576-3608-4631-9F65-2B0B7AD9BD49}"/>
              </a:ext>
            </a:extLst>
          </p:cNvPr>
          <p:cNvSpPr>
            <a:spLocks noGrp="1"/>
          </p:cNvSpPr>
          <p:nvPr/>
        </p:nvSpPr>
        <p:spPr>
          <a:xfrm>
            <a:off x="476250" y="1685925"/>
            <a:ext cx="809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读图先问：谁向谁发送什么？发送后是否等待？</a:t>
            </a:r>
          </a:p>
        </p:txBody>
      </p:sp>
    </p:spTree>
    <p:extLst>
      <p:ext uri="{BB962C8B-B14F-4D97-AF65-F5344CB8AC3E}">
        <p14:creationId xmlns:p14="http://schemas.microsoft.com/office/powerpoint/2010/main" val="582524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5441F-22A6-1ABC-E99B-56DC71B6A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E7BDAD1-ECDD-020B-AA9A-50B104DFC067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7993823" cy="3524250"/>
          </a:xfrm>
        </p:spPr>
        <p:txBody>
          <a:bodyPr lIns="0" tIns="0" rIns="0" bIns="0" anchor="t">
            <a:noAutofit/>
          </a:bodyPr>
          <a:lstStyle/>
          <a:p>
            <a:pPr marL="228600" indent="-133350" algn="l" defTabSz="695115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顺序图可以应用于不同的抽象层次</a:t>
            </a:r>
            <a:endParaRPr lang="en-US" altLang="zh-CN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457200" lvl="1" indent="-133350" algn="l" defTabSz="695115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业务建模阶段：描述业务对象 </a:t>
            </a:r>
            <a:r>
              <a:rPr lang="en-US" altLang="zh-CN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(</a:t>
            </a: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概念层的类</a:t>
            </a:r>
            <a:r>
              <a:rPr lang="en-US" altLang="zh-CN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</a:t>
            </a: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之间的交互</a:t>
            </a:r>
            <a:endParaRPr lang="en-US" altLang="zh-CN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457200" lvl="1" indent="-133350" algn="l" defTabSz="695115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概念建模阶段：描述分析类 </a:t>
            </a:r>
            <a:r>
              <a:rPr lang="en-US" altLang="zh-CN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(</a:t>
            </a: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说明层的类</a:t>
            </a:r>
            <a:r>
              <a:rPr lang="en-US" altLang="zh-CN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</a:t>
            </a: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之间的交互</a:t>
            </a:r>
            <a:endParaRPr lang="en-US" altLang="zh-CN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457200" lvl="1" indent="-133350" algn="l" defTabSz="695115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设计建模阶段：描述设计类 </a:t>
            </a:r>
            <a:r>
              <a:rPr lang="en-US" altLang="zh-CN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(</a:t>
            </a: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实现层的类</a:t>
            </a:r>
            <a:r>
              <a:rPr lang="en-US" altLang="zh-CN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</a:t>
            </a: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之间的交互</a:t>
            </a:r>
          </a:p>
        </p:txBody>
      </p:sp>
      <p:sp>
        <p:nvSpPr>
          <p:cNvPr id="10000" name="frame-69">
            <a:extLst>
              <a:ext uri="{FF2B5EF4-FFF2-40B4-BE49-F238E27FC236}">
                <a16:creationId xmlns:a16="http://schemas.microsoft.com/office/drawing/2014/main" id="{5936E0C9-8A84-4404-82F9-DC7BDF0E12EB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顺序图概要</a:t>
            </a:r>
          </a:p>
        </p:txBody>
      </p:sp>
      <p:sp>
        <p:nvSpPr>
          <p:cNvPr id="10001" name="frame-70">
            <a:extLst>
              <a:ext uri="{FF2B5EF4-FFF2-40B4-BE49-F238E27FC236}">
                <a16:creationId xmlns:a16="http://schemas.microsoft.com/office/drawing/2014/main" id="{C09EA7CE-E4FD-4CAD-9FA7-43F0244041FF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71">
            <a:extLst>
              <a:ext uri="{FF2B5EF4-FFF2-40B4-BE49-F238E27FC236}">
                <a16:creationId xmlns:a16="http://schemas.microsoft.com/office/drawing/2014/main" id="{73215459-007E-41EA-A153-6AFBE94170FB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72">
            <a:extLst>
              <a:ext uri="{FF2B5EF4-FFF2-40B4-BE49-F238E27FC236}">
                <a16:creationId xmlns:a16="http://schemas.microsoft.com/office/drawing/2014/main" id="{428957AB-7F95-48FC-BA8D-D74A94A238E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P13　软件开发过程与技术</a:t>
            </a:r>
          </a:p>
        </p:txBody>
      </p:sp>
      <p:sp>
        <p:nvSpPr>
          <p:cNvPr id="10004" name="frame-73">
            <a:extLst>
              <a:ext uri="{FF2B5EF4-FFF2-40B4-BE49-F238E27FC236}">
                <a16:creationId xmlns:a16="http://schemas.microsoft.com/office/drawing/2014/main" id="{9F7BFD23-F7F1-4277-AD85-8DBFDAB8ABC1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38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27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F544689C-6C4F-67A7-4F07-08A2963566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567" y="1112114"/>
            <a:ext cx="2652471" cy="308325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F2A713EE-74C8-1F8E-ED81-E6DB134FB2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213" y="1076325"/>
            <a:ext cx="2886537" cy="3077430"/>
          </a:xfrm>
          <a:prstGeom prst="rect">
            <a:avLst/>
          </a:prstGeom>
        </p:spPr>
      </p:pic>
      <p:pic>
        <p:nvPicPr>
          <p:cNvPr id="10" name="图片 9" descr="图示, 示意图&#10;&#10;AI 生成的内容可能不正确。">
            <a:extLst>
              <a:ext uri="{FF2B5EF4-FFF2-40B4-BE49-F238E27FC236}">
                <a16:creationId xmlns:a16="http://schemas.microsoft.com/office/drawing/2014/main" id="{5781E9A2-B8EC-08E4-419E-352FE21924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2223655"/>
            <a:ext cx="2130879" cy="45262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482B727-644C-091C-5000-1D4047FEEA3C}"/>
              </a:ext>
            </a:extLst>
          </p:cNvPr>
          <p:cNvSpPr txBox="1"/>
          <p:nvPr/>
        </p:nvSpPr>
        <p:spPr>
          <a:xfrm>
            <a:off x="476250" y="2933250"/>
            <a:ext cx="1604981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l" defTabSz="656199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00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网上购物业务对象模型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03AC3E-2AC2-07B2-A847-6F6BB880BAB2}"/>
              </a:ext>
            </a:extLst>
          </p:cNvPr>
          <p:cNvSpPr txBox="1"/>
          <p:nvPr/>
        </p:nvSpPr>
        <p:spPr>
          <a:xfrm>
            <a:off x="3446424" y="4229673"/>
            <a:ext cx="1764881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l" defTabSz="656199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00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网上购物业务模型时序图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5D003BD-0FD5-1060-2801-7D69453D5859}"/>
              </a:ext>
            </a:extLst>
          </p:cNvPr>
          <p:cNvSpPr txBox="1"/>
          <p:nvPr/>
        </p:nvSpPr>
        <p:spPr>
          <a:xfrm>
            <a:off x="6287494" y="4213699"/>
            <a:ext cx="2061674" cy="4191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l" defTabSz="656199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00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网上购物概念模型时序图片段</a:t>
            </a:r>
          </a:p>
        </p:txBody>
      </p:sp>
      <p:sp>
        <p:nvSpPr>
          <p:cNvPr id="10000" name="frame-74">
            <a:extLst>
              <a:ext uri="{FF2B5EF4-FFF2-40B4-BE49-F238E27FC236}">
                <a16:creationId xmlns:a16="http://schemas.microsoft.com/office/drawing/2014/main" id="{A9F688F4-BB4C-4E37-8E95-1D781AD8EE86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顺序图概要</a:t>
            </a:r>
          </a:p>
        </p:txBody>
      </p:sp>
      <p:sp>
        <p:nvSpPr>
          <p:cNvPr id="10001" name="frame-75">
            <a:extLst>
              <a:ext uri="{FF2B5EF4-FFF2-40B4-BE49-F238E27FC236}">
                <a16:creationId xmlns:a16="http://schemas.microsoft.com/office/drawing/2014/main" id="{B90E544E-32A7-4D69-B9A6-B5405B397C39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76">
            <a:extLst>
              <a:ext uri="{FF2B5EF4-FFF2-40B4-BE49-F238E27FC236}">
                <a16:creationId xmlns:a16="http://schemas.microsoft.com/office/drawing/2014/main" id="{080001CF-D4FD-4F1C-8669-8662EC1ECC51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77">
            <a:extLst>
              <a:ext uri="{FF2B5EF4-FFF2-40B4-BE49-F238E27FC236}">
                <a16:creationId xmlns:a16="http://schemas.microsoft.com/office/drawing/2014/main" id="{B6B6E76D-FA48-4990-B14A-487E17B14F9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P14　软件开发过程与技术</a:t>
            </a:r>
          </a:p>
        </p:txBody>
      </p:sp>
      <p:sp>
        <p:nvSpPr>
          <p:cNvPr id="10004" name="frame-78">
            <a:extLst>
              <a:ext uri="{FF2B5EF4-FFF2-40B4-BE49-F238E27FC236}">
                <a16:creationId xmlns:a16="http://schemas.microsoft.com/office/drawing/2014/main" id="{F9B47C61-DA32-4FBB-90E4-27988F12838D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39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447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04739" name="Group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818189079"/>
              </p:ext>
            </p:extLst>
          </p:nvPr>
        </p:nvGraphicFramePr>
        <p:xfrm>
          <a:off x="1457954" y="1076325"/>
          <a:ext cx="6228091" cy="3524250"/>
        </p:xfrm>
        <a:graphic>
          <a:graphicData uri="http://schemas.openxmlformats.org/drawingml/2006/table">
            <a:tbl>
              <a:tblPr/>
              <a:tblGrid>
                <a:gridCol w="1599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13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Name</a:t>
                      </a:r>
                    </a:p>
                  </a:txBody>
                  <a:tcPr marL="72925" marR="729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Notation</a:t>
                      </a:r>
                    </a:p>
                  </a:txBody>
                  <a:tcPr marL="72925" marR="729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Description</a:t>
                      </a:r>
                    </a:p>
                  </a:txBody>
                  <a:tcPr marL="72925" marR="729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86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Lifeline</a:t>
                      </a:r>
                    </a:p>
                  </a:txBody>
                  <a:tcPr marL="72925" marR="72925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2925" marR="729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 i="0" u="none" strike="noStrike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Interaction partners involved in</a:t>
                      </a:r>
                    </a:p>
                    <a:p>
                      <a:r>
                        <a:rPr lang="en-US" sz="1350" b="0" i="0" u="none" strike="noStrike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the communication</a:t>
                      </a: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2925" marR="729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21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Destruction event</a:t>
                      </a:r>
                    </a:p>
                  </a:txBody>
                  <a:tcPr marL="72925" marR="72925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2925" marR="729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 i="0" u="none" strike="noStrike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Time at which an interaction partner</a:t>
                      </a:r>
                    </a:p>
                    <a:p>
                      <a:r>
                        <a:rPr lang="en-US" sz="1350" b="0" i="0" u="none" strike="noStrike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ceases to exist</a:t>
                      </a: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2925" marR="729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80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Combined fragment</a:t>
                      </a:r>
                    </a:p>
                  </a:txBody>
                  <a:tcPr marL="72925" marR="72925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2925" marR="729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Control constructs</a:t>
                      </a:r>
                    </a:p>
                  </a:txBody>
                  <a:tcPr marL="72925" marR="729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056" y="1530784"/>
            <a:ext cx="766011" cy="745674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087" y="2576820"/>
            <a:ext cx="481949" cy="791774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206" y="3790987"/>
            <a:ext cx="775709" cy="493424"/>
          </a:xfrm>
          <a:prstGeom prst="rect">
            <a:avLst/>
          </a:prstGeom>
        </p:spPr>
      </p:pic>
      <p:sp>
        <p:nvSpPr>
          <p:cNvPr id="10000" name="frame-79">
            <a:extLst>
              <a:ext uri="{FF2B5EF4-FFF2-40B4-BE49-F238E27FC236}">
                <a16:creationId xmlns:a16="http://schemas.microsoft.com/office/drawing/2014/main" id="{8A25E24B-997B-488A-A50D-86E63E0FA931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顺序图概要：表示法</a:t>
            </a:r>
          </a:p>
        </p:txBody>
      </p:sp>
      <p:sp>
        <p:nvSpPr>
          <p:cNvPr id="10001" name="frame-80">
            <a:extLst>
              <a:ext uri="{FF2B5EF4-FFF2-40B4-BE49-F238E27FC236}">
                <a16:creationId xmlns:a16="http://schemas.microsoft.com/office/drawing/2014/main" id="{40F3CE80-2CC3-4921-ABFF-FB63EE6ADD9B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81">
            <a:extLst>
              <a:ext uri="{FF2B5EF4-FFF2-40B4-BE49-F238E27FC236}">
                <a16:creationId xmlns:a16="http://schemas.microsoft.com/office/drawing/2014/main" id="{80879B9F-32A3-4B6F-BBF3-E5CA9531350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82">
            <a:extLst>
              <a:ext uri="{FF2B5EF4-FFF2-40B4-BE49-F238E27FC236}">
                <a16:creationId xmlns:a16="http://schemas.microsoft.com/office/drawing/2014/main" id="{E31A29F9-9370-4BF6-A297-5DC494FFE9C5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P15　软件开发过程与技术</a:t>
            </a:r>
          </a:p>
        </p:txBody>
      </p:sp>
      <p:sp>
        <p:nvSpPr>
          <p:cNvPr id="10004" name="frame-83">
            <a:extLst>
              <a:ext uri="{FF2B5EF4-FFF2-40B4-BE49-F238E27FC236}">
                <a16:creationId xmlns:a16="http://schemas.microsoft.com/office/drawing/2014/main" id="{8E86739F-1E59-46F0-84E7-FF0B53DCFA0F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40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06787" name="Group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673274093"/>
              </p:ext>
            </p:extLst>
          </p:nvPr>
        </p:nvGraphicFramePr>
        <p:xfrm>
          <a:off x="1454176" y="1076325"/>
          <a:ext cx="6235648" cy="3524250"/>
        </p:xfrm>
        <a:graphic>
          <a:graphicData uri="http://schemas.openxmlformats.org/drawingml/2006/table">
            <a:tbl>
              <a:tblPr/>
              <a:tblGrid>
                <a:gridCol w="1601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3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3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Name</a:t>
                      </a:r>
                    </a:p>
                  </a:txBody>
                  <a:tcPr marL="73185" marR="7318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Notation</a:t>
                      </a:r>
                    </a:p>
                  </a:txBody>
                  <a:tcPr marL="73185" marR="731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Description</a:t>
                      </a:r>
                    </a:p>
                  </a:txBody>
                  <a:tcPr marL="73185" marR="731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Synchronous message</a:t>
                      </a:r>
                    </a:p>
                  </a:txBody>
                  <a:tcPr marL="73185" marR="73185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3185" marR="731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lang="en-US" sz="1350" b="0" i="0" u="none" strike="noStrike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Sender waits for a response message</a:t>
                      </a: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3185" marR="731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Response message</a:t>
                      </a:r>
                    </a:p>
                  </a:txBody>
                  <a:tcPr marL="73185" marR="73185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3185" marR="731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lang="en-US" sz="1350" b="0" i="0" u="none" strike="noStrike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Response to a synchronous message</a:t>
                      </a: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3185" marR="731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4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Asynchronous </a:t>
                      </a: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communication</a:t>
                      </a:r>
                    </a:p>
                  </a:txBody>
                  <a:tcPr marL="73185" marR="73185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3185" marR="731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 i="0" u="none" strike="noStrike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Sender continues its own work</a:t>
                      </a:r>
                    </a:p>
                    <a:p>
                      <a:r>
                        <a:rPr lang="en-US" sz="1350" b="0" i="0" u="none" strike="noStrike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after sending the asynchronous</a:t>
                      </a:r>
                    </a:p>
                    <a:p>
                      <a:r>
                        <a:rPr lang="en-US" sz="1350" b="0" i="0" u="none" strike="noStrike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message</a:t>
                      </a: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3185" marR="731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9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Lost message</a:t>
                      </a:r>
                    </a:p>
                  </a:txBody>
                  <a:tcPr marL="73185" marR="73185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3185" marR="731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lang="en-US" sz="1350" b="0" i="0" u="none" strike="noStrike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Message to an unknown receiver</a:t>
                      </a: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3185" marR="731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Found message</a:t>
                      </a:r>
                    </a:p>
                  </a:txBody>
                  <a:tcPr marL="73185" marR="73185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3185" marR="731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 i="0" u="none" strike="noStrike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Message from an unknown</a:t>
                      </a:r>
                    </a:p>
                    <a:p>
                      <a:r>
                        <a:rPr lang="en-US" sz="1350" b="0" i="0" u="none" strike="noStrike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sender</a:t>
                      </a: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3185" marR="731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847" y="1420821"/>
            <a:ext cx="1036440" cy="416879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847" y="1965172"/>
            <a:ext cx="1036440" cy="41687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847" y="2706291"/>
            <a:ext cx="1036440" cy="416879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992" y="3434951"/>
            <a:ext cx="396150" cy="451427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992" y="4057705"/>
            <a:ext cx="396150" cy="451427"/>
          </a:xfrm>
          <a:prstGeom prst="rect">
            <a:avLst/>
          </a:prstGeom>
        </p:spPr>
      </p:pic>
      <p:sp>
        <p:nvSpPr>
          <p:cNvPr id="10000" name="frame-84">
            <a:extLst>
              <a:ext uri="{FF2B5EF4-FFF2-40B4-BE49-F238E27FC236}">
                <a16:creationId xmlns:a16="http://schemas.microsoft.com/office/drawing/2014/main" id="{EF679639-783A-4237-8F2E-FB76A243A83F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顺序图概要：表示法</a:t>
            </a:r>
          </a:p>
        </p:txBody>
      </p:sp>
      <p:sp>
        <p:nvSpPr>
          <p:cNvPr id="10001" name="frame-85">
            <a:extLst>
              <a:ext uri="{FF2B5EF4-FFF2-40B4-BE49-F238E27FC236}">
                <a16:creationId xmlns:a16="http://schemas.microsoft.com/office/drawing/2014/main" id="{980FAA17-9FC7-4F10-8C1F-B8B98C7553C6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86">
            <a:extLst>
              <a:ext uri="{FF2B5EF4-FFF2-40B4-BE49-F238E27FC236}">
                <a16:creationId xmlns:a16="http://schemas.microsoft.com/office/drawing/2014/main" id="{6469327D-E686-4B0B-BB36-28D84425F88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87">
            <a:extLst>
              <a:ext uri="{FF2B5EF4-FFF2-40B4-BE49-F238E27FC236}">
                <a16:creationId xmlns:a16="http://schemas.microsoft.com/office/drawing/2014/main" id="{92C27746-7C8E-4DD7-A47C-8D7CC6B5C9AB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P16　软件开发过程与技术</a:t>
            </a:r>
          </a:p>
        </p:txBody>
      </p:sp>
      <p:sp>
        <p:nvSpPr>
          <p:cNvPr id="10004" name="frame-88">
            <a:extLst>
              <a:ext uri="{FF2B5EF4-FFF2-40B4-BE49-F238E27FC236}">
                <a16:creationId xmlns:a16="http://schemas.microsoft.com/office/drawing/2014/main" id="{65EF4FBB-5AED-4429-BEA9-D63F6F378479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41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A22A0D8-2906-14F4-A749-C20D293E8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998" y="1076325"/>
            <a:ext cx="4406697" cy="208915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F23AFD3-D2B9-DE19-9CAF-155D77B8F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178" y="3142447"/>
            <a:ext cx="3859806" cy="145812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30D7824-CDD3-E0DA-B41C-967C9BC78B57}"/>
              </a:ext>
            </a:extLst>
          </p:cNvPr>
          <p:cNvSpPr txBox="1"/>
          <p:nvPr/>
        </p:nvSpPr>
        <p:spPr>
          <a:xfrm>
            <a:off x="1069305" y="3790957"/>
            <a:ext cx="390196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 defTabSz="587233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200" b="1" i="0" u="none" strike="noStrike" kern="1200" baseline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Syntax of the message specification</a:t>
            </a:r>
            <a:endParaRPr lang="zh-CN" altLang="en-US" sz="1200" b="1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DD6BE5-8836-5F0A-DA47-5BB98D29F781}"/>
              </a:ext>
            </a:extLst>
          </p:cNvPr>
          <p:cNvSpPr txBox="1"/>
          <p:nvPr/>
        </p:nvSpPr>
        <p:spPr>
          <a:xfrm>
            <a:off x="1115491" y="1851237"/>
            <a:ext cx="2668117" cy="41507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 defTabSz="587233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200" b="1" i="0" u="none" strike="noStrike" kern="1200" baseline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Examples of (a) asynchronous</a:t>
            </a:r>
          </a:p>
          <a:p>
            <a:pPr marL="0" indent="0" algn="l" defTabSz="587233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200" b="1" i="0" u="none" strike="noStrike" kern="1200" baseline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and (b) synchronous communication</a:t>
            </a:r>
            <a:endParaRPr lang="zh-CN" altLang="en-US" sz="1200" b="1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000" name="frame-89">
            <a:extLst>
              <a:ext uri="{FF2B5EF4-FFF2-40B4-BE49-F238E27FC236}">
                <a16:creationId xmlns:a16="http://schemas.microsoft.com/office/drawing/2014/main" id="{E4FF0E8D-2088-4D69-938F-C510F006E235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顺序图概要</a:t>
            </a:r>
          </a:p>
        </p:txBody>
      </p:sp>
      <p:sp>
        <p:nvSpPr>
          <p:cNvPr id="10001" name="frame-90">
            <a:extLst>
              <a:ext uri="{FF2B5EF4-FFF2-40B4-BE49-F238E27FC236}">
                <a16:creationId xmlns:a16="http://schemas.microsoft.com/office/drawing/2014/main" id="{F64E5BF1-0DE9-41AE-ACB8-EF2D5587E33F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91">
            <a:extLst>
              <a:ext uri="{FF2B5EF4-FFF2-40B4-BE49-F238E27FC236}">
                <a16:creationId xmlns:a16="http://schemas.microsoft.com/office/drawing/2014/main" id="{FB39884D-EFAC-46C5-A807-FF0ED93EB7F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92">
            <a:extLst>
              <a:ext uri="{FF2B5EF4-FFF2-40B4-BE49-F238E27FC236}">
                <a16:creationId xmlns:a16="http://schemas.microsoft.com/office/drawing/2014/main" id="{F964C1BD-C62C-4DD2-80C6-61684C2EA467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P17　软件开发过程与技术</a:t>
            </a:r>
          </a:p>
        </p:txBody>
      </p:sp>
      <p:sp>
        <p:nvSpPr>
          <p:cNvPr id="10004" name="frame-93">
            <a:extLst>
              <a:ext uri="{FF2B5EF4-FFF2-40B4-BE49-F238E27FC236}">
                <a16:creationId xmlns:a16="http://schemas.microsoft.com/office/drawing/2014/main" id="{69132C27-6F0D-41A5-B8AC-90A48E9ACA51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42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4068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ED48890-63EB-1D54-299B-542926BC4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119" y="1076325"/>
            <a:ext cx="4831622" cy="3306488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210333C-3757-6675-3102-F169D2EF9444}"/>
              </a:ext>
            </a:extLst>
          </p:cNvPr>
          <p:cNvCxnSpPr>
            <a:cxnSpLocks/>
          </p:cNvCxnSpPr>
          <p:nvPr/>
        </p:nvCxnSpPr>
        <p:spPr>
          <a:xfrm flipH="1">
            <a:off x="3419475" y="2651760"/>
            <a:ext cx="266700" cy="952"/>
          </a:xfrm>
          <a:prstGeom prst="straightConnector1">
            <a:avLst/>
          </a:prstGeom>
          <a:ln w="42798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" name="frame-95">
            <a:extLst>
              <a:ext uri="{FF2B5EF4-FFF2-40B4-BE49-F238E27FC236}">
                <a16:creationId xmlns:a16="http://schemas.microsoft.com/office/drawing/2014/main" id="{66133F23-D917-4445-8049-E34DEFB21706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96">
            <a:extLst>
              <a:ext uri="{FF2B5EF4-FFF2-40B4-BE49-F238E27FC236}">
                <a16:creationId xmlns:a16="http://schemas.microsoft.com/office/drawing/2014/main" id="{EEC08E28-C0BE-49AE-94D3-FC6F43E57CF0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97">
            <a:extLst>
              <a:ext uri="{FF2B5EF4-FFF2-40B4-BE49-F238E27FC236}">
                <a16:creationId xmlns:a16="http://schemas.microsoft.com/office/drawing/2014/main" id="{23149855-E025-41AE-AE7F-A7F529BFCCB1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P18　软件开发过程与技术</a:t>
            </a:r>
          </a:p>
        </p:txBody>
      </p:sp>
      <p:sp>
        <p:nvSpPr>
          <p:cNvPr id="10004" name="frame-98">
            <a:extLst>
              <a:ext uri="{FF2B5EF4-FFF2-40B4-BE49-F238E27FC236}">
                <a16:creationId xmlns:a16="http://schemas.microsoft.com/office/drawing/2014/main" id="{720CB30F-5098-41E7-82CE-9CEA639DD6AA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43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  <p:sp>
        <p:nvSpPr>
          <p:cNvPr id="20000" name="teaching-19-0">
            <a:extLst>
              <a:ext uri="{FF2B5EF4-FFF2-40B4-BE49-F238E27FC236}">
                <a16:creationId xmlns:a16="http://schemas.microsoft.com/office/drawing/2014/main" id="{E0F25FA4-31C3-48BA-BDB1-D172F024F30A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顺序图：事件的先后约束</a:t>
            </a:r>
          </a:p>
        </p:txBody>
      </p:sp>
      <p:sp>
        <p:nvSpPr>
          <p:cNvPr id="20001" name="teaching-19-1">
            <a:extLst>
              <a:ext uri="{FF2B5EF4-FFF2-40B4-BE49-F238E27FC236}">
                <a16:creationId xmlns:a16="http://schemas.microsoft.com/office/drawing/2014/main" id="{0911185A-7D3F-436F-B0F8-375F943546BC}"/>
              </a:ext>
            </a:extLst>
          </p:cNvPr>
          <p:cNvSpPr>
            <a:spLocks noGrp="1"/>
          </p:cNvSpPr>
          <p:nvPr/>
        </p:nvSpPr>
        <p:spPr>
          <a:xfrm>
            <a:off x="476250" y="1133475"/>
            <a:ext cx="278130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默认顺序下，先读同一生命线上的上下关系。</a:t>
            </a:r>
          </a:p>
        </p:txBody>
      </p:sp>
      <p:sp>
        <p:nvSpPr>
          <p:cNvPr id="20002" name="teaching-19-2">
            <a:extLst>
              <a:ext uri="{FF2B5EF4-FFF2-40B4-BE49-F238E27FC236}">
                <a16:creationId xmlns:a16="http://schemas.microsoft.com/office/drawing/2014/main" id="{52EE6709-DD2E-4967-AB7A-34175D964D91}"/>
              </a:ext>
            </a:extLst>
          </p:cNvPr>
          <p:cNvSpPr>
            <a:spLocks noGrp="1"/>
          </p:cNvSpPr>
          <p:nvPr/>
        </p:nvSpPr>
        <p:spPr>
          <a:xfrm>
            <a:off x="476250" y="1971675"/>
            <a:ext cx="278130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一条消息的发送发生在它的接收之前。</a:t>
            </a:r>
          </a:p>
        </p:txBody>
      </p:sp>
      <p:sp>
        <p:nvSpPr>
          <p:cNvPr id="20003" name="teaching-19-3">
            <a:extLst>
              <a:ext uri="{FF2B5EF4-FFF2-40B4-BE49-F238E27FC236}">
                <a16:creationId xmlns:a16="http://schemas.microsoft.com/office/drawing/2014/main" id="{E4EF4928-816B-4A1A-BC1A-0D5A24C417FA}"/>
              </a:ext>
            </a:extLst>
          </p:cNvPr>
          <p:cNvSpPr>
            <a:spLocks noGrp="1"/>
          </p:cNvSpPr>
          <p:nvPr/>
        </p:nvSpPr>
        <p:spPr>
          <a:xfrm>
            <a:off x="476250" y="2771775"/>
            <a:ext cx="278130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跨生命线的先后，要看消息及显式顺序约束。</a:t>
            </a:r>
          </a:p>
        </p:txBody>
      </p:sp>
      <p:sp>
        <p:nvSpPr>
          <p:cNvPr id="20004" name="teaching-19-4">
            <a:extLst>
              <a:ext uri="{FF2B5EF4-FFF2-40B4-BE49-F238E27FC236}">
                <a16:creationId xmlns:a16="http://schemas.microsoft.com/office/drawing/2014/main" id="{251ECC19-2406-42FD-AA0C-7DBF7FA19725}"/>
              </a:ext>
            </a:extLst>
          </p:cNvPr>
          <p:cNvSpPr>
            <a:spLocks noGrp="1"/>
          </p:cNvSpPr>
          <p:nvPr/>
        </p:nvSpPr>
        <p:spPr>
          <a:xfrm>
            <a:off x="476250" y="3638550"/>
            <a:ext cx="278130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500" b="0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组合片段还会进一步规定哪些事件可以交错。</a:t>
            </a:r>
          </a:p>
        </p:txBody>
      </p:sp>
      <p:sp>
        <p:nvSpPr>
          <p:cNvPr id="20005" name="teaching-19-5">
            <a:extLst>
              <a:ext uri="{FF2B5EF4-FFF2-40B4-BE49-F238E27FC236}">
                <a16:creationId xmlns:a16="http://schemas.microsoft.com/office/drawing/2014/main" id="{3E4F8122-E2A3-48D5-A23F-1598E98AE927}"/>
              </a:ext>
            </a:extLst>
          </p:cNvPr>
          <p:cNvSpPr>
            <a:spLocks noGrp="1"/>
          </p:cNvSpPr>
          <p:nvPr/>
        </p:nvSpPr>
        <p:spPr>
          <a:xfrm>
            <a:off x="476250" y="4391025"/>
            <a:ext cx="80962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检查：getData() 的发送、接收与返回，哪些先后关系必须成立？</a:t>
            </a:r>
          </a:p>
        </p:txBody>
      </p:sp>
    </p:spTree>
    <p:extLst>
      <p:ext uri="{BB962C8B-B14F-4D97-AF65-F5344CB8AC3E}">
        <p14:creationId xmlns:p14="http://schemas.microsoft.com/office/powerpoint/2010/main" val="4625346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F7569-C015-F773-B690-70471703B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9598680-5E85-04F8-E428-0A8FC4A1C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473" y="1613897"/>
            <a:ext cx="5355468" cy="232713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1B5FB86-74D3-288E-E99F-B39DF91B54BD}"/>
              </a:ext>
            </a:extLst>
          </p:cNvPr>
          <p:cNvSpPr txBox="1"/>
          <p:nvPr/>
        </p:nvSpPr>
        <p:spPr>
          <a:xfrm>
            <a:off x="1381125" y="1076325"/>
            <a:ext cx="6715125" cy="504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 defTabSz="591932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200" b="1" i="0" u="none" strike="noStrike" kern="1200" baseline="0" dirty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Note: 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 </a:t>
            </a:r>
            <a:r>
              <a:rPr lang="en-US" altLang="zh-CN" sz="1200" b="0" i="1" u="none" strike="noStrike" kern="1200" baseline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→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b means that message a is sent before message b</a:t>
            </a:r>
            <a:endParaRPr lang="en-US" altLang="zh-CN" sz="12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 defTabSz="591932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2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T0X</a:t>
            </a:r>
            <a:r>
              <a:rPr lang="zh-CN" altLang="en-US" sz="12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：执行时的行为轨迹，即</a:t>
            </a:r>
            <a:r>
              <a:rPr lang="en-US" altLang="zh-CN" sz="12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trace</a:t>
            </a:r>
            <a:endParaRPr lang="zh-CN" altLang="en-US" sz="12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DCC51B4-CD8B-4A59-4669-107F3C89F399}"/>
              </a:ext>
            </a:extLst>
          </p:cNvPr>
          <p:cNvSpPr txBox="1"/>
          <p:nvPr/>
        </p:nvSpPr>
        <p:spPr>
          <a:xfrm>
            <a:off x="3476625" y="3810000"/>
            <a:ext cx="222885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 defTabSz="591932" rtl="0" eaLnBrk="1" latinLnBrk="0" hangingPunct="1">
              <a:lnSpc>
                <a:spcPct val="105000"/>
              </a:lnSpc>
              <a:defRPr sz="135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50" b="0" i="0" u="none" strike="noStrike" kern="1200" baseline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a与c位于不同生命线，且无先后约束。T01与T02均可发生。</a:t>
            </a:r>
            <a:endParaRPr lang="zh-CN" altLang="en-US" sz="135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676768-8A02-8D8E-A119-C70DF425113C}"/>
              </a:ext>
            </a:extLst>
          </p:cNvPr>
          <p:cNvSpPr txBox="1"/>
          <p:nvPr/>
        </p:nvSpPr>
        <p:spPr>
          <a:xfrm>
            <a:off x="1143000" y="3810000"/>
            <a:ext cx="222885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 defTabSz="591932" rtl="0" eaLnBrk="1" latinLnBrk="0" hangingPunct="1">
              <a:lnSpc>
                <a:spcPct val="105000"/>
              </a:lnSpc>
              <a:defRPr sz="135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50" b="0" i="0" u="none" strike="noStrike" kern="1200" baseline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a与c在同一条生命线上。本图要求a先于c。</a:t>
            </a:r>
            <a:endParaRPr lang="zh-CN" altLang="en-US" sz="135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7CC4FE-2915-A23D-E1A9-B85D4FD97214}"/>
              </a:ext>
            </a:extLst>
          </p:cNvPr>
          <p:cNvSpPr txBox="1"/>
          <p:nvPr/>
        </p:nvSpPr>
        <p:spPr>
          <a:xfrm>
            <a:off x="5810250" y="3810000"/>
            <a:ext cx="222885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 defTabSz="591932" rtl="0" eaLnBrk="1" latinLnBrk="0" hangingPunct="1">
              <a:lnSpc>
                <a:spcPct val="105000"/>
              </a:lnSpc>
              <a:defRPr sz="135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50" b="0" i="0" u="none" strike="noStrike" kern="1200" baseline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b连接两条生命线，约束了事件先后。本图的顺序为a、b、c。</a:t>
            </a:r>
            <a:endParaRPr lang="zh-CN" altLang="en-US" sz="135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000" name="frame-99">
            <a:extLst>
              <a:ext uri="{FF2B5EF4-FFF2-40B4-BE49-F238E27FC236}">
                <a16:creationId xmlns:a16="http://schemas.microsoft.com/office/drawing/2014/main" id="{EA72B55D-2BF8-4F18-9BCF-CA3E0F4A25F6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顺序图：事件先后与执行轨迹</a:t>
            </a:r>
          </a:p>
        </p:txBody>
      </p:sp>
      <p:sp>
        <p:nvSpPr>
          <p:cNvPr id="10001" name="frame-100">
            <a:extLst>
              <a:ext uri="{FF2B5EF4-FFF2-40B4-BE49-F238E27FC236}">
                <a16:creationId xmlns:a16="http://schemas.microsoft.com/office/drawing/2014/main" id="{5E9AF7D1-1AA8-4C44-AB29-296B1694CF87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01">
            <a:extLst>
              <a:ext uri="{FF2B5EF4-FFF2-40B4-BE49-F238E27FC236}">
                <a16:creationId xmlns:a16="http://schemas.microsoft.com/office/drawing/2014/main" id="{8F60465F-446E-4E87-A3CE-DBC1E0CA601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02">
            <a:extLst>
              <a:ext uri="{FF2B5EF4-FFF2-40B4-BE49-F238E27FC236}">
                <a16:creationId xmlns:a16="http://schemas.microsoft.com/office/drawing/2014/main" id="{45024664-037A-434C-82A8-64E84EA05FA8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P19　软件开发过程与技术</a:t>
            </a:r>
          </a:p>
        </p:txBody>
      </p:sp>
      <p:sp>
        <p:nvSpPr>
          <p:cNvPr id="10004" name="frame-103">
            <a:extLst>
              <a:ext uri="{FF2B5EF4-FFF2-40B4-BE49-F238E27FC236}">
                <a16:creationId xmlns:a16="http://schemas.microsoft.com/office/drawing/2014/main" id="{90D6DE0A-2432-422E-8665-AF56954059DA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44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3872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EDD84F6-E084-AE62-2EC6-1ED796905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8" y="2059083"/>
            <a:ext cx="3781555" cy="193176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3F9753E-42F9-DF9B-01EB-A1B746364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722" y="1679856"/>
            <a:ext cx="4037028" cy="286600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157EAFC-F87B-1677-4AC6-D5A253EFAA5C}"/>
              </a:ext>
            </a:extLst>
          </p:cNvPr>
          <p:cNvSpPr txBox="1"/>
          <p:nvPr/>
        </p:nvSpPr>
        <p:spPr>
          <a:xfrm>
            <a:off x="5387849" y="1398951"/>
            <a:ext cx="2621974" cy="2644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 defTabSz="654804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200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12 predefined types of operators</a:t>
            </a:r>
          </a:p>
        </p:txBody>
      </p:sp>
      <p:sp>
        <p:nvSpPr>
          <p:cNvPr id="10001" name="frame-105">
            <a:extLst>
              <a:ext uri="{FF2B5EF4-FFF2-40B4-BE49-F238E27FC236}">
                <a16:creationId xmlns:a16="http://schemas.microsoft.com/office/drawing/2014/main" id="{02609A82-228E-4BAA-8C98-7E08783EF527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06">
            <a:extLst>
              <a:ext uri="{FF2B5EF4-FFF2-40B4-BE49-F238E27FC236}">
                <a16:creationId xmlns:a16="http://schemas.microsoft.com/office/drawing/2014/main" id="{9435EB80-2D2D-4F5B-9D3B-20E982D4343F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07">
            <a:extLst>
              <a:ext uri="{FF2B5EF4-FFF2-40B4-BE49-F238E27FC236}">
                <a16:creationId xmlns:a16="http://schemas.microsoft.com/office/drawing/2014/main" id="{80272B90-BEE2-44BD-BB49-5B1187F8FBD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P20　软件开发过程与技术</a:t>
            </a:r>
          </a:p>
        </p:txBody>
      </p:sp>
      <p:sp>
        <p:nvSpPr>
          <p:cNvPr id="10004" name="frame-108">
            <a:extLst>
              <a:ext uri="{FF2B5EF4-FFF2-40B4-BE49-F238E27FC236}">
                <a16:creationId xmlns:a16="http://schemas.microsoft.com/office/drawing/2014/main" id="{86B47752-781A-41B8-82F5-72121496EDF3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45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  <p:sp>
        <p:nvSpPr>
          <p:cNvPr id="20000" name="teaching-21-0">
            <a:extLst>
              <a:ext uri="{FF2B5EF4-FFF2-40B4-BE49-F238E27FC236}">
                <a16:creationId xmlns:a16="http://schemas.microsoft.com/office/drawing/2014/main" id="{3C13A028-3CBF-4B32-AB67-ED5268FAA4C5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顺序图：组合片段</a:t>
            </a:r>
          </a:p>
        </p:txBody>
      </p:sp>
      <p:sp>
        <p:nvSpPr>
          <p:cNvPr id="20001" name="teaching-21-1">
            <a:extLst>
              <a:ext uri="{FF2B5EF4-FFF2-40B4-BE49-F238E27FC236}">
                <a16:creationId xmlns:a16="http://schemas.microsoft.com/office/drawing/2014/main" id="{9886DA47-4C96-47C0-BBE1-D0CED8BB16D9}"/>
              </a:ext>
            </a:extLst>
          </p:cNvPr>
          <p:cNvSpPr>
            <a:spLocks noGrp="1"/>
          </p:cNvSpPr>
          <p:nvPr/>
        </p:nvSpPr>
        <p:spPr>
          <a:xfrm>
            <a:off x="476250" y="1095375"/>
            <a:ext cx="80962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组合片段为一组消息规定分支、重复或并发等规则。</a:t>
            </a:r>
          </a:p>
        </p:txBody>
      </p:sp>
    </p:spTree>
    <p:extLst>
      <p:ext uri="{BB962C8B-B14F-4D97-AF65-F5344CB8AC3E}">
        <p14:creationId xmlns:p14="http://schemas.microsoft.com/office/powerpoint/2010/main" val="18678858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575A6-9420-6B1F-8D5B-A6FE17C6E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8">
            <a:extLst>
              <a:ext uri="{FF2B5EF4-FFF2-40B4-BE49-F238E27FC236}">
                <a16:creationId xmlns:a16="http://schemas.microsoft.com/office/drawing/2014/main" id="{7252C9D4-7DCC-41D9-1732-2C122E5936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01" y="1076325"/>
            <a:ext cx="2802208" cy="3524250"/>
          </a:xfrm>
          <a:prstGeom prst="rect">
            <a:avLst/>
          </a:prstGeom>
        </p:spPr>
      </p:pic>
      <p:sp>
        <p:nvSpPr>
          <p:cNvPr id="10001" name="frame-110">
            <a:extLst>
              <a:ext uri="{FF2B5EF4-FFF2-40B4-BE49-F238E27FC236}">
                <a16:creationId xmlns:a16="http://schemas.microsoft.com/office/drawing/2014/main" id="{6708FAEB-E45A-4EA5-987E-E12A02EB515B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11">
            <a:extLst>
              <a:ext uri="{FF2B5EF4-FFF2-40B4-BE49-F238E27FC236}">
                <a16:creationId xmlns:a16="http://schemas.microsoft.com/office/drawing/2014/main" id="{5419EDD0-39E4-4110-9E43-9168517CF32A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12">
            <a:extLst>
              <a:ext uri="{FF2B5EF4-FFF2-40B4-BE49-F238E27FC236}">
                <a16:creationId xmlns:a16="http://schemas.microsoft.com/office/drawing/2014/main" id="{85F17371-E7F4-422D-A815-1DE96192F921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P21　软件开发过程与技术</a:t>
            </a:r>
          </a:p>
        </p:txBody>
      </p:sp>
      <p:sp>
        <p:nvSpPr>
          <p:cNvPr id="10004" name="frame-113">
            <a:extLst>
              <a:ext uri="{FF2B5EF4-FFF2-40B4-BE49-F238E27FC236}">
                <a16:creationId xmlns:a16="http://schemas.microsoft.com/office/drawing/2014/main" id="{2E7A9430-4CF3-48C6-9E1F-19223DE851A4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46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  <p:sp>
        <p:nvSpPr>
          <p:cNvPr id="20000" name="teaching-22-0">
            <a:extLst>
              <a:ext uri="{FF2B5EF4-FFF2-40B4-BE49-F238E27FC236}">
                <a16:creationId xmlns:a16="http://schemas.microsoft.com/office/drawing/2014/main" id="{A045E1FA-5C25-4DAC-A166-86B507337146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顺序图：alt 备选片段</a:t>
            </a:r>
          </a:p>
        </p:txBody>
      </p:sp>
      <p:sp>
        <p:nvSpPr>
          <p:cNvPr id="20001" name="teaching-22-1">
            <a:extLst>
              <a:ext uri="{FF2B5EF4-FFF2-40B4-BE49-F238E27FC236}">
                <a16:creationId xmlns:a16="http://schemas.microsoft.com/office/drawing/2014/main" id="{5DF204B0-2CBB-4DFF-AE05-B3A100AC3344}"/>
              </a:ext>
            </a:extLst>
          </p:cNvPr>
          <p:cNvSpPr>
            <a:spLocks noGrp="1"/>
          </p:cNvSpPr>
          <p:nvPr/>
        </p:nvSpPr>
        <p:spPr>
          <a:xfrm>
            <a:off x="476250" y="1133475"/>
            <a:ext cx="4191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按守卫条件选择备选交互</a:t>
            </a:r>
          </a:p>
        </p:txBody>
      </p:sp>
      <p:sp>
        <p:nvSpPr>
          <p:cNvPr id="20002" name="teaching-22-2">
            <a:extLst>
              <a:ext uri="{FF2B5EF4-FFF2-40B4-BE49-F238E27FC236}">
                <a16:creationId xmlns:a16="http://schemas.microsoft.com/office/drawing/2014/main" id="{CAA3139B-8D9E-48D8-AA15-AC893F524B00}"/>
              </a:ext>
            </a:extLst>
          </p:cNvPr>
          <p:cNvSpPr>
            <a:spLocks noGrp="1"/>
          </p:cNvSpPr>
          <p:nvPr/>
        </p:nvSpPr>
        <p:spPr>
          <a:xfrm>
            <a:off x="476250" y="1695450"/>
            <a:ext cx="4191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条件写在方括号 [ ] 中；未写守卫时，视为 true。</a:t>
            </a:r>
          </a:p>
        </p:txBody>
      </p:sp>
      <p:sp>
        <p:nvSpPr>
          <p:cNvPr id="20003" name="teaching-22-3">
            <a:extLst>
              <a:ext uri="{FF2B5EF4-FFF2-40B4-BE49-F238E27FC236}">
                <a16:creationId xmlns:a16="http://schemas.microsoft.com/office/drawing/2014/main" id="{C2C978C1-03C6-4C7A-90F7-92CB2CB8F897}"/>
              </a:ext>
            </a:extLst>
          </p:cNvPr>
          <p:cNvSpPr>
            <a:spLocks noGrp="1"/>
          </p:cNvSpPr>
          <p:nvPr/>
        </p:nvSpPr>
        <p:spPr>
          <a:xfrm>
            <a:off x="476250" y="2447925"/>
            <a:ext cx="4191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[else] 表示其余守卫均不成立。</a:t>
            </a:r>
          </a:p>
        </p:txBody>
      </p:sp>
      <p:sp>
        <p:nvSpPr>
          <p:cNvPr id="20004" name="teaching-22-4">
            <a:extLst>
              <a:ext uri="{FF2B5EF4-FFF2-40B4-BE49-F238E27FC236}">
                <a16:creationId xmlns:a16="http://schemas.microsoft.com/office/drawing/2014/main" id="{9BE0646C-7026-488B-9412-1514B96BC850}"/>
              </a:ext>
            </a:extLst>
          </p:cNvPr>
          <p:cNvSpPr>
            <a:spLocks noGrp="1"/>
          </p:cNvSpPr>
          <p:nvPr/>
        </p:nvSpPr>
        <p:spPr>
          <a:xfrm>
            <a:off x="476250" y="3105150"/>
            <a:ext cx="4191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一次至多选择一个分支。</a:t>
            </a:r>
          </a:p>
        </p:txBody>
      </p:sp>
      <p:sp>
        <p:nvSpPr>
          <p:cNvPr id="20005" name="teaching-22-5">
            <a:extLst>
              <a:ext uri="{FF2B5EF4-FFF2-40B4-BE49-F238E27FC236}">
                <a16:creationId xmlns:a16="http://schemas.microsoft.com/office/drawing/2014/main" id="{1DD58407-03F7-4835-ADE9-4B2C454F5354}"/>
              </a:ext>
            </a:extLst>
          </p:cNvPr>
          <p:cNvSpPr>
            <a:spLocks noGrp="1"/>
          </p:cNvSpPr>
          <p:nvPr/>
        </p:nvSpPr>
        <p:spPr>
          <a:xfrm>
            <a:off x="476250" y="3657600"/>
            <a:ext cx="4191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若希望结果确定，应让业务条件互斥，并检查是否遗漏情况。</a:t>
            </a:r>
          </a:p>
        </p:txBody>
      </p:sp>
    </p:spTree>
    <p:extLst>
      <p:ext uri="{BB962C8B-B14F-4D97-AF65-F5344CB8AC3E}">
        <p14:creationId xmlns:p14="http://schemas.microsoft.com/office/powerpoint/2010/main" val="13428459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8">
            <a:extLst>
              <a:ext uri="{FF2B5EF4-FFF2-40B4-BE49-F238E27FC236}">
                <a16:creationId xmlns:a16="http://schemas.microsoft.com/office/drawing/2014/main" id="{FA3B3291-509E-03A9-A623-FCA571C63D72}"/>
              </a:ext>
            </a:extLst>
          </p:cNvPr>
          <p:cNvSpPr txBox="1">
            <a:spLocks noChangeArrowheads="1"/>
          </p:cNvSpPr>
          <p:nvPr/>
        </p:nvSpPr>
        <p:spPr>
          <a:xfrm>
            <a:off x="476250" y="1220196"/>
            <a:ext cx="4108824" cy="321941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marL="228600" indent="-133350" algn="l" defTabSz="624607" rtl="0" eaLnBrk="1" latinLnBrk="0" hangingPunct="1">
              <a:lnSpc>
                <a:spcPct val="110000"/>
              </a:lnSpc>
              <a:spcBef>
                <a:spcPts val="683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To model an optional sequence</a:t>
            </a:r>
          </a:p>
          <a:p>
            <a:pPr marL="228600" indent="-133350" algn="l" defTabSz="624607" rtl="0" eaLnBrk="1" latinLnBrk="0" hangingPunct="1">
              <a:lnSpc>
                <a:spcPct val="110000"/>
              </a:lnSpc>
              <a:spcBef>
                <a:spcPts val="683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Actual execution at runtime is dependent on the guard</a:t>
            </a:r>
          </a:p>
          <a:p>
            <a:pPr marL="228600" indent="-133350" algn="l" defTabSz="624607" rtl="0" eaLnBrk="1" latinLnBrk="0" hangingPunct="1">
              <a:lnSpc>
                <a:spcPct val="110000"/>
              </a:lnSpc>
              <a:spcBef>
                <a:spcPts val="683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Exactly one operand</a:t>
            </a:r>
          </a:p>
          <a:p>
            <a:pPr marL="228600" indent="-133350" algn="l" defTabSz="624607" rtl="0" eaLnBrk="1" latinLnBrk="0" hangingPunct="1">
              <a:lnSpc>
                <a:spcPct val="110000"/>
              </a:lnSpc>
              <a:spcBef>
                <a:spcPts val="683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Similar to </a:t>
            </a:r>
            <a:r>
              <a:rPr lang="en-US" sz="1500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if</a:t>
            </a:r>
            <a:r>
              <a:rPr lang="en-US" sz="150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 statement without</a:t>
            </a:r>
            <a:r>
              <a:rPr lang="en-US" sz="1500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 else </a:t>
            </a:r>
            <a:r>
              <a:rPr lang="en-US" sz="1500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branch</a:t>
            </a:r>
          </a:p>
          <a:p>
            <a:pPr marL="228600" indent="-133350" algn="l" defTabSz="624607" rtl="0" eaLnBrk="1" latinLnBrk="0" hangingPunct="1">
              <a:lnSpc>
                <a:spcPct val="110000"/>
              </a:lnSpc>
              <a:spcBef>
                <a:spcPts val="683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de-AT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8" name="Grafik 1">
            <a:extLst>
              <a:ext uri="{FF2B5EF4-FFF2-40B4-BE49-F238E27FC236}">
                <a16:creationId xmlns:a16="http://schemas.microsoft.com/office/drawing/2014/main" id="{D1334E60-D9BD-C9A5-6C37-246D4CE24D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704" y="1076325"/>
            <a:ext cx="2802208" cy="3524250"/>
          </a:xfrm>
          <a:prstGeom prst="rect">
            <a:avLst/>
          </a:prstGeom>
        </p:spPr>
      </p:pic>
      <p:sp>
        <p:nvSpPr>
          <p:cNvPr id="10000" name="frame-114">
            <a:extLst>
              <a:ext uri="{FF2B5EF4-FFF2-40B4-BE49-F238E27FC236}">
                <a16:creationId xmlns:a16="http://schemas.microsoft.com/office/drawing/2014/main" id="{170BBC43-9322-4D8E-BC78-D6D2B5EE26F5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顺序图概要：opt Fragment</a:t>
            </a:r>
          </a:p>
        </p:txBody>
      </p:sp>
      <p:sp>
        <p:nvSpPr>
          <p:cNvPr id="10001" name="frame-115">
            <a:extLst>
              <a:ext uri="{FF2B5EF4-FFF2-40B4-BE49-F238E27FC236}">
                <a16:creationId xmlns:a16="http://schemas.microsoft.com/office/drawing/2014/main" id="{196979FF-46DC-4C40-9A84-1CCDCC654716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16">
            <a:extLst>
              <a:ext uri="{FF2B5EF4-FFF2-40B4-BE49-F238E27FC236}">
                <a16:creationId xmlns:a16="http://schemas.microsoft.com/office/drawing/2014/main" id="{0E393D1F-F52F-467B-9A7F-7913131DF56F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17">
            <a:extLst>
              <a:ext uri="{FF2B5EF4-FFF2-40B4-BE49-F238E27FC236}">
                <a16:creationId xmlns:a16="http://schemas.microsoft.com/office/drawing/2014/main" id="{E2D89589-68FA-4360-A00D-5766CD8E68E0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P22　软件开发过程与技术</a:t>
            </a:r>
          </a:p>
        </p:txBody>
      </p:sp>
      <p:sp>
        <p:nvSpPr>
          <p:cNvPr id="10004" name="frame-118">
            <a:extLst>
              <a:ext uri="{FF2B5EF4-FFF2-40B4-BE49-F238E27FC236}">
                <a16:creationId xmlns:a16="http://schemas.microsoft.com/office/drawing/2014/main" id="{F43BE4A8-17A1-4500-98BC-59F52828029F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47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655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591E5CE-FA11-176E-8775-9786CFE813E9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8191500" cy="2047875"/>
          </a:xfrm>
        </p:spPr>
        <p:txBody>
          <a:bodyPr lIns="0" tIns="0" rIns="0" bIns="0" anchor="t">
            <a:noAutofit/>
          </a:bodyPr>
          <a:lstStyle/>
          <a:p>
            <a:pPr marL="228600" indent="-133350" algn="l" defTabSz="579483" rtl="0" eaLnBrk="1" latinLnBrk="0" hangingPunct="1">
              <a:buFont typeface="Noto Sans SC"/>
              <a:buChar char="•"/>
              <a:defRPr sz="135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35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To express that a sequence is to be executed repeatedly</a:t>
            </a:r>
          </a:p>
          <a:p>
            <a:pPr marL="228600" indent="-133350" algn="l" defTabSz="579483" rtl="0" eaLnBrk="1" latinLnBrk="0" hangingPunct="1">
              <a:buFont typeface="Noto Sans SC"/>
              <a:buChar char="•"/>
              <a:defRPr sz="135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35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Exactly one operand</a:t>
            </a:r>
          </a:p>
          <a:p>
            <a:pPr marL="228600" indent="-133350" algn="l" defTabSz="579483" rtl="0" eaLnBrk="1" latinLnBrk="0" hangingPunct="1">
              <a:buFont typeface="Noto Sans SC"/>
              <a:buChar char="•"/>
              <a:defRPr sz="135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35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Keyword loop followed by the minimal/maximal number of iterations (</a:t>
            </a:r>
            <a:r>
              <a:rPr lang="en-US" altLang="zh-CN" sz="1350" b="1" kern="1200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min..max</a:t>
            </a:r>
            <a:r>
              <a:rPr lang="en-US" altLang="zh-CN" sz="135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 or (</a:t>
            </a:r>
            <a:r>
              <a:rPr lang="en-US" altLang="zh-CN" sz="1350" b="1" kern="1200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min,max</a:t>
            </a:r>
            <a:r>
              <a:rPr lang="en-US" altLang="zh-CN" sz="135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</a:t>
            </a:r>
          </a:p>
          <a:p>
            <a:pPr marL="457200" lvl="1" indent="-133350" algn="l" defTabSz="579483" rtl="0" eaLnBrk="1" latinLnBrk="0" hangingPunct="1">
              <a:buFont typeface="Noto Sans SC"/>
              <a:buChar char="•"/>
              <a:defRPr sz="135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35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default: (*) .. no upper limit</a:t>
            </a:r>
          </a:p>
          <a:p>
            <a:pPr marL="228600" indent="-133350" algn="l" defTabSz="579483" rtl="0" eaLnBrk="1" latinLnBrk="0" hangingPunct="1">
              <a:buFont typeface="Noto Sans SC"/>
              <a:buChar char="•"/>
              <a:defRPr sz="135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35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Guard </a:t>
            </a:r>
          </a:p>
          <a:p>
            <a:pPr marL="457200" lvl="1" indent="-133350" algn="l" defTabSz="579483" rtl="0" eaLnBrk="1" latinLnBrk="0" hangingPunct="1">
              <a:buFont typeface="Noto Sans SC"/>
              <a:buChar char="•"/>
              <a:defRPr sz="135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35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Evaluated as soon as the minimum number of iterations has taken place</a:t>
            </a:r>
          </a:p>
          <a:p>
            <a:pPr marL="457200" lvl="1" indent="-133350" algn="l" defTabSz="579483" rtl="0" eaLnBrk="1" latinLnBrk="0" hangingPunct="1">
              <a:buFont typeface="Noto Sans SC"/>
              <a:buChar char="•"/>
              <a:defRPr sz="135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35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Checked for each iteration within the </a:t>
            </a:r>
            <a:r>
              <a:rPr lang="en-US" altLang="zh-CN" sz="1350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(</a:t>
            </a:r>
            <a:r>
              <a:rPr lang="en-US" altLang="zh-CN" sz="1350" b="1" kern="1200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min,max</a:t>
            </a:r>
            <a:r>
              <a:rPr lang="en-US" altLang="zh-CN" sz="1350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 </a:t>
            </a:r>
            <a:r>
              <a:rPr lang="en-US" altLang="zh-CN" sz="135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limits</a:t>
            </a:r>
          </a:p>
          <a:p>
            <a:pPr marL="457200" lvl="1" indent="-133350" algn="l" defTabSz="579483" rtl="0" eaLnBrk="1" latinLnBrk="0" hangingPunct="1">
              <a:buFont typeface="Noto Sans SC"/>
              <a:buChar char="•"/>
              <a:defRPr sz="135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35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If the guard evaluates to false, the execution of the loop is terminated</a:t>
            </a:r>
          </a:p>
          <a:p>
            <a:pPr marL="228600" indent="-133350" algn="l" defTabSz="579483" rtl="0" eaLnBrk="1" latinLnBrk="0" hangingPunct="1">
              <a:spcBef>
                <a:spcPts val="634"/>
              </a:spcBef>
              <a:buFont typeface="Noto Sans SC"/>
              <a:buChar char="•"/>
              <a:defRPr sz="135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35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AB4D503-A560-995F-4527-1D6B6A43C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050" y="3190875"/>
            <a:ext cx="4819900" cy="1428750"/>
          </a:xfrm>
          <a:prstGeom prst="rect">
            <a:avLst/>
          </a:prstGeom>
        </p:spPr>
      </p:pic>
      <p:sp>
        <p:nvSpPr>
          <p:cNvPr id="10000" name="frame-119">
            <a:extLst>
              <a:ext uri="{FF2B5EF4-FFF2-40B4-BE49-F238E27FC236}">
                <a16:creationId xmlns:a16="http://schemas.microsoft.com/office/drawing/2014/main" id="{87821627-1F9A-4EED-8821-92C8F749FC8A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顺序图概要：Loop Fragment</a:t>
            </a:r>
          </a:p>
        </p:txBody>
      </p:sp>
      <p:sp>
        <p:nvSpPr>
          <p:cNvPr id="10001" name="frame-120">
            <a:extLst>
              <a:ext uri="{FF2B5EF4-FFF2-40B4-BE49-F238E27FC236}">
                <a16:creationId xmlns:a16="http://schemas.microsoft.com/office/drawing/2014/main" id="{A0BEC026-4549-4066-95D4-AAFDCAD9C228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21">
            <a:extLst>
              <a:ext uri="{FF2B5EF4-FFF2-40B4-BE49-F238E27FC236}">
                <a16:creationId xmlns:a16="http://schemas.microsoft.com/office/drawing/2014/main" id="{4F428575-922B-4DC2-A368-3D4B928240D6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22">
            <a:extLst>
              <a:ext uri="{FF2B5EF4-FFF2-40B4-BE49-F238E27FC236}">
                <a16:creationId xmlns:a16="http://schemas.microsoft.com/office/drawing/2014/main" id="{B98BBD72-C794-4D6D-AE2C-B96A85F76919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P23　软件开发过程与技术</a:t>
            </a:r>
          </a:p>
        </p:txBody>
      </p:sp>
      <p:sp>
        <p:nvSpPr>
          <p:cNvPr id="10004" name="frame-123">
            <a:extLst>
              <a:ext uri="{FF2B5EF4-FFF2-40B4-BE49-F238E27FC236}">
                <a16:creationId xmlns:a16="http://schemas.microsoft.com/office/drawing/2014/main" id="{3A74F628-D79D-423B-913C-1ED7A0E0952D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48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9977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8">
            <a:extLst>
              <a:ext uri="{FF2B5EF4-FFF2-40B4-BE49-F238E27FC236}">
                <a16:creationId xmlns:a16="http://schemas.microsoft.com/office/drawing/2014/main" id="{F215D179-9E43-50F8-436B-A3BDD5E171B4}"/>
              </a:ext>
            </a:extLst>
          </p:cNvPr>
          <p:cNvSpPr txBox="1">
            <a:spLocks noChangeArrowheads="1"/>
          </p:cNvSpPr>
          <p:nvPr/>
        </p:nvSpPr>
        <p:spPr>
          <a:xfrm>
            <a:off x="476250" y="1076325"/>
            <a:ext cx="5143500" cy="277177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marL="228600" indent="-133350" algn="l" defTabSz="667226" rtl="0" eaLnBrk="1" latinLnBrk="0" hangingPunct="1">
              <a:lnSpc>
                <a:spcPct val="110000"/>
              </a:lnSpc>
              <a:spcBef>
                <a:spcPts val="730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Simple form of exception handling</a:t>
            </a:r>
          </a:p>
          <a:p>
            <a:pPr marL="228600" indent="-133350" algn="l" defTabSz="667226" rtl="0" eaLnBrk="1" latinLnBrk="0" hangingPunct="1">
              <a:lnSpc>
                <a:spcPct val="110000"/>
              </a:lnSpc>
              <a:spcBef>
                <a:spcPts val="730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Exactly one operand with a guard</a:t>
            </a:r>
          </a:p>
          <a:p>
            <a:pPr marL="228600" indent="-133350" algn="l" defTabSz="667226" rtl="0" eaLnBrk="1" latinLnBrk="0" hangingPunct="1">
              <a:lnSpc>
                <a:spcPct val="110000"/>
              </a:lnSpc>
              <a:spcBef>
                <a:spcPts val="730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If the guard is true:</a:t>
            </a:r>
          </a:p>
          <a:p>
            <a:pPr marL="457200" lvl="1" indent="-133350" algn="l" defTabSz="667226" rtl="0" eaLnBrk="1" latinLnBrk="0" hangingPunct="1">
              <a:lnSpc>
                <a:spcPct val="110000"/>
              </a:lnSpc>
              <a:spcBef>
                <a:spcPts val="365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Interactions within this operand are executed</a:t>
            </a:r>
          </a:p>
          <a:p>
            <a:pPr marL="457200" lvl="1" indent="-133350" algn="l" defTabSz="667226" rtl="0" eaLnBrk="1" latinLnBrk="0" hangingPunct="1">
              <a:lnSpc>
                <a:spcPct val="110000"/>
              </a:lnSpc>
              <a:spcBef>
                <a:spcPts val="365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Remaining operations of the surrounding</a:t>
            </a:r>
            <a:b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</a:b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fragment are omitted</a:t>
            </a:r>
          </a:p>
          <a:p>
            <a:pPr marL="457200" lvl="1" indent="-133350" algn="l" defTabSz="667226" rtl="0" eaLnBrk="1" latinLnBrk="0" hangingPunct="1">
              <a:lnSpc>
                <a:spcPct val="110000"/>
              </a:lnSpc>
              <a:spcBef>
                <a:spcPts val="365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Interaction continues in the next higher</a:t>
            </a:r>
            <a:b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</a:b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level fragment</a:t>
            </a:r>
          </a:p>
          <a:p>
            <a:pPr marL="457200" lvl="1" indent="-133350" algn="l" defTabSz="667226" rtl="0" eaLnBrk="1" latinLnBrk="0" hangingPunct="1">
              <a:lnSpc>
                <a:spcPct val="110000"/>
              </a:lnSpc>
              <a:spcBef>
                <a:spcPts val="365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Different behavior than </a:t>
            </a:r>
            <a:r>
              <a:rPr lang="en-US" sz="1500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opt </a:t>
            </a: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fragment</a:t>
            </a:r>
            <a:endParaRPr lang="de-AT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8" name="Grafik 5">
            <a:extLst>
              <a:ext uri="{FF2B5EF4-FFF2-40B4-BE49-F238E27FC236}">
                <a16:creationId xmlns:a16="http://schemas.microsoft.com/office/drawing/2014/main" id="{0C1D5228-00EC-824E-2538-8286F938D5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944" y="1306029"/>
            <a:ext cx="1851963" cy="3294546"/>
          </a:xfrm>
          <a:prstGeom prst="rect">
            <a:avLst/>
          </a:prstGeom>
        </p:spPr>
      </p:pic>
      <p:sp>
        <p:nvSpPr>
          <p:cNvPr id="9" name="Text Box 36">
            <a:extLst>
              <a:ext uri="{FF2B5EF4-FFF2-40B4-BE49-F238E27FC236}">
                <a16:creationId xmlns:a16="http://schemas.microsoft.com/office/drawing/2014/main" id="{DBA5F36A-B126-62CB-6B0F-DAA738F4B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75" y="4124325"/>
            <a:ext cx="2505075" cy="419100"/>
          </a:xfrm>
          <a:prstGeom prst="rect">
            <a:avLst/>
          </a:prstGeom>
          <a:noFill/>
          <a:ln w="9267">
            <a:noFill/>
            <a:miter lim="800000"/>
            <a:headEnd/>
            <a:tailEnd/>
          </a:ln>
        </p:spPr>
        <p:txBody>
          <a:bodyPr wrap="square" lIns="0" tIns="0" rIns="0" bIns="0" anchor="t">
            <a:noAutofit/>
          </a:bodyPr>
          <a:lstStyle/>
          <a:p>
            <a:pPr marL="0" indent="0" algn="l" defTabSz="667226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AT" sz="1200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Not </a:t>
            </a:r>
            <a:r>
              <a:rPr lang="de-AT" sz="1200" kern="1200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executed</a:t>
            </a:r>
            <a:r>
              <a:rPr lang="de-AT" sz="1200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de-AT" sz="1200" kern="1200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if</a:t>
            </a:r>
            <a:r>
              <a:rPr lang="de-AT" sz="1200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 break </a:t>
            </a:r>
            <a:r>
              <a:rPr lang="de-AT" sz="1200" kern="1200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is</a:t>
            </a:r>
            <a:r>
              <a:rPr lang="de-AT" sz="1200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de-AT" sz="1200" kern="1200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executed</a:t>
            </a:r>
            <a:endParaRPr lang="de-AT" sz="1200" kern="1200" dirty="0">
              <a:solidFill>
                <a:srgbClr val="FE84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Geschweifte Klammer rechts 12">
            <a:extLst>
              <a:ext uri="{FF2B5EF4-FFF2-40B4-BE49-F238E27FC236}">
                <a16:creationId xmlns:a16="http://schemas.microsoft.com/office/drawing/2014/main" id="{4F9A3D0A-C90E-E6BB-AFC6-C5C0089E3E15}"/>
              </a:ext>
            </a:extLst>
          </p:cNvPr>
          <p:cNvSpPr/>
          <p:nvPr/>
        </p:nvSpPr>
        <p:spPr bwMode="auto">
          <a:xfrm flipH="1">
            <a:off x="6206480" y="3677607"/>
            <a:ext cx="192470" cy="451644"/>
          </a:xfrm>
          <a:prstGeom prst="rightBrace">
            <a:avLst/>
          </a:prstGeom>
          <a:solidFill>
            <a:schemeClr val="bg1"/>
          </a:solidFill>
          <a:ln w="6950" cap="flat" cmpd="sng" algn="ctr">
            <a:solidFill>
              <a:srgbClr val="FE8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6723" tIns="33361" rIns="66723" bIns="33361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667226" rtl="0" eaLnBrk="0" fontAlgn="base" latinLnBrk="0" hangingPunct="0">
              <a:defRPr sz="131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kumimoji="0" lang="de-AT" sz="1751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Noto Sans SC"/>
              <a:ea typeface="Noto Sans SC"/>
              <a:cs typeface="Noto Sans SC"/>
            </a:endParaRPr>
          </a:p>
        </p:txBody>
      </p:sp>
      <p:sp>
        <p:nvSpPr>
          <p:cNvPr id="10000" name="frame-124">
            <a:extLst>
              <a:ext uri="{FF2B5EF4-FFF2-40B4-BE49-F238E27FC236}">
                <a16:creationId xmlns:a16="http://schemas.microsoft.com/office/drawing/2014/main" id="{B212DB8C-9AD7-4E47-B251-755B81C75F00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顺序图概要：Break Fragment</a:t>
            </a:r>
          </a:p>
        </p:txBody>
      </p:sp>
      <p:sp>
        <p:nvSpPr>
          <p:cNvPr id="10001" name="frame-125">
            <a:extLst>
              <a:ext uri="{FF2B5EF4-FFF2-40B4-BE49-F238E27FC236}">
                <a16:creationId xmlns:a16="http://schemas.microsoft.com/office/drawing/2014/main" id="{219C5B93-9D18-46DB-9CB3-FAA13F0E3884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26">
            <a:extLst>
              <a:ext uri="{FF2B5EF4-FFF2-40B4-BE49-F238E27FC236}">
                <a16:creationId xmlns:a16="http://schemas.microsoft.com/office/drawing/2014/main" id="{55E8980A-1FB8-4D19-903B-BA8BEF213C1B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27">
            <a:extLst>
              <a:ext uri="{FF2B5EF4-FFF2-40B4-BE49-F238E27FC236}">
                <a16:creationId xmlns:a16="http://schemas.microsoft.com/office/drawing/2014/main" id="{9527678C-5F02-44D7-A317-2A8F6E1EB414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P24　软件开发过程与技术</a:t>
            </a:r>
          </a:p>
        </p:txBody>
      </p:sp>
      <p:sp>
        <p:nvSpPr>
          <p:cNvPr id="10004" name="frame-128">
            <a:extLst>
              <a:ext uri="{FF2B5EF4-FFF2-40B4-BE49-F238E27FC236}">
                <a16:creationId xmlns:a16="http://schemas.microsoft.com/office/drawing/2014/main" id="{0417373C-03B4-4EF6-BEC7-807E2C9CFFFC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49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064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">
            <a:extLst>
              <a:ext uri="{FF2B5EF4-FFF2-40B4-BE49-F238E27FC236}">
                <a16:creationId xmlns:a16="http://schemas.microsoft.com/office/drawing/2014/main" id="{EF07DBBD-9C01-E0DA-8A71-DC9DF9842A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860" y="1076325"/>
            <a:ext cx="4718281" cy="3524250"/>
          </a:xfrm>
          <a:prstGeom prst="rect">
            <a:avLst/>
          </a:prstGeom>
        </p:spPr>
      </p:pic>
      <p:sp>
        <p:nvSpPr>
          <p:cNvPr id="10000" name="frame-129">
            <a:extLst>
              <a:ext uri="{FF2B5EF4-FFF2-40B4-BE49-F238E27FC236}">
                <a16:creationId xmlns:a16="http://schemas.microsoft.com/office/drawing/2014/main" id="{609E70A3-C7A7-4671-894A-B5B8095D6A7B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顺序图概要：Break Fragment</a:t>
            </a:r>
          </a:p>
        </p:txBody>
      </p:sp>
      <p:sp>
        <p:nvSpPr>
          <p:cNvPr id="10001" name="frame-130">
            <a:extLst>
              <a:ext uri="{FF2B5EF4-FFF2-40B4-BE49-F238E27FC236}">
                <a16:creationId xmlns:a16="http://schemas.microsoft.com/office/drawing/2014/main" id="{C3353B4D-BE3F-4834-9610-DE7A467CB327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31">
            <a:extLst>
              <a:ext uri="{FF2B5EF4-FFF2-40B4-BE49-F238E27FC236}">
                <a16:creationId xmlns:a16="http://schemas.microsoft.com/office/drawing/2014/main" id="{E560E23A-1922-4EA3-83FB-849D275660D5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32">
            <a:extLst>
              <a:ext uri="{FF2B5EF4-FFF2-40B4-BE49-F238E27FC236}">
                <a16:creationId xmlns:a16="http://schemas.microsoft.com/office/drawing/2014/main" id="{1462E8A7-009F-4C20-B02E-70D9C14FDFB0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P25　软件开发过程与技术</a:t>
            </a:r>
          </a:p>
        </p:txBody>
      </p:sp>
      <p:sp>
        <p:nvSpPr>
          <p:cNvPr id="10004" name="frame-133">
            <a:extLst>
              <a:ext uri="{FF2B5EF4-FFF2-40B4-BE49-F238E27FC236}">
                <a16:creationId xmlns:a16="http://schemas.microsoft.com/office/drawing/2014/main" id="{D28D5E15-5AC5-4F73-9970-CF433DE1D335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50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7248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5">
            <a:extLst>
              <a:ext uri="{FF2B5EF4-FFF2-40B4-BE49-F238E27FC236}">
                <a16:creationId xmlns:a16="http://schemas.microsoft.com/office/drawing/2014/main" id="{235FF42E-D203-037C-12C2-20FAEF99DAFE}"/>
              </a:ext>
            </a:extLst>
          </p:cNvPr>
          <p:cNvSpPr txBox="1">
            <a:spLocks/>
          </p:cNvSpPr>
          <p:nvPr/>
        </p:nvSpPr>
        <p:spPr>
          <a:xfrm>
            <a:off x="476250" y="1076325"/>
            <a:ext cx="7848600" cy="16764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marL="228600" indent="-133350" algn="l" defTabSz="622863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Default order of events</a:t>
            </a:r>
          </a:p>
          <a:p>
            <a:pPr marL="228600" indent="-133350" algn="l" defTabSz="622863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Weak sequencing:</a:t>
            </a:r>
          </a:p>
          <a:p>
            <a:pPr marL="457200" lvl="1" indent="-133350" algn="l" defTabSz="622863" rtl="0" eaLnBrk="1" latinLnBrk="0" hangingPunct="1"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The ordering of events within each of the operands is maintained in the result.</a:t>
            </a:r>
          </a:p>
          <a:p>
            <a:pPr marL="457200" lvl="1" indent="-133350" algn="l" defTabSz="622863" rtl="0" eaLnBrk="1" latinLnBrk="0" hangingPunct="1"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Events on different lifelines from different operands may come in any order.</a:t>
            </a:r>
          </a:p>
          <a:p>
            <a:pPr marL="457200" lvl="1" indent="-133350" algn="l" defTabSz="622863" rtl="0" eaLnBrk="1" latinLnBrk="0" hangingPunct="1"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Events on the same lifeline from different operands are ordered such that an event of the first operand comes before that of the second operand.</a:t>
            </a:r>
          </a:p>
          <a:p>
            <a:pPr marL="228600" indent="-133350" algn="l" defTabSz="622863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en-US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8" name="Grafik 5">
            <a:extLst>
              <a:ext uri="{FF2B5EF4-FFF2-40B4-BE49-F238E27FC236}">
                <a16:creationId xmlns:a16="http://schemas.microsoft.com/office/drawing/2014/main" id="{9D4A3A0E-8BF3-4BB9-65C0-C5EEA6159D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114" y="2881413"/>
            <a:ext cx="4355835" cy="171916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673ADC7-C909-FD60-DE6C-60575D6B0BAF}"/>
              </a:ext>
            </a:extLst>
          </p:cNvPr>
          <p:cNvSpPr txBox="1"/>
          <p:nvPr/>
        </p:nvSpPr>
        <p:spPr>
          <a:xfrm>
            <a:off x="5810250" y="2800350"/>
            <a:ext cx="2847975" cy="1771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133350" algn="l" defTabSz="622863" rtl="0" eaLnBrk="1" latinLnBrk="0" hangingPunct="1">
              <a:lnSpc>
                <a:spcPct val="110000"/>
              </a:lnSpc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the message c is not connected chronologically to messages a and b and can be interleaved with these messages. </a:t>
            </a:r>
          </a:p>
          <a:p>
            <a:pPr marL="228600" indent="-133350" algn="l" defTabSz="622863" rtl="0" eaLnBrk="1" latinLnBrk="0" hangingPunct="1">
              <a:lnSpc>
                <a:spcPct val="110000"/>
              </a:lnSpc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As b is sent by interaction partner B and d is also received by B, there is a chronological order between these two messages. </a:t>
            </a:r>
          </a:p>
          <a:p>
            <a:pPr marL="228600" indent="-133350" algn="l" defTabSz="622863" rtl="0" eaLnBrk="1" latinLnBrk="0" hangingPunct="1">
              <a:lnSpc>
                <a:spcPct val="110000"/>
              </a:lnSpc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In any case, e is the last message</a:t>
            </a:r>
            <a:endParaRPr lang="zh-CN" altLang="en-US" sz="12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000" name="frame-134">
            <a:extLst>
              <a:ext uri="{FF2B5EF4-FFF2-40B4-BE49-F238E27FC236}">
                <a16:creationId xmlns:a16="http://schemas.microsoft.com/office/drawing/2014/main" id="{AD8C44B5-A689-4921-A1A4-C25F7264404C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顺序图概要：seq Fragment</a:t>
            </a:r>
          </a:p>
        </p:txBody>
      </p:sp>
      <p:sp>
        <p:nvSpPr>
          <p:cNvPr id="10001" name="frame-135">
            <a:extLst>
              <a:ext uri="{FF2B5EF4-FFF2-40B4-BE49-F238E27FC236}">
                <a16:creationId xmlns:a16="http://schemas.microsoft.com/office/drawing/2014/main" id="{41E642A5-BA6A-4702-AAB4-CFA03CEEEDF2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36">
            <a:extLst>
              <a:ext uri="{FF2B5EF4-FFF2-40B4-BE49-F238E27FC236}">
                <a16:creationId xmlns:a16="http://schemas.microsoft.com/office/drawing/2014/main" id="{F656EACB-AB21-44EB-9828-C36700EAC501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37">
            <a:extLst>
              <a:ext uri="{FF2B5EF4-FFF2-40B4-BE49-F238E27FC236}">
                <a16:creationId xmlns:a16="http://schemas.microsoft.com/office/drawing/2014/main" id="{3D815336-870C-4568-9CB8-718F97B5C3FC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P26　软件开发过程与技术</a:t>
            </a:r>
          </a:p>
        </p:txBody>
      </p:sp>
      <p:sp>
        <p:nvSpPr>
          <p:cNvPr id="10004" name="frame-138">
            <a:extLst>
              <a:ext uri="{FF2B5EF4-FFF2-40B4-BE49-F238E27FC236}">
                <a16:creationId xmlns:a16="http://schemas.microsoft.com/office/drawing/2014/main" id="{0181C040-D5B7-421E-9A0C-61252BBD28B0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51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4112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3">
            <a:extLst>
              <a:ext uri="{FF2B5EF4-FFF2-40B4-BE49-F238E27FC236}">
                <a16:creationId xmlns:a16="http://schemas.microsoft.com/office/drawing/2014/main" id="{31195344-ECE5-38A0-2379-0D460F7DC0B2}"/>
              </a:ext>
            </a:extLst>
          </p:cNvPr>
          <p:cNvSpPr txBox="1">
            <a:spLocks/>
          </p:cNvSpPr>
          <p:nvPr/>
        </p:nvSpPr>
        <p:spPr>
          <a:xfrm>
            <a:off x="476250" y="1076325"/>
            <a:ext cx="7689503" cy="325119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marL="228600" indent="-133350" algn="l" defTabSz="630772" rtl="0" eaLnBrk="1" latinLnBrk="0" hangingPunct="1">
              <a:lnSpc>
                <a:spcPct val="110000"/>
              </a:lnSpc>
              <a:spcBef>
                <a:spcPts val="690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Sequential interaction with order</a:t>
            </a:r>
          </a:p>
          <a:p>
            <a:pPr marL="228600" indent="-133350" algn="l" defTabSz="630772" rtl="0" eaLnBrk="1" latinLnBrk="0" hangingPunct="1">
              <a:lnSpc>
                <a:spcPct val="110000"/>
              </a:lnSpc>
              <a:spcBef>
                <a:spcPts val="690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Order of event occurrences on different lifelines between different operands is significant</a:t>
            </a:r>
          </a:p>
          <a:p>
            <a:pPr marL="457200" lvl="1" indent="-133350" algn="l" defTabSz="630772" rtl="0" eaLnBrk="1" latinLnBrk="0" hangingPunct="1">
              <a:lnSpc>
                <a:spcPct val="110000"/>
              </a:lnSpc>
              <a:spcBef>
                <a:spcPts val="345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Messages in an operand that is higher up on the vertical axis are always exchanged before the messages in an operand that is lower down on the vertical axis</a:t>
            </a:r>
          </a:p>
        </p:txBody>
      </p:sp>
      <p:pic>
        <p:nvPicPr>
          <p:cNvPr id="8" name="Grafik 2">
            <a:extLst>
              <a:ext uri="{FF2B5EF4-FFF2-40B4-BE49-F238E27FC236}">
                <a16:creationId xmlns:a16="http://schemas.microsoft.com/office/drawing/2014/main" id="{4DFB9753-75BC-EF74-1614-A74866F58C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977" y="2706056"/>
            <a:ext cx="3985508" cy="1894519"/>
          </a:xfrm>
          <a:prstGeom prst="rect">
            <a:avLst/>
          </a:prstGeom>
        </p:spPr>
      </p:pic>
      <p:sp>
        <p:nvSpPr>
          <p:cNvPr id="10000" name="frame-139">
            <a:extLst>
              <a:ext uri="{FF2B5EF4-FFF2-40B4-BE49-F238E27FC236}">
                <a16:creationId xmlns:a16="http://schemas.microsoft.com/office/drawing/2014/main" id="{834FBB6B-88B4-4325-9189-6C820E7192E4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顺序图概要：Strict Fragment</a:t>
            </a:r>
          </a:p>
        </p:txBody>
      </p:sp>
      <p:sp>
        <p:nvSpPr>
          <p:cNvPr id="10001" name="frame-140">
            <a:extLst>
              <a:ext uri="{FF2B5EF4-FFF2-40B4-BE49-F238E27FC236}">
                <a16:creationId xmlns:a16="http://schemas.microsoft.com/office/drawing/2014/main" id="{88A8BCB0-1841-4C87-B7A7-8F339571B73D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41">
            <a:extLst>
              <a:ext uri="{FF2B5EF4-FFF2-40B4-BE49-F238E27FC236}">
                <a16:creationId xmlns:a16="http://schemas.microsoft.com/office/drawing/2014/main" id="{35C4BF8F-4C71-4EF6-B339-BFF536F99823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42">
            <a:extLst>
              <a:ext uri="{FF2B5EF4-FFF2-40B4-BE49-F238E27FC236}">
                <a16:creationId xmlns:a16="http://schemas.microsoft.com/office/drawing/2014/main" id="{93675DD1-F284-4A1F-A2EF-206223EF47B3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P27　软件开发过程与技术</a:t>
            </a:r>
          </a:p>
        </p:txBody>
      </p:sp>
      <p:sp>
        <p:nvSpPr>
          <p:cNvPr id="10004" name="frame-143">
            <a:extLst>
              <a:ext uri="{FF2B5EF4-FFF2-40B4-BE49-F238E27FC236}">
                <a16:creationId xmlns:a16="http://schemas.microsoft.com/office/drawing/2014/main" id="{9E925901-CB46-444C-8900-6A97DA7705BB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52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2959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1">
            <a:extLst>
              <a:ext uri="{FF2B5EF4-FFF2-40B4-BE49-F238E27FC236}">
                <a16:creationId xmlns:a16="http://schemas.microsoft.com/office/drawing/2014/main" id="{52DCE7BF-4D65-96CB-FF5D-DB16A3FB27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173" y="2572689"/>
            <a:ext cx="4041590" cy="2027886"/>
          </a:xfrm>
          <a:prstGeom prst="rect">
            <a:avLst/>
          </a:prstGeom>
        </p:spPr>
      </p:pic>
      <p:sp>
        <p:nvSpPr>
          <p:cNvPr id="10001" name="frame-145">
            <a:extLst>
              <a:ext uri="{FF2B5EF4-FFF2-40B4-BE49-F238E27FC236}">
                <a16:creationId xmlns:a16="http://schemas.microsoft.com/office/drawing/2014/main" id="{1E3E4362-E768-4440-B03D-3462CB2C8840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46">
            <a:extLst>
              <a:ext uri="{FF2B5EF4-FFF2-40B4-BE49-F238E27FC236}">
                <a16:creationId xmlns:a16="http://schemas.microsoft.com/office/drawing/2014/main" id="{CABC8719-D258-4F7E-9FED-4D04A057BB75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47">
            <a:extLst>
              <a:ext uri="{FF2B5EF4-FFF2-40B4-BE49-F238E27FC236}">
                <a16:creationId xmlns:a16="http://schemas.microsoft.com/office/drawing/2014/main" id="{A30EBCAC-8A30-447E-A2B0-CB6C677F1F9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P28　软件开发过程与技术</a:t>
            </a:r>
          </a:p>
        </p:txBody>
      </p:sp>
      <p:sp>
        <p:nvSpPr>
          <p:cNvPr id="10004" name="frame-148">
            <a:extLst>
              <a:ext uri="{FF2B5EF4-FFF2-40B4-BE49-F238E27FC236}">
                <a16:creationId xmlns:a16="http://schemas.microsoft.com/office/drawing/2014/main" id="{296A5462-3AC7-4804-9EBB-16D8FF3EF3A2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53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  <p:sp>
        <p:nvSpPr>
          <p:cNvPr id="20000" name="teaching-29-0">
            <a:extLst>
              <a:ext uri="{FF2B5EF4-FFF2-40B4-BE49-F238E27FC236}">
                <a16:creationId xmlns:a16="http://schemas.microsoft.com/office/drawing/2014/main" id="{62CDBA78-225A-469C-9E37-1A23010E5916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顺序图：par 并发片段</a:t>
            </a:r>
          </a:p>
        </p:txBody>
      </p:sp>
      <p:sp>
        <p:nvSpPr>
          <p:cNvPr id="20001" name="teaching-29-1">
            <a:extLst>
              <a:ext uri="{FF2B5EF4-FFF2-40B4-BE49-F238E27FC236}">
                <a16:creationId xmlns:a16="http://schemas.microsoft.com/office/drawing/2014/main" id="{48CC760B-E441-45AA-8C12-4338A75CA2F2}"/>
              </a:ext>
            </a:extLst>
          </p:cNvPr>
          <p:cNvSpPr>
            <a:spLocks noGrp="1"/>
          </p:cNvSpPr>
          <p:nvPr/>
        </p:nvSpPr>
        <p:spPr>
          <a:xfrm>
            <a:off x="476250" y="1095375"/>
            <a:ext cx="80010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不同操作数中的事件可以交错，各自内部的顺序仍须保留。</a:t>
            </a:r>
          </a:p>
        </p:txBody>
      </p:sp>
      <p:sp>
        <p:nvSpPr>
          <p:cNvPr id="20002" name="teaching-29-2">
            <a:extLst>
              <a:ext uri="{FF2B5EF4-FFF2-40B4-BE49-F238E27FC236}">
                <a16:creationId xmlns:a16="http://schemas.microsoft.com/office/drawing/2014/main" id="{427FD7B8-F8A5-4AA3-98F2-36B5485CE5EE}"/>
              </a:ext>
            </a:extLst>
          </p:cNvPr>
          <p:cNvSpPr>
            <a:spLocks noGrp="1"/>
          </p:cNvSpPr>
          <p:nvPr/>
        </p:nvSpPr>
        <p:spPr>
          <a:xfrm>
            <a:off x="476250" y="1695450"/>
            <a:ext cx="80010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par 描述允许的交互顺序，不规定线程调度或物理并行方式。</a:t>
            </a:r>
          </a:p>
        </p:txBody>
      </p:sp>
      <p:sp>
        <p:nvSpPr>
          <p:cNvPr id="20003" name="teaching-29-3">
            <a:extLst>
              <a:ext uri="{FF2B5EF4-FFF2-40B4-BE49-F238E27FC236}">
                <a16:creationId xmlns:a16="http://schemas.microsoft.com/office/drawing/2014/main" id="{35FB9207-FE6A-4132-B529-36E3B7EA69D0}"/>
              </a:ext>
            </a:extLst>
          </p:cNvPr>
          <p:cNvSpPr>
            <a:spLocks noGrp="1"/>
          </p:cNvSpPr>
          <p:nvPr/>
        </p:nvSpPr>
        <p:spPr>
          <a:xfrm>
            <a:off x="476250" y="2266950"/>
            <a:ext cx="8001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观察：保留 a、b 与 c、d、e 各自的顺序，说明图中轨迹为何合法。</a:t>
            </a:r>
          </a:p>
        </p:txBody>
      </p:sp>
    </p:spTree>
    <p:extLst>
      <p:ext uri="{BB962C8B-B14F-4D97-AF65-F5344CB8AC3E}">
        <p14:creationId xmlns:p14="http://schemas.microsoft.com/office/powerpoint/2010/main" val="14431526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4">
            <a:extLst>
              <a:ext uri="{FF2B5EF4-FFF2-40B4-BE49-F238E27FC236}">
                <a16:creationId xmlns:a16="http://schemas.microsoft.com/office/drawing/2014/main" id="{B46433DC-0B63-BB95-077D-E282FF2868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470" y="1076325"/>
            <a:ext cx="4955059" cy="2857939"/>
          </a:xfrm>
          <a:prstGeom prst="rect">
            <a:avLst/>
          </a:prstGeom>
        </p:spPr>
      </p:pic>
      <p:sp>
        <p:nvSpPr>
          <p:cNvPr id="10000" name="frame-149">
            <a:extLst>
              <a:ext uri="{FF2B5EF4-FFF2-40B4-BE49-F238E27FC236}">
                <a16:creationId xmlns:a16="http://schemas.microsoft.com/office/drawing/2014/main" id="{4F296203-9E63-4DAC-A293-B924D510BDE2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顺序图概要：par Fragment</a:t>
            </a:r>
          </a:p>
        </p:txBody>
      </p:sp>
      <p:sp>
        <p:nvSpPr>
          <p:cNvPr id="10001" name="frame-150">
            <a:extLst>
              <a:ext uri="{FF2B5EF4-FFF2-40B4-BE49-F238E27FC236}">
                <a16:creationId xmlns:a16="http://schemas.microsoft.com/office/drawing/2014/main" id="{10D37F6C-901F-4309-9028-C37FAC171593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51">
            <a:extLst>
              <a:ext uri="{FF2B5EF4-FFF2-40B4-BE49-F238E27FC236}">
                <a16:creationId xmlns:a16="http://schemas.microsoft.com/office/drawing/2014/main" id="{A8451F1F-079A-4D6A-A81F-B8D0DFD33AB0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52">
            <a:extLst>
              <a:ext uri="{FF2B5EF4-FFF2-40B4-BE49-F238E27FC236}">
                <a16:creationId xmlns:a16="http://schemas.microsoft.com/office/drawing/2014/main" id="{135E3CFC-BA11-4BDF-9761-F7AF4F6A13CE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P29　软件开发过程与技术</a:t>
            </a:r>
          </a:p>
        </p:txBody>
      </p:sp>
      <p:sp>
        <p:nvSpPr>
          <p:cNvPr id="10004" name="frame-153">
            <a:extLst>
              <a:ext uri="{FF2B5EF4-FFF2-40B4-BE49-F238E27FC236}">
                <a16:creationId xmlns:a16="http://schemas.microsoft.com/office/drawing/2014/main" id="{647D18FB-743E-43D0-A280-0B1477F923A0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54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9026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9639D64-8C98-8BD2-E94D-8793EB784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006" y="2854424"/>
            <a:ext cx="3002923" cy="1572285"/>
          </a:xfrm>
          <a:prstGeom prst="rect">
            <a:avLst/>
          </a:prstGeom>
        </p:spPr>
      </p:pic>
      <p:pic>
        <p:nvPicPr>
          <p:cNvPr id="9" name="Grafik 2">
            <a:extLst>
              <a:ext uri="{FF2B5EF4-FFF2-40B4-BE49-F238E27FC236}">
                <a16:creationId xmlns:a16="http://schemas.microsoft.com/office/drawing/2014/main" id="{603DF0EC-5325-FF77-0557-7AEEE9DAF8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07" y="2926424"/>
            <a:ext cx="1056167" cy="1220139"/>
          </a:xfrm>
          <a:prstGeom prst="rect">
            <a:avLst/>
          </a:prstGeom>
        </p:spPr>
      </p:pic>
      <p:sp>
        <p:nvSpPr>
          <p:cNvPr id="10" name="Text Box 5">
            <a:extLst>
              <a:ext uri="{FF2B5EF4-FFF2-40B4-BE49-F238E27FC236}">
                <a16:creationId xmlns:a16="http://schemas.microsoft.com/office/drawing/2014/main" id="{1BFAC426-BFBD-38D3-771A-19332FD9B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5425" y="2171700"/>
            <a:ext cx="3362325" cy="2324100"/>
          </a:xfrm>
          <a:prstGeom prst="rect">
            <a:avLst/>
          </a:prstGeom>
          <a:ln cap="rnd">
            <a:round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anchor="t">
            <a:noAutofit/>
          </a:bodyPr>
          <a:lstStyle/>
          <a:p>
            <a:pPr marL="0" algn="l" defTabSz="268936" rtl="0" eaLnBrk="1" latinLnBrk="0" hangingPunct="1">
              <a:defRPr sz="1350"/>
            </a:pPr>
            <a:r>
              <a:rPr lang="en-US" sz="1350" i="0" dirty="0">
                <a:latin typeface="Noto Sans SC"/>
                <a:ea typeface="Noto Sans SC"/>
                <a:cs typeface="Noto Sans SC"/>
              </a:rPr>
              <a:t>class </a:t>
            </a:r>
            <a:r>
              <a:rPr lang="en-US" sz="1350" i="0" dirty="0" err="1">
                <a:latin typeface="Noto Sans SC"/>
                <a:ea typeface="Noto Sans SC"/>
                <a:cs typeface="Noto Sans SC"/>
              </a:rPr>
              <a:t>LectureHall</a:t>
            </a:r>
            <a:r>
              <a:rPr lang="en-US" sz="1350" i="0" dirty="0">
                <a:latin typeface="Noto Sans SC"/>
                <a:ea typeface="Noto Sans SC"/>
                <a:cs typeface="Noto Sans SC"/>
              </a:rPr>
              <a:t> {</a:t>
            </a:r>
          </a:p>
          <a:p>
            <a:pPr marL="0" algn="l" defTabSz="268936" rtl="0" eaLnBrk="1" latinLnBrk="0" hangingPunct="1">
              <a:defRPr sz="1350"/>
            </a:pPr>
            <a:r>
              <a:rPr lang="en-US" sz="1350" i="0" dirty="0">
                <a:latin typeface="Noto Sans SC"/>
                <a:ea typeface="Noto Sans SC"/>
                <a:cs typeface="Noto Sans SC"/>
              </a:rPr>
              <a:t>	private </a:t>
            </a:r>
            <a:r>
              <a:rPr lang="en-US" sz="1350" i="0" dirty="0" err="1">
                <a:latin typeface="Noto Sans SC"/>
                <a:ea typeface="Noto Sans SC"/>
                <a:cs typeface="Noto Sans SC"/>
              </a:rPr>
              <a:t>boolean</a:t>
            </a:r>
            <a:r>
              <a:rPr lang="en-US" sz="1350" i="0" dirty="0">
                <a:latin typeface="Noto Sans SC"/>
                <a:ea typeface="Noto Sans SC"/>
                <a:cs typeface="Noto Sans SC"/>
              </a:rPr>
              <a:t> free;</a:t>
            </a:r>
          </a:p>
          <a:p>
            <a:pPr marL="0" algn="l" defTabSz="268936" rtl="0" eaLnBrk="1" latinLnBrk="0" hangingPunct="1">
              <a:defRPr sz="1350"/>
            </a:pPr>
            <a:endParaRPr lang="en-US" sz="1350" i="0" dirty="0">
              <a:latin typeface="Noto Sans SC"/>
              <a:ea typeface="Noto Sans SC"/>
              <a:cs typeface="Noto Sans SC"/>
            </a:endParaRPr>
          </a:p>
          <a:p>
            <a:pPr marL="0" algn="l" defTabSz="268936" rtl="0" eaLnBrk="1" latinLnBrk="0" hangingPunct="1">
              <a:defRPr sz="1350"/>
            </a:pPr>
            <a:r>
              <a:rPr lang="en-US" sz="1350" i="0" dirty="0">
                <a:latin typeface="Noto Sans SC"/>
                <a:ea typeface="Noto Sans SC"/>
                <a:cs typeface="Noto Sans SC"/>
              </a:rPr>
              <a:t>	public void occupy() {</a:t>
            </a:r>
          </a:p>
          <a:p>
            <a:pPr marL="0" algn="l" defTabSz="268936" rtl="0" eaLnBrk="1" latinLnBrk="0" hangingPunct="1">
              <a:defRPr sz="1350"/>
            </a:pPr>
            <a:r>
              <a:rPr lang="en-US" sz="1350" i="0" dirty="0">
                <a:latin typeface="Noto Sans SC"/>
                <a:ea typeface="Noto Sans SC"/>
                <a:cs typeface="Noto Sans SC"/>
              </a:rPr>
              <a:t>		free=false;</a:t>
            </a:r>
          </a:p>
          <a:p>
            <a:pPr marL="0" algn="l" defTabSz="268936" rtl="0" eaLnBrk="1" latinLnBrk="0" hangingPunct="1">
              <a:defRPr sz="1350"/>
            </a:pPr>
            <a:r>
              <a:rPr lang="en-US" sz="1350" i="0" dirty="0">
                <a:latin typeface="Noto Sans SC"/>
                <a:ea typeface="Noto Sans SC"/>
                <a:cs typeface="Noto Sans SC"/>
              </a:rPr>
              <a:t>	}</a:t>
            </a:r>
          </a:p>
          <a:p>
            <a:pPr marL="0" algn="l" defTabSz="268936" rtl="0" eaLnBrk="1" latinLnBrk="0" hangingPunct="1">
              <a:defRPr sz="1350"/>
            </a:pPr>
            <a:r>
              <a:rPr lang="en-US" sz="1350" i="0" dirty="0">
                <a:latin typeface="Noto Sans SC"/>
                <a:ea typeface="Noto Sans SC"/>
                <a:cs typeface="Noto Sans SC"/>
              </a:rPr>
              <a:t>	public void release() {</a:t>
            </a:r>
          </a:p>
          <a:p>
            <a:pPr marL="0" algn="l" defTabSz="268936" rtl="0" eaLnBrk="1" latinLnBrk="0" hangingPunct="1">
              <a:defRPr sz="1350"/>
            </a:pPr>
            <a:r>
              <a:rPr lang="en-US" sz="1350" i="0" dirty="0">
                <a:latin typeface="Noto Sans SC"/>
                <a:ea typeface="Noto Sans SC"/>
                <a:cs typeface="Noto Sans SC"/>
              </a:rPr>
              <a:t>		free=true;</a:t>
            </a:r>
          </a:p>
          <a:p>
            <a:pPr marL="0" algn="l" defTabSz="268936" rtl="0" eaLnBrk="1" latinLnBrk="0" hangingPunct="1">
              <a:defRPr sz="1350"/>
            </a:pPr>
            <a:r>
              <a:rPr lang="en-US" sz="1350" i="0" dirty="0">
                <a:latin typeface="Noto Sans SC"/>
                <a:ea typeface="Noto Sans SC"/>
                <a:cs typeface="Noto Sans SC"/>
              </a:rPr>
              <a:t>	}</a:t>
            </a:r>
          </a:p>
          <a:p>
            <a:pPr marL="0" algn="l" defTabSz="268936" rtl="0" eaLnBrk="1" latinLnBrk="0" hangingPunct="1">
              <a:defRPr sz="1350"/>
            </a:pPr>
            <a:r>
              <a:rPr lang="en-US" sz="1350" i="0" dirty="0">
                <a:latin typeface="Noto Sans SC"/>
                <a:ea typeface="Noto Sans SC"/>
                <a:cs typeface="Noto Sans SC"/>
              </a:rPr>
              <a:t>}</a:t>
            </a:r>
            <a:endParaRPr lang="de-AT" sz="1350" i="0" dirty="0">
              <a:latin typeface="Noto Sans SC"/>
              <a:ea typeface="Noto Sans SC"/>
              <a:cs typeface="Noto Sans SC"/>
            </a:endParaRPr>
          </a:p>
        </p:txBody>
      </p:sp>
      <p:sp>
        <p:nvSpPr>
          <p:cNvPr id="10001" name="frame-155">
            <a:extLst>
              <a:ext uri="{FF2B5EF4-FFF2-40B4-BE49-F238E27FC236}">
                <a16:creationId xmlns:a16="http://schemas.microsoft.com/office/drawing/2014/main" id="{42678D3D-DAC0-4EED-90A9-43BD391E6084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56">
            <a:extLst>
              <a:ext uri="{FF2B5EF4-FFF2-40B4-BE49-F238E27FC236}">
                <a16:creationId xmlns:a16="http://schemas.microsoft.com/office/drawing/2014/main" id="{3425AC41-43C8-468A-AEF6-E24A9551759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57">
            <a:extLst>
              <a:ext uri="{FF2B5EF4-FFF2-40B4-BE49-F238E27FC236}">
                <a16:creationId xmlns:a16="http://schemas.microsoft.com/office/drawing/2014/main" id="{71CDC723-2F2B-4302-A927-8AC6094EB2D9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P30　软件开发过程与技术</a:t>
            </a:r>
          </a:p>
        </p:txBody>
      </p:sp>
      <p:sp>
        <p:nvSpPr>
          <p:cNvPr id="10004" name="frame-158">
            <a:extLst>
              <a:ext uri="{FF2B5EF4-FFF2-40B4-BE49-F238E27FC236}">
                <a16:creationId xmlns:a16="http://schemas.microsoft.com/office/drawing/2014/main" id="{3CB31577-6CBF-4E3E-9CCF-D6E4EE225F8F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55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  <p:sp>
        <p:nvSpPr>
          <p:cNvPr id="20000" name="teaching-31-0">
            <a:extLst>
              <a:ext uri="{FF2B5EF4-FFF2-40B4-BE49-F238E27FC236}">
                <a16:creationId xmlns:a16="http://schemas.microsoft.com/office/drawing/2014/main" id="{2C27A7D3-D9C0-40FF-9F8A-BD431BCD3FBC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状态图：一个对象如何响应事件</a:t>
            </a:r>
          </a:p>
        </p:txBody>
      </p:sp>
      <p:sp>
        <p:nvSpPr>
          <p:cNvPr id="20001" name="teaching-31-1">
            <a:extLst>
              <a:ext uri="{FF2B5EF4-FFF2-40B4-BE49-F238E27FC236}">
                <a16:creationId xmlns:a16="http://schemas.microsoft.com/office/drawing/2014/main" id="{449070E5-9D30-446A-8874-C63B47016254}"/>
              </a:ext>
            </a:extLst>
          </p:cNvPr>
          <p:cNvSpPr>
            <a:spLocks noGrp="1"/>
          </p:cNvSpPr>
          <p:nvPr/>
        </p:nvSpPr>
        <p:spPr>
          <a:xfrm>
            <a:off x="476250" y="1104900"/>
            <a:ext cx="8096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状态图描述对象处于什么状态，以及事件如何引起状态变化。</a:t>
            </a:r>
          </a:p>
        </p:txBody>
      </p:sp>
      <p:sp>
        <p:nvSpPr>
          <p:cNvPr id="20002" name="teaching-31-2">
            <a:extLst>
              <a:ext uri="{FF2B5EF4-FFF2-40B4-BE49-F238E27FC236}">
                <a16:creationId xmlns:a16="http://schemas.microsoft.com/office/drawing/2014/main" id="{049C8F57-954E-446E-9A66-632604F5FA7F}"/>
              </a:ext>
            </a:extLst>
          </p:cNvPr>
          <p:cNvSpPr>
            <a:spLocks noGrp="1"/>
          </p:cNvSpPr>
          <p:nvPr/>
        </p:nvSpPr>
        <p:spPr>
          <a:xfrm>
            <a:off x="476250" y="1628775"/>
            <a:ext cx="80962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原图：occupy() 使教室由空闲变为占用，release() 使其恢复空闲。</a:t>
            </a:r>
          </a:p>
        </p:txBody>
      </p:sp>
      <p:sp>
        <p:nvSpPr>
          <p:cNvPr id="20003" name="teaching-31-3">
            <a:extLst>
              <a:ext uri="{FF2B5EF4-FFF2-40B4-BE49-F238E27FC236}">
                <a16:creationId xmlns:a16="http://schemas.microsoft.com/office/drawing/2014/main" id="{35337851-B168-4A84-8E6F-0027C47ED31E}"/>
              </a:ext>
            </a:extLst>
          </p:cNvPr>
          <p:cNvSpPr>
            <a:spLocks noGrp="1"/>
          </p:cNvSpPr>
          <p:nvPr/>
        </p:nvSpPr>
        <p:spPr>
          <a:xfrm>
            <a:off x="476250" y="2171700"/>
            <a:ext cx="45529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读图问题：类图给出操作名后，</a:t>
            </a:r>
            <a:br/>
            <a:r>
              <a: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还缺哪些行为规则？</a:t>
            </a:r>
          </a:p>
        </p:txBody>
      </p:sp>
    </p:spTree>
    <p:extLst>
      <p:ext uri="{BB962C8B-B14F-4D97-AF65-F5344CB8AC3E}">
        <p14:creationId xmlns:p14="http://schemas.microsoft.com/office/powerpoint/2010/main" val="89328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">
            <a:extLst>
              <a:ext uri="{FF2B5EF4-FFF2-40B4-BE49-F238E27FC236}">
                <a16:creationId xmlns:a16="http://schemas.microsoft.com/office/drawing/2014/main" id="{D0CD02B0-B906-EAD8-A28D-97D028BA36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38" y="2002613"/>
            <a:ext cx="1112164" cy="1308966"/>
          </a:xfrm>
          <a:prstGeom prst="rect">
            <a:avLst/>
          </a:prstGeom>
        </p:spPr>
      </p:pic>
      <p:pic>
        <p:nvPicPr>
          <p:cNvPr id="8" name="Grafik 6">
            <a:extLst>
              <a:ext uri="{FF2B5EF4-FFF2-40B4-BE49-F238E27FC236}">
                <a16:creationId xmlns:a16="http://schemas.microsoft.com/office/drawing/2014/main" id="{D4850C21-406C-41F2-EBA2-4F7B043B76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180" y="1076325"/>
            <a:ext cx="5075981" cy="3275174"/>
          </a:xfrm>
          <a:prstGeom prst="rect">
            <a:avLst/>
          </a:prstGeom>
        </p:spPr>
      </p:pic>
      <p:sp>
        <p:nvSpPr>
          <p:cNvPr id="10000" name="frame-159">
            <a:extLst>
              <a:ext uri="{FF2B5EF4-FFF2-40B4-BE49-F238E27FC236}">
                <a16:creationId xmlns:a16="http://schemas.microsoft.com/office/drawing/2014/main" id="{E1C37A9F-3103-49A6-A60D-9339F19823B6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状态图概要</a:t>
            </a:r>
          </a:p>
        </p:txBody>
      </p:sp>
      <p:sp>
        <p:nvSpPr>
          <p:cNvPr id="10001" name="frame-160">
            <a:extLst>
              <a:ext uri="{FF2B5EF4-FFF2-40B4-BE49-F238E27FC236}">
                <a16:creationId xmlns:a16="http://schemas.microsoft.com/office/drawing/2014/main" id="{C40F6109-61AE-48A0-9F99-A40AD4E21F73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61">
            <a:extLst>
              <a:ext uri="{FF2B5EF4-FFF2-40B4-BE49-F238E27FC236}">
                <a16:creationId xmlns:a16="http://schemas.microsoft.com/office/drawing/2014/main" id="{3DCE61CA-3EAD-44F4-AB4B-7771BA7B0F3C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62">
            <a:extLst>
              <a:ext uri="{FF2B5EF4-FFF2-40B4-BE49-F238E27FC236}">
                <a16:creationId xmlns:a16="http://schemas.microsoft.com/office/drawing/2014/main" id="{6C7E15F8-40D3-4490-9E86-90D36883178A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P31　软件开发过程与技术</a:t>
            </a:r>
          </a:p>
        </p:txBody>
      </p:sp>
      <p:sp>
        <p:nvSpPr>
          <p:cNvPr id="10004" name="frame-163">
            <a:extLst>
              <a:ext uri="{FF2B5EF4-FFF2-40B4-BE49-F238E27FC236}">
                <a16:creationId xmlns:a16="http://schemas.microsoft.com/office/drawing/2014/main" id="{4748D122-8374-40F4-9594-B759B8ED15F3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56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047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2">
            <a:extLst>
              <a:ext uri="{FF2B5EF4-FFF2-40B4-BE49-F238E27FC236}">
                <a16:creationId xmlns:a16="http://schemas.microsoft.com/office/drawing/2014/main" id="{FA6EA89C-64AF-B395-0050-F16CC208C3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413" y="1076325"/>
            <a:ext cx="1183952" cy="755048"/>
          </a:xfrm>
          <a:prstGeom prst="rect">
            <a:avLst/>
          </a:prstGeom>
        </p:spPr>
      </p:pic>
      <p:pic>
        <p:nvPicPr>
          <p:cNvPr id="9" name="Grafik 9">
            <a:extLst>
              <a:ext uri="{FF2B5EF4-FFF2-40B4-BE49-F238E27FC236}">
                <a16:creationId xmlns:a16="http://schemas.microsoft.com/office/drawing/2014/main" id="{668799DC-F3C6-F7C8-1F18-419F74571D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822" y="2449082"/>
            <a:ext cx="1803669" cy="2070613"/>
          </a:xfrm>
          <a:prstGeom prst="rect">
            <a:avLst/>
          </a:prstGeom>
        </p:spPr>
      </p:pic>
      <p:sp>
        <p:nvSpPr>
          <p:cNvPr id="10001" name="frame-165">
            <a:extLst>
              <a:ext uri="{FF2B5EF4-FFF2-40B4-BE49-F238E27FC236}">
                <a16:creationId xmlns:a16="http://schemas.microsoft.com/office/drawing/2014/main" id="{71D3DEFF-870C-457D-92EB-B0C3E6A94C29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66">
            <a:extLst>
              <a:ext uri="{FF2B5EF4-FFF2-40B4-BE49-F238E27FC236}">
                <a16:creationId xmlns:a16="http://schemas.microsoft.com/office/drawing/2014/main" id="{693F5782-062A-4233-A86C-C6CC76003065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67">
            <a:extLst>
              <a:ext uri="{FF2B5EF4-FFF2-40B4-BE49-F238E27FC236}">
                <a16:creationId xmlns:a16="http://schemas.microsoft.com/office/drawing/2014/main" id="{E939D058-9606-4F50-97C5-A0CBAFF01A4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P32　软件开发过程与技术</a:t>
            </a:r>
          </a:p>
        </p:txBody>
      </p:sp>
      <p:sp>
        <p:nvSpPr>
          <p:cNvPr id="10004" name="frame-168">
            <a:extLst>
              <a:ext uri="{FF2B5EF4-FFF2-40B4-BE49-F238E27FC236}">
                <a16:creationId xmlns:a16="http://schemas.microsoft.com/office/drawing/2014/main" id="{FDA03264-B393-48CB-86C8-85A6911D6B0D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57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  <p:sp>
        <p:nvSpPr>
          <p:cNvPr id="20000" name="teaching-33-0">
            <a:extLst>
              <a:ext uri="{FF2B5EF4-FFF2-40B4-BE49-F238E27FC236}">
                <a16:creationId xmlns:a16="http://schemas.microsoft.com/office/drawing/2014/main" id="{D868B6F3-BDA8-4A5F-BE75-A2701C79F587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状态内部：entry、do、exit</a:t>
            </a:r>
          </a:p>
        </p:txBody>
      </p:sp>
      <p:sp>
        <p:nvSpPr>
          <p:cNvPr id="20001" name="teaching-33-1">
            <a:extLst>
              <a:ext uri="{FF2B5EF4-FFF2-40B4-BE49-F238E27FC236}">
                <a16:creationId xmlns:a16="http://schemas.microsoft.com/office/drawing/2014/main" id="{29B9C41A-5178-42DD-9BF9-431B500D3D0D}"/>
              </a:ext>
            </a:extLst>
          </p:cNvPr>
          <p:cNvSpPr>
            <a:spLocks noGrp="1"/>
          </p:cNvSpPr>
          <p:nvPr/>
        </p:nvSpPr>
        <p:spPr>
          <a:xfrm>
            <a:off x="476250" y="1133475"/>
            <a:ext cx="55721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entry：进入时</a:t>
            </a:r>
          </a:p>
        </p:txBody>
      </p:sp>
      <p:sp>
        <p:nvSpPr>
          <p:cNvPr id="20002" name="teaching-33-2">
            <a:extLst>
              <a:ext uri="{FF2B5EF4-FFF2-40B4-BE49-F238E27FC236}">
                <a16:creationId xmlns:a16="http://schemas.microsoft.com/office/drawing/2014/main" id="{B506882F-9EBE-4021-9BCB-66230BC887AE}"/>
              </a:ext>
            </a:extLst>
          </p:cNvPr>
          <p:cNvSpPr>
            <a:spLocks noGrp="1"/>
          </p:cNvSpPr>
          <p:nvPr/>
        </p:nvSpPr>
        <p:spPr>
          <a:xfrm>
            <a:off x="476250" y="1543050"/>
            <a:ext cx="55721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进入状态时执行相应行为。</a:t>
            </a:r>
          </a:p>
        </p:txBody>
      </p:sp>
      <p:sp>
        <p:nvSpPr>
          <p:cNvPr id="20003" name="teaching-33-3">
            <a:extLst>
              <a:ext uri="{FF2B5EF4-FFF2-40B4-BE49-F238E27FC236}">
                <a16:creationId xmlns:a16="http://schemas.microsoft.com/office/drawing/2014/main" id="{A3A05ADB-C468-4A3E-B294-278E2B2B4B2C}"/>
              </a:ext>
            </a:extLst>
          </p:cNvPr>
          <p:cNvSpPr>
            <a:spLocks noGrp="1"/>
          </p:cNvSpPr>
          <p:nvPr/>
        </p:nvSpPr>
        <p:spPr>
          <a:xfrm>
            <a:off x="476250" y="2124075"/>
            <a:ext cx="55721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do：处于状态期间</a:t>
            </a:r>
          </a:p>
        </p:txBody>
      </p:sp>
      <p:sp>
        <p:nvSpPr>
          <p:cNvPr id="20004" name="teaching-33-4">
            <a:extLst>
              <a:ext uri="{FF2B5EF4-FFF2-40B4-BE49-F238E27FC236}">
                <a16:creationId xmlns:a16="http://schemas.microsoft.com/office/drawing/2014/main" id="{B5D2D9EC-9C98-4105-8AC4-DED8D5F19CE6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55721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进入行为完成后启动，可完成，也可因退出而中止。</a:t>
            </a:r>
          </a:p>
        </p:txBody>
      </p:sp>
      <p:sp>
        <p:nvSpPr>
          <p:cNvPr id="20005" name="teaching-33-5">
            <a:extLst>
              <a:ext uri="{FF2B5EF4-FFF2-40B4-BE49-F238E27FC236}">
                <a16:creationId xmlns:a16="http://schemas.microsoft.com/office/drawing/2014/main" id="{7E5D070D-2A55-437C-97E7-6570CECAE078}"/>
              </a:ext>
            </a:extLst>
          </p:cNvPr>
          <p:cNvSpPr>
            <a:spLocks noGrp="1"/>
          </p:cNvSpPr>
          <p:nvPr/>
        </p:nvSpPr>
        <p:spPr>
          <a:xfrm>
            <a:off x="476250" y="3371850"/>
            <a:ext cx="55721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exit：离开时</a:t>
            </a:r>
          </a:p>
        </p:txBody>
      </p:sp>
      <p:sp>
        <p:nvSpPr>
          <p:cNvPr id="20006" name="teaching-33-6">
            <a:extLst>
              <a:ext uri="{FF2B5EF4-FFF2-40B4-BE49-F238E27FC236}">
                <a16:creationId xmlns:a16="http://schemas.microsoft.com/office/drawing/2014/main" id="{C9A1C9BC-C5D4-45F1-9512-3135F8450598}"/>
              </a:ext>
            </a:extLst>
          </p:cNvPr>
          <p:cNvSpPr>
            <a:spLocks noGrp="1"/>
          </p:cNvSpPr>
          <p:nvPr/>
        </p:nvSpPr>
        <p:spPr>
          <a:xfrm>
            <a:off x="476250" y="3781425"/>
            <a:ext cx="55721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退出状态时执行相应行为。</a:t>
            </a:r>
          </a:p>
        </p:txBody>
      </p:sp>
      <p:sp>
        <p:nvSpPr>
          <p:cNvPr id="20007" name="teaching-33-7">
            <a:extLst>
              <a:ext uri="{FF2B5EF4-FFF2-40B4-BE49-F238E27FC236}">
                <a16:creationId xmlns:a16="http://schemas.microsoft.com/office/drawing/2014/main" id="{820E0E46-BDC7-4793-93D6-6B796E1A0554}"/>
              </a:ext>
            </a:extLst>
          </p:cNvPr>
          <p:cNvSpPr>
            <a:spLocks noGrp="1"/>
          </p:cNvSpPr>
          <p:nvPr/>
        </p:nvSpPr>
        <p:spPr>
          <a:xfrm>
            <a:off x="476250" y="4286250"/>
            <a:ext cx="5810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收到事件是否一定重新执行 entry？见后面的迁移对比。</a:t>
            </a:r>
          </a:p>
        </p:txBody>
      </p:sp>
    </p:spTree>
    <p:extLst>
      <p:ext uri="{BB962C8B-B14F-4D97-AF65-F5344CB8AC3E}">
        <p14:creationId xmlns:p14="http://schemas.microsoft.com/office/powerpoint/2010/main" val="40973653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88A3184-32C4-79EE-8FA0-F429FC9ED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125" y="2009231"/>
            <a:ext cx="3194618" cy="1747384"/>
          </a:xfrm>
          <a:prstGeom prst="rect">
            <a:avLst/>
          </a:prstGeom>
        </p:spPr>
      </p:pic>
      <p:sp>
        <p:nvSpPr>
          <p:cNvPr id="10001" name="frame-170">
            <a:extLst>
              <a:ext uri="{FF2B5EF4-FFF2-40B4-BE49-F238E27FC236}">
                <a16:creationId xmlns:a16="http://schemas.microsoft.com/office/drawing/2014/main" id="{C4695C87-36BB-4AB8-9BA7-85F77D8DB607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71">
            <a:extLst>
              <a:ext uri="{FF2B5EF4-FFF2-40B4-BE49-F238E27FC236}">
                <a16:creationId xmlns:a16="http://schemas.microsoft.com/office/drawing/2014/main" id="{63B2DB43-29FB-493F-BF62-07B59A72458E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72">
            <a:extLst>
              <a:ext uri="{FF2B5EF4-FFF2-40B4-BE49-F238E27FC236}">
                <a16:creationId xmlns:a16="http://schemas.microsoft.com/office/drawing/2014/main" id="{D724FECB-8EF4-4DE1-8740-7F1CFA4EAC2E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P33　软件开发过程与技术</a:t>
            </a:r>
          </a:p>
        </p:txBody>
      </p:sp>
      <p:sp>
        <p:nvSpPr>
          <p:cNvPr id="10004" name="frame-173">
            <a:extLst>
              <a:ext uri="{FF2B5EF4-FFF2-40B4-BE49-F238E27FC236}">
                <a16:creationId xmlns:a16="http://schemas.microsoft.com/office/drawing/2014/main" id="{9F7178B0-3C0E-427E-86D0-15D5BDC891D2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58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  <p:sp>
        <p:nvSpPr>
          <p:cNvPr id="20000" name="teaching-34-0">
            <a:extLst>
              <a:ext uri="{FF2B5EF4-FFF2-40B4-BE49-F238E27FC236}">
                <a16:creationId xmlns:a16="http://schemas.microsoft.com/office/drawing/2014/main" id="{8B7A6E65-9BA0-4962-A285-9DEE9F5A90A6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状态迁移：事件、条件与效果</a:t>
            </a:r>
          </a:p>
        </p:txBody>
      </p:sp>
      <p:sp>
        <p:nvSpPr>
          <p:cNvPr id="20001" name="teaching-34-1">
            <a:extLst>
              <a:ext uri="{FF2B5EF4-FFF2-40B4-BE49-F238E27FC236}">
                <a16:creationId xmlns:a16="http://schemas.microsoft.com/office/drawing/2014/main" id="{FCB69FEC-4ECC-4A75-B195-CA3270925618}"/>
              </a:ext>
            </a:extLst>
          </p:cNvPr>
          <p:cNvSpPr>
            <a:spLocks noGrp="1"/>
          </p:cNvSpPr>
          <p:nvPr/>
        </p:nvSpPr>
        <p:spPr>
          <a:xfrm>
            <a:off x="476250" y="1114425"/>
            <a:ext cx="7905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迁移标签：事件 [条件] / 效果</a:t>
            </a:r>
          </a:p>
        </p:txBody>
      </p:sp>
      <p:sp>
        <p:nvSpPr>
          <p:cNvPr id="20002" name="teaching-34-2">
            <a:extLst>
              <a:ext uri="{FF2B5EF4-FFF2-40B4-BE49-F238E27FC236}">
                <a16:creationId xmlns:a16="http://schemas.microsoft.com/office/drawing/2014/main" id="{330BC896-1220-4323-85D1-E6D1AD9C1D03}"/>
              </a:ext>
            </a:extLst>
          </p:cNvPr>
          <p:cNvSpPr>
            <a:spLocks noGrp="1"/>
          </p:cNvSpPr>
          <p:nvPr/>
        </p:nvSpPr>
        <p:spPr>
          <a:xfrm>
            <a:off x="476250" y="1600200"/>
            <a:ext cx="7905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读法：什么事件发生？条件是否满足？迁移时执行什么？</a:t>
            </a:r>
          </a:p>
        </p:txBody>
      </p:sp>
      <p:sp>
        <p:nvSpPr>
          <p:cNvPr id="20003" name="teaching-34-3">
            <a:extLst>
              <a:ext uri="{FF2B5EF4-FFF2-40B4-BE49-F238E27FC236}">
                <a16:creationId xmlns:a16="http://schemas.microsoft.com/office/drawing/2014/main" id="{EFBDEC5C-C5F0-4ED8-8C5D-C922B1FEFDE5}"/>
              </a:ext>
            </a:extLst>
          </p:cNvPr>
          <p:cNvSpPr>
            <a:spLocks noGrp="1"/>
          </p:cNvSpPr>
          <p:nvPr/>
        </p:nvSpPr>
        <p:spPr>
          <a:xfrm>
            <a:off x="476250" y="4133850"/>
            <a:ext cx="7905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迁移读法：待处理的选课记录，收到确认事件且有余量时，记录结果并进入已确认。</a:t>
            </a:r>
          </a:p>
        </p:txBody>
      </p:sp>
    </p:spTree>
    <p:extLst>
      <p:ext uri="{BB962C8B-B14F-4D97-AF65-F5344CB8AC3E}">
        <p14:creationId xmlns:p14="http://schemas.microsoft.com/office/powerpoint/2010/main" val="13877577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6D0F101B-A753-2344-7735-0071970C65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116" y="1076325"/>
            <a:ext cx="5735882" cy="775119"/>
          </a:xfrm>
          <a:prstGeom prst="rect">
            <a:avLst/>
          </a:prstGeom>
        </p:spPr>
      </p:pic>
      <p:sp>
        <p:nvSpPr>
          <p:cNvPr id="10000" name="frame-174">
            <a:extLst>
              <a:ext uri="{FF2B5EF4-FFF2-40B4-BE49-F238E27FC236}">
                <a16:creationId xmlns:a16="http://schemas.microsoft.com/office/drawing/2014/main" id="{1E841140-ABF3-4BBC-B37D-BAEA961AF2BA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状态图概要：迁移</a:t>
            </a:r>
          </a:p>
        </p:txBody>
      </p:sp>
      <p:sp>
        <p:nvSpPr>
          <p:cNvPr id="10001" name="frame-175">
            <a:extLst>
              <a:ext uri="{FF2B5EF4-FFF2-40B4-BE49-F238E27FC236}">
                <a16:creationId xmlns:a16="http://schemas.microsoft.com/office/drawing/2014/main" id="{1BC66DD8-861D-4286-BCE0-49B4E794F1B4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76">
            <a:extLst>
              <a:ext uri="{FF2B5EF4-FFF2-40B4-BE49-F238E27FC236}">
                <a16:creationId xmlns:a16="http://schemas.microsoft.com/office/drawing/2014/main" id="{4D92A19D-AA20-4F39-970E-282C54BE86E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77">
            <a:extLst>
              <a:ext uri="{FF2B5EF4-FFF2-40B4-BE49-F238E27FC236}">
                <a16:creationId xmlns:a16="http://schemas.microsoft.com/office/drawing/2014/main" id="{BB0DBC1D-1C8E-4F10-8A25-40E45F278903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P34　软件开发过程与技术</a:t>
            </a:r>
          </a:p>
        </p:txBody>
      </p:sp>
      <p:sp>
        <p:nvSpPr>
          <p:cNvPr id="10004" name="frame-178">
            <a:extLst>
              <a:ext uri="{FF2B5EF4-FFF2-40B4-BE49-F238E27FC236}">
                <a16:creationId xmlns:a16="http://schemas.microsoft.com/office/drawing/2014/main" id="{D1B64779-284C-47F6-91D1-24E3F7E65E40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59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  <p:sp>
        <p:nvSpPr>
          <p:cNvPr id="20000" name="teaching-35-0">
            <a:extLst>
              <a:ext uri="{FF2B5EF4-FFF2-40B4-BE49-F238E27FC236}">
                <a16:creationId xmlns:a16="http://schemas.microsoft.com/office/drawing/2014/main" id="{E67159C0-C2D6-4203-A6A5-FA3B07C38C75}"/>
              </a:ext>
            </a:extLst>
          </p:cNvPr>
          <p:cNvSpPr>
            <a:spLocks noGrp="1"/>
          </p:cNvSpPr>
          <p:nvPr/>
        </p:nvSpPr>
        <p:spPr>
          <a:xfrm>
            <a:off x="476250" y="1895475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事件 trigger</a:t>
            </a:r>
          </a:p>
        </p:txBody>
      </p:sp>
      <p:sp>
        <p:nvSpPr>
          <p:cNvPr id="20001" name="teaching-35-1">
            <a:extLst>
              <a:ext uri="{FF2B5EF4-FFF2-40B4-BE49-F238E27FC236}">
                <a16:creationId xmlns:a16="http://schemas.microsoft.com/office/drawing/2014/main" id="{4524FB48-EA32-4FF4-A15D-28D58CC8619E}"/>
              </a:ext>
            </a:extLst>
          </p:cNvPr>
          <p:cNvSpPr>
            <a:spLocks noGrp="1"/>
          </p:cNvSpPr>
          <p:nvPr/>
        </p:nvSpPr>
        <p:spPr>
          <a:xfrm>
            <a:off x="476250" y="2286000"/>
            <a:ext cx="31432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用于匹配迁移的触发器。</a:t>
            </a:r>
          </a:p>
        </p:txBody>
      </p:sp>
      <p:sp>
        <p:nvSpPr>
          <p:cNvPr id="20002" name="teaching-35-2">
            <a:extLst>
              <a:ext uri="{FF2B5EF4-FFF2-40B4-BE49-F238E27FC236}">
                <a16:creationId xmlns:a16="http://schemas.microsoft.com/office/drawing/2014/main" id="{050A83D8-8597-4767-9196-DCDA1FD73A07}"/>
              </a:ext>
            </a:extLst>
          </p:cNvPr>
          <p:cNvSpPr>
            <a:spLocks noGrp="1"/>
          </p:cNvSpPr>
          <p:nvPr/>
        </p:nvSpPr>
        <p:spPr>
          <a:xfrm>
            <a:off x="476250" y="2933700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条件 guard</a:t>
            </a:r>
          </a:p>
        </p:txBody>
      </p:sp>
      <p:sp>
        <p:nvSpPr>
          <p:cNvPr id="20003" name="teaching-35-3">
            <a:extLst>
              <a:ext uri="{FF2B5EF4-FFF2-40B4-BE49-F238E27FC236}">
                <a16:creationId xmlns:a16="http://schemas.microsoft.com/office/drawing/2014/main" id="{2C5AFB2B-6A81-49B5-983F-2C42E6E7BEA4}"/>
              </a:ext>
            </a:extLst>
          </p:cNvPr>
          <p:cNvSpPr>
            <a:spLocks noGrp="1"/>
          </p:cNvSpPr>
          <p:nvPr/>
        </p:nvSpPr>
        <p:spPr>
          <a:xfrm>
            <a:off x="476250" y="3314700"/>
            <a:ext cx="3429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判断这条迁移是否可用。</a:t>
            </a:r>
            <a:br/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条件为假，这条迁移不执行。</a:t>
            </a:r>
          </a:p>
        </p:txBody>
      </p:sp>
      <p:sp>
        <p:nvSpPr>
          <p:cNvPr id="20004" name="teaching-35-4">
            <a:extLst>
              <a:ext uri="{FF2B5EF4-FFF2-40B4-BE49-F238E27FC236}">
                <a16:creationId xmlns:a16="http://schemas.microsoft.com/office/drawing/2014/main" id="{6C82CF10-71ED-4D94-8B8C-FD2157700A0E}"/>
              </a:ext>
            </a:extLst>
          </p:cNvPr>
          <p:cNvSpPr>
            <a:spLocks noGrp="1"/>
          </p:cNvSpPr>
          <p:nvPr/>
        </p:nvSpPr>
        <p:spPr>
          <a:xfrm>
            <a:off x="4286250" y="1895475"/>
            <a:ext cx="4238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效果 effect</a:t>
            </a:r>
          </a:p>
        </p:txBody>
      </p:sp>
      <p:sp>
        <p:nvSpPr>
          <p:cNvPr id="20005" name="teaching-35-5">
            <a:extLst>
              <a:ext uri="{FF2B5EF4-FFF2-40B4-BE49-F238E27FC236}">
                <a16:creationId xmlns:a16="http://schemas.microsoft.com/office/drawing/2014/main" id="{EB65C6D2-A9F1-4095-8090-131B4D8470D3}"/>
              </a:ext>
            </a:extLst>
          </p:cNvPr>
          <p:cNvSpPr>
            <a:spLocks noGrp="1"/>
          </p:cNvSpPr>
          <p:nvPr/>
        </p:nvSpPr>
        <p:spPr>
          <a:xfrm>
            <a:off x="4286250" y="2286000"/>
            <a:ext cx="42386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迁移执行时开展的行为。</a:t>
            </a:r>
          </a:p>
        </p:txBody>
      </p:sp>
      <p:sp>
        <p:nvSpPr>
          <p:cNvPr id="20006" name="teaching-35-6">
            <a:extLst>
              <a:ext uri="{FF2B5EF4-FFF2-40B4-BE49-F238E27FC236}">
                <a16:creationId xmlns:a16="http://schemas.microsoft.com/office/drawing/2014/main" id="{0D4F6DC0-9127-42C9-A960-35769D1A5146}"/>
              </a:ext>
            </a:extLst>
          </p:cNvPr>
          <p:cNvSpPr>
            <a:spLocks noGrp="1"/>
          </p:cNvSpPr>
          <p:nvPr/>
        </p:nvSpPr>
        <p:spPr>
          <a:xfrm>
            <a:off x="4286250" y="2933700"/>
            <a:ext cx="4238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普通外部迁移的执行顺序</a:t>
            </a:r>
          </a:p>
        </p:txBody>
      </p:sp>
      <p:sp>
        <p:nvSpPr>
          <p:cNvPr id="20007" name="teaching-35-7">
            <a:extLst>
              <a:ext uri="{FF2B5EF4-FFF2-40B4-BE49-F238E27FC236}">
                <a16:creationId xmlns:a16="http://schemas.microsoft.com/office/drawing/2014/main" id="{3AF8980F-203B-4CA0-8350-4E083C9EAD5C}"/>
              </a:ext>
            </a:extLst>
          </p:cNvPr>
          <p:cNvSpPr>
            <a:spLocks noGrp="1"/>
          </p:cNvSpPr>
          <p:nvPr/>
        </p:nvSpPr>
        <p:spPr>
          <a:xfrm>
            <a:off x="4286250" y="3314700"/>
            <a:ext cx="42386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退出源状态，执行迁移效果，</a:t>
            </a:r>
            <a:br/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再进入目标状态。</a:t>
            </a:r>
          </a:p>
        </p:txBody>
      </p:sp>
      <p:sp>
        <p:nvSpPr>
          <p:cNvPr id="20008" name="teaching-35-8">
            <a:extLst>
              <a:ext uri="{FF2B5EF4-FFF2-40B4-BE49-F238E27FC236}">
                <a16:creationId xmlns:a16="http://schemas.microsoft.com/office/drawing/2014/main" id="{FA1C486E-38B3-4815-B617-03EEF74A3491}"/>
              </a:ext>
            </a:extLst>
          </p:cNvPr>
          <p:cNvSpPr>
            <a:spLocks noGrp="1"/>
          </p:cNvSpPr>
          <p:nvPr/>
        </p:nvSpPr>
        <p:spPr>
          <a:xfrm>
            <a:off x="476250" y="4267200"/>
            <a:ext cx="7905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条件为假后如何处理事件，还要查看其他迁移及延迟事件规则。</a:t>
            </a:r>
          </a:p>
        </p:txBody>
      </p:sp>
    </p:spTree>
    <p:extLst>
      <p:ext uri="{BB962C8B-B14F-4D97-AF65-F5344CB8AC3E}">
        <p14:creationId xmlns:p14="http://schemas.microsoft.com/office/powerpoint/2010/main" val="8498681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431BCD0-33A3-14BC-6BF8-F688C79A4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532" y="1076325"/>
            <a:ext cx="6152936" cy="3424960"/>
          </a:xfrm>
          <a:prstGeom prst="rect">
            <a:avLst/>
          </a:prstGeom>
        </p:spPr>
      </p:pic>
      <p:sp>
        <p:nvSpPr>
          <p:cNvPr id="10000" name="frame-179">
            <a:extLst>
              <a:ext uri="{FF2B5EF4-FFF2-40B4-BE49-F238E27FC236}">
                <a16:creationId xmlns:a16="http://schemas.microsoft.com/office/drawing/2014/main" id="{1E8E4BBF-FB6F-4035-9C4C-12A812C525DF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状态图概要：迁移</a:t>
            </a:r>
          </a:p>
        </p:txBody>
      </p:sp>
      <p:sp>
        <p:nvSpPr>
          <p:cNvPr id="10001" name="frame-180">
            <a:extLst>
              <a:ext uri="{FF2B5EF4-FFF2-40B4-BE49-F238E27FC236}">
                <a16:creationId xmlns:a16="http://schemas.microsoft.com/office/drawing/2014/main" id="{1E9C1495-0C86-468E-8F00-450C0A800D4A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81">
            <a:extLst>
              <a:ext uri="{FF2B5EF4-FFF2-40B4-BE49-F238E27FC236}">
                <a16:creationId xmlns:a16="http://schemas.microsoft.com/office/drawing/2014/main" id="{6BA702E1-03C5-45CC-A5C7-F6CD6CD65932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82">
            <a:extLst>
              <a:ext uri="{FF2B5EF4-FFF2-40B4-BE49-F238E27FC236}">
                <a16:creationId xmlns:a16="http://schemas.microsoft.com/office/drawing/2014/main" id="{742D7BDB-5628-43C0-A74E-F86BC1C85E09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P35　软件开发过程与技术</a:t>
            </a:r>
          </a:p>
        </p:txBody>
      </p:sp>
      <p:sp>
        <p:nvSpPr>
          <p:cNvPr id="10004" name="frame-183">
            <a:extLst>
              <a:ext uri="{FF2B5EF4-FFF2-40B4-BE49-F238E27FC236}">
                <a16:creationId xmlns:a16="http://schemas.microsoft.com/office/drawing/2014/main" id="{DA07A4CB-6193-450B-A72A-985CAC4610D2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60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8367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D06927F-80E1-1893-F8F7-696C44384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387" y="1076325"/>
            <a:ext cx="6387226" cy="3524250"/>
          </a:xfrm>
          <a:prstGeom prst="rect">
            <a:avLst/>
          </a:prstGeom>
        </p:spPr>
      </p:pic>
      <p:sp>
        <p:nvSpPr>
          <p:cNvPr id="10000" name="frame-184">
            <a:extLst>
              <a:ext uri="{FF2B5EF4-FFF2-40B4-BE49-F238E27FC236}">
                <a16:creationId xmlns:a16="http://schemas.microsoft.com/office/drawing/2014/main" id="{8F32C00F-179E-44E2-930C-FE57098CCD0B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状态迁移示例：事件与完成</a:t>
            </a:r>
          </a:p>
        </p:txBody>
      </p:sp>
      <p:sp>
        <p:nvSpPr>
          <p:cNvPr id="10001" name="frame-185">
            <a:extLst>
              <a:ext uri="{FF2B5EF4-FFF2-40B4-BE49-F238E27FC236}">
                <a16:creationId xmlns:a16="http://schemas.microsoft.com/office/drawing/2014/main" id="{262C5967-56A5-4879-86C2-A373A12AABD8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86">
            <a:extLst>
              <a:ext uri="{FF2B5EF4-FFF2-40B4-BE49-F238E27FC236}">
                <a16:creationId xmlns:a16="http://schemas.microsoft.com/office/drawing/2014/main" id="{8FB333FE-C862-428F-8197-EA3CF185456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87">
            <a:extLst>
              <a:ext uri="{FF2B5EF4-FFF2-40B4-BE49-F238E27FC236}">
                <a16:creationId xmlns:a16="http://schemas.microsoft.com/office/drawing/2014/main" id="{D76DA7B9-8AFA-4F61-A244-C8ABB4FAC13C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P36　软件开发过程与技术</a:t>
            </a:r>
          </a:p>
        </p:txBody>
      </p:sp>
      <p:sp>
        <p:nvSpPr>
          <p:cNvPr id="10004" name="frame-188">
            <a:extLst>
              <a:ext uri="{FF2B5EF4-FFF2-40B4-BE49-F238E27FC236}">
                <a16:creationId xmlns:a16="http://schemas.microsoft.com/office/drawing/2014/main" id="{B6BE35DF-1A95-43A7-9CA1-307AE65BD2BB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61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475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26">
            <a:extLst>
              <a:ext uri="{FF2B5EF4-FFF2-40B4-BE49-F238E27FC236}">
                <a16:creationId xmlns:a16="http://schemas.microsoft.com/office/drawing/2014/main" id="{9C3F4093-4C9F-13FB-E078-A225865502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318" y="1566256"/>
            <a:ext cx="4439901" cy="867449"/>
          </a:xfrm>
          <a:prstGeom prst="rect">
            <a:avLst/>
          </a:prstGeom>
        </p:spPr>
      </p:pic>
      <p:sp>
        <p:nvSpPr>
          <p:cNvPr id="10001" name="frame-190">
            <a:extLst>
              <a:ext uri="{FF2B5EF4-FFF2-40B4-BE49-F238E27FC236}">
                <a16:creationId xmlns:a16="http://schemas.microsoft.com/office/drawing/2014/main" id="{B8E6AC75-8719-419C-9F23-D43890FE706F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91">
            <a:extLst>
              <a:ext uri="{FF2B5EF4-FFF2-40B4-BE49-F238E27FC236}">
                <a16:creationId xmlns:a16="http://schemas.microsoft.com/office/drawing/2014/main" id="{55D8FA3D-07EA-45C3-8A0A-B0613F688364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92">
            <a:extLst>
              <a:ext uri="{FF2B5EF4-FFF2-40B4-BE49-F238E27FC236}">
                <a16:creationId xmlns:a16="http://schemas.microsoft.com/office/drawing/2014/main" id="{BFE8BB63-821B-4E36-AAF4-80712FB2FECB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P37　软件开发过程与技术</a:t>
            </a:r>
          </a:p>
        </p:txBody>
      </p:sp>
      <p:sp>
        <p:nvSpPr>
          <p:cNvPr id="10004" name="frame-193">
            <a:extLst>
              <a:ext uri="{FF2B5EF4-FFF2-40B4-BE49-F238E27FC236}">
                <a16:creationId xmlns:a16="http://schemas.microsoft.com/office/drawing/2014/main" id="{E2866CA8-66A8-40EE-A44B-4C18B3B74303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62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  <p:sp>
        <p:nvSpPr>
          <p:cNvPr id="20000" name="teaching-38-0">
            <a:extLst>
              <a:ext uri="{FF2B5EF4-FFF2-40B4-BE49-F238E27FC236}">
                <a16:creationId xmlns:a16="http://schemas.microsoft.com/office/drawing/2014/main" id="{AAB7CD5E-4D06-4863-B523-4C32388E6222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状态迁移示例：x的变化</a:t>
            </a:r>
          </a:p>
        </p:txBody>
      </p:sp>
      <p:sp>
        <p:nvSpPr>
          <p:cNvPr id="20001" name="teaching-38-1">
            <a:extLst>
              <a:ext uri="{FF2B5EF4-FFF2-40B4-BE49-F238E27FC236}">
                <a16:creationId xmlns:a16="http://schemas.microsoft.com/office/drawing/2014/main" id="{B4533AD5-6123-40C7-A34E-E2EC7A79DD50}"/>
              </a:ext>
            </a:extLst>
          </p:cNvPr>
          <p:cNvSpPr>
            <a:spLocks noGrp="1"/>
          </p:cNvSpPr>
          <p:nvPr/>
        </p:nvSpPr>
        <p:spPr>
          <a:xfrm>
            <a:off x="476250" y="1095375"/>
            <a:ext cx="78581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S1 已激活，事件 e 到来。请按执行顺序说明 x 的变化。</a:t>
            </a:r>
          </a:p>
        </p:txBody>
      </p:sp>
      <p:sp>
        <p:nvSpPr>
          <p:cNvPr id="20002" name="teaching-38-2">
            <a:extLst>
              <a:ext uri="{FF2B5EF4-FFF2-40B4-BE49-F238E27FC236}">
                <a16:creationId xmlns:a16="http://schemas.microsoft.com/office/drawing/2014/main" id="{7E3A8DA1-929C-415F-BA2F-FD96F3A30C33}"/>
              </a:ext>
            </a:extLst>
          </p:cNvPr>
          <p:cNvSpPr>
            <a:spLocks noGrp="1"/>
          </p:cNvSpPr>
          <p:nvPr/>
        </p:nvSpPr>
        <p:spPr>
          <a:xfrm>
            <a:off x="476250" y="2705100"/>
            <a:ext cx="7715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1. 进入 S1：entry 令 x = 4。</a:t>
            </a:r>
          </a:p>
        </p:txBody>
      </p:sp>
      <p:sp>
        <p:nvSpPr>
          <p:cNvPr id="20003" name="teaching-38-3">
            <a:extLst>
              <a:ext uri="{FF2B5EF4-FFF2-40B4-BE49-F238E27FC236}">
                <a16:creationId xmlns:a16="http://schemas.microsoft.com/office/drawing/2014/main" id="{7F1DD790-2A2F-4E54-B539-8AF9DA460A07}"/>
              </a:ext>
            </a:extLst>
          </p:cNvPr>
          <p:cNvSpPr>
            <a:spLocks noGrp="1"/>
          </p:cNvSpPr>
          <p:nvPr/>
        </p:nvSpPr>
        <p:spPr>
          <a:xfrm>
            <a:off x="476250" y="3086100"/>
            <a:ext cx="7715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2. 事件 e 到来：先检查 [x == 4]，条件成立。</a:t>
            </a:r>
          </a:p>
        </p:txBody>
      </p:sp>
      <p:sp>
        <p:nvSpPr>
          <p:cNvPr id="20004" name="teaching-38-4">
            <a:extLst>
              <a:ext uri="{FF2B5EF4-FFF2-40B4-BE49-F238E27FC236}">
                <a16:creationId xmlns:a16="http://schemas.microsoft.com/office/drawing/2014/main" id="{B508AE2C-38C2-4976-A16F-89FE20E61D8D}"/>
              </a:ext>
            </a:extLst>
          </p:cNvPr>
          <p:cNvSpPr>
            <a:spLocks noGrp="1"/>
          </p:cNvSpPr>
          <p:nvPr/>
        </p:nvSpPr>
        <p:spPr>
          <a:xfrm>
            <a:off x="476250" y="3467100"/>
            <a:ext cx="7715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3. 退出 S1：exit 令 x = 5。</a:t>
            </a:r>
          </a:p>
        </p:txBody>
      </p:sp>
      <p:sp>
        <p:nvSpPr>
          <p:cNvPr id="20005" name="teaching-38-5">
            <a:extLst>
              <a:ext uri="{FF2B5EF4-FFF2-40B4-BE49-F238E27FC236}">
                <a16:creationId xmlns:a16="http://schemas.microsoft.com/office/drawing/2014/main" id="{961F8CE8-06FB-4340-93BF-6D367EC6C665}"/>
              </a:ext>
            </a:extLst>
          </p:cNvPr>
          <p:cNvSpPr>
            <a:spLocks noGrp="1"/>
          </p:cNvSpPr>
          <p:nvPr/>
        </p:nvSpPr>
        <p:spPr>
          <a:xfrm>
            <a:off x="476250" y="3848100"/>
            <a:ext cx="7715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4. 执行迁移效果：x = x × 2，得到 10。</a:t>
            </a:r>
          </a:p>
        </p:txBody>
      </p:sp>
      <p:sp>
        <p:nvSpPr>
          <p:cNvPr id="20006" name="teaching-38-6">
            <a:extLst>
              <a:ext uri="{FF2B5EF4-FFF2-40B4-BE49-F238E27FC236}">
                <a16:creationId xmlns:a16="http://schemas.microsoft.com/office/drawing/2014/main" id="{FF8DAD22-CE85-4C27-BEC4-2CDAEA94848A}"/>
              </a:ext>
            </a:extLst>
          </p:cNvPr>
          <p:cNvSpPr>
            <a:spLocks noGrp="1"/>
          </p:cNvSpPr>
          <p:nvPr/>
        </p:nvSpPr>
        <p:spPr>
          <a:xfrm>
            <a:off x="476250" y="4229100"/>
            <a:ext cx="7715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5. 进入 S2：entry 再加 1，最终 x = 11。</a:t>
            </a:r>
          </a:p>
        </p:txBody>
      </p:sp>
    </p:spTree>
    <p:extLst>
      <p:ext uri="{BB962C8B-B14F-4D97-AF65-F5344CB8AC3E}">
        <p14:creationId xmlns:p14="http://schemas.microsoft.com/office/powerpoint/2010/main" val="10254449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" name="frame-195">
            <a:extLst>
              <a:ext uri="{FF2B5EF4-FFF2-40B4-BE49-F238E27FC236}">
                <a16:creationId xmlns:a16="http://schemas.microsoft.com/office/drawing/2014/main" id="{A9E47B76-ED7A-4B35-A29C-E64D83AF849E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96">
            <a:extLst>
              <a:ext uri="{FF2B5EF4-FFF2-40B4-BE49-F238E27FC236}">
                <a16:creationId xmlns:a16="http://schemas.microsoft.com/office/drawing/2014/main" id="{89112F4D-8CDE-40A3-BB51-EA16B0D3B1DC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97">
            <a:extLst>
              <a:ext uri="{FF2B5EF4-FFF2-40B4-BE49-F238E27FC236}">
                <a16:creationId xmlns:a16="http://schemas.microsoft.com/office/drawing/2014/main" id="{732A00FC-2020-456E-8AD0-F81D976532A9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P38　软件开发过程与技术</a:t>
            </a:r>
          </a:p>
        </p:txBody>
      </p:sp>
      <p:sp>
        <p:nvSpPr>
          <p:cNvPr id="10004" name="frame-198">
            <a:extLst>
              <a:ext uri="{FF2B5EF4-FFF2-40B4-BE49-F238E27FC236}">
                <a16:creationId xmlns:a16="http://schemas.microsoft.com/office/drawing/2014/main" id="{A2E395A3-F02D-443A-8C93-8E6D24329032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63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  <p:sp>
        <p:nvSpPr>
          <p:cNvPr id="20000" name="teaching-39-0">
            <a:extLst>
              <a:ext uri="{FF2B5EF4-FFF2-40B4-BE49-F238E27FC236}">
                <a16:creationId xmlns:a16="http://schemas.microsoft.com/office/drawing/2014/main" id="{36C304B4-5FD1-4ACF-8158-75EB3B795242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事件：信号、调用与时间</a:t>
            </a:r>
          </a:p>
        </p:txBody>
      </p:sp>
      <p:sp>
        <p:nvSpPr>
          <p:cNvPr id="20001" name="teaching-39-1">
            <a:extLst>
              <a:ext uri="{FF2B5EF4-FFF2-40B4-BE49-F238E27FC236}">
                <a16:creationId xmlns:a16="http://schemas.microsoft.com/office/drawing/2014/main" id="{7801F0AE-DCEF-46CC-9850-1D3F043ACF84}"/>
              </a:ext>
            </a:extLst>
          </p:cNvPr>
          <p:cNvSpPr>
            <a:spLocks noGrp="1"/>
          </p:cNvSpPr>
          <p:nvPr/>
        </p:nvSpPr>
        <p:spPr>
          <a:xfrm>
            <a:off x="476250" y="1114425"/>
            <a:ext cx="8001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信号事件 Signal event</a:t>
            </a:r>
          </a:p>
        </p:txBody>
      </p:sp>
      <p:sp>
        <p:nvSpPr>
          <p:cNvPr id="20002" name="teaching-39-2">
            <a:extLst>
              <a:ext uri="{FF2B5EF4-FFF2-40B4-BE49-F238E27FC236}">
                <a16:creationId xmlns:a16="http://schemas.microsoft.com/office/drawing/2014/main" id="{9E2E6F28-4065-4948-B2C7-2FD82939F254}"/>
              </a:ext>
            </a:extLst>
          </p:cNvPr>
          <p:cNvSpPr>
            <a:spLocks noGrp="1"/>
          </p:cNvSpPr>
          <p:nvPr/>
        </p:nvSpPr>
        <p:spPr>
          <a:xfrm>
            <a:off x="476250" y="1543050"/>
            <a:ext cx="80010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收到信号，例如鼠标按下或收到消息通知。</a:t>
            </a:r>
          </a:p>
        </p:txBody>
      </p:sp>
      <p:sp>
        <p:nvSpPr>
          <p:cNvPr id="20003" name="teaching-39-3">
            <a:extLst>
              <a:ext uri="{FF2B5EF4-FFF2-40B4-BE49-F238E27FC236}">
                <a16:creationId xmlns:a16="http://schemas.microsoft.com/office/drawing/2014/main" id="{46007919-DEED-44F7-B350-A823522008B7}"/>
              </a:ext>
            </a:extLst>
          </p:cNvPr>
          <p:cNvSpPr>
            <a:spLocks noGrp="1"/>
          </p:cNvSpPr>
          <p:nvPr/>
        </p:nvSpPr>
        <p:spPr>
          <a:xfrm>
            <a:off x="476250" y="2095500"/>
            <a:ext cx="8001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调用事件 Call event</a:t>
            </a:r>
          </a:p>
        </p:txBody>
      </p:sp>
      <p:sp>
        <p:nvSpPr>
          <p:cNvPr id="20004" name="teaching-39-4">
            <a:extLst>
              <a:ext uri="{FF2B5EF4-FFF2-40B4-BE49-F238E27FC236}">
                <a16:creationId xmlns:a16="http://schemas.microsoft.com/office/drawing/2014/main" id="{A31C92DD-9392-4A78-B1A5-F5D69752F47C}"/>
              </a:ext>
            </a:extLst>
          </p:cNvPr>
          <p:cNvSpPr>
            <a:spLocks noGrp="1"/>
          </p:cNvSpPr>
          <p:nvPr/>
        </p:nvSpPr>
        <p:spPr>
          <a:xfrm>
            <a:off x="476250" y="2524125"/>
            <a:ext cx="80010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收到操作调用，例如 occupy(user, lectureHall)。</a:t>
            </a:r>
          </a:p>
        </p:txBody>
      </p:sp>
      <p:sp>
        <p:nvSpPr>
          <p:cNvPr id="20005" name="teaching-39-5">
            <a:extLst>
              <a:ext uri="{FF2B5EF4-FFF2-40B4-BE49-F238E27FC236}">
                <a16:creationId xmlns:a16="http://schemas.microsoft.com/office/drawing/2014/main" id="{2BB68168-C490-423B-8ACB-C842230D5BA7}"/>
              </a:ext>
            </a:extLst>
          </p:cNvPr>
          <p:cNvSpPr>
            <a:spLocks noGrp="1"/>
          </p:cNvSpPr>
          <p:nvPr/>
        </p:nvSpPr>
        <p:spPr>
          <a:xfrm>
            <a:off x="476250" y="3076575"/>
            <a:ext cx="8001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时间事件 Time event</a:t>
            </a:r>
          </a:p>
        </p:txBody>
      </p:sp>
      <p:sp>
        <p:nvSpPr>
          <p:cNvPr id="20006" name="teaching-39-6">
            <a:extLst>
              <a:ext uri="{FF2B5EF4-FFF2-40B4-BE49-F238E27FC236}">
                <a16:creationId xmlns:a16="http://schemas.microsoft.com/office/drawing/2014/main" id="{4DF16505-CEAC-48AA-88F7-7E8B1B98FA0C}"/>
              </a:ext>
            </a:extLst>
          </p:cNvPr>
          <p:cNvSpPr>
            <a:spLocks noGrp="1"/>
          </p:cNvSpPr>
          <p:nvPr/>
        </p:nvSpPr>
        <p:spPr>
          <a:xfrm>
            <a:off x="476250" y="3505200"/>
            <a:ext cx="80010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相对时间：after(5 seconds)</a:t>
            </a:r>
          </a:p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绝对时间：at 指定时刻，例如 at 16:00。</a:t>
            </a:r>
          </a:p>
        </p:txBody>
      </p:sp>
      <p:sp>
        <p:nvSpPr>
          <p:cNvPr id="20007" name="teaching-39-7">
            <a:extLst>
              <a:ext uri="{FF2B5EF4-FFF2-40B4-BE49-F238E27FC236}">
                <a16:creationId xmlns:a16="http://schemas.microsoft.com/office/drawing/2014/main" id="{0E185A91-031C-40F5-848D-6E9752148CE1}"/>
              </a:ext>
            </a:extLst>
          </p:cNvPr>
          <p:cNvSpPr>
            <a:spLocks noGrp="1"/>
          </p:cNvSpPr>
          <p:nvPr/>
        </p:nvSpPr>
        <p:spPr>
          <a:xfrm>
            <a:off x="476250" y="4295775"/>
            <a:ext cx="80010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相对时间需说明起算点，绝对时间需说明所用时钟。</a:t>
            </a:r>
          </a:p>
        </p:txBody>
      </p:sp>
    </p:spTree>
    <p:extLst>
      <p:ext uri="{BB962C8B-B14F-4D97-AF65-F5344CB8AC3E}">
        <p14:creationId xmlns:p14="http://schemas.microsoft.com/office/powerpoint/2010/main" val="35610311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4">
            <a:extLst>
              <a:ext uri="{FF2B5EF4-FFF2-40B4-BE49-F238E27FC236}">
                <a16:creationId xmlns:a16="http://schemas.microsoft.com/office/drawing/2014/main" id="{C4282D35-493D-424E-C0E9-722A47E703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012" y="1076325"/>
            <a:ext cx="1929533" cy="1412292"/>
          </a:xfrm>
          <a:prstGeom prst="rect">
            <a:avLst/>
          </a:prstGeom>
        </p:spPr>
      </p:pic>
      <p:sp>
        <p:nvSpPr>
          <p:cNvPr id="10000" name="frame-199">
            <a:extLst>
              <a:ext uri="{FF2B5EF4-FFF2-40B4-BE49-F238E27FC236}">
                <a16:creationId xmlns:a16="http://schemas.microsoft.com/office/drawing/2014/main" id="{5F43C609-0104-4905-A30C-A085C54C33D2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状态图概要：事件</a:t>
            </a:r>
          </a:p>
        </p:txBody>
      </p:sp>
      <p:sp>
        <p:nvSpPr>
          <p:cNvPr id="10001" name="frame-200">
            <a:extLst>
              <a:ext uri="{FF2B5EF4-FFF2-40B4-BE49-F238E27FC236}">
                <a16:creationId xmlns:a16="http://schemas.microsoft.com/office/drawing/2014/main" id="{597F126B-7367-4164-B027-8F446A9E1CE9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01">
            <a:extLst>
              <a:ext uri="{FF2B5EF4-FFF2-40B4-BE49-F238E27FC236}">
                <a16:creationId xmlns:a16="http://schemas.microsoft.com/office/drawing/2014/main" id="{501CD443-80C4-4DB6-900B-43948BDC9C2E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02">
            <a:extLst>
              <a:ext uri="{FF2B5EF4-FFF2-40B4-BE49-F238E27FC236}">
                <a16:creationId xmlns:a16="http://schemas.microsoft.com/office/drawing/2014/main" id="{33BFF08C-2562-48CD-9E65-B865BE66C4C1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P39　软件开发过程与技术</a:t>
            </a:r>
          </a:p>
        </p:txBody>
      </p:sp>
      <p:sp>
        <p:nvSpPr>
          <p:cNvPr id="10004" name="frame-203">
            <a:extLst>
              <a:ext uri="{FF2B5EF4-FFF2-40B4-BE49-F238E27FC236}">
                <a16:creationId xmlns:a16="http://schemas.microsoft.com/office/drawing/2014/main" id="{3477FC5A-85DF-4385-8B0E-2B4ADBDD062A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64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  <p:sp>
        <p:nvSpPr>
          <p:cNvPr id="20000" name="teaching-40-0">
            <a:extLst>
              <a:ext uri="{FF2B5EF4-FFF2-40B4-BE49-F238E27FC236}">
                <a16:creationId xmlns:a16="http://schemas.microsoft.com/office/drawing/2014/main" id="{F4C343B2-B502-42E5-BFB4-89AB2E162E83}"/>
              </a:ext>
            </a:extLst>
          </p:cNvPr>
          <p:cNvSpPr>
            <a:spLocks noGrp="1"/>
          </p:cNvSpPr>
          <p:nvPr/>
        </p:nvSpPr>
        <p:spPr>
          <a:xfrm>
            <a:off x="476250" y="1085850"/>
            <a:ext cx="5810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任意接收事件 AnyReceiveEvent</a:t>
            </a:r>
          </a:p>
        </p:txBody>
      </p:sp>
      <p:sp>
        <p:nvSpPr>
          <p:cNvPr id="20001" name="teaching-40-1">
            <a:extLst>
              <a:ext uri="{FF2B5EF4-FFF2-40B4-BE49-F238E27FC236}">
                <a16:creationId xmlns:a16="http://schemas.microsoft.com/office/drawing/2014/main" id="{3AD945FB-4ECA-42E5-BF59-CD4CB1D7BAC2}"/>
              </a:ext>
            </a:extLst>
          </p:cNvPr>
          <p:cNvSpPr>
            <a:spLocks noGrp="1"/>
          </p:cNvSpPr>
          <p:nvPr/>
        </p:nvSpPr>
        <p:spPr>
          <a:xfrm>
            <a:off x="476250" y="1495425"/>
            <a:ext cx="5810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all 匹配未被相关明确触发器处理的消息接收。</a:t>
            </a:r>
          </a:p>
        </p:txBody>
      </p:sp>
      <p:sp>
        <p:nvSpPr>
          <p:cNvPr id="20002" name="teaching-40-2">
            <a:extLst>
              <a:ext uri="{FF2B5EF4-FFF2-40B4-BE49-F238E27FC236}">
                <a16:creationId xmlns:a16="http://schemas.microsoft.com/office/drawing/2014/main" id="{C5363EF8-E818-429F-B0F5-7150679325F3}"/>
              </a:ext>
            </a:extLst>
          </p:cNvPr>
          <p:cNvSpPr>
            <a:spLocks noGrp="1"/>
          </p:cNvSpPr>
          <p:nvPr/>
        </p:nvSpPr>
        <p:spPr>
          <a:xfrm>
            <a:off x="476250" y="2152650"/>
            <a:ext cx="5810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完成事件 Completion event</a:t>
            </a:r>
          </a:p>
        </p:txBody>
      </p:sp>
      <p:sp>
        <p:nvSpPr>
          <p:cNvPr id="20003" name="teaching-40-3">
            <a:extLst>
              <a:ext uri="{FF2B5EF4-FFF2-40B4-BE49-F238E27FC236}">
                <a16:creationId xmlns:a16="http://schemas.microsoft.com/office/drawing/2014/main" id="{70BEE80A-65BE-4FEE-BD14-6AD3E0D8233D}"/>
              </a:ext>
            </a:extLst>
          </p:cNvPr>
          <p:cNvSpPr>
            <a:spLocks noGrp="1"/>
          </p:cNvSpPr>
          <p:nvPr/>
        </p:nvSpPr>
        <p:spPr>
          <a:xfrm>
            <a:off x="476250" y="2562225"/>
            <a:ext cx="5810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状态相关行为及必要子区域满足完成条件时产生。</a:t>
            </a:r>
          </a:p>
        </p:txBody>
      </p:sp>
      <p:sp>
        <p:nvSpPr>
          <p:cNvPr id="20004" name="teaching-40-4">
            <a:extLst>
              <a:ext uri="{FF2B5EF4-FFF2-40B4-BE49-F238E27FC236}">
                <a16:creationId xmlns:a16="http://schemas.microsoft.com/office/drawing/2014/main" id="{54E0783F-1859-48EF-9E91-D05E2A84028D}"/>
              </a:ext>
            </a:extLst>
          </p:cNvPr>
          <p:cNvSpPr>
            <a:spLocks noGrp="1"/>
          </p:cNvSpPr>
          <p:nvPr/>
        </p:nvSpPr>
        <p:spPr>
          <a:xfrm>
            <a:off x="476250" y="3219450"/>
            <a:ext cx="5810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变化事件 ChangeEvent</a:t>
            </a:r>
          </a:p>
        </p:txBody>
      </p:sp>
      <p:sp>
        <p:nvSpPr>
          <p:cNvPr id="20005" name="teaching-40-5">
            <a:extLst>
              <a:ext uri="{FF2B5EF4-FFF2-40B4-BE49-F238E27FC236}">
                <a16:creationId xmlns:a16="http://schemas.microsoft.com/office/drawing/2014/main" id="{97E13F36-148D-4F38-AF91-59AD862CDCDE}"/>
              </a:ext>
            </a:extLst>
          </p:cNvPr>
          <p:cNvSpPr>
            <a:spLocks noGrp="1"/>
          </p:cNvSpPr>
          <p:nvPr/>
        </p:nvSpPr>
        <p:spPr>
          <a:xfrm>
            <a:off x="476250" y="3629025"/>
            <a:ext cx="5810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布尔表达式由假变真时发生，例如 when(x &gt; y)。</a:t>
            </a:r>
          </a:p>
        </p:txBody>
      </p:sp>
      <p:sp>
        <p:nvSpPr>
          <p:cNvPr id="20006" name="teaching-40-6">
            <a:extLst>
              <a:ext uri="{FF2B5EF4-FFF2-40B4-BE49-F238E27FC236}">
                <a16:creationId xmlns:a16="http://schemas.microsoft.com/office/drawing/2014/main" id="{3DC69C2A-8AB4-42DF-8EA5-A5DC7D4389C9}"/>
              </a:ext>
            </a:extLst>
          </p:cNvPr>
          <p:cNvSpPr>
            <a:spLocks noGrp="1"/>
          </p:cNvSpPr>
          <p:nvPr/>
        </p:nvSpPr>
        <p:spPr>
          <a:xfrm>
            <a:off x="476250" y="4295775"/>
            <a:ext cx="78581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示例：after(90min) 属于时间事件。</a:t>
            </a:r>
          </a:p>
        </p:txBody>
      </p:sp>
    </p:spTree>
    <p:extLst>
      <p:ext uri="{BB962C8B-B14F-4D97-AF65-F5344CB8AC3E}">
        <p14:creationId xmlns:p14="http://schemas.microsoft.com/office/powerpoint/2010/main" val="25560590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28">
            <a:extLst>
              <a:ext uri="{FF2B5EF4-FFF2-40B4-BE49-F238E27FC236}">
                <a16:creationId xmlns:a16="http://schemas.microsoft.com/office/drawing/2014/main" id="{CECC8856-B204-A391-A10B-86050F3D60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7632" y="1424369"/>
            <a:ext cx="0" cy="594455"/>
          </a:xfrm>
          <a:prstGeom prst="line">
            <a:avLst/>
          </a:prstGeom>
          <a:noFill/>
          <a:ln w="10033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lIns="72238" tIns="36119" rIns="72238" bIns="36119" anchor="ctr">
            <a:noAutofit/>
          </a:bodyPr>
          <a:lstStyle/>
          <a:p>
            <a:pPr marL="0" algn="l" defTabSz="722376" rtl="0" eaLnBrk="1" latinLnBrk="0" hangingPunct="1">
              <a:defRPr sz="1422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en-US" sz="1422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Line 28">
            <a:extLst>
              <a:ext uri="{FF2B5EF4-FFF2-40B4-BE49-F238E27FC236}">
                <a16:creationId xmlns:a16="http://schemas.microsoft.com/office/drawing/2014/main" id="{CB461F5D-3BAC-49B7-0B1E-2663213CED2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87632" y="3612662"/>
            <a:ext cx="0" cy="636020"/>
          </a:xfrm>
          <a:prstGeom prst="line">
            <a:avLst/>
          </a:prstGeom>
          <a:noFill/>
          <a:ln w="10033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lIns="72238" tIns="36119" rIns="72238" bIns="36119" anchor="ctr">
            <a:noAutofit/>
          </a:bodyPr>
          <a:lstStyle/>
          <a:p>
            <a:pPr marL="0" algn="l" defTabSz="722376" rtl="0" eaLnBrk="1" latinLnBrk="0" hangingPunct="1">
              <a:defRPr sz="1422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en-US" sz="1422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1" name="Grafik 2">
            <a:extLst>
              <a:ext uri="{FF2B5EF4-FFF2-40B4-BE49-F238E27FC236}">
                <a16:creationId xmlns:a16="http://schemas.microsoft.com/office/drawing/2014/main" id="{75A6D629-FB62-476C-C52F-5597E66DC0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612" y="2018824"/>
            <a:ext cx="5556907" cy="1750806"/>
          </a:xfrm>
          <a:prstGeom prst="rect">
            <a:avLst/>
          </a:prstGeom>
        </p:spPr>
      </p:pic>
      <p:sp>
        <p:nvSpPr>
          <p:cNvPr id="10001" name="frame-205">
            <a:extLst>
              <a:ext uri="{FF2B5EF4-FFF2-40B4-BE49-F238E27FC236}">
                <a16:creationId xmlns:a16="http://schemas.microsoft.com/office/drawing/2014/main" id="{CC08D37E-C6DB-4597-A5AA-BD8300465A5A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06">
            <a:extLst>
              <a:ext uri="{FF2B5EF4-FFF2-40B4-BE49-F238E27FC236}">
                <a16:creationId xmlns:a16="http://schemas.microsoft.com/office/drawing/2014/main" id="{8303BB2C-ADEF-4B1E-8615-6FFD9F2D4020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07">
            <a:extLst>
              <a:ext uri="{FF2B5EF4-FFF2-40B4-BE49-F238E27FC236}">
                <a16:creationId xmlns:a16="http://schemas.microsoft.com/office/drawing/2014/main" id="{E621EAD7-9FE6-49C5-91CB-98E3B068394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P40　软件开发过程与技术</a:t>
            </a:r>
          </a:p>
        </p:txBody>
      </p:sp>
      <p:sp>
        <p:nvSpPr>
          <p:cNvPr id="10004" name="frame-208">
            <a:extLst>
              <a:ext uri="{FF2B5EF4-FFF2-40B4-BE49-F238E27FC236}">
                <a16:creationId xmlns:a16="http://schemas.microsoft.com/office/drawing/2014/main" id="{BE0A5FF4-4E81-483B-B7CF-F60A7B57EA9D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65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  <p:sp>
        <p:nvSpPr>
          <p:cNvPr id="20000" name="teaching-41-0">
            <a:extLst>
              <a:ext uri="{FF2B5EF4-FFF2-40B4-BE49-F238E27FC236}">
                <a16:creationId xmlns:a16="http://schemas.microsoft.com/office/drawing/2014/main" id="{E07E919B-031B-4727-B6FE-283F3F2A8BCF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时间事件与守卫：何时触发迁移</a:t>
            </a:r>
          </a:p>
        </p:txBody>
      </p:sp>
      <p:sp>
        <p:nvSpPr>
          <p:cNvPr id="20001" name="teaching-41-1">
            <a:extLst>
              <a:ext uri="{FF2B5EF4-FFF2-40B4-BE49-F238E27FC236}">
                <a16:creationId xmlns:a16="http://schemas.microsoft.com/office/drawing/2014/main" id="{DF80CEA3-54A5-46ED-ABA8-2D53CE20340D}"/>
              </a:ext>
            </a:extLst>
          </p:cNvPr>
          <p:cNvSpPr>
            <a:spLocks noGrp="1"/>
          </p:cNvSpPr>
          <p:nvPr/>
        </p:nvSpPr>
        <p:spPr>
          <a:xfrm>
            <a:off x="476250" y="1114425"/>
            <a:ext cx="4143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时间事件 vs. 事件上的守卫</a:t>
            </a:r>
          </a:p>
        </p:txBody>
      </p:sp>
      <p:sp>
        <p:nvSpPr>
          <p:cNvPr id="20002" name="teaching-41-2">
            <a:extLst>
              <a:ext uri="{FF2B5EF4-FFF2-40B4-BE49-F238E27FC236}">
                <a16:creationId xmlns:a16="http://schemas.microsoft.com/office/drawing/2014/main" id="{06FDA91B-858E-4F31-A0EF-A7DCFA51D460}"/>
              </a:ext>
            </a:extLst>
          </p:cNvPr>
          <p:cNvSpPr>
            <a:spLocks noGrp="1"/>
          </p:cNvSpPr>
          <p:nvPr/>
        </p:nvSpPr>
        <p:spPr>
          <a:xfrm>
            <a:off x="5048250" y="1133475"/>
            <a:ext cx="29051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50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到达相对时限时触发</a:t>
            </a:r>
          </a:p>
        </p:txBody>
      </p:sp>
      <p:sp>
        <p:nvSpPr>
          <p:cNvPr id="20003" name="teaching-41-3">
            <a:extLst>
              <a:ext uri="{FF2B5EF4-FFF2-40B4-BE49-F238E27FC236}">
                <a16:creationId xmlns:a16="http://schemas.microsoft.com/office/drawing/2014/main" id="{E3BB0F8F-8E7C-4727-853C-D69550017CD0}"/>
              </a:ext>
            </a:extLst>
          </p:cNvPr>
          <p:cNvSpPr>
            <a:spLocks noGrp="1"/>
          </p:cNvSpPr>
          <p:nvPr/>
        </p:nvSpPr>
        <p:spPr>
          <a:xfrm>
            <a:off x="4133850" y="4276725"/>
            <a:ext cx="43910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50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收到 lecture_ended 时才检查条件</a:t>
            </a:r>
          </a:p>
        </p:txBody>
      </p:sp>
    </p:spTree>
    <p:extLst>
      <p:ext uri="{BB962C8B-B14F-4D97-AF65-F5344CB8AC3E}">
        <p14:creationId xmlns:p14="http://schemas.microsoft.com/office/powerpoint/2010/main" val="11977963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1">
            <a:extLst>
              <a:ext uri="{FF2B5EF4-FFF2-40B4-BE49-F238E27FC236}">
                <a16:creationId xmlns:a16="http://schemas.microsoft.com/office/drawing/2014/main" id="{12BC322B-E1D8-293D-47A9-61F88B5DE0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892" y="2396278"/>
            <a:ext cx="4617669" cy="1774382"/>
          </a:xfrm>
          <a:prstGeom prst="rect">
            <a:avLst/>
          </a:prstGeom>
        </p:spPr>
      </p:pic>
      <p:sp>
        <p:nvSpPr>
          <p:cNvPr id="9" name="Textfeld 5">
            <a:extLst>
              <a:ext uri="{FF2B5EF4-FFF2-40B4-BE49-F238E27FC236}">
                <a16:creationId xmlns:a16="http://schemas.microsoft.com/office/drawing/2014/main" id="{88A091F3-CD34-825B-28E9-B8061B715E8D}"/>
              </a:ext>
            </a:extLst>
          </p:cNvPr>
          <p:cNvSpPr txBox="1"/>
          <p:nvPr/>
        </p:nvSpPr>
        <p:spPr>
          <a:xfrm>
            <a:off x="5186623" y="2382826"/>
            <a:ext cx="1195277" cy="2446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 defTabSz="660687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200" kern="1200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Composite state</a:t>
            </a:r>
          </a:p>
        </p:txBody>
      </p:sp>
      <p:sp>
        <p:nvSpPr>
          <p:cNvPr id="10" name="Line 28">
            <a:extLst>
              <a:ext uri="{FF2B5EF4-FFF2-40B4-BE49-F238E27FC236}">
                <a16:creationId xmlns:a16="http://schemas.microsoft.com/office/drawing/2014/main" id="{5D17A82F-3AE9-0A14-E1E9-79B8DDD3D2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90846" y="2640895"/>
            <a:ext cx="593415" cy="484002"/>
          </a:xfrm>
          <a:prstGeom prst="line">
            <a:avLst/>
          </a:prstGeom>
          <a:noFill/>
          <a:ln w="9176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lIns="66069" tIns="33034" rIns="66069" bIns="33034" anchor="ctr">
            <a:noAutofit/>
          </a:bodyPr>
          <a:lstStyle/>
          <a:p>
            <a:pPr marL="0" algn="l" defTabSz="660687" rtl="0" eaLnBrk="1" latinLnBrk="0" hangingPunct="1">
              <a:defRPr sz="130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en-US" sz="1301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Textfeld 7">
            <a:extLst>
              <a:ext uri="{FF2B5EF4-FFF2-40B4-BE49-F238E27FC236}">
                <a16:creationId xmlns:a16="http://schemas.microsoft.com/office/drawing/2014/main" id="{7E268251-0D4A-971D-A9F3-17ABEEB4145F}"/>
              </a:ext>
            </a:extLst>
          </p:cNvPr>
          <p:cNvSpPr txBox="1"/>
          <p:nvPr/>
        </p:nvSpPr>
        <p:spPr>
          <a:xfrm>
            <a:off x="3676650" y="4352925"/>
            <a:ext cx="1238250" cy="3143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 defTabSz="660687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200" kern="1200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Substates</a:t>
            </a:r>
            <a:endParaRPr lang="en-US" sz="1200" kern="1200" dirty="0">
              <a:solidFill>
                <a:srgbClr val="FE84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Line 28">
            <a:extLst>
              <a:ext uri="{FF2B5EF4-FFF2-40B4-BE49-F238E27FC236}">
                <a16:creationId xmlns:a16="http://schemas.microsoft.com/office/drawing/2014/main" id="{426B97BE-8112-4484-88B1-58B1DABA820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78466" y="3588267"/>
            <a:ext cx="381607" cy="757587"/>
          </a:xfrm>
          <a:prstGeom prst="line">
            <a:avLst/>
          </a:prstGeom>
          <a:noFill/>
          <a:ln w="9176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lIns="66069" tIns="33034" rIns="66069" bIns="33034" anchor="ctr">
            <a:noAutofit/>
          </a:bodyPr>
          <a:lstStyle/>
          <a:p>
            <a:pPr marL="0" algn="l" defTabSz="660687" rtl="0" eaLnBrk="1" latinLnBrk="0" hangingPunct="1">
              <a:defRPr sz="130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en-US" sz="1301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Line 28">
            <a:extLst>
              <a:ext uri="{FF2B5EF4-FFF2-40B4-BE49-F238E27FC236}">
                <a16:creationId xmlns:a16="http://schemas.microsoft.com/office/drawing/2014/main" id="{7124E2BB-575D-CEE0-2970-83F600A448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4307" y="3587239"/>
            <a:ext cx="410820" cy="758614"/>
          </a:xfrm>
          <a:prstGeom prst="line">
            <a:avLst/>
          </a:prstGeom>
          <a:noFill/>
          <a:ln w="9176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lIns="66069" tIns="33034" rIns="66069" bIns="33034" anchor="ctr">
            <a:noAutofit/>
          </a:bodyPr>
          <a:lstStyle/>
          <a:p>
            <a:pPr marL="0" algn="l" defTabSz="660687" rtl="0" eaLnBrk="1" latinLnBrk="0" hangingPunct="1">
              <a:defRPr sz="130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en-US" sz="1301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000" name="frame-209">
            <a:extLst>
              <a:ext uri="{FF2B5EF4-FFF2-40B4-BE49-F238E27FC236}">
                <a16:creationId xmlns:a16="http://schemas.microsoft.com/office/drawing/2014/main" id="{E50AF031-F1A0-4AFF-B56B-61BFB80AF921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状态图概要：复合状态</a:t>
            </a:r>
          </a:p>
        </p:txBody>
      </p:sp>
      <p:sp>
        <p:nvSpPr>
          <p:cNvPr id="10001" name="frame-210">
            <a:extLst>
              <a:ext uri="{FF2B5EF4-FFF2-40B4-BE49-F238E27FC236}">
                <a16:creationId xmlns:a16="http://schemas.microsoft.com/office/drawing/2014/main" id="{202E2BF9-E96B-41EC-B465-BD247003C9DA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11">
            <a:extLst>
              <a:ext uri="{FF2B5EF4-FFF2-40B4-BE49-F238E27FC236}">
                <a16:creationId xmlns:a16="http://schemas.microsoft.com/office/drawing/2014/main" id="{91EB5E9F-0321-416C-B0AF-9EFB90D3F285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12">
            <a:extLst>
              <a:ext uri="{FF2B5EF4-FFF2-40B4-BE49-F238E27FC236}">
                <a16:creationId xmlns:a16="http://schemas.microsoft.com/office/drawing/2014/main" id="{01461AE1-068B-4D74-8A48-B0154DDFE075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P41　软件开发过程与技术</a:t>
            </a:r>
          </a:p>
        </p:txBody>
      </p:sp>
      <p:sp>
        <p:nvSpPr>
          <p:cNvPr id="10004" name="frame-213">
            <a:extLst>
              <a:ext uri="{FF2B5EF4-FFF2-40B4-BE49-F238E27FC236}">
                <a16:creationId xmlns:a16="http://schemas.microsoft.com/office/drawing/2014/main" id="{1D3CB7BE-B1CD-446D-92BD-87836CB06193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66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  <p:sp>
        <p:nvSpPr>
          <p:cNvPr id="20000" name="teaching-42-0">
            <a:extLst>
              <a:ext uri="{FF2B5EF4-FFF2-40B4-BE49-F238E27FC236}">
                <a16:creationId xmlns:a16="http://schemas.microsoft.com/office/drawing/2014/main" id="{F33EB93F-0C87-4D5D-9743-F991A349516C}"/>
              </a:ext>
            </a:extLst>
          </p:cNvPr>
          <p:cNvSpPr>
            <a:spLocks noGrp="1"/>
          </p:cNvSpPr>
          <p:nvPr/>
        </p:nvSpPr>
        <p:spPr>
          <a:xfrm>
            <a:off x="476250" y="1104900"/>
            <a:ext cx="78581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复合状态包含子状态，子状态还可以继续嵌套。</a:t>
            </a:r>
          </a:p>
        </p:txBody>
      </p:sp>
      <p:sp>
        <p:nvSpPr>
          <p:cNvPr id="20001" name="teaching-42-1">
            <a:extLst>
              <a:ext uri="{FF2B5EF4-FFF2-40B4-BE49-F238E27FC236}">
                <a16:creationId xmlns:a16="http://schemas.microsoft.com/office/drawing/2014/main" id="{89664B12-F327-45CD-A13E-4C48FFD17BB3}"/>
              </a:ext>
            </a:extLst>
          </p:cNvPr>
          <p:cNvSpPr>
            <a:spLocks noGrp="1"/>
          </p:cNvSpPr>
          <p:nvPr/>
        </p:nvSpPr>
        <p:spPr>
          <a:xfrm>
            <a:off x="476250" y="1581150"/>
            <a:ext cx="78581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本图只有一个区域：在该区域内，直接子状态择一活跃。</a:t>
            </a:r>
          </a:p>
        </p:txBody>
      </p:sp>
      <p:sp>
        <p:nvSpPr>
          <p:cNvPr id="20002" name="teaching-42-2">
            <a:extLst>
              <a:ext uri="{FF2B5EF4-FFF2-40B4-BE49-F238E27FC236}">
                <a16:creationId xmlns:a16="http://schemas.microsoft.com/office/drawing/2014/main" id="{4841112D-415C-48B9-A3F4-C4F1A24491A9}"/>
              </a:ext>
            </a:extLst>
          </p:cNvPr>
          <p:cNvSpPr>
            <a:spLocks noGrp="1"/>
          </p:cNvSpPr>
          <p:nvPr/>
        </p:nvSpPr>
        <p:spPr>
          <a:xfrm>
            <a:off x="476250" y="2000250"/>
            <a:ext cx="78581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 algn="l">
              <a:defRPr sz="1500" b="0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含多个区域的正交状态将在后面单独讨论。</a:t>
            </a:r>
          </a:p>
        </p:txBody>
      </p:sp>
    </p:spTree>
    <p:extLst>
      <p:ext uri="{BB962C8B-B14F-4D97-AF65-F5344CB8AC3E}">
        <p14:creationId xmlns:p14="http://schemas.microsoft.com/office/powerpoint/2010/main" val="110523685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8">
            <a:extLst>
              <a:ext uri="{FF2B5EF4-FFF2-40B4-BE49-F238E27FC236}">
                <a16:creationId xmlns:a16="http://schemas.microsoft.com/office/drawing/2014/main" id="{E2F7FE6E-9154-E5E0-8FF5-7FA6996ABD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6" y="1917361"/>
            <a:ext cx="5541251" cy="2590639"/>
          </a:xfrm>
          <a:prstGeom prst="rect">
            <a:avLst/>
          </a:prstGeom>
        </p:spPr>
      </p:pic>
      <p:pic>
        <p:nvPicPr>
          <p:cNvPr id="22" name="Grafik 29">
            <a:extLst>
              <a:ext uri="{FF2B5EF4-FFF2-40B4-BE49-F238E27FC236}">
                <a16:creationId xmlns:a16="http://schemas.microsoft.com/office/drawing/2014/main" id="{9A2E246D-3505-EE05-F990-5ADA03300A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6" y="1917360"/>
            <a:ext cx="5541251" cy="2590639"/>
          </a:xfrm>
          <a:prstGeom prst="rect">
            <a:avLst/>
          </a:prstGeom>
        </p:spPr>
      </p:pic>
      <p:pic>
        <p:nvPicPr>
          <p:cNvPr id="23" name="Grafik 30">
            <a:extLst>
              <a:ext uri="{FF2B5EF4-FFF2-40B4-BE49-F238E27FC236}">
                <a16:creationId xmlns:a16="http://schemas.microsoft.com/office/drawing/2014/main" id="{46EEBF7C-8FB8-7F71-0202-3CB0B47025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6" y="1917361"/>
            <a:ext cx="5541251" cy="2590639"/>
          </a:xfrm>
          <a:prstGeom prst="rect">
            <a:avLst/>
          </a:prstGeom>
        </p:spPr>
      </p:pic>
      <p:pic>
        <p:nvPicPr>
          <p:cNvPr id="24" name="Grafik 31">
            <a:extLst>
              <a:ext uri="{FF2B5EF4-FFF2-40B4-BE49-F238E27FC236}">
                <a16:creationId xmlns:a16="http://schemas.microsoft.com/office/drawing/2014/main" id="{4CE4FE59-8CED-A9BF-FAB3-B236FE127F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6" y="1917361"/>
            <a:ext cx="5541251" cy="2590639"/>
          </a:xfrm>
          <a:prstGeom prst="rect">
            <a:avLst/>
          </a:prstGeom>
        </p:spPr>
      </p:pic>
      <p:grpSp>
        <p:nvGrpSpPr>
          <p:cNvPr id="25" name="Gruppieren 7">
            <a:extLst>
              <a:ext uri="{FF2B5EF4-FFF2-40B4-BE49-F238E27FC236}">
                <a16:creationId xmlns:a16="http://schemas.microsoft.com/office/drawing/2014/main" id="{24A99A70-684F-76EB-DC6A-8D3E51685EF3}"/>
              </a:ext>
            </a:extLst>
          </p:cNvPr>
          <p:cNvGrpSpPr/>
          <p:nvPr/>
        </p:nvGrpSpPr>
        <p:grpSpPr>
          <a:xfrm>
            <a:off x="778316" y="1917361"/>
            <a:ext cx="5541251" cy="2590639"/>
            <a:chOff x="948764" y="2370358"/>
            <a:chExt cx="7240914" cy="3385263"/>
          </a:xfrm>
        </p:grpSpPr>
        <p:sp>
          <p:nvSpPr>
            <p:cNvPr id="26" name="Rechteck 19">
              <a:extLst>
                <a:ext uri="{FF2B5EF4-FFF2-40B4-BE49-F238E27FC236}">
                  <a16:creationId xmlns:a16="http://schemas.microsoft.com/office/drawing/2014/main" id="{CD04D7CB-C70E-7C98-3067-FEDA291D9C96}"/>
                </a:ext>
              </a:extLst>
            </p:cNvPr>
            <p:cNvSpPr/>
            <p:nvPr/>
          </p:nvSpPr>
          <p:spPr bwMode="auto">
            <a:xfrm>
              <a:off x="3779520" y="2417518"/>
              <a:ext cx="789701" cy="40551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9976" tIns="34988" rIns="69976" bIns="3498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699763" rtl="0" eaLnBrk="0" fontAlgn="base" latinLnBrk="0" hangingPunct="0">
                <a:defRPr sz="1377" kern="1200">
                  <a:solidFill>
                    <a:schemeClr val="tx1"/>
                  </a:solidFill>
                  <a:latin typeface="Noto Sans SC"/>
                  <a:ea typeface="Noto Sans SC"/>
                  <a:cs typeface="Noto Sans SC"/>
                </a:defRPr>
              </a:pPr>
              <a:endParaRPr kumimoji="0" lang="de-AT" sz="1837" b="0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Noto Sans SC"/>
                <a:ea typeface="Noto Sans SC"/>
                <a:cs typeface="Noto Sans SC"/>
              </a:endParaRPr>
            </a:p>
          </p:txBody>
        </p:sp>
        <p:pic>
          <p:nvPicPr>
            <p:cNvPr id="27" name="Grafik 32">
              <a:extLst>
                <a:ext uri="{FF2B5EF4-FFF2-40B4-BE49-F238E27FC236}">
                  <a16:creationId xmlns:a16="http://schemas.microsoft.com/office/drawing/2014/main" id="{EF268C0D-B59A-4FE5-B55A-F836550D5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764" y="2370358"/>
              <a:ext cx="7240914" cy="3385263"/>
            </a:xfrm>
            <a:prstGeom prst="rect">
              <a:avLst/>
            </a:prstGeom>
          </p:spPr>
        </p:pic>
      </p:grpSp>
      <p:pic>
        <p:nvPicPr>
          <p:cNvPr id="28" name="Grafik 10">
            <a:extLst>
              <a:ext uri="{FF2B5EF4-FFF2-40B4-BE49-F238E27FC236}">
                <a16:creationId xmlns:a16="http://schemas.microsoft.com/office/drawing/2014/main" id="{04CDA943-9685-DB27-9BD7-51899C179E1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6" y="1917361"/>
            <a:ext cx="5541252" cy="2590639"/>
          </a:xfrm>
          <a:prstGeom prst="rect">
            <a:avLst/>
          </a:prstGeom>
        </p:spPr>
      </p:pic>
      <p:pic>
        <p:nvPicPr>
          <p:cNvPr id="29" name="Grafik 34">
            <a:extLst>
              <a:ext uri="{FF2B5EF4-FFF2-40B4-BE49-F238E27FC236}">
                <a16:creationId xmlns:a16="http://schemas.microsoft.com/office/drawing/2014/main" id="{8FED438D-D4D0-F618-2C34-8EFDA116577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5" y="1917360"/>
            <a:ext cx="5541251" cy="2590639"/>
          </a:xfrm>
          <a:prstGeom prst="rect">
            <a:avLst/>
          </a:prstGeom>
        </p:spPr>
      </p:pic>
      <p:pic>
        <p:nvPicPr>
          <p:cNvPr id="30" name="Grafik 35">
            <a:extLst>
              <a:ext uri="{FF2B5EF4-FFF2-40B4-BE49-F238E27FC236}">
                <a16:creationId xmlns:a16="http://schemas.microsoft.com/office/drawing/2014/main" id="{2E96469F-D814-1691-BB70-F0F1F912D05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4" y="1917360"/>
            <a:ext cx="5541251" cy="2590639"/>
          </a:xfrm>
          <a:prstGeom prst="rect">
            <a:avLst/>
          </a:prstGeom>
        </p:spPr>
      </p:pic>
      <p:pic>
        <p:nvPicPr>
          <p:cNvPr id="31" name="Grafik 36">
            <a:extLst>
              <a:ext uri="{FF2B5EF4-FFF2-40B4-BE49-F238E27FC236}">
                <a16:creationId xmlns:a16="http://schemas.microsoft.com/office/drawing/2014/main" id="{1337ED1D-665B-2F6F-9C01-AE763FE1392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6" y="1917361"/>
            <a:ext cx="5541251" cy="2590639"/>
          </a:xfrm>
          <a:prstGeom prst="rect">
            <a:avLst/>
          </a:prstGeom>
        </p:spPr>
      </p:pic>
      <p:pic>
        <p:nvPicPr>
          <p:cNvPr id="32" name="Grafik 4">
            <a:extLst>
              <a:ext uri="{FF2B5EF4-FFF2-40B4-BE49-F238E27FC236}">
                <a16:creationId xmlns:a16="http://schemas.microsoft.com/office/drawing/2014/main" id="{187D2368-F1A1-7E95-F5E0-FFEAF78F9D0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6" y="1917359"/>
            <a:ext cx="5541252" cy="2590639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A8DCE35A-A6A0-8D3C-3D0A-E7FE9B8C509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64591" y="1174761"/>
            <a:ext cx="3603159" cy="1312006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279C3D76-C0B6-FC8D-D3AD-167D4A0915AD}"/>
              </a:ext>
            </a:extLst>
          </p:cNvPr>
          <p:cNvSpPr txBox="1"/>
          <p:nvPr/>
        </p:nvSpPr>
        <p:spPr>
          <a:xfrm>
            <a:off x="476250" y="1076325"/>
            <a:ext cx="4429125" cy="781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133350" algn="l" defTabSz="699763" rtl="0" eaLnBrk="1" latinLnBrk="0" hangingPunct="1"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AT" altLang="zh-CN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Transition to the boundary</a:t>
            </a:r>
          </a:p>
          <a:p>
            <a:pPr marL="457200" lvl="1" indent="-133350" algn="l" defTabSz="699763" rtl="0" eaLnBrk="1" latinLnBrk="0" hangingPunct="1"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AT" altLang="zh-CN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Initial node of composite state is activated</a:t>
            </a:r>
          </a:p>
        </p:txBody>
      </p:sp>
      <p:sp>
        <p:nvSpPr>
          <p:cNvPr id="10000" name="frame-214">
            <a:extLst>
              <a:ext uri="{FF2B5EF4-FFF2-40B4-BE49-F238E27FC236}">
                <a16:creationId xmlns:a16="http://schemas.microsoft.com/office/drawing/2014/main" id="{4C88FCBB-ED7A-4056-A16B-08A7422EE84F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状态图概要：进入复合状态</a:t>
            </a:r>
          </a:p>
        </p:txBody>
      </p:sp>
      <p:sp>
        <p:nvSpPr>
          <p:cNvPr id="10001" name="frame-215">
            <a:extLst>
              <a:ext uri="{FF2B5EF4-FFF2-40B4-BE49-F238E27FC236}">
                <a16:creationId xmlns:a16="http://schemas.microsoft.com/office/drawing/2014/main" id="{8F5C42D8-AB19-4C72-A34E-AE8747AC110B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16">
            <a:extLst>
              <a:ext uri="{FF2B5EF4-FFF2-40B4-BE49-F238E27FC236}">
                <a16:creationId xmlns:a16="http://schemas.microsoft.com/office/drawing/2014/main" id="{3D651BB1-0922-4DF5-82A5-8230E73B3791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17">
            <a:extLst>
              <a:ext uri="{FF2B5EF4-FFF2-40B4-BE49-F238E27FC236}">
                <a16:creationId xmlns:a16="http://schemas.microsoft.com/office/drawing/2014/main" id="{CBFF4B53-6C51-4D9D-8FC7-D36BE4E8A39A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P42　软件开发过程与技术</a:t>
            </a:r>
          </a:p>
        </p:txBody>
      </p:sp>
      <p:sp>
        <p:nvSpPr>
          <p:cNvPr id="10004" name="frame-218">
            <a:extLst>
              <a:ext uri="{FF2B5EF4-FFF2-40B4-BE49-F238E27FC236}">
                <a16:creationId xmlns:a16="http://schemas.microsoft.com/office/drawing/2014/main" id="{74DC01F3-61C5-4D73-94E5-44A98795CE94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67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9840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7EDC019-585B-2161-AE28-D5B10DE2EF99}"/>
              </a:ext>
            </a:extLst>
          </p:cNvPr>
          <p:cNvSpPr>
            <a:spLocks noGrp="1"/>
          </p:cNvSpPr>
          <p:nvPr/>
        </p:nvSpPr>
        <p:spPr>
          <a:xfrm>
            <a:off x="476250" y="1118409"/>
            <a:ext cx="7880150" cy="3474135"/>
          </a:xfrm>
        </p:spPr>
        <p:txBody>
          <a:bodyPr lIns="0" tIns="0" rIns="0" bIns="0" anchor="t">
            <a:noAutofit/>
          </a:bodyPr>
          <a:lstStyle/>
          <a:p>
            <a:pPr marL="228600" indent="-133350" algn="l" defTabSz="685230" rtl="0" eaLnBrk="1" latinLnBrk="0" hangingPunct="1">
              <a:lnSpc>
                <a:spcPct val="110000"/>
              </a:lnSpc>
              <a:spcBef>
                <a:spcPts val="749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AT" altLang="zh-CN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Transition to a substate</a:t>
            </a:r>
          </a:p>
          <a:p>
            <a:pPr marL="457200" lvl="1" indent="-133350" algn="l" defTabSz="685230" rtl="0" eaLnBrk="1" latinLnBrk="0" hangingPunct="1">
              <a:lnSpc>
                <a:spcPct val="110000"/>
              </a:lnSpc>
              <a:spcBef>
                <a:spcPts val="375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AT" altLang="zh-CN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Substate is activated</a:t>
            </a:r>
          </a:p>
          <a:p>
            <a:pPr marL="228600" indent="-133350" algn="l" defTabSz="685230" rtl="0" eaLnBrk="1" latinLnBrk="0" hangingPunct="1">
              <a:lnSpc>
                <a:spcPct val="110000"/>
              </a:lnSpc>
              <a:spcBef>
                <a:spcPts val="749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6DB2E7A-F5FE-EEAA-027C-8F3CB906E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503" y="1076325"/>
            <a:ext cx="3784063" cy="1331845"/>
          </a:xfrm>
          <a:prstGeom prst="rect">
            <a:avLst/>
          </a:prstGeom>
        </p:spPr>
      </p:pic>
      <p:pic>
        <p:nvPicPr>
          <p:cNvPr id="10" name="Grafik 6">
            <a:extLst>
              <a:ext uri="{FF2B5EF4-FFF2-40B4-BE49-F238E27FC236}">
                <a16:creationId xmlns:a16="http://schemas.microsoft.com/office/drawing/2014/main" id="{5873C1F6-3DBD-7288-1934-E8D59EAD4B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47" y="2063736"/>
            <a:ext cx="5426176" cy="2536839"/>
          </a:xfrm>
          <a:prstGeom prst="rect">
            <a:avLst/>
          </a:prstGeom>
        </p:spPr>
      </p:pic>
      <p:pic>
        <p:nvPicPr>
          <p:cNvPr id="11" name="Grafik 7">
            <a:extLst>
              <a:ext uri="{FF2B5EF4-FFF2-40B4-BE49-F238E27FC236}">
                <a16:creationId xmlns:a16="http://schemas.microsoft.com/office/drawing/2014/main" id="{1FF0C8B3-3948-8A16-24AB-676A07D6F9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47" y="2063736"/>
            <a:ext cx="5426176" cy="2536839"/>
          </a:xfrm>
          <a:prstGeom prst="rect">
            <a:avLst/>
          </a:prstGeom>
        </p:spPr>
      </p:pic>
      <p:pic>
        <p:nvPicPr>
          <p:cNvPr id="12" name="Grafik 8">
            <a:extLst>
              <a:ext uri="{FF2B5EF4-FFF2-40B4-BE49-F238E27FC236}">
                <a16:creationId xmlns:a16="http://schemas.microsoft.com/office/drawing/2014/main" id="{E152F6CE-F335-017C-E060-3B6C5826B39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47" y="2063736"/>
            <a:ext cx="5426176" cy="2536839"/>
          </a:xfrm>
          <a:prstGeom prst="rect">
            <a:avLst/>
          </a:prstGeom>
        </p:spPr>
      </p:pic>
      <p:pic>
        <p:nvPicPr>
          <p:cNvPr id="13" name="Grafik 9">
            <a:extLst>
              <a:ext uri="{FF2B5EF4-FFF2-40B4-BE49-F238E27FC236}">
                <a16:creationId xmlns:a16="http://schemas.microsoft.com/office/drawing/2014/main" id="{4B111352-C618-0C17-2BA2-610615C73C9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47" y="2063736"/>
            <a:ext cx="5426176" cy="2536839"/>
          </a:xfrm>
          <a:prstGeom prst="rect">
            <a:avLst/>
          </a:prstGeom>
        </p:spPr>
      </p:pic>
      <p:pic>
        <p:nvPicPr>
          <p:cNvPr id="14" name="Grafik 10">
            <a:extLst>
              <a:ext uri="{FF2B5EF4-FFF2-40B4-BE49-F238E27FC236}">
                <a16:creationId xmlns:a16="http://schemas.microsoft.com/office/drawing/2014/main" id="{5EEA62ED-F87C-FDB2-E62B-FA49D0E2B9E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43" y="2063736"/>
            <a:ext cx="5426176" cy="2536839"/>
          </a:xfrm>
          <a:prstGeom prst="rect">
            <a:avLst/>
          </a:prstGeom>
        </p:spPr>
      </p:pic>
      <p:pic>
        <p:nvPicPr>
          <p:cNvPr id="15" name="Grafik 11">
            <a:extLst>
              <a:ext uri="{FF2B5EF4-FFF2-40B4-BE49-F238E27FC236}">
                <a16:creationId xmlns:a16="http://schemas.microsoft.com/office/drawing/2014/main" id="{7C1259A0-6478-3986-17E2-79F79D474DC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47" y="2063736"/>
            <a:ext cx="5426176" cy="2536839"/>
          </a:xfrm>
          <a:prstGeom prst="rect">
            <a:avLst/>
          </a:prstGeom>
        </p:spPr>
      </p:pic>
      <p:pic>
        <p:nvPicPr>
          <p:cNvPr id="16" name="Grafik 12">
            <a:extLst>
              <a:ext uri="{FF2B5EF4-FFF2-40B4-BE49-F238E27FC236}">
                <a16:creationId xmlns:a16="http://schemas.microsoft.com/office/drawing/2014/main" id="{438C4937-9486-68B1-3E23-E3706BBDE6F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47" y="2063736"/>
            <a:ext cx="5426176" cy="2536839"/>
          </a:xfrm>
          <a:prstGeom prst="rect">
            <a:avLst/>
          </a:prstGeom>
        </p:spPr>
      </p:pic>
      <p:pic>
        <p:nvPicPr>
          <p:cNvPr id="17" name="Grafik 13">
            <a:extLst>
              <a:ext uri="{FF2B5EF4-FFF2-40B4-BE49-F238E27FC236}">
                <a16:creationId xmlns:a16="http://schemas.microsoft.com/office/drawing/2014/main" id="{E185E8A6-F967-DD61-5EE2-78E88F1E91A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47" y="2063736"/>
            <a:ext cx="5426176" cy="2536839"/>
          </a:xfrm>
          <a:prstGeom prst="rect">
            <a:avLst/>
          </a:prstGeom>
        </p:spPr>
      </p:pic>
      <p:pic>
        <p:nvPicPr>
          <p:cNvPr id="18" name="Grafik 3">
            <a:extLst>
              <a:ext uri="{FF2B5EF4-FFF2-40B4-BE49-F238E27FC236}">
                <a16:creationId xmlns:a16="http://schemas.microsoft.com/office/drawing/2014/main" id="{9B930D09-00DA-535E-CF26-7147AA654B8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47" y="2063736"/>
            <a:ext cx="5426176" cy="2536839"/>
          </a:xfrm>
          <a:prstGeom prst="rect">
            <a:avLst/>
          </a:prstGeom>
        </p:spPr>
      </p:pic>
      <p:sp>
        <p:nvSpPr>
          <p:cNvPr id="10000" name="frame-219">
            <a:extLst>
              <a:ext uri="{FF2B5EF4-FFF2-40B4-BE49-F238E27FC236}">
                <a16:creationId xmlns:a16="http://schemas.microsoft.com/office/drawing/2014/main" id="{C87ED7A3-E491-4D90-853D-8C5EB5F10089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状态图概要：进入复合状态</a:t>
            </a:r>
          </a:p>
        </p:txBody>
      </p:sp>
      <p:sp>
        <p:nvSpPr>
          <p:cNvPr id="10001" name="frame-220">
            <a:extLst>
              <a:ext uri="{FF2B5EF4-FFF2-40B4-BE49-F238E27FC236}">
                <a16:creationId xmlns:a16="http://schemas.microsoft.com/office/drawing/2014/main" id="{036A0651-8870-4128-A2CE-E3C90B5F9C0C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21">
            <a:extLst>
              <a:ext uri="{FF2B5EF4-FFF2-40B4-BE49-F238E27FC236}">
                <a16:creationId xmlns:a16="http://schemas.microsoft.com/office/drawing/2014/main" id="{EA5E6F99-E30F-4361-8A7F-311177010AC6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22">
            <a:extLst>
              <a:ext uri="{FF2B5EF4-FFF2-40B4-BE49-F238E27FC236}">
                <a16:creationId xmlns:a16="http://schemas.microsoft.com/office/drawing/2014/main" id="{3C96BB9B-4A78-4AA3-B1C2-39D9DEE3A483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P43　软件开发过程与技术</a:t>
            </a:r>
          </a:p>
        </p:txBody>
      </p:sp>
      <p:sp>
        <p:nvSpPr>
          <p:cNvPr id="10004" name="frame-223">
            <a:extLst>
              <a:ext uri="{FF2B5EF4-FFF2-40B4-BE49-F238E27FC236}">
                <a16:creationId xmlns:a16="http://schemas.microsoft.com/office/drawing/2014/main" id="{AB33D5E9-B2C2-40D6-BC61-D3208297F573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68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3446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30C8EA9-B92C-5E34-D34C-6AB515411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266" y="1076325"/>
            <a:ext cx="3639147" cy="122885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20711DF-15A1-6AB4-8B77-3E94EC96BDE0}"/>
              </a:ext>
            </a:extLst>
          </p:cNvPr>
          <p:cNvSpPr txBox="1"/>
          <p:nvPr/>
        </p:nvSpPr>
        <p:spPr>
          <a:xfrm>
            <a:off x="476250" y="1123832"/>
            <a:ext cx="4649815" cy="352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133350" algn="l" defTabSz="697570" rtl="0" eaLnBrk="1" latinLnBrk="0" hangingPunct="1"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AT" altLang="zh-CN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Transition from a substate</a:t>
            </a:r>
          </a:p>
        </p:txBody>
      </p:sp>
      <p:pic>
        <p:nvPicPr>
          <p:cNvPr id="12" name="Grafik 16">
            <a:extLst>
              <a:ext uri="{FF2B5EF4-FFF2-40B4-BE49-F238E27FC236}">
                <a16:creationId xmlns:a16="http://schemas.microsoft.com/office/drawing/2014/main" id="{2678DE55-7146-99E2-961E-9138B3F8D2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90" y="2276148"/>
            <a:ext cx="5752372" cy="2324427"/>
          </a:xfrm>
          <a:prstGeom prst="rect">
            <a:avLst/>
          </a:prstGeom>
        </p:spPr>
      </p:pic>
      <p:pic>
        <p:nvPicPr>
          <p:cNvPr id="13" name="Grafik 17">
            <a:extLst>
              <a:ext uri="{FF2B5EF4-FFF2-40B4-BE49-F238E27FC236}">
                <a16:creationId xmlns:a16="http://schemas.microsoft.com/office/drawing/2014/main" id="{4D01AC00-A168-F67E-8440-5D1D19440B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90" y="2276148"/>
            <a:ext cx="5752372" cy="2324427"/>
          </a:xfrm>
          <a:prstGeom prst="rect">
            <a:avLst/>
          </a:prstGeom>
        </p:spPr>
      </p:pic>
      <p:pic>
        <p:nvPicPr>
          <p:cNvPr id="14" name="Grafik 18">
            <a:extLst>
              <a:ext uri="{FF2B5EF4-FFF2-40B4-BE49-F238E27FC236}">
                <a16:creationId xmlns:a16="http://schemas.microsoft.com/office/drawing/2014/main" id="{EE3D5061-118A-0215-60B6-E4261131B91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88" y="2276148"/>
            <a:ext cx="5752372" cy="2324427"/>
          </a:xfrm>
          <a:prstGeom prst="rect">
            <a:avLst/>
          </a:prstGeom>
        </p:spPr>
      </p:pic>
      <p:pic>
        <p:nvPicPr>
          <p:cNvPr id="15" name="Grafik 19">
            <a:extLst>
              <a:ext uri="{FF2B5EF4-FFF2-40B4-BE49-F238E27FC236}">
                <a16:creationId xmlns:a16="http://schemas.microsoft.com/office/drawing/2014/main" id="{63A201A4-8B12-A707-BA7F-49214CDBB3D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89" y="2276148"/>
            <a:ext cx="5752372" cy="2324427"/>
          </a:xfrm>
          <a:prstGeom prst="rect">
            <a:avLst/>
          </a:prstGeom>
        </p:spPr>
      </p:pic>
      <p:pic>
        <p:nvPicPr>
          <p:cNvPr id="16" name="Grafik 20">
            <a:extLst>
              <a:ext uri="{FF2B5EF4-FFF2-40B4-BE49-F238E27FC236}">
                <a16:creationId xmlns:a16="http://schemas.microsoft.com/office/drawing/2014/main" id="{58C73C54-70B5-8431-728A-2B272BCABAC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90" y="2276148"/>
            <a:ext cx="5752372" cy="2324427"/>
          </a:xfrm>
          <a:prstGeom prst="rect">
            <a:avLst/>
          </a:prstGeom>
        </p:spPr>
      </p:pic>
      <p:pic>
        <p:nvPicPr>
          <p:cNvPr id="17" name="Grafik 21">
            <a:extLst>
              <a:ext uri="{FF2B5EF4-FFF2-40B4-BE49-F238E27FC236}">
                <a16:creationId xmlns:a16="http://schemas.microsoft.com/office/drawing/2014/main" id="{F92CD2E6-ED62-E995-F4C6-DB67A438056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90" y="2276148"/>
            <a:ext cx="5752372" cy="2324427"/>
          </a:xfrm>
          <a:prstGeom prst="rect">
            <a:avLst/>
          </a:prstGeom>
        </p:spPr>
      </p:pic>
      <p:pic>
        <p:nvPicPr>
          <p:cNvPr id="18" name="Grafik 22">
            <a:extLst>
              <a:ext uri="{FF2B5EF4-FFF2-40B4-BE49-F238E27FC236}">
                <a16:creationId xmlns:a16="http://schemas.microsoft.com/office/drawing/2014/main" id="{3C790B2C-2BAD-788B-7ECE-19A3888D843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90" y="2276148"/>
            <a:ext cx="5752372" cy="2324427"/>
          </a:xfrm>
          <a:prstGeom prst="rect">
            <a:avLst/>
          </a:prstGeom>
        </p:spPr>
      </p:pic>
      <p:pic>
        <p:nvPicPr>
          <p:cNvPr id="19" name="Grafik 23">
            <a:extLst>
              <a:ext uri="{FF2B5EF4-FFF2-40B4-BE49-F238E27FC236}">
                <a16:creationId xmlns:a16="http://schemas.microsoft.com/office/drawing/2014/main" id="{BF688DDC-A729-584F-1A1D-F7571527B0C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90" y="2276148"/>
            <a:ext cx="5752372" cy="2324427"/>
          </a:xfrm>
          <a:prstGeom prst="rect">
            <a:avLst/>
          </a:prstGeom>
        </p:spPr>
      </p:pic>
      <p:pic>
        <p:nvPicPr>
          <p:cNvPr id="20" name="Grafik 24">
            <a:extLst>
              <a:ext uri="{FF2B5EF4-FFF2-40B4-BE49-F238E27FC236}">
                <a16:creationId xmlns:a16="http://schemas.microsoft.com/office/drawing/2014/main" id="{7699665D-3BAA-69A7-AAFA-3E2A8F132D7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90" y="2276148"/>
            <a:ext cx="5752372" cy="2324427"/>
          </a:xfrm>
          <a:prstGeom prst="rect">
            <a:avLst/>
          </a:prstGeom>
        </p:spPr>
      </p:pic>
      <p:pic>
        <p:nvPicPr>
          <p:cNvPr id="21" name="Grafik 25">
            <a:extLst>
              <a:ext uri="{FF2B5EF4-FFF2-40B4-BE49-F238E27FC236}">
                <a16:creationId xmlns:a16="http://schemas.microsoft.com/office/drawing/2014/main" id="{A53EB1FB-1FE7-F3F5-41B1-4BDE33992F8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90" y="2276148"/>
            <a:ext cx="5752372" cy="2324427"/>
          </a:xfrm>
          <a:prstGeom prst="rect">
            <a:avLst/>
          </a:prstGeom>
        </p:spPr>
      </p:pic>
      <p:pic>
        <p:nvPicPr>
          <p:cNvPr id="22" name="Grafik 4">
            <a:extLst>
              <a:ext uri="{FF2B5EF4-FFF2-40B4-BE49-F238E27FC236}">
                <a16:creationId xmlns:a16="http://schemas.microsoft.com/office/drawing/2014/main" id="{484C7DDD-D504-50C6-017F-2F31976A25A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87" y="2276148"/>
            <a:ext cx="5752372" cy="2324427"/>
          </a:xfrm>
          <a:prstGeom prst="rect">
            <a:avLst/>
          </a:prstGeom>
        </p:spPr>
      </p:pic>
      <p:sp>
        <p:nvSpPr>
          <p:cNvPr id="10000" name="frame-224">
            <a:extLst>
              <a:ext uri="{FF2B5EF4-FFF2-40B4-BE49-F238E27FC236}">
                <a16:creationId xmlns:a16="http://schemas.microsoft.com/office/drawing/2014/main" id="{15F6A99C-9CFB-46B8-B259-BF30F9BF243F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状态图概要：退出复合状态</a:t>
            </a:r>
          </a:p>
        </p:txBody>
      </p:sp>
      <p:sp>
        <p:nvSpPr>
          <p:cNvPr id="10001" name="frame-225">
            <a:extLst>
              <a:ext uri="{FF2B5EF4-FFF2-40B4-BE49-F238E27FC236}">
                <a16:creationId xmlns:a16="http://schemas.microsoft.com/office/drawing/2014/main" id="{D74E30E3-8E17-4024-A139-9DA7DC680860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26">
            <a:extLst>
              <a:ext uri="{FF2B5EF4-FFF2-40B4-BE49-F238E27FC236}">
                <a16:creationId xmlns:a16="http://schemas.microsoft.com/office/drawing/2014/main" id="{FC42470A-B8AD-48E2-BFBA-64C283108D83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27">
            <a:extLst>
              <a:ext uri="{FF2B5EF4-FFF2-40B4-BE49-F238E27FC236}">
                <a16:creationId xmlns:a16="http://schemas.microsoft.com/office/drawing/2014/main" id="{67614ACE-99B3-4EFA-8A5B-478D7A35F1D8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P44　软件开发过程与技术</a:t>
            </a:r>
          </a:p>
        </p:txBody>
      </p:sp>
      <p:sp>
        <p:nvSpPr>
          <p:cNvPr id="10004" name="frame-228">
            <a:extLst>
              <a:ext uri="{FF2B5EF4-FFF2-40B4-BE49-F238E27FC236}">
                <a16:creationId xmlns:a16="http://schemas.microsoft.com/office/drawing/2014/main" id="{F01625FC-B4BF-48D9-9C62-04BF95AC9BD7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69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2457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6F8944C-94BF-413C-B147-6F2224225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883" y="1135631"/>
            <a:ext cx="3530451" cy="1334851"/>
          </a:xfrm>
          <a:prstGeom prst="rect">
            <a:avLst/>
          </a:prstGeom>
        </p:spPr>
      </p:pic>
      <p:pic>
        <p:nvPicPr>
          <p:cNvPr id="9" name="Grafik 30">
            <a:extLst>
              <a:ext uri="{FF2B5EF4-FFF2-40B4-BE49-F238E27FC236}">
                <a16:creationId xmlns:a16="http://schemas.microsoft.com/office/drawing/2014/main" id="{A0C20A91-7554-8274-E4A7-A53441B7F0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25" y="2306449"/>
            <a:ext cx="5677383" cy="2294126"/>
          </a:xfrm>
          <a:prstGeom prst="rect">
            <a:avLst/>
          </a:prstGeom>
        </p:spPr>
      </p:pic>
      <p:pic>
        <p:nvPicPr>
          <p:cNvPr id="10" name="Grafik 31">
            <a:extLst>
              <a:ext uri="{FF2B5EF4-FFF2-40B4-BE49-F238E27FC236}">
                <a16:creationId xmlns:a16="http://schemas.microsoft.com/office/drawing/2014/main" id="{BFC6F41E-A34A-0607-5831-2071FD68E9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25" y="2306449"/>
            <a:ext cx="5677383" cy="2294126"/>
          </a:xfrm>
          <a:prstGeom prst="rect">
            <a:avLst/>
          </a:prstGeom>
        </p:spPr>
      </p:pic>
      <p:pic>
        <p:nvPicPr>
          <p:cNvPr id="11" name="Grafik 32">
            <a:extLst>
              <a:ext uri="{FF2B5EF4-FFF2-40B4-BE49-F238E27FC236}">
                <a16:creationId xmlns:a16="http://schemas.microsoft.com/office/drawing/2014/main" id="{01E8EA45-E0EE-60AC-0DD0-A567EF49F32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25" y="2306449"/>
            <a:ext cx="5677383" cy="2294126"/>
          </a:xfrm>
          <a:prstGeom prst="rect">
            <a:avLst/>
          </a:prstGeom>
        </p:spPr>
      </p:pic>
      <p:pic>
        <p:nvPicPr>
          <p:cNvPr id="12" name="Grafik 33">
            <a:extLst>
              <a:ext uri="{FF2B5EF4-FFF2-40B4-BE49-F238E27FC236}">
                <a16:creationId xmlns:a16="http://schemas.microsoft.com/office/drawing/2014/main" id="{87DD27B1-1E83-D929-42A1-92C450A21B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25" y="2306449"/>
            <a:ext cx="5677383" cy="2294126"/>
          </a:xfrm>
          <a:prstGeom prst="rect">
            <a:avLst/>
          </a:prstGeom>
        </p:spPr>
      </p:pic>
      <p:pic>
        <p:nvPicPr>
          <p:cNvPr id="13" name="Grafik 34">
            <a:extLst>
              <a:ext uri="{FF2B5EF4-FFF2-40B4-BE49-F238E27FC236}">
                <a16:creationId xmlns:a16="http://schemas.microsoft.com/office/drawing/2014/main" id="{11317565-FD68-23F6-16ED-0E15013ACAA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25" y="2306449"/>
            <a:ext cx="5677383" cy="2294126"/>
          </a:xfrm>
          <a:prstGeom prst="rect">
            <a:avLst/>
          </a:prstGeom>
        </p:spPr>
      </p:pic>
      <p:pic>
        <p:nvPicPr>
          <p:cNvPr id="14" name="Grafik 35">
            <a:extLst>
              <a:ext uri="{FF2B5EF4-FFF2-40B4-BE49-F238E27FC236}">
                <a16:creationId xmlns:a16="http://schemas.microsoft.com/office/drawing/2014/main" id="{9CC321AC-EF32-682D-5016-3E93F0ABB31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25" y="2306449"/>
            <a:ext cx="5677383" cy="2294126"/>
          </a:xfrm>
          <a:prstGeom prst="rect">
            <a:avLst/>
          </a:prstGeom>
        </p:spPr>
      </p:pic>
      <p:pic>
        <p:nvPicPr>
          <p:cNvPr id="15" name="Grafik 36">
            <a:extLst>
              <a:ext uri="{FF2B5EF4-FFF2-40B4-BE49-F238E27FC236}">
                <a16:creationId xmlns:a16="http://schemas.microsoft.com/office/drawing/2014/main" id="{2533ABCE-462E-3AC0-5904-FCD41BC214B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25" y="2306449"/>
            <a:ext cx="5677383" cy="2294126"/>
          </a:xfrm>
          <a:prstGeom prst="rect">
            <a:avLst/>
          </a:prstGeom>
        </p:spPr>
      </p:pic>
      <p:pic>
        <p:nvPicPr>
          <p:cNvPr id="16" name="Grafik 37">
            <a:extLst>
              <a:ext uri="{FF2B5EF4-FFF2-40B4-BE49-F238E27FC236}">
                <a16:creationId xmlns:a16="http://schemas.microsoft.com/office/drawing/2014/main" id="{959DDA08-429E-91E3-C892-D5B7E1994E5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25" y="2306449"/>
            <a:ext cx="5677383" cy="2294126"/>
          </a:xfrm>
          <a:prstGeom prst="rect">
            <a:avLst/>
          </a:prstGeom>
        </p:spPr>
      </p:pic>
      <p:pic>
        <p:nvPicPr>
          <p:cNvPr id="17" name="Grafik 38">
            <a:extLst>
              <a:ext uri="{FF2B5EF4-FFF2-40B4-BE49-F238E27FC236}">
                <a16:creationId xmlns:a16="http://schemas.microsoft.com/office/drawing/2014/main" id="{189AFB32-CCE7-14A0-3900-1EC73318106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25" y="2306449"/>
            <a:ext cx="5677383" cy="2294126"/>
          </a:xfrm>
          <a:prstGeom prst="rect">
            <a:avLst/>
          </a:prstGeom>
        </p:spPr>
      </p:pic>
      <p:pic>
        <p:nvPicPr>
          <p:cNvPr id="18" name="Grafik 39">
            <a:extLst>
              <a:ext uri="{FF2B5EF4-FFF2-40B4-BE49-F238E27FC236}">
                <a16:creationId xmlns:a16="http://schemas.microsoft.com/office/drawing/2014/main" id="{EA28B09C-E381-6E49-A7B6-E46908BBF64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25" y="2306449"/>
            <a:ext cx="5677383" cy="2294126"/>
          </a:xfrm>
          <a:prstGeom prst="rect">
            <a:avLst/>
          </a:prstGeom>
        </p:spPr>
      </p:pic>
      <p:pic>
        <p:nvPicPr>
          <p:cNvPr id="19" name="Grafik 4">
            <a:extLst>
              <a:ext uri="{FF2B5EF4-FFF2-40B4-BE49-F238E27FC236}">
                <a16:creationId xmlns:a16="http://schemas.microsoft.com/office/drawing/2014/main" id="{BEA64B65-6E7D-6DE5-398D-C80922FE9DE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25" y="2306449"/>
            <a:ext cx="5677383" cy="2294126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DEBC55B5-FE10-6AD8-4A17-06C08D7C5776}"/>
              </a:ext>
            </a:extLst>
          </p:cNvPr>
          <p:cNvSpPr txBox="1"/>
          <p:nvPr/>
        </p:nvSpPr>
        <p:spPr>
          <a:xfrm>
            <a:off x="476250" y="1076325"/>
            <a:ext cx="4589200" cy="34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133350" algn="l" defTabSz="688477" rtl="0" eaLnBrk="1" latinLnBrk="0" hangingPunct="1"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AT" altLang="zh-CN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Transition from the composite state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15EC459F-FFA7-6F19-F433-E9F6E180754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6193" y="1444396"/>
            <a:ext cx="2342249" cy="739865"/>
          </a:xfrm>
          <a:prstGeom prst="rect">
            <a:avLst/>
          </a:prstGeom>
        </p:spPr>
      </p:pic>
      <p:sp>
        <p:nvSpPr>
          <p:cNvPr id="10000" name="frame-229">
            <a:extLst>
              <a:ext uri="{FF2B5EF4-FFF2-40B4-BE49-F238E27FC236}">
                <a16:creationId xmlns:a16="http://schemas.microsoft.com/office/drawing/2014/main" id="{5500310D-188D-4123-AFB8-013263E2320C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状态图概要：退出复合状态</a:t>
            </a:r>
          </a:p>
        </p:txBody>
      </p:sp>
      <p:sp>
        <p:nvSpPr>
          <p:cNvPr id="10001" name="frame-230">
            <a:extLst>
              <a:ext uri="{FF2B5EF4-FFF2-40B4-BE49-F238E27FC236}">
                <a16:creationId xmlns:a16="http://schemas.microsoft.com/office/drawing/2014/main" id="{203A293C-255E-41F5-AD7A-1FDEA9B9ABEF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31">
            <a:extLst>
              <a:ext uri="{FF2B5EF4-FFF2-40B4-BE49-F238E27FC236}">
                <a16:creationId xmlns:a16="http://schemas.microsoft.com/office/drawing/2014/main" id="{F777AE8C-D190-4353-8D4B-34028E80C6AC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32">
            <a:extLst>
              <a:ext uri="{FF2B5EF4-FFF2-40B4-BE49-F238E27FC236}">
                <a16:creationId xmlns:a16="http://schemas.microsoft.com/office/drawing/2014/main" id="{E5A83351-8224-401B-9531-88601F23451C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P45　软件开发过程与技术</a:t>
            </a:r>
          </a:p>
        </p:txBody>
      </p:sp>
      <p:sp>
        <p:nvSpPr>
          <p:cNvPr id="10004" name="frame-233">
            <a:extLst>
              <a:ext uri="{FF2B5EF4-FFF2-40B4-BE49-F238E27FC236}">
                <a16:creationId xmlns:a16="http://schemas.microsoft.com/office/drawing/2014/main" id="{01C11D86-A473-4DFD-AA27-2A0594856F6A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70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375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23">
            <a:extLst>
              <a:ext uri="{FF2B5EF4-FFF2-40B4-BE49-F238E27FC236}">
                <a16:creationId xmlns:a16="http://schemas.microsoft.com/office/drawing/2014/main" id="{4940CD3B-C5FB-A328-B7C3-9CF28A8014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19" y="2093577"/>
            <a:ext cx="5475892" cy="2212707"/>
          </a:xfrm>
          <a:prstGeom prst="rect">
            <a:avLst/>
          </a:prstGeom>
        </p:spPr>
      </p:pic>
      <p:pic>
        <p:nvPicPr>
          <p:cNvPr id="8" name="Grafik 24">
            <a:extLst>
              <a:ext uri="{FF2B5EF4-FFF2-40B4-BE49-F238E27FC236}">
                <a16:creationId xmlns:a16="http://schemas.microsoft.com/office/drawing/2014/main" id="{0734A2DE-B879-EB1A-5218-328E5FCB24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19" y="2093577"/>
            <a:ext cx="5475892" cy="2212707"/>
          </a:xfrm>
          <a:prstGeom prst="rect">
            <a:avLst/>
          </a:prstGeom>
        </p:spPr>
      </p:pic>
      <p:pic>
        <p:nvPicPr>
          <p:cNvPr id="9" name="Grafik 25">
            <a:extLst>
              <a:ext uri="{FF2B5EF4-FFF2-40B4-BE49-F238E27FC236}">
                <a16:creationId xmlns:a16="http://schemas.microsoft.com/office/drawing/2014/main" id="{5E6625BB-14E3-4537-A836-90EA7ACB8E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19" y="2093577"/>
            <a:ext cx="5475892" cy="2212707"/>
          </a:xfrm>
          <a:prstGeom prst="rect">
            <a:avLst/>
          </a:prstGeom>
        </p:spPr>
      </p:pic>
      <p:pic>
        <p:nvPicPr>
          <p:cNvPr id="10" name="Grafik 26">
            <a:extLst>
              <a:ext uri="{FF2B5EF4-FFF2-40B4-BE49-F238E27FC236}">
                <a16:creationId xmlns:a16="http://schemas.microsoft.com/office/drawing/2014/main" id="{02E7A461-99C4-003F-0324-2D16A55B28B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19" y="2093577"/>
            <a:ext cx="5475892" cy="2212707"/>
          </a:xfrm>
          <a:prstGeom prst="rect">
            <a:avLst/>
          </a:prstGeom>
        </p:spPr>
      </p:pic>
      <p:pic>
        <p:nvPicPr>
          <p:cNvPr id="11" name="Grafik 27">
            <a:extLst>
              <a:ext uri="{FF2B5EF4-FFF2-40B4-BE49-F238E27FC236}">
                <a16:creationId xmlns:a16="http://schemas.microsoft.com/office/drawing/2014/main" id="{0CD45819-42D1-D5F0-CB47-35975C7EAD9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19" y="2093577"/>
            <a:ext cx="5475892" cy="2212707"/>
          </a:xfrm>
          <a:prstGeom prst="rect">
            <a:avLst/>
          </a:prstGeom>
        </p:spPr>
      </p:pic>
      <p:pic>
        <p:nvPicPr>
          <p:cNvPr id="12" name="Grafik 28">
            <a:extLst>
              <a:ext uri="{FF2B5EF4-FFF2-40B4-BE49-F238E27FC236}">
                <a16:creationId xmlns:a16="http://schemas.microsoft.com/office/drawing/2014/main" id="{A01E0340-09DA-B498-0387-93029AB6F21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19" y="2093577"/>
            <a:ext cx="5475892" cy="2212707"/>
          </a:xfrm>
          <a:prstGeom prst="rect">
            <a:avLst/>
          </a:prstGeom>
        </p:spPr>
      </p:pic>
      <p:pic>
        <p:nvPicPr>
          <p:cNvPr id="13" name="Grafik 29">
            <a:extLst>
              <a:ext uri="{FF2B5EF4-FFF2-40B4-BE49-F238E27FC236}">
                <a16:creationId xmlns:a16="http://schemas.microsoft.com/office/drawing/2014/main" id="{F0DECD2C-B2F0-4339-AFA2-1F038181CE7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19" y="2093577"/>
            <a:ext cx="5475892" cy="2212707"/>
          </a:xfrm>
          <a:prstGeom prst="rect">
            <a:avLst/>
          </a:prstGeom>
        </p:spPr>
      </p:pic>
      <p:pic>
        <p:nvPicPr>
          <p:cNvPr id="14" name="Grafik 30">
            <a:extLst>
              <a:ext uri="{FF2B5EF4-FFF2-40B4-BE49-F238E27FC236}">
                <a16:creationId xmlns:a16="http://schemas.microsoft.com/office/drawing/2014/main" id="{CB4F8EDC-5DC9-8AF4-7EE5-6DB15E0BA20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19" y="2093577"/>
            <a:ext cx="5475892" cy="2212707"/>
          </a:xfrm>
          <a:prstGeom prst="rect">
            <a:avLst/>
          </a:prstGeom>
        </p:spPr>
      </p:pic>
      <p:pic>
        <p:nvPicPr>
          <p:cNvPr id="15" name="Grafik 31">
            <a:extLst>
              <a:ext uri="{FF2B5EF4-FFF2-40B4-BE49-F238E27FC236}">
                <a16:creationId xmlns:a16="http://schemas.microsoft.com/office/drawing/2014/main" id="{856E7E37-0CAD-1945-8D41-E8F119889B5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19" y="2093577"/>
            <a:ext cx="5475892" cy="2212707"/>
          </a:xfrm>
          <a:prstGeom prst="rect">
            <a:avLst/>
          </a:prstGeom>
        </p:spPr>
      </p:pic>
      <p:pic>
        <p:nvPicPr>
          <p:cNvPr id="16" name="Grafik 32">
            <a:extLst>
              <a:ext uri="{FF2B5EF4-FFF2-40B4-BE49-F238E27FC236}">
                <a16:creationId xmlns:a16="http://schemas.microsoft.com/office/drawing/2014/main" id="{9A5F7392-EE21-523B-AE4A-4A2CC9507B4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19" y="2094498"/>
            <a:ext cx="5475892" cy="2212707"/>
          </a:xfrm>
          <a:prstGeom prst="rect">
            <a:avLst/>
          </a:prstGeom>
        </p:spPr>
      </p:pic>
      <p:pic>
        <p:nvPicPr>
          <p:cNvPr id="17" name="Grafik 33">
            <a:extLst>
              <a:ext uri="{FF2B5EF4-FFF2-40B4-BE49-F238E27FC236}">
                <a16:creationId xmlns:a16="http://schemas.microsoft.com/office/drawing/2014/main" id="{85CC3C54-22E7-DD4D-8724-2190BFFA263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19" y="2093577"/>
            <a:ext cx="5475892" cy="2212707"/>
          </a:xfrm>
          <a:prstGeom prst="rect">
            <a:avLst/>
          </a:prstGeom>
        </p:spPr>
      </p:pic>
      <p:pic>
        <p:nvPicPr>
          <p:cNvPr id="18" name="Grafik 34">
            <a:extLst>
              <a:ext uri="{FF2B5EF4-FFF2-40B4-BE49-F238E27FC236}">
                <a16:creationId xmlns:a16="http://schemas.microsoft.com/office/drawing/2014/main" id="{9D669D9F-BB30-CFEF-5B42-8C3B57C810F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19" y="2093577"/>
            <a:ext cx="5475892" cy="2212707"/>
          </a:xfrm>
          <a:prstGeom prst="rect">
            <a:avLst/>
          </a:prstGeom>
        </p:spPr>
      </p:pic>
      <p:pic>
        <p:nvPicPr>
          <p:cNvPr id="19" name="Grafik 35">
            <a:extLst>
              <a:ext uri="{FF2B5EF4-FFF2-40B4-BE49-F238E27FC236}">
                <a16:creationId xmlns:a16="http://schemas.microsoft.com/office/drawing/2014/main" id="{3675C815-9F87-DE03-6EF4-771CD7FC4DB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19" y="2093577"/>
            <a:ext cx="5475892" cy="2212707"/>
          </a:xfrm>
          <a:prstGeom prst="rect">
            <a:avLst/>
          </a:prstGeom>
        </p:spPr>
      </p:pic>
      <p:pic>
        <p:nvPicPr>
          <p:cNvPr id="20" name="Grafik 36">
            <a:extLst>
              <a:ext uri="{FF2B5EF4-FFF2-40B4-BE49-F238E27FC236}">
                <a16:creationId xmlns:a16="http://schemas.microsoft.com/office/drawing/2014/main" id="{054879B7-E993-9F62-CFCE-E18C6940C651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19" y="2093577"/>
            <a:ext cx="5475892" cy="2212707"/>
          </a:xfrm>
          <a:prstGeom prst="rect">
            <a:avLst/>
          </a:prstGeom>
        </p:spPr>
      </p:pic>
      <p:pic>
        <p:nvPicPr>
          <p:cNvPr id="21" name="Grafik 37">
            <a:extLst>
              <a:ext uri="{FF2B5EF4-FFF2-40B4-BE49-F238E27FC236}">
                <a16:creationId xmlns:a16="http://schemas.microsoft.com/office/drawing/2014/main" id="{646AE7FB-4CFC-8177-1EA1-F446B3647207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19" y="2093577"/>
            <a:ext cx="5475892" cy="2212707"/>
          </a:xfrm>
          <a:prstGeom prst="rect">
            <a:avLst/>
          </a:prstGeom>
        </p:spPr>
      </p:pic>
      <p:pic>
        <p:nvPicPr>
          <p:cNvPr id="22" name="Grafik 4">
            <a:extLst>
              <a:ext uri="{FF2B5EF4-FFF2-40B4-BE49-F238E27FC236}">
                <a16:creationId xmlns:a16="http://schemas.microsoft.com/office/drawing/2014/main" id="{C7AD4D9B-4B55-9EF4-8FAA-35E29D1CA7A0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19" y="2092828"/>
            <a:ext cx="5477747" cy="221345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A40DE2CA-84A8-B253-BC9C-528B0703B89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46855" y="1076325"/>
            <a:ext cx="3020895" cy="1330586"/>
          </a:xfrm>
          <a:prstGeom prst="rect">
            <a:avLst/>
          </a:prstGeom>
        </p:spPr>
      </p:pic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315A0454-3C92-3D15-B38F-5E4104F48032}"/>
              </a:ext>
            </a:extLst>
          </p:cNvPr>
          <p:cNvSpPr txBox="1">
            <a:spLocks/>
          </p:cNvSpPr>
          <p:nvPr/>
        </p:nvSpPr>
        <p:spPr>
          <a:xfrm>
            <a:off x="476250" y="1182883"/>
            <a:ext cx="5065356" cy="76024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marL="228600" indent="-133350" algn="l" defTabSz="711668" rtl="0" eaLnBrk="1" latinLnBrk="0" hangingPunct="1">
              <a:lnSpc>
                <a:spcPct val="110000"/>
              </a:lnSpc>
              <a:spcBef>
                <a:spcPts val="778"/>
              </a:spcBef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de-AT"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Completion transition from the composite state</a:t>
            </a:r>
            <a:endParaRPr lang="de-AT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000" name="frame-234">
            <a:extLst>
              <a:ext uri="{FF2B5EF4-FFF2-40B4-BE49-F238E27FC236}">
                <a16:creationId xmlns:a16="http://schemas.microsoft.com/office/drawing/2014/main" id="{BCF3630A-3F45-4D6B-8F10-1F79CB31C2F8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状态图概要：退出复合状态</a:t>
            </a:r>
          </a:p>
        </p:txBody>
      </p:sp>
      <p:sp>
        <p:nvSpPr>
          <p:cNvPr id="10001" name="frame-235">
            <a:extLst>
              <a:ext uri="{FF2B5EF4-FFF2-40B4-BE49-F238E27FC236}">
                <a16:creationId xmlns:a16="http://schemas.microsoft.com/office/drawing/2014/main" id="{EE3B6370-0A60-4A9C-8409-F3437F663FC3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36">
            <a:extLst>
              <a:ext uri="{FF2B5EF4-FFF2-40B4-BE49-F238E27FC236}">
                <a16:creationId xmlns:a16="http://schemas.microsoft.com/office/drawing/2014/main" id="{82133CBD-A1E7-46F9-A2B5-FDE1A742684F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37">
            <a:extLst>
              <a:ext uri="{FF2B5EF4-FFF2-40B4-BE49-F238E27FC236}">
                <a16:creationId xmlns:a16="http://schemas.microsoft.com/office/drawing/2014/main" id="{9360BC8B-844B-4258-9D09-AFD13AB21018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P46　软件开发过程与技术</a:t>
            </a:r>
          </a:p>
        </p:txBody>
      </p:sp>
      <p:sp>
        <p:nvSpPr>
          <p:cNvPr id="10004" name="frame-238">
            <a:extLst>
              <a:ext uri="{FF2B5EF4-FFF2-40B4-BE49-F238E27FC236}">
                <a16:creationId xmlns:a16="http://schemas.microsoft.com/office/drawing/2014/main" id="{6BDE607C-7B56-407C-A505-F24F776628E9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71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7808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66D9419-8EBD-0261-02D0-969B30078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477" y="1076325"/>
            <a:ext cx="6379047" cy="3524250"/>
          </a:xfrm>
          <a:prstGeom prst="rect">
            <a:avLst/>
          </a:prstGeom>
        </p:spPr>
      </p:pic>
      <p:sp>
        <p:nvSpPr>
          <p:cNvPr id="10000" name="frame-239">
            <a:extLst>
              <a:ext uri="{FF2B5EF4-FFF2-40B4-BE49-F238E27FC236}">
                <a16:creationId xmlns:a16="http://schemas.microsoft.com/office/drawing/2014/main" id="{E7BFFBE1-A486-4F2A-8E21-8F539BAA12F7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状态图：正交状态（Orthogonal State）</a:t>
            </a:r>
          </a:p>
        </p:txBody>
      </p:sp>
      <p:sp>
        <p:nvSpPr>
          <p:cNvPr id="10001" name="frame-240">
            <a:extLst>
              <a:ext uri="{FF2B5EF4-FFF2-40B4-BE49-F238E27FC236}">
                <a16:creationId xmlns:a16="http://schemas.microsoft.com/office/drawing/2014/main" id="{CDDA0A30-E5E6-49E3-841F-10338518E140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41">
            <a:extLst>
              <a:ext uri="{FF2B5EF4-FFF2-40B4-BE49-F238E27FC236}">
                <a16:creationId xmlns:a16="http://schemas.microsoft.com/office/drawing/2014/main" id="{63B4EAFB-A8BB-4112-97B0-69DD6A6FC25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42">
            <a:extLst>
              <a:ext uri="{FF2B5EF4-FFF2-40B4-BE49-F238E27FC236}">
                <a16:creationId xmlns:a16="http://schemas.microsoft.com/office/drawing/2014/main" id="{1DB96511-9488-4B54-884B-92DA397F3EDD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P47　软件开发过程与技术</a:t>
            </a:r>
          </a:p>
        </p:txBody>
      </p:sp>
      <p:sp>
        <p:nvSpPr>
          <p:cNvPr id="10004" name="frame-243">
            <a:extLst>
              <a:ext uri="{FF2B5EF4-FFF2-40B4-BE49-F238E27FC236}">
                <a16:creationId xmlns:a16="http://schemas.microsoft.com/office/drawing/2014/main" id="{0FE03B11-AABF-4B4A-A521-2C7BCB4BF8A5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72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219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E5131B6-9E70-F72A-1A06-203C2BD93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665" y="1076325"/>
            <a:ext cx="6726670" cy="3524250"/>
          </a:xfrm>
          <a:prstGeom prst="rect">
            <a:avLst/>
          </a:prstGeom>
        </p:spPr>
      </p:pic>
      <p:sp>
        <p:nvSpPr>
          <p:cNvPr id="10000" name="frame-244">
            <a:extLst>
              <a:ext uri="{FF2B5EF4-FFF2-40B4-BE49-F238E27FC236}">
                <a16:creationId xmlns:a16="http://schemas.microsoft.com/office/drawing/2014/main" id="{841B0A2B-F7F6-42B3-86F8-A5602826E698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状态图概要：子状态机状态</a:t>
            </a:r>
          </a:p>
        </p:txBody>
      </p:sp>
      <p:sp>
        <p:nvSpPr>
          <p:cNvPr id="10001" name="frame-245">
            <a:extLst>
              <a:ext uri="{FF2B5EF4-FFF2-40B4-BE49-F238E27FC236}">
                <a16:creationId xmlns:a16="http://schemas.microsoft.com/office/drawing/2014/main" id="{1E8C6FB9-9A38-4E3F-9218-3276FD6A5846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46">
            <a:extLst>
              <a:ext uri="{FF2B5EF4-FFF2-40B4-BE49-F238E27FC236}">
                <a16:creationId xmlns:a16="http://schemas.microsoft.com/office/drawing/2014/main" id="{91DB3C09-7C01-4593-BE1F-9A72668F33D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47">
            <a:extLst>
              <a:ext uri="{FF2B5EF4-FFF2-40B4-BE49-F238E27FC236}">
                <a16:creationId xmlns:a16="http://schemas.microsoft.com/office/drawing/2014/main" id="{B6E2D459-7AE5-465B-9A0F-E19463E59464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P48　软件开发过程与技术</a:t>
            </a:r>
          </a:p>
        </p:txBody>
      </p:sp>
      <p:sp>
        <p:nvSpPr>
          <p:cNvPr id="10004" name="frame-248">
            <a:extLst>
              <a:ext uri="{FF2B5EF4-FFF2-40B4-BE49-F238E27FC236}">
                <a16:creationId xmlns:a16="http://schemas.microsoft.com/office/drawing/2014/main" id="{4B93F4EC-23F7-46F8-BA69-0CC36BB87528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73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8013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C47CA0E0-718F-DC46-763B-11AF4308BE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7243443"/>
              </p:ext>
            </p:extLst>
          </p:nvPr>
        </p:nvGraphicFramePr>
        <p:xfrm>
          <a:off x="476250" y="1076325"/>
          <a:ext cx="8191500" cy="352425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2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Name</a:t>
                      </a:r>
                    </a:p>
                  </a:txBody>
                  <a:tcPr marT="34201" marB="3420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Notation</a:t>
                      </a:r>
                    </a:p>
                  </a:txBody>
                  <a:tcPr marT="34201" marB="34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Description</a:t>
                      </a:r>
                    </a:p>
                  </a:txBody>
                  <a:tcPr marT="34201" marB="34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58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State</a:t>
                      </a:r>
                    </a:p>
                  </a:txBody>
                  <a:tcPr marT="34201" marB="3420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lang="en-US" sz="1350" kern="1200" baseline="0" noProof="0" dirty="0">
                        <a:solidFill>
                          <a:schemeClr val="tx1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T="34201" marB="34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lang="en-US" sz="1350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Description of a specific “time span” in which an object finds itself during its “life cycle”. Within a state, activities can be executed by the object.</a:t>
                      </a:r>
                    </a:p>
                  </a:txBody>
                  <a:tcPr marT="34201" marB="342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0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Transition</a:t>
                      </a:r>
                    </a:p>
                  </a:txBody>
                  <a:tcPr marT="34201" marB="3420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T="34201" marB="34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State transition e from a source state S to a target state T</a:t>
                      </a: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T="34201" marB="342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5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  <a:defRPr sz="1350">
                          <a:latin typeface="Noto Sans SC"/>
                          <a:ea typeface="Noto Sans SC"/>
                          <a:cs typeface="Noto Sans SC"/>
                        </a:defRPr>
                      </a:pPr>
                      <a:r>
                        <a:rPr kumimoji="0" lang="en-US" sz="135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Initial state</a:t>
                      </a:r>
                    </a:p>
                  </a:txBody>
                  <a:tcPr marT="34201" marB="3420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T="34201" marB="34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  <a:defRPr sz="1350">
                          <a:latin typeface="Noto Sans SC"/>
                          <a:ea typeface="Noto Sans SC"/>
                          <a:cs typeface="Noto Sans SC"/>
                        </a:defRPr>
                      </a:pPr>
                      <a:r>
                        <a:rPr lang="en-US" sz="1350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Start of a state machine diagram</a:t>
                      </a: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T="34201" marB="342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0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  <a:defRPr sz="1350">
                          <a:latin typeface="Noto Sans SC"/>
                          <a:ea typeface="Noto Sans SC"/>
                          <a:cs typeface="Noto Sans SC"/>
                        </a:defRPr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Final state</a:t>
                      </a:r>
                    </a:p>
                  </a:txBody>
                  <a:tcPr marT="34201" marB="3420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T="34201" marB="34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lang="en-US" sz="1350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End of a state machine diagram</a:t>
                      </a: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T="34201" marB="342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Terminate node</a:t>
                      </a:r>
                    </a:p>
                  </a:txBody>
                  <a:tcPr marT="34201" marB="3420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T="34201" marB="342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lang="en-US" sz="1350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Termination of an object’s state machine diagram</a:t>
                      </a: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T="34201" marB="342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Grafik 1">
            <a:extLst>
              <a:ext uri="{FF2B5EF4-FFF2-40B4-BE49-F238E27FC236}">
                <a16:creationId xmlns:a16="http://schemas.microsoft.com/office/drawing/2014/main" id="{5CEFC0E4-6EEF-FA06-BE27-0AAC0EFE13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048" y="1490447"/>
            <a:ext cx="1210894" cy="770777"/>
          </a:xfrm>
          <a:prstGeom prst="rect">
            <a:avLst/>
          </a:prstGeom>
        </p:spPr>
      </p:pic>
      <p:pic>
        <p:nvPicPr>
          <p:cNvPr id="9" name="Grafik 2">
            <a:extLst>
              <a:ext uri="{FF2B5EF4-FFF2-40B4-BE49-F238E27FC236}">
                <a16:creationId xmlns:a16="http://schemas.microsoft.com/office/drawing/2014/main" id="{7A845B62-861E-2F28-A676-130FA175D5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908" y="2533193"/>
            <a:ext cx="1213175" cy="371706"/>
          </a:xfrm>
          <a:prstGeom prst="rect">
            <a:avLst/>
          </a:prstGeom>
        </p:spPr>
      </p:pic>
      <p:pic>
        <p:nvPicPr>
          <p:cNvPr id="10" name="Grafik 3">
            <a:extLst>
              <a:ext uri="{FF2B5EF4-FFF2-40B4-BE49-F238E27FC236}">
                <a16:creationId xmlns:a16="http://schemas.microsoft.com/office/drawing/2014/main" id="{935EDF9A-1F1D-9303-06A8-70DDA05795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457" y="3155726"/>
            <a:ext cx="212078" cy="212078"/>
          </a:xfrm>
          <a:prstGeom prst="rect">
            <a:avLst/>
          </a:prstGeom>
        </p:spPr>
      </p:pic>
      <p:pic>
        <p:nvPicPr>
          <p:cNvPr id="11" name="Grafik 4">
            <a:extLst>
              <a:ext uri="{FF2B5EF4-FFF2-40B4-BE49-F238E27FC236}">
                <a16:creationId xmlns:a16="http://schemas.microsoft.com/office/drawing/2014/main" id="{C3ADA7BD-96B1-5662-5879-9E559724616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457" y="3658229"/>
            <a:ext cx="212078" cy="212078"/>
          </a:xfrm>
          <a:prstGeom prst="rect">
            <a:avLst/>
          </a:prstGeom>
        </p:spPr>
      </p:pic>
      <p:pic>
        <p:nvPicPr>
          <p:cNvPr id="12" name="Grafik 5">
            <a:extLst>
              <a:ext uri="{FF2B5EF4-FFF2-40B4-BE49-F238E27FC236}">
                <a16:creationId xmlns:a16="http://schemas.microsoft.com/office/drawing/2014/main" id="{6E8855DC-01A6-C34B-0F49-EC6126E122B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242" y="4241639"/>
            <a:ext cx="150506" cy="150506"/>
          </a:xfrm>
          <a:prstGeom prst="rect">
            <a:avLst/>
          </a:prstGeom>
        </p:spPr>
      </p:pic>
      <p:sp>
        <p:nvSpPr>
          <p:cNvPr id="10000" name="frame-249">
            <a:extLst>
              <a:ext uri="{FF2B5EF4-FFF2-40B4-BE49-F238E27FC236}">
                <a16:creationId xmlns:a16="http://schemas.microsoft.com/office/drawing/2014/main" id="{1474CF9F-CE8D-4513-B819-A4570187789D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状态图概要：表示法</a:t>
            </a:r>
          </a:p>
        </p:txBody>
      </p:sp>
      <p:sp>
        <p:nvSpPr>
          <p:cNvPr id="10001" name="frame-250">
            <a:extLst>
              <a:ext uri="{FF2B5EF4-FFF2-40B4-BE49-F238E27FC236}">
                <a16:creationId xmlns:a16="http://schemas.microsoft.com/office/drawing/2014/main" id="{F45BE564-1C61-4AC0-BC1F-50A3CE683B72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51">
            <a:extLst>
              <a:ext uri="{FF2B5EF4-FFF2-40B4-BE49-F238E27FC236}">
                <a16:creationId xmlns:a16="http://schemas.microsoft.com/office/drawing/2014/main" id="{09E0335D-8CBE-44AD-AF3A-E34FCAB0024E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52">
            <a:extLst>
              <a:ext uri="{FF2B5EF4-FFF2-40B4-BE49-F238E27FC236}">
                <a16:creationId xmlns:a16="http://schemas.microsoft.com/office/drawing/2014/main" id="{B20FA553-F309-4463-88B5-B06AFDD8376E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P49　软件开发过程与技术</a:t>
            </a:r>
          </a:p>
        </p:txBody>
      </p:sp>
      <p:sp>
        <p:nvSpPr>
          <p:cNvPr id="10004" name="frame-253">
            <a:extLst>
              <a:ext uri="{FF2B5EF4-FFF2-40B4-BE49-F238E27FC236}">
                <a16:creationId xmlns:a16="http://schemas.microsoft.com/office/drawing/2014/main" id="{07C1C64E-CEB7-4805-80ED-2CE3131168CF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74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2693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26299D93-D65F-FB90-E25B-3461660B05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1315324"/>
              </p:ext>
            </p:extLst>
          </p:nvPr>
        </p:nvGraphicFramePr>
        <p:xfrm>
          <a:off x="476250" y="1076325"/>
          <a:ext cx="8191500" cy="352425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9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Name</a:t>
                      </a:r>
                    </a:p>
                  </a:txBody>
                  <a:tcPr marT="34122" marB="34122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Syntax</a:t>
                      </a:r>
                    </a:p>
                  </a:txBody>
                  <a:tcPr marT="34122" marB="341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de-AT" sz="135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Beschreibung</a:t>
                      </a:r>
                    </a:p>
                  </a:txBody>
                  <a:tcPr marT="34122" marB="341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5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Decision node</a:t>
                      </a:r>
                    </a:p>
                  </a:txBody>
                  <a:tcPr marT="34122" marB="34122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T="34122" marB="341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Node from which multiple alternative</a:t>
                      </a:r>
                    </a:p>
                    <a:p>
                      <a:r>
                        <a:rPr lang="en-US" sz="1350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transitions can origin</a:t>
                      </a: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T="34122" marB="341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3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Parallelization node</a:t>
                      </a:r>
                    </a:p>
                  </a:txBody>
                  <a:tcPr marT="34122" marB="34122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T="34122" marB="341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Splitting of a transition into multiple</a:t>
                      </a:r>
                    </a:p>
                    <a:p>
                      <a:r>
                        <a:rPr lang="en-US" sz="1350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parallel transitions</a:t>
                      </a: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T="34122" marB="341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60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  <a:defRPr sz="1350">
                          <a:latin typeface="Noto Sans SC"/>
                          <a:ea typeface="Noto Sans SC"/>
                          <a:cs typeface="Noto Sans SC"/>
                        </a:defRPr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Synchronization node</a:t>
                      </a:r>
                    </a:p>
                  </a:txBody>
                  <a:tcPr marT="34122" marB="34122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T="34122" marB="341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Merging of multiple parallel transitions</a:t>
                      </a:r>
                    </a:p>
                    <a:p>
                      <a:r>
                        <a:rPr lang="en-US" sz="1350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into one transition</a:t>
                      </a: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T="34122" marB="341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52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r>
                        <a:rPr kumimoji="0" lang="en-US" sz="135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Shallow / deep history state</a:t>
                      </a:r>
                    </a:p>
                  </a:txBody>
                  <a:tcPr marT="34122" marB="34122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Noto Sans SC"/>
                        <a:buNone/>
                        <a:tabLst/>
                      </a:pP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T="34122" marB="341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“Return address” to a </a:t>
                      </a:r>
                      <a:r>
                        <a:rPr lang="en-US" sz="1350" kern="1200" baseline="0" noProof="0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substate</a:t>
                      </a:r>
                      <a:r>
                        <a:rPr lang="en-US" sz="1350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or a</a:t>
                      </a:r>
                    </a:p>
                    <a:p>
                      <a:r>
                        <a:rPr lang="en-US" sz="1350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nested </a:t>
                      </a:r>
                      <a:r>
                        <a:rPr lang="en-US" sz="1350" kern="1200" baseline="0" noProof="0" dirty="0" err="1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substate</a:t>
                      </a:r>
                      <a:r>
                        <a:rPr lang="en-US" sz="1350" kern="1200" baseline="0" noProof="0" dirty="0">
                          <a:solidFill>
                            <a:schemeClr val="tx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of a composite state</a:t>
                      </a:r>
                      <a:endParaRPr kumimoji="0" lang="en-US" sz="135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T="34122" marB="3412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Picture 27">
            <a:extLst>
              <a:ext uri="{FF2B5EF4-FFF2-40B4-BE49-F238E27FC236}">
                <a16:creationId xmlns:a16="http://schemas.microsoft.com/office/drawing/2014/main" id="{F843F585-F1E5-8BF0-A304-74C2C25E38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8582" y="1653499"/>
            <a:ext cx="574702" cy="611435"/>
          </a:xfrm>
          <a:prstGeom prst="rect">
            <a:avLst/>
          </a:prstGeom>
          <a:noFill/>
          <a:ln w="9480">
            <a:noFill/>
            <a:miter lim="800000"/>
            <a:headEnd/>
            <a:tailEnd/>
          </a:ln>
        </p:spPr>
        <p:txBody>
          <a:bodyPr lIns="68253" tIns="34127" rIns="68253" bIns="34127">
            <a:noAutofit/>
          </a:bodyPr>
          <a:lstStyle/>
          <a:p>
            <a:pPr marL="0" algn="l" defTabSz="682532" rtl="0" eaLnBrk="1" latinLnBrk="0" hangingPunct="1">
              <a:defRPr sz="134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de-AT" altLang="de-DE" sz="1344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Picture 28">
            <a:extLst>
              <a:ext uri="{FF2B5EF4-FFF2-40B4-BE49-F238E27FC236}">
                <a16:creationId xmlns:a16="http://schemas.microsoft.com/office/drawing/2014/main" id="{C0349C6F-7606-CF3F-A1E9-2842FE3C92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22169" y="2785127"/>
            <a:ext cx="956256" cy="628024"/>
          </a:xfrm>
          <a:prstGeom prst="rect">
            <a:avLst/>
          </a:prstGeom>
          <a:noFill/>
          <a:ln w="9480">
            <a:noFill/>
            <a:miter lim="800000"/>
            <a:headEnd/>
            <a:tailEnd/>
          </a:ln>
        </p:spPr>
        <p:txBody>
          <a:bodyPr lIns="68253" tIns="34127" rIns="68253" bIns="34127">
            <a:noAutofit/>
          </a:bodyPr>
          <a:lstStyle/>
          <a:p>
            <a:pPr marL="0" algn="l" defTabSz="682532" rtl="0" eaLnBrk="1" latinLnBrk="0" hangingPunct="1">
              <a:defRPr sz="134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de-AT" altLang="de-DE" sz="1344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Picture 29">
            <a:extLst>
              <a:ext uri="{FF2B5EF4-FFF2-40B4-BE49-F238E27FC236}">
                <a16:creationId xmlns:a16="http://schemas.microsoft.com/office/drawing/2014/main" id="{7F161C37-B83C-C34A-8759-075094F185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83066" y="3799445"/>
            <a:ext cx="1014318" cy="745334"/>
          </a:xfrm>
          <a:prstGeom prst="rect">
            <a:avLst/>
          </a:prstGeom>
          <a:noFill/>
          <a:ln w="9480">
            <a:noFill/>
            <a:miter lim="800000"/>
            <a:headEnd/>
            <a:tailEnd/>
          </a:ln>
        </p:spPr>
        <p:txBody>
          <a:bodyPr lIns="68253" tIns="34127" rIns="68253" bIns="34127">
            <a:noAutofit/>
          </a:bodyPr>
          <a:lstStyle/>
          <a:p>
            <a:pPr marL="0" algn="l" defTabSz="682532" rtl="0" eaLnBrk="1" latinLnBrk="0" hangingPunct="1">
              <a:defRPr sz="134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de-AT" altLang="de-DE" sz="1344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1" name="Grafik 1">
            <a:extLst>
              <a:ext uri="{FF2B5EF4-FFF2-40B4-BE49-F238E27FC236}">
                <a16:creationId xmlns:a16="http://schemas.microsoft.com/office/drawing/2014/main" id="{2051E251-2519-D799-9AFF-1C82943BAB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386" y="1556969"/>
            <a:ext cx="905494" cy="354917"/>
          </a:xfrm>
          <a:prstGeom prst="rect">
            <a:avLst/>
          </a:prstGeom>
        </p:spPr>
      </p:pic>
      <p:pic>
        <p:nvPicPr>
          <p:cNvPr id="12" name="Grafik 2">
            <a:extLst>
              <a:ext uri="{FF2B5EF4-FFF2-40B4-BE49-F238E27FC236}">
                <a16:creationId xmlns:a16="http://schemas.microsoft.com/office/drawing/2014/main" id="{94180972-B428-6DE0-E573-66FA1743880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930" y="2221090"/>
            <a:ext cx="648407" cy="568778"/>
          </a:xfrm>
          <a:prstGeom prst="rect">
            <a:avLst/>
          </a:prstGeom>
        </p:spPr>
      </p:pic>
      <p:pic>
        <p:nvPicPr>
          <p:cNvPr id="13" name="Grafik 3">
            <a:extLst>
              <a:ext uri="{FF2B5EF4-FFF2-40B4-BE49-F238E27FC236}">
                <a16:creationId xmlns:a16="http://schemas.microsoft.com/office/drawing/2014/main" id="{C87C766F-3CBE-0E6B-0A7A-E99893EA6D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930" y="3025673"/>
            <a:ext cx="648407" cy="568778"/>
          </a:xfrm>
          <a:prstGeom prst="rect">
            <a:avLst/>
          </a:prstGeom>
        </p:spPr>
      </p:pic>
      <p:pic>
        <p:nvPicPr>
          <p:cNvPr id="14" name="Grafik 4">
            <a:extLst>
              <a:ext uri="{FF2B5EF4-FFF2-40B4-BE49-F238E27FC236}">
                <a16:creationId xmlns:a16="http://schemas.microsoft.com/office/drawing/2014/main" id="{8D896D61-FDA0-D2A1-5DB6-346B18D09FD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714" y="4006059"/>
            <a:ext cx="800839" cy="291214"/>
          </a:xfrm>
          <a:prstGeom prst="rect">
            <a:avLst/>
          </a:prstGeom>
        </p:spPr>
      </p:pic>
      <p:sp>
        <p:nvSpPr>
          <p:cNvPr id="10000" name="frame-254">
            <a:extLst>
              <a:ext uri="{FF2B5EF4-FFF2-40B4-BE49-F238E27FC236}">
                <a16:creationId xmlns:a16="http://schemas.microsoft.com/office/drawing/2014/main" id="{0DA94101-A674-460B-BE0D-DB1D3C9D0150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状态图概要：表示法</a:t>
            </a:r>
          </a:p>
        </p:txBody>
      </p:sp>
      <p:sp>
        <p:nvSpPr>
          <p:cNvPr id="10001" name="frame-255">
            <a:extLst>
              <a:ext uri="{FF2B5EF4-FFF2-40B4-BE49-F238E27FC236}">
                <a16:creationId xmlns:a16="http://schemas.microsoft.com/office/drawing/2014/main" id="{BFB92FEE-3B27-4D57-B7FD-26B045273B65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56">
            <a:extLst>
              <a:ext uri="{FF2B5EF4-FFF2-40B4-BE49-F238E27FC236}">
                <a16:creationId xmlns:a16="http://schemas.microsoft.com/office/drawing/2014/main" id="{4385ED21-A162-4282-9AB4-0EF0E5CAC02B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57">
            <a:extLst>
              <a:ext uri="{FF2B5EF4-FFF2-40B4-BE49-F238E27FC236}">
                <a16:creationId xmlns:a16="http://schemas.microsoft.com/office/drawing/2014/main" id="{0D9593B5-285F-4B93-A9D8-02B994B623E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P50　软件开发过程与技术</a:t>
            </a:r>
          </a:p>
        </p:txBody>
      </p:sp>
      <p:sp>
        <p:nvSpPr>
          <p:cNvPr id="10004" name="frame-258">
            <a:extLst>
              <a:ext uri="{FF2B5EF4-FFF2-40B4-BE49-F238E27FC236}">
                <a16:creationId xmlns:a16="http://schemas.microsoft.com/office/drawing/2014/main" id="{67AB256D-0924-4BD6-9D93-653B664E5C09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75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94279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1CE69A5-B131-39C0-22D7-F0DB7962A210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7926712" cy="1365758"/>
          </a:xfrm>
        </p:spPr>
        <p:txBody>
          <a:bodyPr lIns="0" tIns="0" rIns="0" bIns="0" anchor="t">
            <a:noAutofit/>
          </a:bodyPr>
          <a:lstStyle/>
          <a:p>
            <a:pPr marL="228600" indent="-133350" algn="l" defTabSz="660791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状态机图展现对象的状态及状态之间的迁移。</a:t>
            </a:r>
            <a:endParaRPr lang="en-US" altLang="zh-CN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228600" indent="-133350" algn="l" defTabSz="660791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状态机图对对象的状态变化进行建模，描述其对事件的响应。</a:t>
            </a:r>
            <a:endParaRPr lang="en-US" altLang="zh-CN" sz="150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228600" indent="-133350" algn="l" defTabSz="660791" rtl="0" eaLnBrk="1" latinLnBrk="0" hangingPunct="1">
              <a:buFont typeface="Noto Sans SC"/>
              <a:buChar char="•"/>
              <a:defRPr sz="15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典型应用场景：对反应型对象建模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3D9FC55-B1F6-2BDC-3DCB-69952BB71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709735"/>
            <a:ext cx="4058125" cy="12168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1A20824-7296-EF9C-1DCB-14572F2E5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435" y="2518117"/>
            <a:ext cx="3970315" cy="14084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01E7DC3E-E998-968F-BEFE-A84B4BA4D8AA}"/>
              </a:ext>
            </a:extLst>
          </p:cNvPr>
          <p:cNvSpPr/>
          <p:nvPr/>
        </p:nvSpPr>
        <p:spPr>
          <a:xfrm>
            <a:off x="1846071" y="3414297"/>
            <a:ext cx="886661" cy="550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079" tIns="33040" rIns="66079" bIns="33040" rtlCol="0" anchor="ctr">
            <a:noAutofit/>
          </a:bodyPr>
          <a:lstStyle/>
          <a:p>
            <a:pPr marL="0" algn="ctr" defTabSz="660791" rtl="0" eaLnBrk="1" latinLnBrk="0" hangingPunct="1">
              <a:defRPr sz="130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301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A2CB59F-4336-7643-75D4-D3A119B99132}"/>
              </a:ext>
            </a:extLst>
          </p:cNvPr>
          <p:cNvSpPr txBox="1"/>
          <p:nvPr/>
        </p:nvSpPr>
        <p:spPr>
          <a:xfrm>
            <a:off x="1790975" y="4110909"/>
            <a:ext cx="996851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 defTabSz="660791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2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ATM</a:t>
            </a:r>
            <a:r>
              <a:rPr lang="zh-CN" altLang="en-US" sz="12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状态机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7E1B717-4A7C-C759-1769-E7DAB006B3A1}"/>
              </a:ext>
            </a:extLst>
          </p:cNvPr>
          <p:cNvSpPr txBox="1"/>
          <p:nvPr/>
        </p:nvSpPr>
        <p:spPr>
          <a:xfrm>
            <a:off x="5378101" y="4117977"/>
            <a:ext cx="2877904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 defTabSz="660791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2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ATM</a:t>
            </a:r>
            <a:r>
              <a:rPr lang="zh-CN" altLang="en-US" sz="12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状态机中</a:t>
            </a:r>
            <a:r>
              <a:rPr lang="en-US" altLang="zh-CN" sz="12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Operation</a:t>
            </a:r>
            <a:r>
              <a:rPr lang="zh-CN" altLang="en-US" sz="12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状态的状态机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2E6BA05-890F-A709-FCB2-B0EE830ABD25}"/>
              </a:ext>
            </a:extLst>
          </p:cNvPr>
          <p:cNvCxnSpPr>
            <a:cxnSpLocks/>
            <a:stCxn id="21" idx="2"/>
            <a:endCxn id="25" idx="1"/>
          </p:cNvCxnSpPr>
          <p:nvPr/>
        </p:nvCxnSpPr>
        <p:spPr>
          <a:xfrm>
            <a:off x="2289401" y="3964297"/>
            <a:ext cx="3088699" cy="276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0" name="frame-259">
            <a:extLst>
              <a:ext uri="{FF2B5EF4-FFF2-40B4-BE49-F238E27FC236}">
                <a16:creationId xmlns:a16="http://schemas.microsoft.com/office/drawing/2014/main" id="{63E35277-C9DC-4643-AC4B-72FCED1451FD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UML构造块：状态机图</a:t>
            </a:r>
          </a:p>
        </p:txBody>
      </p:sp>
      <p:sp>
        <p:nvSpPr>
          <p:cNvPr id="10001" name="frame-260">
            <a:extLst>
              <a:ext uri="{FF2B5EF4-FFF2-40B4-BE49-F238E27FC236}">
                <a16:creationId xmlns:a16="http://schemas.microsoft.com/office/drawing/2014/main" id="{3F497E93-502D-4BA3-90A1-0D67C57F5C79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61">
            <a:extLst>
              <a:ext uri="{FF2B5EF4-FFF2-40B4-BE49-F238E27FC236}">
                <a16:creationId xmlns:a16="http://schemas.microsoft.com/office/drawing/2014/main" id="{810EBB02-CA9D-488F-A17F-3F352DF2A15F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62">
            <a:extLst>
              <a:ext uri="{FF2B5EF4-FFF2-40B4-BE49-F238E27FC236}">
                <a16:creationId xmlns:a16="http://schemas.microsoft.com/office/drawing/2014/main" id="{59664986-688F-4BA3-A430-467CA5F450D9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P51　软件开发过程与技术</a:t>
            </a:r>
          </a:p>
        </p:txBody>
      </p:sp>
      <p:sp>
        <p:nvSpPr>
          <p:cNvPr id="10004" name="frame-263">
            <a:extLst>
              <a:ext uri="{FF2B5EF4-FFF2-40B4-BE49-F238E27FC236}">
                <a16:creationId xmlns:a16="http://schemas.microsoft.com/office/drawing/2014/main" id="{EA8D5E8B-2E75-4539-9D5F-1EA41F83303C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76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68673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0FAC365B-4BE6-4762-7E11-28F4B0B99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6250" y="1076325"/>
            <a:ext cx="4499315" cy="315949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ED146E3-7E3E-7E27-B9F9-B3028C765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298" y="1076325"/>
            <a:ext cx="3579984" cy="107345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F0B84A9-EA5A-F846-36FF-D1AB3465F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7081" y="2335796"/>
            <a:ext cx="3550669" cy="12595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92D0B1B-3585-6BD0-69AE-B3E1FEDE2ED2}"/>
              </a:ext>
            </a:extLst>
          </p:cNvPr>
          <p:cNvSpPr txBox="1"/>
          <p:nvPr/>
        </p:nvSpPr>
        <p:spPr>
          <a:xfrm>
            <a:off x="1855366" y="4302299"/>
            <a:ext cx="1382808" cy="364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 defTabSz="661193" rtl="0" eaLnBrk="1" latinLnBrk="0" hangingPunct="1">
              <a:defRPr sz="120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2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Bank</a:t>
            </a:r>
            <a:r>
              <a:rPr lang="zh-CN" altLang="en-US" sz="120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的状态机</a:t>
            </a:r>
          </a:p>
        </p:txBody>
      </p:sp>
      <p:sp>
        <p:nvSpPr>
          <p:cNvPr id="10000" name="frame-264">
            <a:extLst>
              <a:ext uri="{FF2B5EF4-FFF2-40B4-BE49-F238E27FC236}">
                <a16:creationId xmlns:a16="http://schemas.microsoft.com/office/drawing/2014/main" id="{61994492-DE64-4502-8281-03A7BCA4CF93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UML构造块：状态机图</a:t>
            </a:r>
          </a:p>
        </p:txBody>
      </p:sp>
      <p:sp>
        <p:nvSpPr>
          <p:cNvPr id="10001" name="frame-265">
            <a:extLst>
              <a:ext uri="{FF2B5EF4-FFF2-40B4-BE49-F238E27FC236}">
                <a16:creationId xmlns:a16="http://schemas.microsoft.com/office/drawing/2014/main" id="{B2FC30A6-8344-454D-9B73-E6A6096A9B3D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66">
            <a:extLst>
              <a:ext uri="{FF2B5EF4-FFF2-40B4-BE49-F238E27FC236}">
                <a16:creationId xmlns:a16="http://schemas.microsoft.com/office/drawing/2014/main" id="{CEA3C34D-A017-45DE-B13A-0B31B0D5A4FA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67">
            <a:extLst>
              <a:ext uri="{FF2B5EF4-FFF2-40B4-BE49-F238E27FC236}">
                <a16:creationId xmlns:a16="http://schemas.microsoft.com/office/drawing/2014/main" id="{D245A3D1-6CF2-48D0-90A8-B64344290F18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原稿查阅 · P52　软件开发过程与技术</a:t>
            </a:r>
          </a:p>
        </p:txBody>
      </p:sp>
      <p:sp>
        <p:nvSpPr>
          <p:cNvPr id="10004" name="frame-268">
            <a:extLst>
              <a:ext uri="{FF2B5EF4-FFF2-40B4-BE49-F238E27FC236}">
                <a16:creationId xmlns:a16="http://schemas.microsoft.com/office/drawing/2014/main" id="{69C917AF-68CE-4B91-A50D-124E0130262E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77 / 78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384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-225">
            <a:extLst>
              <a:ext uri="{FF2B5EF4-FFF2-40B4-BE49-F238E27FC236}">
                <a16:creationId xmlns:a16="http://schemas.microsoft.com/office/drawing/2014/main" id="{AAF494D1-FEAD-45CA-B34A-4727B532B774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2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参考资料 / References</a:t>
            </a:r>
          </a:p>
        </p:txBody>
      </p:sp>
      <p:sp>
        <p:nvSpPr>
          <p:cNvPr id="2" name="frame-226">
            <a:extLst>
              <a:ext uri="{FF2B5EF4-FFF2-40B4-BE49-F238E27FC236}">
                <a16:creationId xmlns:a16="http://schemas.microsoft.com/office/drawing/2014/main" id="{D97B8CCB-F5E6-4F6D-8726-82BEDC2BA94A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3" name="frame-227">
            <a:extLst>
              <a:ext uri="{FF2B5EF4-FFF2-40B4-BE49-F238E27FC236}">
                <a16:creationId xmlns:a16="http://schemas.microsoft.com/office/drawing/2014/main" id="{F7EEAF68-D1DD-449B-A284-C30ADC07483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4" name="course-footer">
            <a:extLst>
              <a:ext uri="{FF2B5EF4-FFF2-40B4-BE49-F238E27FC236}">
                <a16:creationId xmlns:a16="http://schemas.microsoft.com/office/drawing/2014/main" id="{FF32E329-9AA0-4D31-A3B8-B7892C5654D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5" name="page-footer">
            <a:extLst>
              <a:ext uri="{FF2B5EF4-FFF2-40B4-BE49-F238E27FC236}">
                <a16:creationId xmlns:a16="http://schemas.microsoft.com/office/drawing/2014/main" id="{C44EE30C-EFF9-415D-841D-58A9BABF3799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Ch2.4  78 / 78</a:t>
            </a:r>
          </a:p>
        </p:txBody>
      </p:sp>
      <p:sp>
        <p:nvSpPr>
          <p:cNvPr id="6" name="content-228">
            <a:extLst>
              <a:ext uri="{FF2B5EF4-FFF2-40B4-BE49-F238E27FC236}">
                <a16:creationId xmlns:a16="http://schemas.microsoft.com/office/drawing/2014/main" id="{D4AFEC87-B546-4064-8537-AEEA857CB0D4}"/>
              </a:ext>
            </a:extLst>
          </p:cNvPr>
          <p:cNvSpPr>
            <a:spLocks noGrp="1"/>
          </p:cNvSpPr>
          <p:nvPr/>
        </p:nvSpPr>
        <p:spPr>
          <a:xfrm>
            <a:off x="476250" y="118110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课程资料</a:t>
            </a:r>
          </a:p>
        </p:txBody>
      </p:sp>
      <p:sp>
        <p:nvSpPr>
          <p:cNvPr id="7" name="content-229">
            <a:extLst>
              <a:ext uri="{FF2B5EF4-FFF2-40B4-BE49-F238E27FC236}">
                <a16:creationId xmlns:a16="http://schemas.microsoft.com/office/drawing/2014/main" id="{7C89F84E-B920-4F41-B0BC-FE37C461174C}"/>
              </a:ext>
            </a:extLst>
          </p:cNvPr>
          <p:cNvSpPr>
            <a:spLocks noGrp="1"/>
          </p:cNvSpPr>
          <p:nvPr/>
        </p:nvSpPr>
        <p:spPr>
          <a:xfrm>
            <a:off x="2257425" y="1181100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孙海英老师：《软件工程实践》Ch2.4 UML的其它图</a:t>
            </a:r>
          </a:p>
          <a:p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苏亭老师：软件工程课程教学资料（本课程共同参考）</a:t>
            </a:r>
          </a:p>
        </p:txBody>
      </p:sp>
      <p:sp>
        <p:nvSpPr>
          <p:cNvPr id="8" name="frame-230">
            <a:extLst>
              <a:ext uri="{FF2B5EF4-FFF2-40B4-BE49-F238E27FC236}">
                <a16:creationId xmlns:a16="http://schemas.microsoft.com/office/drawing/2014/main" id="{FDACA60C-1066-4945-98D1-10CD187D445A}"/>
              </a:ext>
            </a:extLst>
          </p:cNvPr>
          <p:cNvSpPr>
            <a:spLocks noGrp="1"/>
          </p:cNvSpPr>
          <p:nvPr/>
        </p:nvSpPr>
        <p:spPr>
          <a:xfrm>
            <a:off x="476250" y="198120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9" name="content-231">
            <a:extLst>
              <a:ext uri="{FF2B5EF4-FFF2-40B4-BE49-F238E27FC236}">
                <a16:creationId xmlns:a16="http://schemas.microsoft.com/office/drawing/2014/main" id="{5BDAA2D5-9EF7-4E09-91B9-00AFC56DC4A6}"/>
              </a:ext>
            </a:extLst>
          </p:cNvPr>
          <p:cNvSpPr>
            <a:spLocks noGrp="1"/>
          </p:cNvSpPr>
          <p:nvPr/>
        </p:nvSpPr>
        <p:spPr>
          <a:xfrm>
            <a:off x="476250" y="200977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规范依据</a:t>
            </a:r>
          </a:p>
        </p:txBody>
      </p:sp>
      <p:sp>
        <p:nvSpPr>
          <p:cNvPr id="10" name="content-232">
            <a:extLst>
              <a:ext uri="{FF2B5EF4-FFF2-40B4-BE49-F238E27FC236}">
                <a16:creationId xmlns:a16="http://schemas.microsoft.com/office/drawing/2014/main" id="{A41DA2EA-B5CE-4CEB-92F6-6DD7412383BA}"/>
              </a:ext>
            </a:extLst>
          </p:cNvPr>
          <p:cNvSpPr>
            <a:spLocks noGrp="1"/>
          </p:cNvSpPr>
          <p:nvPr/>
        </p:nvSpPr>
        <p:spPr>
          <a:xfrm>
            <a:off x="2257425" y="2009775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OMG Unified Modeling Language 2.5.1</a:t>
            </a:r>
          </a:p>
          <a:p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第14、15、17章：状态机、活动与交互</a:t>
            </a:r>
          </a:p>
        </p:txBody>
      </p:sp>
      <p:sp>
        <p:nvSpPr>
          <p:cNvPr id="11" name="frame-233">
            <a:extLst>
              <a:ext uri="{FF2B5EF4-FFF2-40B4-BE49-F238E27FC236}">
                <a16:creationId xmlns:a16="http://schemas.microsoft.com/office/drawing/2014/main" id="{93653A63-D86B-4B35-95A6-3CE5A6A7A22C}"/>
              </a:ext>
            </a:extLst>
          </p:cNvPr>
          <p:cNvSpPr>
            <a:spLocks noGrp="1"/>
          </p:cNvSpPr>
          <p:nvPr/>
        </p:nvSpPr>
        <p:spPr>
          <a:xfrm>
            <a:off x="476250" y="2809875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2" name="content-234">
            <a:extLst>
              <a:ext uri="{FF2B5EF4-FFF2-40B4-BE49-F238E27FC236}">
                <a16:creationId xmlns:a16="http://schemas.microsoft.com/office/drawing/2014/main" id="{91602C97-B527-4369-8797-540AB2715BF5}"/>
              </a:ext>
            </a:extLst>
          </p:cNvPr>
          <p:cNvSpPr>
            <a:spLocks noGrp="1"/>
          </p:cNvSpPr>
          <p:nvPr/>
        </p:nvSpPr>
        <p:spPr>
          <a:xfrm>
            <a:off x="476250" y="2838450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教材参考</a:t>
            </a:r>
          </a:p>
        </p:txBody>
      </p:sp>
      <p:sp>
        <p:nvSpPr>
          <p:cNvPr id="13" name="content-235">
            <a:extLst>
              <a:ext uri="{FF2B5EF4-FFF2-40B4-BE49-F238E27FC236}">
                <a16:creationId xmlns:a16="http://schemas.microsoft.com/office/drawing/2014/main" id="{19E5145E-4E9C-49A3-9710-EA64BA85B483}"/>
              </a:ext>
            </a:extLst>
          </p:cNvPr>
          <p:cNvSpPr>
            <a:spLocks noGrp="1"/>
          </p:cNvSpPr>
          <p:nvPr/>
        </p:nvSpPr>
        <p:spPr>
          <a:xfrm>
            <a:off x="2257425" y="2838450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Seidl, Scholz, Huemer, Kappel</a:t>
            </a:r>
          </a:p>
          <a:p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UML @ Classroom. Springer, 2015</a:t>
            </a:r>
          </a:p>
        </p:txBody>
      </p:sp>
      <p:sp>
        <p:nvSpPr>
          <p:cNvPr id="14" name="frame-236">
            <a:extLst>
              <a:ext uri="{FF2B5EF4-FFF2-40B4-BE49-F238E27FC236}">
                <a16:creationId xmlns:a16="http://schemas.microsoft.com/office/drawing/2014/main" id="{D354C679-18D3-4973-B57F-CE48E65202A7}"/>
              </a:ext>
            </a:extLst>
          </p:cNvPr>
          <p:cNvSpPr>
            <a:spLocks noGrp="1"/>
          </p:cNvSpPr>
          <p:nvPr/>
        </p:nvSpPr>
        <p:spPr>
          <a:xfrm>
            <a:off x="476250" y="3638550"/>
            <a:ext cx="8191500" cy="6668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5" name="content-237">
            <a:extLst>
              <a:ext uri="{FF2B5EF4-FFF2-40B4-BE49-F238E27FC236}">
                <a16:creationId xmlns:a16="http://schemas.microsoft.com/office/drawing/2014/main" id="{77C909D9-F429-4BF2-B53B-63929BCDA669}"/>
              </a:ext>
            </a:extLst>
          </p:cNvPr>
          <p:cNvSpPr>
            <a:spLocks noGrp="1"/>
          </p:cNvSpPr>
          <p:nvPr/>
        </p:nvSpPr>
        <p:spPr>
          <a:xfrm>
            <a:off x="476250" y="3667125"/>
            <a:ext cx="157162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图形表达</a:t>
            </a:r>
          </a:p>
        </p:txBody>
      </p:sp>
      <p:sp>
        <p:nvSpPr>
          <p:cNvPr id="16" name="content-238">
            <a:extLst>
              <a:ext uri="{FF2B5EF4-FFF2-40B4-BE49-F238E27FC236}">
                <a16:creationId xmlns:a16="http://schemas.microsoft.com/office/drawing/2014/main" id="{060C67BF-ABF8-459F-9CA6-7E1A6838A81C}"/>
              </a:ext>
            </a:extLst>
          </p:cNvPr>
          <p:cNvSpPr>
            <a:spLocks noGrp="1"/>
          </p:cNvSpPr>
          <p:nvPr/>
        </p:nvSpPr>
        <p:spPr>
          <a:xfrm>
            <a:off x="2257425" y="3667125"/>
            <a:ext cx="6200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PlantUML：活动图、顺序图、状态机图官方文档</a:t>
            </a:r>
          </a:p>
          <a:p>
            <a:pPr algn="l">
              <a:def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plantuml.com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8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1A1A1A"/>
      </a:dk1>
      <a:lt1>
        <a:sysClr val="window" lastClr="FFFFFF"/>
      </a:lt1>
      <a:dk2>
        <a:srgbClr val="1F2A44"/>
      </a:dk2>
      <a:lt2>
        <a:srgbClr val="E8E8E8"/>
      </a:lt2>
      <a:accent1>
        <a:srgbClr val="1F2A44"/>
      </a:accent1>
      <a:accent2>
        <a:srgbClr val="A41F35"/>
      </a:accent2>
      <a:accent3>
        <a:srgbClr val="32634F"/>
      </a:accent3>
      <a:accent4>
        <a:srgbClr val="5C7A9C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Noto Sans SC" panose="020F0502020204030204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Noto Sans SC"/>
        <a:font script="Hebr" typeface="Noto Sans SC"/>
        <a:font script="Thai" typeface="Noto Sans SC"/>
        <a:font script="Ethi" typeface="Noto Sans SC"/>
        <a:font script="Beng" typeface="Noto Sans SC"/>
        <a:font script="Gujr" typeface="Noto Sans SC"/>
        <a:font script="Khmr" typeface="Noto Sans SC"/>
        <a:font script="Knda" typeface="Noto Sans SC"/>
        <a:font script="Guru" typeface="Noto Sans SC"/>
        <a:font script="Cans" typeface="Noto Sans SC"/>
        <a:font script="Cher" typeface="Noto Sans SC"/>
        <a:font script="Yiii" typeface="Noto Sans SC"/>
        <a:font script="Tibt" typeface="Noto Sans SC"/>
        <a:font script="Thaa" typeface="Noto Sans SC"/>
        <a:font script="Deva" typeface="Noto Sans SC"/>
        <a:font script="Telu" typeface="Noto Sans SC"/>
        <a:font script="Taml" typeface="Noto Sans SC"/>
        <a:font script="Syrc" typeface="Noto Sans SC"/>
        <a:font script="Orya" typeface="Noto Sans SC"/>
        <a:font script="Mlym" typeface="Noto Sans SC"/>
        <a:font script="Laoo" typeface="Noto Sans SC"/>
        <a:font script="Sinh" typeface="Noto Sans SC"/>
        <a:font script="Mong" typeface="Noto Sans SC"/>
        <a:font script="Viet" typeface="Noto Sans SC"/>
        <a:font script="Uigh" typeface="Noto Sans SC"/>
        <a:font script="Geor" typeface="Noto Sans SC"/>
      </a:majorFont>
      <a:minorFont>
        <a:latin typeface="Noto Sans SC" panose="020F0502020204030204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Noto Sans SC"/>
        <a:font script="Hebr" typeface="Noto Sans SC"/>
        <a:font script="Thai" typeface="Noto Sans SC"/>
        <a:font script="Ethi" typeface="Noto Sans SC"/>
        <a:font script="Beng" typeface="Noto Sans SC"/>
        <a:font script="Gujr" typeface="Noto Sans SC"/>
        <a:font script="Khmr" typeface="Noto Sans SC"/>
        <a:font script="Knda" typeface="Noto Sans SC"/>
        <a:font script="Guru" typeface="Noto Sans SC"/>
        <a:font script="Cans" typeface="Noto Sans SC"/>
        <a:font script="Cher" typeface="Noto Sans SC"/>
        <a:font script="Yiii" typeface="Noto Sans SC"/>
        <a:font script="Tibt" typeface="Noto Sans SC"/>
        <a:font script="Thaa" typeface="Noto Sans SC"/>
        <a:font script="Deva" typeface="Noto Sans SC"/>
        <a:font script="Telu" typeface="Noto Sans SC"/>
        <a:font script="Taml" typeface="Noto Sans SC"/>
        <a:font script="Syrc" typeface="Noto Sans SC"/>
        <a:font script="Orya" typeface="Noto Sans SC"/>
        <a:font script="Mlym" typeface="Noto Sans SC"/>
        <a:font script="Laoo" typeface="Noto Sans SC"/>
        <a:font script="Sinh" typeface="Noto Sans SC"/>
        <a:font script="Mong" typeface="Noto Sans SC"/>
        <a:font script="Viet" typeface="Noto Sans SC"/>
        <a:font script="Uigh" typeface="Noto Sans SC"/>
        <a:font script="Geor" typeface="Noto Sans S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20003</Words>
  <Application>Microsoft Macintosh PowerPoint</Application>
  <DocSecurity>0</DocSecurity>
  <PresentationFormat>On-screen Show (16:9)</PresentationFormat>
  <Paragraphs>1816</Paragraphs>
  <Slides>78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78</vt:i4>
      </vt:variant>
    </vt:vector>
  </HeadingPairs>
  <TitlesOfParts>
    <vt:vector size="85" baseType="lpstr">
      <vt:lpstr>Noto Sans SC</vt:lpstr>
      <vt:lpstr>Noto Serif SC Bold</vt:lpstr>
      <vt:lpstr>Arial</vt:lpstr>
      <vt:lpstr>Calibri</vt:lpstr>
      <vt:lpstr>Wingdings</vt:lpstr>
      <vt:lpstr>Office Theme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宇 肖</cp:lastModifiedBy>
  <cp:revision>2</cp:revision>
  <dcterms:created xsi:type="dcterms:W3CDTF">2026-10-07T16:08:25Z</dcterms:created>
  <dcterms:modified xsi:type="dcterms:W3CDTF">2026-10-08T02:57:25Z</dcterms:modified>
</cp:coreProperties>
</file>