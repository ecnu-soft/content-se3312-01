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4766bc48b43ab" /><Relationship Type="http://schemas.openxmlformats.org/officeDocument/2006/relationships/extended-properties" Target="/docProps/app.xml" Id="R76358515a64449c1" /><Relationship Type="http://schemas.openxmlformats.org/officeDocument/2006/relationships/officeDocument" Target="/ppt/presentation.xml" Id="Rcecb54933a06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bd5874d9d4811"/>
  </p:sldMasterIdLst>
  <p:notesMasterIdLst>
    <p:notesMasterId xmlns:r="http://schemas.openxmlformats.org/officeDocument/2006/relationships" r:id="R5bc04e66b3c841bf"/>
  </p:notesMasterIdLst>
  <p:sldIdLst>
    <p:sldId xmlns:r="http://schemas.openxmlformats.org/officeDocument/2006/relationships" id="256" r:id="Re476562812554ab3"/>
    <p:sldId xmlns:r="http://schemas.openxmlformats.org/officeDocument/2006/relationships" id="257" r:id="R222f40d6e6724b1d"/>
    <p:sldId xmlns:r="http://schemas.openxmlformats.org/officeDocument/2006/relationships" id="258" r:id="R0352483274564293"/>
    <p:sldId xmlns:r="http://schemas.openxmlformats.org/officeDocument/2006/relationships" id="259" r:id="Re5af8bac613e4430"/>
    <p:sldId xmlns:r="http://schemas.openxmlformats.org/officeDocument/2006/relationships" id="260" r:id="R217f1e7cbd3c4f0c"/>
    <p:sldId xmlns:r="http://schemas.openxmlformats.org/officeDocument/2006/relationships" id="261" r:id="R3b1750d0fe8b4fc1"/>
    <p:sldId xmlns:r="http://schemas.openxmlformats.org/officeDocument/2006/relationships" id="262" r:id="Rbb439d6a23d54f9d"/>
    <p:sldId xmlns:r="http://schemas.openxmlformats.org/officeDocument/2006/relationships" id="263" r:id="R5629ef571b53466e"/>
    <p:sldId xmlns:r="http://schemas.openxmlformats.org/officeDocument/2006/relationships" id="264" r:id="R877dc11b27f44828"/>
    <p:sldId xmlns:r="http://schemas.openxmlformats.org/officeDocument/2006/relationships" id="265" r:id="Rf1adc809965844ea"/>
    <p:sldId xmlns:r="http://schemas.openxmlformats.org/officeDocument/2006/relationships" id="266" r:id="R4b072bc567f843b0"/>
    <p:sldId xmlns:r="http://schemas.openxmlformats.org/officeDocument/2006/relationships" id="267" r:id="R7b239c05dddb4ef6"/>
    <p:sldId xmlns:r="http://schemas.openxmlformats.org/officeDocument/2006/relationships" id="268" r:id="R28d759d9e497447e"/>
    <p:sldId xmlns:r="http://schemas.openxmlformats.org/officeDocument/2006/relationships" id="269" r:id="R723b4934412f41a3"/>
    <p:sldId xmlns:r="http://schemas.openxmlformats.org/officeDocument/2006/relationships" id="270" r:id="R2b95739c96744c6d"/>
    <p:sldId xmlns:r="http://schemas.openxmlformats.org/officeDocument/2006/relationships" id="271" r:id="Rb64c0e08ca2a42a5"/>
    <p:sldId xmlns:r="http://schemas.openxmlformats.org/officeDocument/2006/relationships" id="272" r:id="R76acb3d5f0f54b0e"/>
    <p:sldId xmlns:r="http://schemas.openxmlformats.org/officeDocument/2006/relationships" id="273" r:id="Rd1a1699cabcf409d"/>
    <p:sldId xmlns:r="http://schemas.openxmlformats.org/officeDocument/2006/relationships" id="274" r:id="R6ae78e3fec3c4ba6"/>
    <p:sldId xmlns:r="http://schemas.openxmlformats.org/officeDocument/2006/relationships" id="275" r:id="R60f62cc17cff4bdb"/>
    <p:sldId xmlns:r="http://schemas.openxmlformats.org/officeDocument/2006/relationships" id="276" r:id="R246301e6fbf44b06"/>
    <p:sldId xmlns:r="http://schemas.openxmlformats.org/officeDocument/2006/relationships" id="277" r:id="Rf31ded936dee4f59"/>
    <p:sldId xmlns:r="http://schemas.openxmlformats.org/officeDocument/2006/relationships" id="278" r:id="Ra300c8cfdbe04acd"/>
    <p:sldId xmlns:r="http://schemas.openxmlformats.org/officeDocument/2006/relationships" id="279" r:id="Rd01220871022489b"/>
    <p:sldId xmlns:r="http://schemas.openxmlformats.org/officeDocument/2006/relationships" id="280" r:id="Re1dddabdc49a4ec4"/>
    <p:sldId xmlns:r="http://schemas.openxmlformats.org/officeDocument/2006/relationships" id="281" r:id="Rf0d8b2a065cc4829"/>
    <p:sldId xmlns:r="http://schemas.openxmlformats.org/officeDocument/2006/relationships" id="282" r:id="R83d5367ca2d94f4d"/>
    <p:sldId xmlns:r="http://schemas.openxmlformats.org/officeDocument/2006/relationships" id="283" r:id="R8936e49b40fb401f"/>
    <p:sldId xmlns:r="http://schemas.openxmlformats.org/officeDocument/2006/relationships" id="284" r:id="Re09fb9e2ae5344a4"/>
    <p:sldId xmlns:r="http://schemas.openxmlformats.org/officeDocument/2006/relationships" id="285" r:id="Re6a4b52891c045ee"/>
    <p:sldId xmlns:r="http://schemas.openxmlformats.org/officeDocument/2006/relationships" id="286" r:id="R9ce4f30bd44e47ae"/>
    <p:sldId xmlns:r="http://schemas.openxmlformats.org/officeDocument/2006/relationships" id="287" r:id="R8458b5cfec3645f2"/>
    <p:sldId xmlns:r="http://schemas.openxmlformats.org/officeDocument/2006/relationships" id="288" r:id="R6664187b00424e68"/>
    <p:sldId xmlns:r="http://schemas.openxmlformats.org/officeDocument/2006/relationships" id="289" r:id="R2a195184211c4b89"/>
    <p:sldId xmlns:r="http://schemas.openxmlformats.org/officeDocument/2006/relationships" id="290" r:id="R97e372cc4cc349b7"/>
    <p:sldId xmlns:r="http://schemas.openxmlformats.org/officeDocument/2006/relationships" id="291" r:id="Rc195a8b8ff814cc5"/>
    <p:sldId xmlns:r="http://schemas.openxmlformats.org/officeDocument/2006/relationships" id="292" r:id="R19f00e9895004d74"/>
    <p:sldId xmlns:r="http://schemas.openxmlformats.org/officeDocument/2006/relationships" id="293" r:id="R7bc13d3fac2f4f46"/>
    <p:sldId xmlns:r="http://schemas.openxmlformats.org/officeDocument/2006/relationships" id="294" r:id="Ref3c0deb09ff4776"/>
    <p:sldId xmlns:r="http://schemas.openxmlformats.org/officeDocument/2006/relationships" id="295" r:id="R7acd7bc3de154b2f"/>
    <p:sldId xmlns:r="http://schemas.openxmlformats.org/officeDocument/2006/relationships" id="296" r:id="R94d51486278b4842"/>
    <p:sldId xmlns:r="http://schemas.openxmlformats.org/officeDocument/2006/relationships" id="297" r:id="R6363f964752645e0"/>
    <p:sldId xmlns:r="http://schemas.openxmlformats.org/officeDocument/2006/relationships" id="298" r:id="R42e9202f1f37425c"/>
    <p:sldId xmlns:r="http://schemas.openxmlformats.org/officeDocument/2006/relationships" id="299" r:id="R5674c20f02774aa4"/>
    <p:sldId xmlns:r="http://schemas.openxmlformats.org/officeDocument/2006/relationships" id="300" r:id="R6d56478c68034e19"/>
    <p:sldId xmlns:r="http://schemas.openxmlformats.org/officeDocument/2006/relationships" id="301" r:id="R145782b22b9e4e6a"/>
    <p:sldId xmlns:ns1="http://schemas.openxmlformats.org/officeDocument/2006/relationships" id="336" ns1:id="rIdCh3V531"/>
    <p:sldId xmlns:r="http://schemas.openxmlformats.org/officeDocument/2006/relationships" id="302" r:id="R03527fcf26de4abc"/>
    <p:sldId xmlns:r="http://schemas.openxmlformats.org/officeDocument/2006/relationships" id="303" r:id="Rf7f630b3b47f40b2"/>
    <p:sldId xmlns:r="http://schemas.openxmlformats.org/officeDocument/2006/relationships" id="304" r:id="R95080541e5b84c8b"/>
    <p:sldId xmlns:r="http://schemas.openxmlformats.org/officeDocument/2006/relationships" id="305" r:id="R2cab3655908c4afb"/>
    <p:sldId xmlns:r="http://schemas.openxmlformats.org/officeDocument/2006/relationships" id="306" r:id="Re0d96cc4386e4677"/>
    <p:sldId xmlns:r="http://schemas.openxmlformats.org/officeDocument/2006/relationships" id="307" r:id="R6780813cf29b4e9b"/>
    <p:sldId xmlns:r="http://schemas.openxmlformats.org/officeDocument/2006/relationships" id="308" r:id="R353d689bea964d71"/>
    <p:sldId xmlns:r="http://schemas.openxmlformats.org/officeDocument/2006/relationships" id="309" r:id="R2fe5ba3a810b40af"/>
    <p:sldId xmlns:r="http://schemas.openxmlformats.org/officeDocument/2006/relationships" id="310" r:id="Rded480f9be8142af"/>
    <p:sldId xmlns:r="http://schemas.openxmlformats.org/officeDocument/2006/relationships" id="311" r:id="R26e396e35ab942d7"/>
    <p:sldId xmlns:r="http://schemas.openxmlformats.org/officeDocument/2006/relationships" id="312" r:id="R392180bb434845ab"/>
    <p:sldId xmlns:ns1="http://schemas.openxmlformats.org/officeDocument/2006/relationships" id="337" ns1:id="rIdCh3V532"/>
    <p:sldId xmlns:r="http://schemas.openxmlformats.org/officeDocument/2006/relationships" id="313" r:id="Rf1d28830d5104680"/>
    <p:sldId xmlns:r="http://schemas.openxmlformats.org/officeDocument/2006/relationships" id="314" r:id="Rc0e60005e7ca4815"/>
    <p:sldId xmlns:r="http://schemas.openxmlformats.org/officeDocument/2006/relationships" id="315" r:id="Rde83a2531f2c4bbf"/>
    <p:sldId xmlns:r="http://schemas.openxmlformats.org/officeDocument/2006/relationships" id="316" r:id="R898d43ed84764c88"/>
    <p:sldId xmlns:r="http://schemas.openxmlformats.org/officeDocument/2006/relationships" id="317" r:id="Ra38c25ecf0054b01"/>
    <p:sldId xmlns:r="http://schemas.openxmlformats.org/officeDocument/2006/relationships" id="318" r:id="R11301b996fdd4917"/>
    <p:sldId xmlns:r="http://schemas.openxmlformats.org/officeDocument/2006/relationships" id="319" r:id="R646ab1d874004046"/>
    <p:sldId xmlns:r="http://schemas.openxmlformats.org/officeDocument/2006/relationships" id="320" r:id="R19b4c41ab5064768"/>
    <p:sldId xmlns:r="http://schemas.openxmlformats.org/officeDocument/2006/relationships" id="321" r:id="R8ceb8714b1da430a"/>
    <p:sldId xmlns:r="http://schemas.openxmlformats.org/officeDocument/2006/relationships" id="322" r:id="R4f77f32aba2442d1"/>
    <p:sldId xmlns:r="http://schemas.openxmlformats.org/officeDocument/2006/relationships" id="323" r:id="Re93bc48a88704e59"/>
    <p:sldId xmlns:r="http://schemas.openxmlformats.org/officeDocument/2006/relationships" id="324" r:id="R52bebd5aa2574657"/>
    <p:sldId xmlns:r="http://schemas.openxmlformats.org/officeDocument/2006/relationships" id="325" r:id="R93651deb7e2f4a30"/>
    <p:sldId xmlns:r="http://schemas.openxmlformats.org/officeDocument/2006/relationships" id="326" r:id="R93dd3ce781cd44a8"/>
    <p:sldId xmlns:r="http://schemas.openxmlformats.org/officeDocument/2006/relationships" id="327" r:id="Rf471bd9439f847ab"/>
    <p:sldId xmlns:r="http://schemas.openxmlformats.org/officeDocument/2006/relationships" id="328" r:id="R5c8991c26d5f482e"/>
    <p:sldId xmlns:r="http://schemas.openxmlformats.org/officeDocument/2006/relationships" id="329" r:id="Raed266e988e84892"/>
    <p:sldId xmlns:r="http://schemas.openxmlformats.org/officeDocument/2006/relationships" id="330" r:id="Rf2e5de96cdd64cf7"/>
    <p:sldId xmlns:r="http://schemas.openxmlformats.org/officeDocument/2006/relationships" id="331" r:id="Ra043e62c956a494f"/>
    <p:sldId xmlns:r="http://schemas.openxmlformats.org/officeDocument/2006/relationships" id="332" r:id="R03c4771ad3b841b1"/>
    <p:sldId xmlns:r="http://schemas.openxmlformats.org/officeDocument/2006/relationships" id="333" r:id="R0ef8290579c04fc3"/>
    <p:sldId xmlns:r="http://schemas.openxmlformats.org/officeDocument/2006/relationships" id="334" r:id="R30719fd7b3aa4f81"/>
    <p:sldId xmlns:r="http://schemas.openxmlformats.org/officeDocument/2006/relationships" id="335" r:id="R9bfe071880284a4e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导入：图、模型与案例范围" id="{328C224F-01D5-5404-9754-4B83E1B8CAD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01 业务与系统需求" id="{A7D10EB3-E5D1-5F6A-94E0-D66AEC618DFE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2 领域模型" id="{39B3C69F-9EDB-5B4F-90D3-0D42ECA65517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03 分析模型" id="{9B256798-F636-5BA9-95EC-71F441E22879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04 设计与实现" id="{666D270C-2367-5FB6-ACCC-33A306042B05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36"/>
          </p14:sldIdLst>
        </p14:section>
        <p14:section name="05 一致性检验与迁移" id="{93965D2E-FF04-5542-B055-A944665E1233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37"/>
            <p14:sldId id="313"/>
          </p14:sldIdLst>
        </p14:section>
        <p14:section name="参考扩展与资料" id="{8F4E0319-A233-5894-8AB0-07ABAE6B9314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6bfaf8d18bf4e01"/><Relationship Type="http://schemas.openxmlformats.org/officeDocument/2006/relationships/slideMaster" Target="/ppt/slideMasters/slideMaster1.xml" Id="R95fbd5874d9d4811"/><Relationship Type="http://schemas.openxmlformats.org/officeDocument/2006/relationships/notesMaster" Target="/ppt/notesMasters/notesMaster1.xml" Id="R5bc04e66b3c841bf"/><Relationship Type="http://schemas.openxmlformats.org/officeDocument/2006/relationships/presProps" Target="/ppt/presProps.xml" Id="R0120b7c591c74067"/><Relationship Type="http://schemas.openxmlformats.org/officeDocument/2006/relationships/viewProps" Target="/ppt/viewProps.xml" Id="R04e5a091f7834964"/><Relationship Type="http://schemas.openxmlformats.org/officeDocument/2006/relationships/tableStyles" Target="/ppt/tableStyles.xml" Id="Raa3d1f4cfff04641"/><Relationship Type="http://schemas.openxmlformats.org/officeDocument/2006/relationships/slide" Target="/ppt/slides/slide1.xml" Id="Re476562812554ab3"/><Relationship Type="http://schemas.openxmlformats.org/officeDocument/2006/relationships/slide" Target="/ppt/slides/slide2.xml" Id="R222f40d6e6724b1d"/><Relationship Type="http://schemas.openxmlformats.org/officeDocument/2006/relationships/slide" Target="/ppt/slides/slide3.xml" Id="R0352483274564293"/><Relationship Type="http://schemas.openxmlformats.org/officeDocument/2006/relationships/slide" Target="/ppt/slides/slide4.xml" Id="Re5af8bac613e4430"/><Relationship Type="http://schemas.openxmlformats.org/officeDocument/2006/relationships/slide" Target="/ppt/slides/slide5.xml" Id="R217f1e7cbd3c4f0c"/><Relationship Type="http://schemas.openxmlformats.org/officeDocument/2006/relationships/slide" Target="/ppt/slides/slide6.xml" Id="R3b1750d0fe8b4fc1"/><Relationship Type="http://schemas.openxmlformats.org/officeDocument/2006/relationships/slide" Target="/ppt/slides/slide7.xml" Id="Rbb439d6a23d54f9d"/><Relationship Type="http://schemas.openxmlformats.org/officeDocument/2006/relationships/slide" Target="/ppt/slides/slide8.xml" Id="R5629ef571b53466e"/><Relationship Type="http://schemas.openxmlformats.org/officeDocument/2006/relationships/slide" Target="/ppt/slides/slide9.xml" Id="R877dc11b27f44828"/><Relationship Type="http://schemas.openxmlformats.org/officeDocument/2006/relationships/slide" Target="/ppt/slides/slide10.xml" Id="Rf1adc809965844ea"/><Relationship Type="http://schemas.openxmlformats.org/officeDocument/2006/relationships/slide" Target="/ppt/slides/slide11.xml" Id="R4b072bc567f843b0"/><Relationship Type="http://schemas.openxmlformats.org/officeDocument/2006/relationships/slide" Target="/ppt/slides/slide12.xml" Id="R7b239c05dddb4ef6"/><Relationship Type="http://schemas.openxmlformats.org/officeDocument/2006/relationships/slide" Target="/ppt/slides/slide13.xml" Id="R28d759d9e497447e"/><Relationship Type="http://schemas.openxmlformats.org/officeDocument/2006/relationships/slide" Target="/ppt/slides/slide14.xml" Id="R723b4934412f41a3"/><Relationship Type="http://schemas.openxmlformats.org/officeDocument/2006/relationships/slide" Target="/ppt/slides/slide15.xml" Id="R2b95739c96744c6d"/><Relationship Type="http://schemas.openxmlformats.org/officeDocument/2006/relationships/slide" Target="/ppt/slides/slide16.xml" Id="Rb64c0e08ca2a42a5"/><Relationship Type="http://schemas.openxmlformats.org/officeDocument/2006/relationships/slide" Target="/ppt/slides/slide17.xml" Id="R76acb3d5f0f54b0e"/><Relationship Type="http://schemas.openxmlformats.org/officeDocument/2006/relationships/slide" Target="/ppt/slides/slide18.xml" Id="Rd1a1699cabcf409d"/><Relationship Type="http://schemas.openxmlformats.org/officeDocument/2006/relationships/slide" Target="/ppt/slides/slide19.xml" Id="R6ae78e3fec3c4ba6"/><Relationship Type="http://schemas.openxmlformats.org/officeDocument/2006/relationships/slide" Target="/ppt/slides/slide20.xml" Id="R60f62cc17cff4bdb"/><Relationship Type="http://schemas.openxmlformats.org/officeDocument/2006/relationships/slide" Target="/ppt/slides/slide21.xml" Id="R246301e6fbf44b06"/><Relationship Type="http://schemas.openxmlformats.org/officeDocument/2006/relationships/slide" Target="/ppt/slides/slide22.xml" Id="Rf31ded936dee4f59"/><Relationship Type="http://schemas.openxmlformats.org/officeDocument/2006/relationships/slide" Target="/ppt/slides/slide23.xml" Id="Ra300c8cfdbe04acd"/><Relationship Type="http://schemas.openxmlformats.org/officeDocument/2006/relationships/slide" Target="/ppt/slides/slide24.xml" Id="Rd01220871022489b"/><Relationship Type="http://schemas.openxmlformats.org/officeDocument/2006/relationships/slide" Target="/ppt/slides/slide25.xml" Id="Re1dddabdc49a4ec4"/><Relationship Type="http://schemas.openxmlformats.org/officeDocument/2006/relationships/slide" Target="/ppt/slides/slide26.xml" Id="Rf0d8b2a065cc4829"/><Relationship Type="http://schemas.openxmlformats.org/officeDocument/2006/relationships/slide" Target="/ppt/slides/slide27.xml" Id="R83d5367ca2d94f4d"/><Relationship Type="http://schemas.openxmlformats.org/officeDocument/2006/relationships/slide" Target="/ppt/slides/slide28.xml" Id="R8936e49b40fb401f"/><Relationship Type="http://schemas.openxmlformats.org/officeDocument/2006/relationships/slide" Target="/ppt/slides/slide29.xml" Id="Re09fb9e2ae5344a4"/><Relationship Type="http://schemas.openxmlformats.org/officeDocument/2006/relationships/slide" Target="/ppt/slides/slide30.xml" Id="Re6a4b52891c045ee"/><Relationship Type="http://schemas.openxmlformats.org/officeDocument/2006/relationships/slide" Target="/ppt/slides/slide31.xml" Id="R9ce4f30bd44e47ae"/><Relationship Type="http://schemas.openxmlformats.org/officeDocument/2006/relationships/slide" Target="/ppt/slides/slide32.xml" Id="R8458b5cfec3645f2"/><Relationship Type="http://schemas.openxmlformats.org/officeDocument/2006/relationships/slide" Target="/ppt/slides/slide33.xml" Id="R6664187b00424e68"/><Relationship Type="http://schemas.openxmlformats.org/officeDocument/2006/relationships/slide" Target="/ppt/slides/slide34.xml" Id="R2a195184211c4b89"/><Relationship Type="http://schemas.openxmlformats.org/officeDocument/2006/relationships/slide" Target="/ppt/slides/slide35.xml" Id="R97e372cc4cc349b7"/><Relationship Type="http://schemas.openxmlformats.org/officeDocument/2006/relationships/slide" Target="/ppt/slides/slide36.xml" Id="Rc195a8b8ff814cc5"/><Relationship Type="http://schemas.openxmlformats.org/officeDocument/2006/relationships/slide" Target="/ppt/slides/slide37.xml" Id="R19f00e9895004d74"/><Relationship Type="http://schemas.openxmlformats.org/officeDocument/2006/relationships/slide" Target="/ppt/slides/slide38.xml" Id="R7bc13d3fac2f4f46"/><Relationship Type="http://schemas.openxmlformats.org/officeDocument/2006/relationships/slide" Target="/ppt/slides/slide39.xml" Id="Ref3c0deb09ff4776"/><Relationship Type="http://schemas.openxmlformats.org/officeDocument/2006/relationships/slide" Target="/ppt/slides/slide40.xml" Id="R7acd7bc3de154b2f"/><Relationship Type="http://schemas.openxmlformats.org/officeDocument/2006/relationships/slide" Target="/ppt/slides/slide41.xml" Id="R94d51486278b4842"/><Relationship Type="http://schemas.openxmlformats.org/officeDocument/2006/relationships/slide" Target="/ppt/slides/slide42.xml" Id="R6363f964752645e0"/><Relationship Type="http://schemas.openxmlformats.org/officeDocument/2006/relationships/slide" Target="/ppt/slides/slide43.xml" Id="R42e9202f1f37425c"/><Relationship Type="http://schemas.openxmlformats.org/officeDocument/2006/relationships/slide" Target="/ppt/slides/slide44.xml" Id="R5674c20f02774aa4"/><Relationship Type="http://schemas.openxmlformats.org/officeDocument/2006/relationships/slide" Target="/ppt/slides/slide45.xml" Id="R6d56478c68034e19"/><Relationship Type="http://schemas.openxmlformats.org/officeDocument/2006/relationships/slide" Target="/ppt/slides/slide46.xml" Id="R145782b22b9e4e6a"/><Relationship Type="http://schemas.openxmlformats.org/officeDocument/2006/relationships/slide" Target="/ppt/slides/slide47.xml" Id="R03527fcf26de4abc"/><Relationship Type="http://schemas.openxmlformats.org/officeDocument/2006/relationships/slide" Target="/ppt/slides/slide48.xml" Id="Rf7f630b3b47f40b2"/><Relationship Type="http://schemas.openxmlformats.org/officeDocument/2006/relationships/slide" Target="/ppt/slides/slide49.xml" Id="R95080541e5b84c8b"/><Relationship Type="http://schemas.openxmlformats.org/officeDocument/2006/relationships/slide" Target="/ppt/slides/slide50.xml" Id="R2cab3655908c4afb"/><Relationship Type="http://schemas.openxmlformats.org/officeDocument/2006/relationships/slide" Target="/ppt/slides/slide51.xml" Id="Re0d96cc4386e4677"/><Relationship Type="http://schemas.openxmlformats.org/officeDocument/2006/relationships/slide" Target="/ppt/slides/slide52.xml" Id="R6780813cf29b4e9b"/><Relationship Type="http://schemas.openxmlformats.org/officeDocument/2006/relationships/slide" Target="/ppt/slides/slide53.xml" Id="R353d689bea964d71"/><Relationship Type="http://schemas.openxmlformats.org/officeDocument/2006/relationships/slide" Target="/ppt/slides/slide54.xml" Id="R2fe5ba3a810b40af"/><Relationship Type="http://schemas.openxmlformats.org/officeDocument/2006/relationships/slide" Target="/ppt/slides/slide55.xml" Id="Rded480f9be8142af"/><Relationship Type="http://schemas.openxmlformats.org/officeDocument/2006/relationships/slide" Target="/ppt/slides/slide56.xml" Id="R26e396e35ab942d7"/><Relationship Type="http://schemas.openxmlformats.org/officeDocument/2006/relationships/slide" Target="/ppt/slides/slide57.xml" Id="R392180bb434845ab"/><Relationship Type="http://schemas.openxmlformats.org/officeDocument/2006/relationships/slide" Target="/ppt/slides/slide58.xml" Id="Rf1d28830d5104680"/><Relationship Type="http://schemas.openxmlformats.org/officeDocument/2006/relationships/slide" Target="/ppt/slides/slide59.xml" Id="Rc0e60005e7ca4815"/><Relationship Type="http://schemas.openxmlformats.org/officeDocument/2006/relationships/slide" Target="/ppt/slides/slide60.xml" Id="Rde83a2531f2c4bbf"/><Relationship Type="http://schemas.openxmlformats.org/officeDocument/2006/relationships/slide" Target="/ppt/slides/slide61.xml" Id="R898d43ed84764c88"/><Relationship Type="http://schemas.openxmlformats.org/officeDocument/2006/relationships/slide" Target="/ppt/slides/slide62.xml" Id="Ra38c25ecf0054b01"/><Relationship Type="http://schemas.openxmlformats.org/officeDocument/2006/relationships/slide" Target="/ppt/slides/slide63.xml" Id="R11301b996fdd4917"/><Relationship Type="http://schemas.openxmlformats.org/officeDocument/2006/relationships/slide" Target="/ppt/slides/slide64.xml" Id="R646ab1d874004046"/><Relationship Type="http://schemas.openxmlformats.org/officeDocument/2006/relationships/slide" Target="/ppt/slides/slide65.xml" Id="R19b4c41ab5064768"/><Relationship Type="http://schemas.openxmlformats.org/officeDocument/2006/relationships/slide" Target="/ppt/slides/slide66.xml" Id="R8ceb8714b1da430a"/><Relationship Type="http://schemas.openxmlformats.org/officeDocument/2006/relationships/slide" Target="/ppt/slides/slide67.xml" Id="R4f77f32aba2442d1"/><Relationship Type="http://schemas.openxmlformats.org/officeDocument/2006/relationships/slide" Target="/ppt/slides/slide68.xml" Id="Re93bc48a88704e59"/><Relationship Type="http://schemas.openxmlformats.org/officeDocument/2006/relationships/slide" Target="/ppt/slides/slide69.xml" Id="R52bebd5aa2574657"/><Relationship Type="http://schemas.openxmlformats.org/officeDocument/2006/relationships/slide" Target="/ppt/slides/slide70.xml" Id="R93651deb7e2f4a30"/><Relationship Type="http://schemas.openxmlformats.org/officeDocument/2006/relationships/slide" Target="/ppt/slides/slide71.xml" Id="R93dd3ce781cd44a8"/><Relationship Type="http://schemas.openxmlformats.org/officeDocument/2006/relationships/slide" Target="/ppt/slides/slide72.xml" Id="Rf471bd9439f847ab"/><Relationship Type="http://schemas.openxmlformats.org/officeDocument/2006/relationships/slide" Target="/ppt/slides/slide73.xml" Id="R5c8991c26d5f482e"/><Relationship Type="http://schemas.openxmlformats.org/officeDocument/2006/relationships/slide" Target="/ppt/slides/slide74.xml" Id="Raed266e988e84892"/><Relationship Type="http://schemas.openxmlformats.org/officeDocument/2006/relationships/slide" Target="/ppt/slides/slide75.xml" Id="Rf2e5de96cdd64cf7"/><Relationship Type="http://schemas.openxmlformats.org/officeDocument/2006/relationships/slide" Target="/ppt/slides/slide76.xml" Id="Ra043e62c956a494f"/><Relationship Type="http://schemas.openxmlformats.org/officeDocument/2006/relationships/slide" Target="/ppt/slides/slide77.xml" Id="R03c4771ad3b841b1"/><Relationship Type="http://schemas.openxmlformats.org/officeDocument/2006/relationships/slide" Target="/ppt/slides/slide78.xml" Id="R0ef8290579c04fc3"/><Relationship Type="http://schemas.openxmlformats.org/officeDocument/2006/relationships/slide" Target="/ppt/slides/slide79.xml" Id="R30719fd7b3aa4f81"/><Relationship Type="http://schemas.openxmlformats.org/officeDocument/2006/relationships/slide" Target="/ppt/slides/slide80.xml" Id="R9bfe071880284a4e"/><Relationship Id="rIdCh3V531" Type="http://schemas.openxmlformats.org/officeDocument/2006/relationships/slide" Target="slides/slide81.xml"/><Relationship Id="rIdCh3V532" Type="http://schemas.openxmlformats.org/officeDocument/2006/relationships/slide" Target="slides/slide82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63cd0bb2cb4e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ccfb105974525" /><Relationship Type="http://schemas.openxmlformats.org/officeDocument/2006/relationships/notesMaster" Target="/ppt/notesMasters/notesMaster1.xml" Id="R462f783ba006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b674ff4544acd" /><Relationship Type="http://schemas.openxmlformats.org/officeDocument/2006/relationships/notesMaster" Target="/ppt/notesMasters/notesMaster1.xml" Id="Rdc2754bc381249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8ffb75717d4f76" /><Relationship Type="http://schemas.openxmlformats.org/officeDocument/2006/relationships/notesMaster" Target="/ppt/notesMasters/notesMaster1.xml" Id="R1ec83337363849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de2c23e574914" /><Relationship Type="http://schemas.openxmlformats.org/officeDocument/2006/relationships/notesMaster" Target="/ppt/notesMasters/notesMaster1.xml" Id="R3dab96d118a6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a354aa8d94094" /><Relationship Type="http://schemas.openxmlformats.org/officeDocument/2006/relationships/notesMaster" Target="/ppt/notesMasters/notesMaster1.xml" Id="Re10ec482e83a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af6ca5e1144e3" /><Relationship Type="http://schemas.openxmlformats.org/officeDocument/2006/relationships/notesMaster" Target="/ppt/notesMasters/notesMaster1.xml" Id="R2c15983af0d6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92f948c3b44429" /><Relationship Type="http://schemas.openxmlformats.org/officeDocument/2006/relationships/notesMaster" Target="/ppt/notesMasters/notesMaster1.xml" Id="R7fc5fe5ba27c4b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546b75365c43dc" /><Relationship Type="http://schemas.openxmlformats.org/officeDocument/2006/relationships/notesMaster" Target="/ppt/notesMasters/notesMaster1.xml" Id="Rb780221fba084e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522a13c7f74814" /><Relationship Type="http://schemas.openxmlformats.org/officeDocument/2006/relationships/notesMaster" Target="/ppt/notesMasters/notesMaster1.xml" Id="R11fb6ba54fdf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43698fedc74de6" /><Relationship Type="http://schemas.openxmlformats.org/officeDocument/2006/relationships/notesMaster" Target="/ppt/notesMasters/notesMaster1.xml" Id="Ra0aaa2597a43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7f4d8213934f7c" /><Relationship Type="http://schemas.openxmlformats.org/officeDocument/2006/relationships/notesMaster" Target="/ppt/notesMasters/notesMaster1.xml" Id="R40e40ceea9fa4a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8428e1de434e2c" /><Relationship Type="http://schemas.openxmlformats.org/officeDocument/2006/relationships/notesMaster" Target="/ppt/notesMasters/notesMaster1.xml" Id="Ra4d393c13cda4b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25eb39f9f8451f" /><Relationship Type="http://schemas.openxmlformats.org/officeDocument/2006/relationships/notesMaster" Target="/ppt/notesMasters/notesMaster1.xml" Id="R3273aac253a046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86c56e5c6d402b" /><Relationship Type="http://schemas.openxmlformats.org/officeDocument/2006/relationships/notesMaster" Target="/ppt/notesMasters/notesMaster1.xml" Id="R1adc2982b9d046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96b3c0927c4a41" /><Relationship Type="http://schemas.openxmlformats.org/officeDocument/2006/relationships/notesMaster" Target="/ppt/notesMasters/notesMaster1.xml" Id="R5719a317a08941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cf8964f3ff4678" /><Relationship Type="http://schemas.openxmlformats.org/officeDocument/2006/relationships/notesMaster" Target="/ppt/notesMasters/notesMaster1.xml" Id="Ra865d1c19ca643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1f973c9ff14e1d" /><Relationship Type="http://schemas.openxmlformats.org/officeDocument/2006/relationships/notesMaster" Target="/ppt/notesMasters/notesMaster1.xml" Id="Re6f59d2cc09142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564cadb8f448a6" /><Relationship Type="http://schemas.openxmlformats.org/officeDocument/2006/relationships/notesMaster" Target="/ppt/notesMasters/notesMaster1.xml" Id="Rc23df35cde6344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e490e4ce764197" /><Relationship Type="http://schemas.openxmlformats.org/officeDocument/2006/relationships/notesMaster" Target="/ppt/notesMasters/notesMaster1.xml" Id="R9d68233def3c45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3d527f09cb4463" /><Relationship Type="http://schemas.openxmlformats.org/officeDocument/2006/relationships/notesMaster" Target="/ppt/notesMasters/notesMaster1.xml" Id="R4ebe6ca1172c4f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5b17cebc1a4664" /><Relationship Type="http://schemas.openxmlformats.org/officeDocument/2006/relationships/notesMaster" Target="/ppt/notesMasters/notesMaster1.xml" Id="Raa775433226e40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0e9d85952f4eba" /><Relationship Type="http://schemas.openxmlformats.org/officeDocument/2006/relationships/notesMaster" Target="/ppt/notesMasters/notesMaster1.xml" Id="Rfc9abdf7363a4a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cc28ef09554316" /><Relationship Type="http://schemas.openxmlformats.org/officeDocument/2006/relationships/notesMaster" Target="/ppt/notesMasters/notesMaster1.xml" Id="R3d1f8fbc157d42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9aac99c8ce4cc9" /><Relationship Type="http://schemas.openxmlformats.org/officeDocument/2006/relationships/notesMaster" Target="/ppt/notesMasters/notesMaster1.xml" Id="Re1a41486dbd945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40da6b08a148f9" /><Relationship Type="http://schemas.openxmlformats.org/officeDocument/2006/relationships/notesMaster" Target="/ppt/notesMasters/notesMaster1.xml" Id="Rdfcc4c0a21f74c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30236dffb74026" /><Relationship Type="http://schemas.openxmlformats.org/officeDocument/2006/relationships/notesMaster" Target="/ppt/notesMasters/notesMaster1.xml" Id="Ra42ab3a4027e461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dc8adf86574afe" /><Relationship Type="http://schemas.openxmlformats.org/officeDocument/2006/relationships/notesMaster" Target="/ppt/notesMasters/notesMaster1.xml" Id="Ra6179eae4ba447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2ca7a929814963" /><Relationship Type="http://schemas.openxmlformats.org/officeDocument/2006/relationships/notesMaster" Target="/ppt/notesMasters/notesMaster1.xml" Id="R60d5654c62704f9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98b8074232f49da" /><Relationship Type="http://schemas.openxmlformats.org/officeDocument/2006/relationships/notesMaster" Target="/ppt/notesMasters/notesMaster1.xml" Id="R597a5dbf460b49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ad50f9926a486c" /><Relationship Type="http://schemas.openxmlformats.org/officeDocument/2006/relationships/notesMaster" Target="/ppt/notesMasters/notesMaster1.xml" Id="Rc147f105538045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e1283228be4203" /><Relationship Type="http://schemas.openxmlformats.org/officeDocument/2006/relationships/notesMaster" Target="/ppt/notesMasters/notesMaster1.xml" Id="R9387f20834ab49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591043e3d53459f" /><Relationship Type="http://schemas.openxmlformats.org/officeDocument/2006/relationships/notesMaster" Target="/ppt/notesMasters/notesMaster1.xml" Id="Rd443f1145e07462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4753aff9ec442b" /><Relationship Type="http://schemas.openxmlformats.org/officeDocument/2006/relationships/notesMaster" Target="/ppt/notesMasters/notesMaster1.xml" Id="R50e3a6e83ca748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389d9ff4814818" /><Relationship Type="http://schemas.openxmlformats.org/officeDocument/2006/relationships/notesMaster" Target="/ppt/notesMasters/notesMaster1.xml" Id="R67fa2c996cc14b8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61076fb2614ccc" /><Relationship Type="http://schemas.openxmlformats.org/officeDocument/2006/relationships/notesMaster" Target="/ppt/notesMasters/notesMaster1.xml" Id="Rc71dacb3be4843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ebe81d460be4f3d" /><Relationship Type="http://schemas.openxmlformats.org/officeDocument/2006/relationships/notesMaster" Target="/ppt/notesMasters/notesMaster1.xml" Id="Rb35cc338487144a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ce6e0ed9bb439f" /><Relationship Type="http://schemas.openxmlformats.org/officeDocument/2006/relationships/notesMaster" Target="/ppt/notesMasters/notesMaster1.xml" Id="R4f6d73094fff4c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c9daa6180f34a3f" /><Relationship Type="http://schemas.openxmlformats.org/officeDocument/2006/relationships/notesMaster" Target="/ppt/notesMasters/notesMaster1.xml" Id="R986c8d57fcbe450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a53584288c843a1" /><Relationship Type="http://schemas.openxmlformats.org/officeDocument/2006/relationships/notesMaster" Target="/ppt/notesMasters/notesMaster1.xml" Id="Rddabe92cea5345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567d99bfe246aa" /><Relationship Type="http://schemas.openxmlformats.org/officeDocument/2006/relationships/notesMaster" Target="/ppt/notesMasters/notesMaster1.xml" Id="Rbd89a5cfdcf54ff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e281a8331fa40de" /><Relationship Type="http://schemas.openxmlformats.org/officeDocument/2006/relationships/notesMaster" Target="/ppt/notesMasters/notesMaster1.xml" Id="R0815103634f847f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e7141b93fb54cf4" /><Relationship Type="http://schemas.openxmlformats.org/officeDocument/2006/relationships/notesMaster" Target="/ppt/notesMasters/notesMaster1.xml" Id="Re31f76ab815a4d0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a8724f35f1e4ad4" /><Relationship Type="http://schemas.openxmlformats.org/officeDocument/2006/relationships/notesMaster" Target="/ppt/notesMasters/notesMaster1.xml" Id="R706c6ca21b324ce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af1ec7f173e42f7" /><Relationship Type="http://schemas.openxmlformats.org/officeDocument/2006/relationships/notesMaster" Target="/ppt/notesMasters/notesMaster1.xml" Id="R2f3829dccd494d6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c7e4cc8cc944491" /><Relationship Type="http://schemas.openxmlformats.org/officeDocument/2006/relationships/notesMaster" Target="/ppt/notesMasters/notesMaster1.xml" Id="R7f5a37a5e451443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d22d3182f0a45ff" /><Relationship Type="http://schemas.openxmlformats.org/officeDocument/2006/relationships/notesMaster" Target="/ppt/notesMasters/notesMaster1.xml" Id="R950d038d42bf457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5b462ac763b43a0" /><Relationship Type="http://schemas.openxmlformats.org/officeDocument/2006/relationships/notesMaster" Target="/ppt/notesMasters/notesMaster1.xml" Id="R4e2c731c43944ef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403338ce75e4241" /><Relationship Type="http://schemas.openxmlformats.org/officeDocument/2006/relationships/notesMaster" Target="/ppt/notesMasters/notesMaster1.xml" Id="Rc3d1e3b8bcb0407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b857b7ba92f4255" /><Relationship Type="http://schemas.openxmlformats.org/officeDocument/2006/relationships/notesMaster" Target="/ppt/notesMasters/notesMaster1.xml" Id="R5c8078ec66d940d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cbc6919aa0340ee" /><Relationship Type="http://schemas.openxmlformats.org/officeDocument/2006/relationships/notesMaster" Target="/ppt/notesMasters/notesMaster1.xml" Id="R0bcff63fb51843f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66ced26adeb45c7" /><Relationship Type="http://schemas.openxmlformats.org/officeDocument/2006/relationships/notesMaster" Target="/ppt/notesMasters/notesMaster1.xml" Id="R28b7109a5906456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c79fc18e42646fa" /><Relationship Type="http://schemas.openxmlformats.org/officeDocument/2006/relationships/notesMaster" Target="/ppt/notesMasters/notesMaster1.xml" Id="Rd0bd1808972e44c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ab593d8e6c84556" /><Relationship Type="http://schemas.openxmlformats.org/officeDocument/2006/relationships/notesMaster" Target="/ppt/notesMasters/notesMaster1.xml" Id="R10e92ed7633d41b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87bea51aeb94245" /><Relationship Type="http://schemas.openxmlformats.org/officeDocument/2006/relationships/notesMaster" Target="/ppt/notesMasters/notesMaster1.xml" Id="Re128822b53224b1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1b28b6d357d463d" /><Relationship Type="http://schemas.openxmlformats.org/officeDocument/2006/relationships/notesMaster" Target="/ppt/notesMasters/notesMaster1.xml" Id="R1acf09623c8445b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ea31add63b84cf4" /><Relationship Type="http://schemas.openxmlformats.org/officeDocument/2006/relationships/notesMaster" Target="/ppt/notesMasters/notesMaster1.xml" Id="R9888cb79b2294ea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c01690d6d654fac" /><Relationship Type="http://schemas.openxmlformats.org/officeDocument/2006/relationships/notesMaster" Target="/ppt/notesMasters/notesMaster1.xml" Id="R4f2145a1bcf1446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1c6478fbe1041b2" /><Relationship Type="http://schemas.openxmlformats.org/officeDocument/2006/relationships/notesMaster" Target="/ppt/notesMasters/notesMaster1.xml" Id="R2ea615df604343e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a26d84d4fb049c6" /><Relationship Type="http://schemas.openxmlformats.org/officeDocument/2006/relationships/notesMaster" Target="/ppt/notesMasters/notesMaster1.xml" Id="R4f7c6726766046b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26a58fc44714c94" /><Relationship Type="http://schemas.openxmlformats.org/officeDocument/2006/relationships/notesMaster" Target="/ppt/notesMasters/notesMaster1.xml" Id="Ra394b1ebdc6347b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1f5898afd5e4e55" /><Relationship Type="http://schemas.openxmlformats.org/officeDocument/2006/relationships/notesMaster" Target="/ppt/notesMasters/notesMaster1.xml" Id="R0c69e745427b40d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fca1d09d44e4c42" /><Relationship Type="http://schemas.openxmlformats.org/officeDocument/2006/relationships/notesMaster" Target="/ppt/notesMasters/notesMaster1.xml" Id="R92787dad4bd54ae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a2890d71e7342e3" /><Relationship Type="http://schemas.openxmlformats.org/officeDocument/2006/relationships/notesMaster" Target="/ppt/notesMasters/notesMaster1.xml" Id="R7186884b9d6946b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662158663f64e2c" /><Relationship Type="http://schemas.openxmlformats.org/officeDocument/2006/relationships/notesMaster" Target="/ppt/notesMasters/notesMaster1.xml" Id="R6d87eab146c54be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d865e1c352445a0" /><Relationship Type="http://schemas.openxmlformats.org/officeDocument/2006/relationships/notesMaster" Target="/ppt/notesMasters/notesMaster1.xml" Id="R47e262f28623439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c04f85c6e7648d7" /><Relationship Type="http://schemas.openxmlformats.org/officeDocument/2006/relationships/notesMaster" Target="/ppt/notesMasters/notesMaster1.xml" Id="R5d5101b66a5345f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704d77b50224354" /><Relationship Type="http://schemas.openxmlformats.org/officeDocument/2006/relationships/notesMaster" Target="/ppt/notesMasters/notesMaster1.xml" Id="R9c11925feccb4b1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d30746641164f0e" /><Relationship Type="http://schemas.openxmlformats.org/officeDocument/2006/relationships/notesMaster" Target="/ppt/notesMasters/notesMaster1.xml" Id="R4b2b2df2ebde42c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3f62e5385b44380" /><Relationship Type="http://schemas.openxmlformats.org/officeDocument/2006/relationships/notesMaster" Target="/ppt/notesMasters/notesMaster1.xml" Id="Rb4d176e2086d451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8769bdfdb694264" /><Relationship Type="http://schemas.openxmlformats.org/officeDocument/2006/relationships/notesMaster" Target="/ppt/notesMasters/notesMaster1.xml" Id="R9ff232e47a2e4b4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244e9cae666483b" /><Relationship Type="http://schemas.openxmlformats.org/officeDocument/2006/relationships/notesMaster" Target="/ppt/notesMasters/notesMaster1.xml" Id="Rd8c19d8a175046e8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1351934f35b49e5" /><Relationship Type="http://schemas.openxmlformats.org/officeDocument/2006/relationships/notesMaster" Target="/ppt/notesMasters/notesMaster1.xml" Id="Rd6dbc7feb8bd4e3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237031adf5748ab" /><Relationship Type="http://schemas.openxmlformats.org/officeDocument/2006/relationships/notesMaster" Target="/ppt/notesMasters/notesMaster1.xml" Id="R7fafcef4a5384f5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ae3f92732884f08" /><Relationship Type="http://schemas.openxmlformats.org/officeDocument/2006/relationships/notesMaster" Target="/ppt/notesMasters/notesMaster1.xml" Id="R1fd25c7ecb53441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d8a52191e12a44d3" /><Relationship Type="http://schemas.openxmlformats.org/officeDocument/2006/relationships/notesMaster" Target="/ppt/notesMasters/notesMaster1.xml" Id="R2409eeac57d14a0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c1dd325b1fa4eed" /><Relationship Type="http://schemas.openxmlformats.org/officeDocument/2006/relationships/notesMaster" Target="/ppt/notesMasters/notesMaster1.xml" Id="Rccce27347793412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614420165c34c98" /><Relationship Type="http://schemas.openxmlformats.org/officeDocument/2006/relationships/notesMaster" Target="/ppt/notesMasters/notesMaster1.xml" Id="Redaf268343794aca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c67e2517f79479a" /><Relationship Type="http://schemas.openxmlformats.org/officeDocument/2006/relationships/notesMaster" Target="/ppt/notesMasters/notesMaster1.xml" Id="R582c4b955dc2465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84d7d8331f84096" /><Relationship Type="http://schemas.openxmlformats.org/officeDocument/2006/relationships/notesMaster" Target="/ppt/notesMasters/notesMaster1.xml" Id="Rffc5e420539e4b7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f035ec63b5542e3" /><Relationship Type="http://schemas.openxmlformats.org/officeDocument/2006/relationships/notesMaster" Target="/ppt/notesMasters/notesMaster1.xml" Id="Rb8d04adf9e1a4c0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d22d3182f0a45ff" /><Relationship Type="http://schemas.openxmlformats.org/officeDocument/2006/relationships/notesMaster" Target="/ppt/notesMasters/notesMaster1.xml" Id="R950d038d42bf457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d22d3182f0a45ff" /><Relationship Type="http://schemas.openxmlformats.org/officeDocument/2006/relationships/notesMaster" Target="/ppt/notesMasters/notesMaster1.xml" Id="R950d038d42bf45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了解本章如何围绕选课处理讨论模型用途。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本章第一次学习的是模型的用途与承接，前提是已经接触Ch2常见图类和基本面向对象概念。P2用于恢复这些前置知识；不要求学生预先掌握仓储、服务层或Java测试工具。说明P1–60为主线，可在单元小结处停课；P61以后按需查阅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本章主要用哪个业务情境？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已有选课记录的处理，并对照H2迁移。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知道当前课堂范围。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指出P5的场景与范围。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先回顾已有图形各自表达的信息。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知识主题参考孙海英老师原稿P1。</a:t>
            </a:r>
          </a:p>
          <a:p xmlns:a="http://schemas.openxmlformats.org/drawingml/2006/main">
            <a:r>
              <a:t>本章区分方式沿用原稿教学方法，并非UML规定的唯一开发流程。</a:t>
            </a:r>
          </a:p>
          <a:p xmlns:a="http://schemas.openxmlformats.org/drawingml/2006/main">
            <a:r>
              <a:t>【课堂组织】</a:t>
            </a:r>
          </a:p>
          <a:p xmlns:a="http://schemas.openxmlformats.org/drawingml/2006/main">
            <a:r>
              <a:t>全套82页，P1–60主线，P61–81参考扩展，P82来源。Ch3沿用参考课件编号，不等同现行大纲第三章。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能将四种图分别对应结构、流程、交互和状态问题。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停留本页，给学生短暂独立回忆时间，写四个图类，不展示对应答案。先收集判断，再口头核对；需要时回看Ch2.4相关图例。此页只恢复已有知识，不展开本章尚未讲授的设计。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四个问题分别适合用哪种图表达？任选一项说明依据。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①类图：结构与关联；②活动图：步骤与分支；③顺序图：参与者间的消息；④状态机图：指定对象的状态及转换。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能正确对应至少三项；能区分活动的流程与指定对象的状态。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混淆活动图和状态图时，分别问“整个办理过程”与“一条记录现在处于什么状态”。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据已有的图类，提出本章问题：模型解决什么问题，图用于表达哪些信息？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知识主题参考孙海英老师原稿P2、3。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知道各单元要完成的任务，能够找到当前学习位置。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本页是导航，介绍本次准备讲的单元及学习任务即可；其他模型名称先作为目录标签，不要求此时解释五类模型的全部差别。第一单元同时讲业务与系统用例，第五单元综合检验。每次开课指明本次计划到哪个停留点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本次单元结束时，你需要完成哪一项任务？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根据本次选定单元指出目录中的对应任务，例如业务与系统单元要分类表述并说明依据。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能指出当前单元及其任务；本页不评价尚未讲授的模型辨析。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回到目录逐项说明本单元要解决的问题。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先澄清模型与图，再确定选课案例的范围。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本页是教学组织，不是UML规定的开发流程。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说明会画图与会建模的区别，知道本章如何帮助项目分析与设计。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承接P2：学生已接触多种图，但面对项目，仍需判断图中该放什么、内容依据什么。图的学习解决怎样表达；模型的学习围绕目的选择和组织信息。用“记录属于谁”与“返回前是否保存”举例，分别需要结构信息和交互信息，它们都受业务要求约束。图形记法正确、模型信息一致、符合业务要求要分别检查。此时只建立学习动机，不提前解释服务或仓储。五类模型采用本章的RUP/UP组织方式，不是UML规定的五份必交文档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两张图的记法都正确，为什么还不能据此判断软件方案正确？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还需检查图中内容是否符合业务要求、不同视图是否一致，以及能否支持当前需要作出的决定。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能举例说明记法以外还要检查的内容，不只回答“要画更多图”。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回到P2的结构、流程、交互和状态四个问题，每次只对照一项。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明确本次选课案例的范围，再逐项讨论五类模型的用途。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OMG UML 2.5.1 §6.3.1、§12.4.4：https://www.omg.org/spec/UML/2.5.1/PDF；Larman关于概念、规格与实现视角的区分：https://www.informit.com/articles/article.aspx?p=360440&amp;seqNum=6。中文为教学转述。</a:t>
            </a:r>
          </a:p>
          <a:p xmlns:a="http://schemas.openxmlformats.org/drawingml/2006/main">
            <a:r>
              <a:t>补充阅读：本项目《Ch3-UML核心模型-理解与项目应用学习笔记》第一至三节。OMG关于抽象与方法独立性的介绍：https://www.omg.org/uml/what-is-uml.htm。该页为历史介绍，仅采用上述稳定概念，不采用其旧版图种数量。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能区分学生的完整业务目标与本章研究的处理片段。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先请学生描述选课时希望得到的结果，再指出课堂从中间环节开始。已有记录不是系统凭空生成的：创建过程在此前发生，但其方式和规则未确认。本章不宣称覆盖完整选课业务。</a:t>
            </a:r>
          </a:p>
          <a:p xmlns:a="http://schemas.openxmlformats.org/drawingml/2006/main">
            <a:r>
              <a:t>开课班指某门课程的一次实际开设。本例区分学生、开课班和连接两者的选课记录。这里仅回收前章用语，不扩展排课或班级制度。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本章能否直接回答学生怎样发起第一份申请？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不能。研究已有记录的处理；记录创建规则和过程仍需澄清。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回答中明确完整目标、已有记录与未覆盖环节。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把学生目标与本章起点分别写在板书上。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明确本章范围后，比较五类模型各自要解决的问题。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知道五类模型各自关注的问题，建立后续学习的方向。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用学生的一次选课请求解释第一、二行：办理目标属于业务讨论，当前软件承担的处理范围需另行划定。第三行提醒学生辨明记录、学生与开课班；第四、五行预告后续将讨论职责和接口。此时不要求背出全部差别，也不提前解释BCE或仓储。项目用途是沟通和决策的具体需要，不是五份必须依次交付的文档。学完后用P57–58回到同一张问题表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学生想获得办理结果，这是否已经说明软件内部由哪些对象配合？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没有。办理目标先说明需要得到什么结果，内部怎样配合将在分析与设计单元展开。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能区分目标与内部安排，知道其余问题将分单元解决。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只让学生指出“期望结果”和“内部安排”两行，不要求在导入阶段串联五类模型。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先明确处理约定。学完设计后，P47再用完整关系图回看模型与实现、验收的联系。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能复述处理对象、分支条件与完成条件。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用自然语言读“已有记录、余量判断、保存后反馈”。字母e只是本次记录的简称，n在后面表示余量，不要求此时记类名或方法名。这里的待处理表示记录尚未得到本次确认/拒绝结果，不能把确认理解成创建记录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记录已变为已确认，但结果还未保存，可以告知学生办理已完成吗？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还不可以。本例要求保存办理结果后再返回，记录状态改变只是其中一步。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同时说出状态处理和结果保存，不能只回答确认或拒绝。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把“对象状态已变”和“办理结果已保存”分成两句辨认。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这些规则先在业务层面说明。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均为教学前提。候补、退选、重新申请、重复请求、并发余量扣减、事务和异常恢复尚待确认，不能据此宣称完整选课系统已设计完毕。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能按研究范围解释业务用例模型与系统用例模型。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读OMG用例定义，解释subject在本课译为研究对象：既可讨论业务，也可讨论软件。两个模型均需参与者、用例及其关系与说明，不能把模型缩减为椭圆和连线。业务目标并不直接规定软件内部实现；系统用例也不覆盖所有质量与环境约束。</a:t>
            </a:r>
          </a:p>
          <a:p xmlns:a="http://schemas.openxmlformats.org/drawingml/2006/main">
            <a:r>
              <a:t>用“整个选课业务／本章选定的软件”解释研究对象的范围，用“学生获知办理结果”解释外部可观察结果；不要把两类用例简单说成更换边界框名称。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业务用例与系统用例的区别，能否只靠更换系统框名称表达？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不能；还要重新明确范围、参与者、软件责任和可观察结果。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能用范围和责任解释两类模型，而非只复述名称。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对照学生办理目标与本章已有记录处理片段。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用确认、拒绝两种业务场景，确定办理结果和软件边界。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OMG UML 2.5.1 §18.2.5.1：https://www.omg.org/spec/UML/2.5.1/PDF。业务用例语境：IBM FEAF Using RUP and UML，业务建模部分，https://public.dhe.ibm.com/software/rational/web/whitepapers/2003/feaf.pdf。系统用例模型：IBM RUP指南，https://public.dhe.ibm.com/software/dw/rational/pdf/ArchtMgt_SW_series_Part2.pdf。两类模型按RUP语境解释，并非OMG中两个独立元类。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能说明两条业务场景的共同点和差别。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先只用业务语言讲述n=2和n=0两条场景，不引入服务或数据库。业务用例模型围绕目标、场景与规则组织信息，业务用例图不能单独容纳这些完整说明。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拒绝后删除记录，是否仍满足本章约定？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不满足。本例明确要求保留同一条办理记录及拒绝结果。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能同时说出判断条件、记录结果和学生所得。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让学生逐项比较输入、判断、保留结果与反馈。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办理目标确定后，讨论本次哪些工作属于软件范围。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能解释业务责任与本章软件责任的边界。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A1假设教务人员确定开课安排与容量，并将该工作放在当前软件范围外；具体岗位及支持方式仍待调研。软件从已有记录开始，负责判断、保存和反馈。让学生指出哪些责任已纳入软件，再比较P11与P15。边界名称的变化必须有范围和责任说明，不能仅换标题；业务用例与系统用例也不必一一对应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是否只需把“教务选课业务”改成“选课系统”，就完成了系统需求分析？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不够。还要确定交给软件的责任、输入、完成保证和未纳入范围的工作。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指出至少一项范围内责任、一项范围外工作和一项待确认事项。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用“谁完成”和“当前软件是否承担”两个问题重新划界。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用业务用例图概括学生目标，再逐步收窄到系统责任。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能辨认业务边界与参与者目标。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学生与教务选课业务交互；图只概括业务目标，不表达每一步工作或技术实现。P10的A1把开课安排放在当前软件范围外；本图未展开教务岗位在业务边界内的协作，不能据此推断真实组织分工。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图中的“办理选课”是否已经说明各步骤由人员还是软件完成？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没有。业务用例图概括参与者目标，内部工作及软件承担的责任还需说明。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能指出整个业务的边界和学生目标，不把椭圆当成内部工作安排。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指回P10：同一个办理目标下，哪些工作已纳入软件，哪些还在当前范围外？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用业务活动说明本章展开的处理片段。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业务角色与范围为课堂局部视图。</a:t>
            </a:r>
          </a:p>
          <a:p xmlns:a="http://schemas.openxmlformats.org/drawingml/2006/main">
            <a:r>
              <a:t>图源：diagrams/business-usecase.puml；https://www.omg.org/spec/UML/2.5.1/PDF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能按业务语言读出两条办理路径。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从发起办理读到告知结果。菱形分别用于判定与合并；合并不等待两条互斥路径都完成。登记结果是业务要求，尚未指定软件类、SQL或具体岗位。</a:t>
            </a:r>
          </a:p>
          <a:p xmlns:a="http://schemas.openxmlformats.org/drawingml/2006/main">
            <a:r>
              <a:t>按输入记录、余量分支、保存与反馈解释活动。汇合节点合并互斥分支，不是并发同步；判定条件为假本身也不等于执行拒绝，拒绝是后续动作。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这张图能否说明登记结果一定由某个数据库执行？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不能，它只说明业务步骤，具体职责和实现尚未分配。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能完整读出任一分支并说明合并点的作用。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若跳到数据库细节，先用纸质记录办理的情境重新解释。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用三句表述辨认业务规则、系统责任与技术方案。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泳道与岗位分工尚未确定；本图不代表完整选课生命周期。</a:t>
            </a:r>
          </a:p>
          <a:p xmlns:a="http://schemas.openxmlformats.org/drawingml/2006/main">
            <a:r>
              <a:t>图源：diagrams/business-activity.puml；https://www.omg.org/spec/UML/2.5.1/PDF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能从具体表述中辨认三种关注点。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学生先独立分类并写一句依据，再相互比较。只解释符号：save(e)表示一个名为save的操作，以记录e为参数；不要求预先掌握服务层或仓储模式。解释术语不等于公布C属于哪一类，类别在P14核对。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三句分别主要在讨论什么？哪些内容还需在后续模型中继续遵守？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A主要是业务规则，B是系统责任，C是设计方案；A和B应继续约束C。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正确辨认至少两句，并说明A不会因进入设计而失效。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让学生看每句话规定的是业务结果、软件要完成的责任，还是完成责任的具体安排；不要用是否出现英文作为唯一判断依据。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讨论判断依据，而不只公布字母答案。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关注点划分不是禁止相同规则在多个模型出现。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能说明后续模型为何仍需要引用前面的规则。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先核对学生的分类和依据。C中的存储接口是在说明一种实现安排，“保存”这一要求已在B中成立，进入设计后仍需保持。以后可以改变具体技术安排，但需求是否改变要另行确认。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仅替换实现保存的技术方式时，A和B中的哪些要求仍应保持？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无余量拒绝、保留记录、保存结果并反馈等要求继续保持；具体实现安排可以调整。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能区分需求改变与实现替换。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将三句分别标注“规则、责任、方案”，再用换数据库的情境复述。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把系统责任写成可检查的用例规约。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本项目教学组织与案例说明。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能指出学生与系统边界，并说明当前案例的局部范围。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与P11并看：外部参与者仍是学生，但边界已经改为软件。相近的用例名称不说明两份模型等价。登录、身份核验与记录创建在当前场景之前，不用include补造其结构。 用例图只概括参与者、边界与目标行为；下一页的文字规约补足条件和结果。性能、安全和可靠性等指标未给定，保留待确认。</a:t>
            </a:r>
          </a:p>
          <a:p xmlns:a="http://schemas.openxmlformats.org/drawingml/2006/main">
            <a:r>
              <a:t>UC-01、UC-02是本章给用例设置的编号，便于后续引用，不是UML规定的关键字。与P11比较时先说研究范围，再说当前软件责任，最后看图形；两张图外形相似并不表示业务边界与软件边界相同。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这张图是否说明整套选课系统只有两个功能？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不是，这是当前课堂范围的局部视图。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能辨认边界变化和案例范围限制。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若列出大量新功能，先区分本次范围与未来需求。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为UC-01补充可检查的约定。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不新增未确认的学校业务功能。</a:t>
            </a:r>
          </a:p>
          <a:p xmlns:a="http://schemas.openxmlformats.org/drawingml/2006/main">
            <a:r>
              <a:t>图源：diagrams/system-usecase.puml；https://www.omg.org/spec/UML/2.5.1/PDF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能依前后条件判断一次处理是否正常完成。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按“处理谁、开始条件、两个业务结果、完成保证”读表。身份与归属已核验是前置假设，非已设计的认证实现。保存失败时后置条件未满足，不能仍宣称本次处理完成。 本页规约沿用P7的共同前提：请求期间余量稳定，正常读写成功。前置条件与未设计的故障行为不能省略。</a:t>
            </a:r>
          </a:p>
          <a:p xmlns:a="http://schemas.openxmlformats.org/drawingml/2006/main">
            <a:r>
              <a:t>把“结果已经保存”圈为完成条件：它可用来评审设计，也可确定测试需要观察的内容。读写故障没有定义，不能自行并入无余量备选流。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e已经变为已确认，但尚未保存，是否满足本表后置条件？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不满足；结果保存也是完成条件。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明确区分业务状态改变与用例完成。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画两个检查框：状态已处理、结果已保存，让学生分别判断。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把外部交互画成系统黑箱顺序图。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存储或网络故障、重试与事务策略尚待确认。已拒绝仅指当前余量为0的业务结果。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能用系统顺序图说明输入与外部返回。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process(eId)是当前教学用的系统操作标识，不能据此直接认定系统只有一个内部方法。守卫读取的余量由内部处理获得，两个返回均依P16完成保存后发生。当前无余量也是正常的业务分支。</a:t>
            </a:r>
          </a:p>
          <a:p xmlns:a="http://schemas.openxmlformats.org/drawingml/2006/main">
            <a:r>
              <a:t>先用中文读process(eId)：请求系统处理指定编号的已有记录。eId是记录编号，e是后面内部处理的记录对象，二者不要混为一物。先读n=2的一条路径，再看n=0；余量不是学生在本图消息里传入的参数。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图中没有展开内部保存步骤，是否仍要满足结果已保存的要求？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保存是规约要求；黑箱视图省略内部机制，不取消这个要求。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能说明“未展示内部机制”与“没有该责任”的区别。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回到P16后置条件，再指出图的边界。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先归纳需求边界与完成条件，再进入业务信息的归属问题。</a:t>
            </a:r>
          </a:p>
          <a:p xmlns:a="http://schemas.openxmlformats.org/drawingml/2006/main">
            <a:r>
              <a:t>翻到小结前先问：业务目标与软件责任有何不同？用例图还缺少哪些规约信息？收集一条回答后再展示P18。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本图只描述两种业务结果，技术异常另行定义。</a:t>
            </a:r>
          </a:p>
          <a:p xmlns:a="http://schemas.openxmlformats.org/drawingml/2006/main">
            <a:r>
              <a:t>图源：diagrams/system-sequence.puml；https://www.omg.org/spec/UML/2.5.1/PDF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能把用例案例归纳为边界、行为和完成保证。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对照P11和P15：前者围绕业务服务，后者围绕当前软件的责任。用P16补足图中没有写出的前提、分支和完成条件。实际项目可据此讨论哪些工作纳入交付范围、何时可验收；质量要求和环境约束仍需另行说明。最后追问“指定记录是哪一条，余量属于谁”，由此引出领域模型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若只给出“学生—处理选课”的用例图，开发者还缺哪些信息？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至少还缺适用前提、分支处理和完成条件；质量与环境要求也须另行明确。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能说明用例图与文字规约各自补充什么。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让学生用余量为0的场景列出图中看不到的约定。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下面确定系统处理需要哪些业务概念，以及信息应归属何处。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本页归纳本章案例。用例与文字说明参考OMG §18.1.3：https://www.omg.org/spec/UML/2.5.1/PDF；模型组织参考https://public.dhe.ibm.com/software/dw/rational/pdf/ArchtMgt_SW_series_Part2.pdf。不增加业务规则。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能说明概念视角的领域模型及本章采用的范围。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这里采用Larman/UP概念视角：领域模型帮助利益相关者理解重要业务概念。领域概念可以启发设计类的名称，但设计可新增技术类、拆分类或采用其它实现结构。不要由“名词出现了”直接断定必须建立类。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识别出一个业务概念，是否就必须建立一张同名数据库表？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不必；领域模型先说明业务含义，数据存储形式属于后续设计决策。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能区分业务概念与软件、数据库实现。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用业务含义是否清楚与技术实现是否确定两个问题分别判断。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以选课事实为依据，独立推导需要保留的信息。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Larman《Applying UML and Patterns》概念视角：https://www.informit.com/articles/article.aspx?p=360440&amp;seqNum=6；出版社样章图17.5：https://www.informit.com/content/images/0130925691/samplechapter/0130925691.pdf。广义“Domain Model”也可指包含数据与行为的软件对象模型，见Fowler：https://martinfowler.com/eaaCatalog/domainModel.html。本章此处限定为概念视角；不能用是否有方法作为领域与分析模型的唯一分界。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能用具体反例解释办理结果为什么需要按学生与开课班配对区分。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请学生独立选择一种信息归属，并用本页两次申请检验它；此时不要求画完整领域图。先收集选择和理由，再翻下一页推导示范。选择业务关系上的信息并不意味着必须采用某一种UML符号。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若只在Student上保存一个办理状态，能否区分本页两个结果？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不能。需按学生与开课班的配对区分；本例用Enrollment保存每条关系的办理状态。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能指出单一学生状态无法区分两个开课班，并给出配对归属的理由。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可换成“同一开课班、两名学生，一条记录已确认，另一条仍待处理”再问一次；以处理进度说明状态需要按配对区分，不提前给出模型答案。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收集理由后，用下一页对照候选表达与反例。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能用信息归属解释Enrollment，而非背诵类名。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核对P20：两条记录分别关联余量为2和0的开课班，处理结果可以不同。再换观察方向：同一开课班可以有一条已确认记录和一条尚待处理记录。这是在比较处理进度，并未增加“相同前提、相同余量却任意产生不同决定”的规则。两个方向都说明状态属于学生与开课班的配对；本例用Enrollment保留它，成绩可选沿用原约定。普通类与关联是一种表达，其他表示法需检查自己的语义和约束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同一开课班的两条记录，一条已确认，另一条仍待处理，只在CourseOffering上保存一个状态是否足够？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不够，仍须区分学生与开课班配对。普通类加关联可以表达，关联类等其他表达需另行检查其语义与约束。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能用两个方向的反例解释信息归属，而不只复述Enrollment名称。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代入同一学生两条记录，一条确认、一条拒绝。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用一条已示范关联作为支架，补画另一条关系，再查看完整领域模型。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能将既有业务事实表达为关联端多重性，并正确读出一端。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先示范左图的读法：固定一条Enrollment，看Student端的1，表示对应一名学生；固定一个Student，看Enrollment端0..*。随后学生独立画右侧关系，并解释一端。Student、Enrollment、CourseOffering分别是学生、记录、开课班的图中名称，不把英文记忆作为本题难度。下一页才显示完整关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Enrollment与CourseOffering两端各应标什么？请从一条记录读向一个开课班。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Enrollment端为0..*，CourseOffering端为1。每条Enrollment对应一个CourseOffering；每个CourseOffering可有零到多条Enrollment。配对唯一性仍是额外约束。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两端位置及读法正确；能说明数量针对关联另一端的一个实例。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若标反，固定一条Enrollment问能对应几个开课班，再反向固定一个CourseOffering。复测可换Student一侧的读法。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完成并解释后再翻完整领域模型核对。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沿用已确认的选课领域事实。局部示例只省略其他关联；不是完整领域模型。图源：diagrams/domain-relation-worked.puml；OMG UML 2.5.1。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能正确读出关联多重性、成绩可选性和配对唯一约束。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核对P22的关联，再分开解释两个约束层次：两端多重性分别限制一条记录属于谁、一个学生或开课班可以对应多少条记录；配对唯一是额外约束。用违反约束的反例说明：E1与E2都连接同一学生S与开课班O，仍能满足图中1和0..*，却违反本例配对唯一要求。明确这是假设的错误模型，不能作为合法业务记录。最后只提示grade为成绩、[0..1]允许未录入，status为办理状态，下一页看状态值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grade未录入与grade为0是否相同？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不同。[0..1]允许没有成绩值，0是一个已录入的成绩值。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能读出两个方向的多重性并指出唯一约束需单独说明。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举一名学生选两个开课班的两条记录，逐条对应关联端。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结构关系已能区分记录；下一页固定同一条记录，说明其允许的状态变化。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成绩沿用前章，本次选课处理不写入成绩。余量非负约束见共同前提。</a:t>
            </a:r>
          </a:p>
          <a:p xmlns:a="http://schemas.openxmlformats.org/drawingml/2006/main">
            <a:r>
              <a:t>图源：diagrams/domain-class.puml；https://www.omg.org/spec/UML/2.5.1/PDF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能根据当前状态、事件和守卫判断是否发生迁移。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只读正常有余量路径：记录处于待处理，收到确认决定且守卫满足，进入已确认。再读无余量路径。业务事件名用于说明决定发生，不指定技术传递方式。图的初始标记说明这段状态模型的起点，当前请求开始时记录已存在且待处理。守卫为假是否自动走另一条迁移，留作基础读图完成后的追问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基础：余量为2且收到确认决定时，记录怎样变化？进阶：余量为0却收到确认决定，会自动进入已拒绝吗？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基础：从待处理进入已确认。进阶：不会自动进入已拒绝；确认迁移的守卫不满足，拒绝迁移还需要相应事件和条件。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必须能读清一条正常路径的当前状态、事件、守卫和目标；守卫为假的反例按掌握程度追问。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固定同一余量，分别代入两个事件读图。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先归纳概念、关系与规则，再进入软件内部的职责分析。</a:t>
            </a:r>
          </a:p>
          <a:p xmlns:a="http://schemas.openxmlformats.org/drawingml/2006/main">
            <a:r>
              <a:t>翻小结前请学生说出：一项信息归属理由、一项不能只靠多重性表达的约束。收集回答后再翻P25。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后续退选、候补、重新申请及错误调用处理仍待确认。状态改变不代表持久化已完成。</a:t>
            </a:r>
          </a:p>
          <a:p xmlns:a="http://schemas.openxmlformats.org/drawingml/2006/main">
            <a:r>
              <a:t>图源：diagrams/domain-state.puml；https://www.omg.org/spec/UML/2.5.1/PDF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能从类图与状态图归纳领域建模的检查方法。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回看P23：记录的状态和开课班的余量分别有明确归属，多重性限制关联数量，配对唯一另行约定。P24补充状态迁移的事件与条件。这些结论用于统一业务理解，并不直接规定界面、服务或数据表。下一步把用例责任和领域信息放在一起，安排软件内部的承担者；软件组织可调整，已确认的业务含义继续有效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两条一对多关联，是否已经保证学生与开课班的配对唯一？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没有；本例的配对唯一性是额外业务约束，必须单独表达和检查。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能将图中已有信息与额外业务约束分开说明。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举同一配对出现两条记录的反例，再检查关联端是否真的排除了它。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现在转向软件内部：为了实现用例，需要哪些逻辑职责相互协作？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业务前提沿用本章；多重性语义依据OMG UML 2.5.1：https://www.omg.org/spec/UML/2.5.1/PDF。领域到设计的区别参考https://www.informit.com/content/images/0130925691/samplechapter/0130925691.pdf。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能把系统的外部责任与内部逻辑协作区分开。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RUP中的用例实现是用协作对象说明用例行为怎样由内部结构承担。分析类和分析交互提供较高层次的逻辑方案，不等于已经编码完成。本章随后采用BCE分配职责，它是本例的方法选择，不是所有UML模型的强制结构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写出处理用例，是否已经回答了由哪个内部对象负责保存协调？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没有；系统用例先规定外部责任，分析还要明确内部协作和职责归属。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能说明分析模型相对系统用例增加的逻辑职责信息。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把“系统要做什么”与“内部由谁配合”分别写出。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先对照领域与分析的含义，再独立分配三项工作。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IBM Analysis Model：https://www.ibm.com/docs/en/dma?topic=approaches-analysis-model；IBM RUP模型指南分析部分：https://public.dhe.ibm.com/software/dw/rational/pdf/ArchtMgt_SW_series_Part2.pdf。本页定义按RUP语境转述，不是OMG单独规定的建模阶段。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能以开课班余量说明业务信息与软件职责之间的推导依据。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先指明业务事实“每次处理使用该记录对应开课班的余量”，再说明本例选择由CourseOffering提供它。领域关注信息是什么、属于谁；分析增加由谁提供信息、由谁组织协作。不要讲成领域类自动一比一转换为分析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CourseOffering提供余量，是否就应负责接收界面请求、保存记录和显示结果？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不能由一个读取职责推出全部职责。仍需结合用例和变化原因分配协调、界面与保存责任。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能分别说出业务事实和本例选择，认识到两者不是同一层次的结论。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要求用“是什么”和“承担什么责任”分别描述Enrollment。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保留这一已示范职责，补全其余任务的承担者。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知识主题参考孙海英老师原稿P15、17。</a:t>
            </a:r>
            <a:endParaRPr/>
          </a:p>
          <a:p xmlns:a="http://schemas.openxmlformats.org/drawingml/2006/main">
            <a:r>
              <a:t>这是本章采用的方法区分。其它文献可能以“领域分析模型”等名称组织相近内容，不能据名称直接判断正误。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能按工作性质提出逻辑职责，不急于选框架。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给学生一个已完成例子：CourseOffering提供余量。其余三项由学生补全，每项用一句理由支持；不要求复刻下一页类名。先独立写，再检查是否遗漏结果保留。机制可待定，完成责任不可遗漏。</a:t>
            </a:r>
          </a:p>
          <a:p xmlns:a="http://schemas.openxmlformats.org/drawingml/2006/main">
            <a:r>
              <a:t>限定在软件内部职责。学生可用“接收显示的界面、组织步骤的对象”等中文名称作答，不要求提前猜出BCE缩写或正式类名。若答学生或教务人员，先区分外部业务角色与本题内部对象，再让学生自行修正。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列出三项工作的承担者，并指出保存要求由谁协调。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本例采用选课界面、选课处理、Enrollment分别承担①②③；选课处理协调结果保留。合理的替代分配可以接受，但须覆盖全部任务并解释协作。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三项工作均有承担者；包含保存协调责任；至少一项有分配理由。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把用例规约中的动词逐项标注承担者；若漏保存，回到完成条件。补救后用“反馈成功但记录未保留”的情境再次检查。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再展示本章采用的一种分配方案。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能解释本例的职责安排如何覆盖用例，而不是只记住三种类别。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对照学生上页方案逐项核对。保留结果由控制职责协调，存储机制尚未展开。BCE是分析方法，不等同MVC、数据库表或部署节点。领域模型可以有行为，不能用有无方法划分领域和分析。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分析图未出现数据库，是否可以不考虑保存要求？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不可以。技术机制可以暂不展开，但协调保留结果的职责不可遗漏。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能指出保存要求由谁协调，以及哪些机制仍待设计。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把“谁保证完成”与“用什么技术完成”分开提问。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在分析类图中定位三类职责，再读它们怎样协作。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原稿P19对控制类关系的限制存在相互矛盾表述，方法来源待确认；不作为UML统一禁令讲授。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能辨认使用依赖、领域关联以及它们与消息图的区别。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虚线依赖指向被使用者，关联表示Enrollment与CourseOffering的结构关系。图中未出现Student，因为本视图只列当前处理涉及的协作片段，不删除原来的业务关联。</a:t>
            </a:r>
          </a:p>
          <a:p xmlns:a="http://schemas.openxmlformats.org/drawingml/2006/main">
            <a:r>
              <a:t>图上的使用依赖不代表所有业务关联都已画出；当前图只突出用例协作需要的分析职责。</a:t>
            </a:r>
          </a:p>
          <a:p xmlns:a="http://schemas.openxmlformats.org/drawingml/2006/main">
            <a:r>
              <a:t>将P29三个中文职责与图中boundary、control、entity逐个对应，再读连线。尖括号标签在本章用于说明职责类别；先读谁使用谁，再看Enrollment与CourseOffering的关联，不在本图推断时间顺序。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这张类图能否规定先读取余量再确认的时间顺序？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不能，需要结合下一页的顺序图。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能区分结构或使用关系与运行时消息顺序。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分别指出“谁使用谁”与“谁先调用谁”应看哪张图。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按有余量场景检验职责是否足够。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不以标签直接推导数据库表、进程或微服务。</a:t>
            </a:r>
          </a:p>
          <a:p xmlns:a="http://schemas.openxmlformats.org/drawingml/2006/main">
            <a:r>
              <a:t>图源：diagrams/analysis-class.puml；https://www.omg.org/spec/UML/2.5.1/PDF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能按场景检查余量来源、状态处理与结果保留职责。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承接P30，先用冒号标记解释类与实例：e:Enrollment是一个记录实例，o:CourseOffering是它对应的开课班实例；ui与c分别承担界面、控制职责。此图从e与o已经确定开始，取余量2，读余量、确认同一e、协调保留结果、反馈界面。这里只解释逻辑协作，如何按编号取出e将在设计中补充。自调用“协调保留结果”标明职责，未指定具体存储机制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相比黑箱图，这里增加了哪些信息？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增加内部职责承担者、余量提供者、状态改变对象及保留结果的协调责任。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能将上述协作与P16的条件和结果对应。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若把分析消息当最终API，说明此处仍使用逻辑操作名，下一步才细化接口。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仍停留此图，让学生说出相对P17黑箱增加的信息，再翻P32核对。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分析中参数e表示已知业务对象，设计中用eId读取对象，是后续明确的细化选择。</a:t>
            </a:r>
          </a:p>
          <a:p xmlns:a="http://schemas.openxmlformats.org/drawingml/2006/main">
            <a:r>
              <a:t>图源：diagrams/analysis-sequence.puml；https://www.omg.org/spec/UML/2.5.1/PDF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能归纳分析模型的作用与判读依据。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分别指回P16、P23和P31。用例要求保存后反馈；领域模型说明处理哪个记录、读取哪个开课班；分析模型据此安排内部协作。这样讲清分析的两项依据，而不是把领域类机械复制一份。沿P31检查余量读取、确认、保留结果和反馈是否都有职责承担。保存机制尚未确定，但责任已明确；接下来设计需要选择操作、接口和具体组织。BCE按本例方法理解，与MVC、数据表和部署层分别讨论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分析图没有数据库对象，是否意味着可以不保存结果？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不能；用例中的保存要求仍然有效，具体机制留给设计细化。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能区分职责已被表达与实现机制尚未确定。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分别指出规约中的保存要求、分析中的协调职责和尚未设计的机制。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下面比较两个入口的职责方案，并把所选方案落实为操作与接口。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分析职责归纳依据本章模型及IBM分析模型说明：https://www.ibm.com/docs/en/dma?topic=approaches-analysis-model。不将BCE作为UML统一要求。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能说明设计模型的定义、输入与具体增加的信息。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设计是对实现方案的描述，不是自动把分析类一一改名。RUP把设计模型作为实现与测试的输入；本课用共享服务、仓储接口和操作契约说明具体决策。质量要求虽影响设计，本例没有新增未经确认的性能或安全指标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分析类为什么不一定与设计类一一对应？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设计需要结合职责、架构和技术约束，可以拆分、合并或增加技术元素，同时保持需求含义。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能指出一个设计决策及其需求或约束依据。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比较保存职责与仓储接口的关系，不以常见写法代替理由。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从网页与移动两个入口的教学情境出发，比较职责安排。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IBM Rational Software Modeler课程手册，Design Model（2-8）：https://public.dhe.ibm.com/software/websphere/JavaDevTools/Resources/RSM-Fundamentals/RSM-Fundamentals_student_manual.pdf；RUP指南设计模型部分：https://public.dhe.ibm.com/software/dw/rational/pdf/ArchtMgt_SW_series_Part2.pdf。模型组织和细节不是固定通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能基于具体变化比较设计方案，而非把一种架构当成标准答案。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解释入口指网页或移动界面，共用服务指两个入口调用同一处处理协调。学生先定位规则改变时要检查的代码位置，再提出选择、理由和代价，不要求画架构图。若停在“B更好”，只追问协作接口也需要谁维护，不直接给比较结论。具体收益和代价在P35核对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在A2下你选择哪种组织方式？什么变化影响你的选择？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共享协调可减少多入口协调规则的重复维护，也增加服务调用边界；分开协调也可能满足功能，但需保持两处行为一致。需根据规模和维护成本权衡。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能同时给出理由、代价和A2前提；只选择B不算完成。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要求每个判断附带一个变化场景，不接受“更先进”作为理由。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收集学生的方案理由后，再展示比较参考；下一页不作为学生独立作答证据。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能基于具体变化比较设计方案，而非把一种架构当成标准答案。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先请学生报告理由与代价，再逐项核对表格。两种方案均可满足功能；共用服务只集中协调逻辑，不能消除各入口全部差异。若只有一个小入口且需求稳定，未必值得增加服务边界。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只有一个小界面且需求稳定时，是否必须建立服务层？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不是。应比较复用、测试和维护收益与额外复杂度；本例因A2选择共享协调。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同时指出所选方案的理由和代价。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要求每个判断附带一个变化场景，不接受“更先进”作为理由。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依据A2说明本例采用共享服务，再追踪每项分析职责如何落实。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能把方案比较落实到明确的依赖和职责。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图为选定方案的设计草图：两个界面依赖同一EnrollmentService；服务使用Enrollment和仓储接口。CourseOffering等细节在后续设计页展开。移动入口仅用于A2讨论，随后的单次顺序图以ui代表其中一个入口。课堂代码只实现服务、业务对象及仓储替身，没有两个实际界面。</a:t>
            </a:r>
          </a:p>
          <a:p xmlns:a="http://schemas.openxmlformats.org/drawingml/2006/main">
            <a:r>
              <a:t>先解释三个设计名称：EnrollmentService是本例的处理服务，Enrollment是记录对象，IEnrollmentRepository是约定记录读取和保存操作的接口。仓储在此不是业务中的实体仓库。接口名前的I只是本例命名约定。当前只识别职责和依赖，下一页逐项追踪分析来源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引入共享服务后，界面还承担什么职责？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接收用户输入、调用服务和呈现结果；业务协调由服务组织，记录状态由实体承担。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正确读出依赖方向，并不把所有工作都归给服务。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沿一次请求口述各对象工作，再核对箭头。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说明方案选择后，逐项核对分析职责怎样落实为设计元素。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  <a:p xmlns:a="http://schemas.openxmlformats.org/drawingml/2006/main">
            <a:r>
              <a:t>图源：diagrams/responsibility-choice.puml；https://www.omg.org/spec/UML/2.5.1/PDF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能解释当前设计元素从哪些分析职责细化而来。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“保留结果”这一行讲起：UC-01要求保存后返回，分析要求控制职责协调保留，设计选择仓储接口来访问记录。接口是方案，保存责任是需求。P31从已知e开始，P41用findById(eId)补出获取步骤；没有创建另一条记录。再看process、状态操作和界面，各行说明设计新增了什么。分析类可以在设计中拆分、合并或增加技术元素，本表是当前方案的对应，并非自动转换规则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为何设计里新增仓储，而领域概念图中没有它？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它用于满足软件保存结果的责任，属于本例技术方案。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能说明本例仓储方案如何承接保存要求。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若回答“因为项目一般都这样”，要求指出P16的具体后置条件。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再比较Enrollment在三个建模视角中增加的信息。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知识主题参考孙海英老师原稿P23、25。</a:t>
            </a:r>
          </a:p>
          <a:p xmlns:a="http://schemas.openxmlformats.org/drawingml/2006/main">
            <a:r>
              <a:t>分析职责到设计类的对应是设计决策，不是自动生成规则。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能解释同名元素的承接，而不是机械画三份相同类图。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三幅局部图都谈Enrollment，但目的不同。领域图说明记录上的状态和可选成绩；分析图说明控制职责使用记录改变状态；设计图明确confirm/reject及其返回类型。未显示的学生、开课班关联仍以完整模型为准，其他设计属性与操作见P39。比较时先说用途，再说细节，不能仅凭有没有方法划分模型。确认或拒绝由控制职责按余量选择，记录对象执行状态改变；保存仍须另行协调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三图的名称相同，为什么不能直接说它们是同一层次的模型？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领域图澄清业务含义，分析图分配逻辑职责，设计图细化可实施操作；名称相同不消除建模目的与抽象程度差别。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能为三图各说一句用途；知道被省略的属性或关联并未删除。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请学生为每幅局部图补一句“本图主要用于回答什么问题”，再指出被省略但仍有效的一项信息。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回到完整设计模型，核对本页省略的信息和操作契约。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知识主题参考孙海英老师原稿P25。</a:t>
            </a:r>
          </a:p>
          <a:p xmlns:a="http://schemas.openxmlformats.org/drawingml/2006/main">
            <a:r>
              <a:t>领域模型也可以包含行为；本章的区别是关注点和抽象程度，不是有无方法的绝对分界。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能把业务状态与设计枚举、业务决定与操作对应起来。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PENDING、CONFIRMED、REJECTED分别对应三个中文状态。confirm与reject承接确认和拒绝的业务含义；它们的合法前提继续受P24约束。getOffering和getAvailableSeats支持后续交互中的信息读取。 设计约束与代码中的检查语句应分别说明：Java示例假定调用前已是PENDING，不在confirm/reject内部校验；服务仅根据当前余量选择操作。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confirm()是否同时表示数据库写入成功？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本设计不这样定义。confirm处理对象状态，仓储save(e)另行承担保存；具体保存能力取决于实现。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能区分状态操作和保存操作，并完成中英文状态对应。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沿着P16后置条件分别找到confirm和save的责任。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服务通过仓储契约协调读取和保存。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Student及其它属性从略，不删除其领域关系。错误调用、事务与故障行为尚待定义。</a:t>
            </a:r>
          </a:p>
          <a:p xmlns:a="http://schemas.openxmlformats.org/drawingml/2006/main">
            <a:r>
              <a:t>图源：diagrams/design-domain.puml；https://www.omg.org/spec/UML/2.5.1/PDF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能辨认服务、仓储接口与具体实现之间的关系。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将两根关系读成自然语言：服务调用仓储接口，内存仓储实现该接口的操作。本例findById返回记录副本，confirm/reject改变加载的副本，save才把本次状态写入仓储保存的副本。用口头检查说明差别：若只改加载对象，之后从仓储读出的状态仍是旧值。这是配套Java的具体实现安排，不推广为所有仓储的必然行为。A3限定进程内保存；数据库持久化和技术故障仍待设计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在本例中，修改加载对象的状态后，仓储保存的记录是否自动更新？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不会。本例读写副本，必须调用save(e)才能保留本次结果；这是当前演示实现的行为。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能区分加载对象与已保存记录，并知道此结论受A3及副本实现范围限制。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分别写“加载的e”“仓储保存的E1”两栏，只改变前者，再问save前后各栏是什么。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按一次实际请求展开设计交互，分成连续两页。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A3为教学演示假设。仓储快照按值复制记录状态，避免仅修改加载对象就被误认为已保存。记录不存在、保存失败、重试和事务均待确认。</a:t>
            </a:r>
          </a:p>
          <a:p xmlns:a="http://schemas.openxmlformats.org/drawingml/2006/main">
            <a:r>
              <a:t>图源：diagrams/design-service.puml；https://www.omg.org/spec/UML/2.5.1/PDF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能按消息顺序追踪e、o和n的来源。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读角色：ui为界面，svc为服务，repo为仓储接口，e为Enrollment实例，o为CourseOffering实例，n为余量值。eId是编号，通过findById得到记录e；再沿e的关联取得o、从o读取n。两页表示同一次process调用，本页服务执行尚未结束，下一页才处理和返回。返回箭头上的e、o、n是返回值的简写。用“读取、处理、保存与返回”作图外阅读线索，不新增UML关系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为什么不能从任意一个开课班读取余量？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必须使用这条选课记录所对应的开课班，才能保持领域关联含义。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能依次说明e来自仓储、o来自e的关联、n来自o。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在P23中用手指出e到o的关联，再回看getOffering消息。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根据n选择状态处理，然后完成保存和返回。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ui:选课界面；svc:EnrollmentService；repo:IEnrollmentRepository；e:Enrollment；o:CourseOffering。已存在、身份归属已核验、读取成功为本例前提。</a:t>
            </a:r>
          </a:p>
          <a:p xmlns:a="http://schemas.openxmlformats.org/drawingml/2006/main">
            <a:r>
              <a:t>图源：diagrams/design-read.puml；https://www.omg.org/spec/UML/2.5.1/PDF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能核对两条分支和公共保存步骤的一致性。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承接P41已读出的e、o和n。n大于0调用confirm并取得CONFIRMED，n为0调用reject并取得REJECTED；随后共同执行save(e)，成功返回后再反馈界面。n在本次处理中稳定，不考虑并发改变。</a:t>
            </a:r>
          </a:p>
          <a:p xmlns:a="http://schemas.openxmlformats.org/drawingml/2006/main">
            <a:r>
              <a:t>共同阅读顺序为：读取→处理→保存与返回。这是图外讲解线索，不是新增UML关系。两张设计交互图表示同一次process调用的前后片段。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两个分支中哪些必须相应变化，哪些步骤保持共同？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条件、状态操作与返回枚举相应变化；保存记录后反馈结果是共同步骤。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能把每个分支对应到P16、P24和P39，并指出保存先于返回。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分别用n=2与n=0逐条走图，不只看alt标题。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把这些消息和条件对应到一段实际Java代码。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生命线角色类型承接P41。技术故障未在alt中表示，不能把异常等同于REJECTED。保存成功为当前完整轨迹的前提。返回箭头上的result赋值采用返回值简写。</a:t>
            </a:r>
          </a:p>
          <a:p xmlns:a="http://schemas.openxmlformats.org/drawingml/2006/main">
            <a:r>
              <a:t>图源：diagrams/design-complete.puml；https://www.omg.org/spec/UML/2.5.1/PDF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能把顺序图消息对应到实际可执行语句。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打开源码定位EnrollmentService.process。依次对应P41读取记录和余量、P42的分支、保存、返回。待处理状态、身份与归属已核验、非负余量均是调用前提，示例不执行这些校验；服务只按当前余量选择confirm或reject。else表示n=0依赖余量非负整数的前提，不能推广为任意输入。代码省略当前路径不使用的可选成绩；studentId承载关联标识，并非删除学生关系。</a:t>
            </a:r>
          </a:p>
          <a:p xmlns:a="http://schemas.openxmlformats.org/drawingml/2006/main">
            <a:r>
              <a:t>共同阅读顺序为：读取→处理→保存与返回。这是图外讲解线索，不是新增UML关系。两张设计交互图表示同一次process调用的前后片段。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return result前为何必须有repo.save(e)？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UC-01要求结果保存后才返回；confirm或reject只修改所加载对象状态。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能逐句连接到模型中的参与者、消息或条件。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暂时只追踪n=0，再对照n=2的差别。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保留共同前提，让学生在P44填写测试预期，暂不运行程序。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教学假设A3：仓储仅在当前进程内保留记录快照。没有数据库、并发扣减、事务或故障恢复。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能从用例分支和完成保证提出可检查的测试。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三行分别使用全新仓储，初始均只有待处理E1，属于S1与O1。学生独立预测返回、保存状态和记录数；可以写中文状态名称，先检验规则理解，再核对枚举拼写。允许回看P7、P16，为一行注明依据即可。当前是规则应用练习，不把已经示范过的分支判断当作全新业务迁移。提交预期之前不运行程序、不显示P45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填写三行的返回状态、已保存状态和记录数，为其中一行注明依据。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余量0：返回和已保存状态均为REJECTED。余量1、2：两者均为CONFIRMED。三组运行的记录数均为1，保留原E1；依据P7和P16。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三行判断正确，并能解释至少一行的规则依据；中文与对应枚举均可接受。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将屏幕显示、内存对象状态与仓储快照分别列出。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学生提交预测并解释依据后，再展示P45参考与测试代码。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三组场景均满足P7的前提，只检查本次处理；不覆盖任意输入、技术故障或并发。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能解释测试怎样发现模型与实现的偏差。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核对P44三行预期，再解释代码中的辅助名称：expected是依据规则预先给出的期望状态，check为核对条件的函数，条件不成立会报错；trace是执行中记录的事件列表。主讲返回状态、保存状态与记录数三项，并逐项指出需求依据。最后一段顺序日志是可选解释：save写入快照后记日志，调用方收到正常返回后记return，不记录全部内部消息。不要求此时掌握List.of或测试框架。可在临时副本删save演示返回正确但保存检查失败；正确源码保持不动。--target、E2及固定编号错误留作教师选讲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返回状态正确，但遗漏save(e)，满足本例完成条件吗？哪项检查可以发现？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不满足。加载对象可能已改变且返回正确，但仓储中的已保存状态仍旧；savedStatus检查可发现这一差别。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能将返回、保存状态和记录数三项检查连到用例约定；日志顺序作为可选，不以Java辅助语法熟练度判定本章理解。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并排查看加载对象与仓储快照，说明它们是不同记录副本。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停留本页，先让学生说明一项实现依据和一项尚未验证的范围，再翻P46小结，随后进入综合一致性检查。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所有运行均满足既定前提。保存失败如何反馈、回滚或重试尚未设计；技术故障不是无余量业务拒绝。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能把模型到代码与测试的对应归纳为可复用的方法。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把P16、P41–43和P45放在同一条要求下解释：用例要求保存后返回，设计把它安排成save后返回，代码执行这一顺序，测试检查返回与保存状态及原记录。状态改变与保存是不同操作。仍需由原始需求核对预期，避免模型、代码和测试采用同一个错误理解。演示只覆盖既定前提下的内存处理；E2检查可选，不证明数据库、并发或故障能力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三组运行都通过后，还不能断言哪些能力已经实现？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不能据此断言任意输入校验、数据库持久化、并发扣减或故障恢复已经实现。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能同时说明测试证明了什么与没有覆盖什么。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将用例约定与实际执行的检查逐项配对，再列出缺少证据的部分。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用P47关系图归纳各模型、实现与验收之间的信息联系，再追踪同一条无余量规则。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本页归纳本项目演示，不增加选课业务规则或H2要求。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能从业务规则一直追踪到设计协作。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本单元先在选课案例内做一致性检验，再迁移到H2。先固定余量为0与同一条e，再纵向检查。这里是模型之间的对应说明，不是UML的一种新关系箭头，也不是证明模型可以自动转换。</a:t>
            </a:r>
          </a:p>
          <a:p xmlns:a="http://schemas.openxmlformats.org/drawingml/2006/main">
            <a:r>
              <a:t>本页是教师示范，不当作独立测验。固定同一e和n=0，逐行指出每类模型增加了哪些信息、继续保留了哪些约束。随后用错误交互诊断检验学生是否能独立引用依据。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设计改用另一个仓储实现后，表中哪些内容必须仍成立？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余量条件、同一记录的拒绝状态、结果保存及返回语义都必须保持。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能解释至少三个视角怎样表达同一规则。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每次只变一个条件，避免把不同记录或不同场景拿来比较。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用一个有余量场景检查“何时可以返回完成”。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本表是教学追踪表，不宣称覆盖全部系统需求。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能从消息顺序判断是否满足完成保证。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说明只判断向界面返回CONFIRMED的那个时刻，不能以图最后一个消息之后的情况作答。学生独立定位所需消息、引用UC-01并提出修正，再交流；讲解阶段不要预告缺陷所在。该图是待诊断方案，截取confirm执行后的尾部，不是P43正确代码的运行轨迹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向界面返回CONFIRMED的时刻，完成条件是否已满足？指出依据并给出修正。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不能在尚未保存时宣称完成；应先保存成功再返回CONFIRMED，依据P16后置条件。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指出提前返回的问题，并引用保存要求；只改显示文字不算完成。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若只依据记录状态作答，回看P7的完成条件。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下一页核对修正并讨论失败情况。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ui:选课界面；svc:EnrollmentService；repo:IEnrollmentRepository。图中故意保留待识别的错误。</a:t>
            </a:r>
          </a:p>
          <a:p xmlns:a="http://schemas.openxmlformats.org/drawingml/2006/main">
            <a:r>
              <a:t>图源：diagrams/completion-quiz.puml；https://www.omg.org/spec/UML/2.5.1/PDF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能说明修正满足了哪项需求，而不只复述箭头顺序。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学生应在P49停留时完成判断和修正理由；翻到本页后立即可见参考图，再逐项核对。此图的save正常返回表示调用完成，没有普通返回值；若保存失败，本章尚未定义反馈、回滚或重试，不补造返回REJECTED的规则。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若save失败，能否改成返回REJECTED就算处理完毕？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不能，REJECTED在本例表示无余量业务拒绝；技术故障应另行定义。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既能说明保存先于完成返回，也能区分技术失败和业务拒绝。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将“无余量”和“无法保存”分别写成两个独立问题。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转向H2：检查相同的拒绝反馈是否意味着相同的对象变化。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与上一页为同一场景的参考修正；只展示确认后的尾部交互。</a:t>
            </a:r>
          </a:p>
          <a:p xmlns:a="http://schemas.openxmlformats.org/drawingml/2006/main">
            <a:r>
              <a:t>图源：diagrams/completion-answer.puml；https://www.omg.org/spec/UML/2.5.1/PDF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能从H2原始规则建立迁移边界。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把业务换成课程作业提交：教师设置作业任务，学生向任务提交作业。本段只使用R2–R5讨论提交记录及请求处理，不展开评分流程。Submission是提交记录，当前提交是按规则成功保存的记录；数量限制针对学生与任务配对，课程是任务所属课程。先核对这些术语和原始条件，再让学生独立处理P52三个情境，不预告各题结果或对象变化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本页的有效选课关系针对哪门课程？“当前提交”按什么范围计数？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任务所属课程；以该学生和该任务的配对为范围。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能定位R3条件及其对象范围，尚不要求提前回答下一页情境。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先问请求前是否已有目标记录，再问规则允许改变什么。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请学生依原规则判断三个情境，先写请求前后记录情况再讨论。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H2来源：outputs/H2-UML五图实践-20261008/H2-课程作业提交系统UML五图建模-学生任务书-v1.4.md。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能在新业务中检查对象存在性和允许的变化。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让学生在纸上列“请求前记录／请求结果／是否新增／原记录变化”。H2情境再加评分是否改变；不把H2评分与选课成绩混为同一要求。独立完成三个情境后再交流，不在题页讲出答案。B和C各设置一个条件不满足，其余条件满足；若对“无当前提交”范围有疑问，仅重申该学生与该任务的配对，不代答变化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分别判断请求结果、是否新建记录以及已有记录是否改变，依据是哪条规则？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A返回拒绝，原E1保留且变为已拒绝，不新建记录。B因窗口关闭拒绝，不创建Submission，该学生对该任务仍无当前提交。C因该配对已有S1拒绝，不新增、不更改S1及其已有评分。依据P7、H2 R3和R4。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三个情境全部区分正确，并给出对应规则。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画请求前后各有哪些对象，暂时不画状态机。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收集答案后，再展示参考分析。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A依据P7教学前提；B、C依据H2 R3、R4。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能解释相似反馈文字为何不代表相同生命周期。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核对请求开始前有哪些对象，再检查规则允许哪些变化。B的不存在不是Submission的一个状态，而是尚未建立该对象。C已存在Submission，也不能因请求被拒绝而改成已拒绝。三个情境的“拒绝”语词相同，所属对象和保存规则不同。 B与C的有无当前提交，均限定为该学生与该任务的配对，不能推导为系统内完全没有或只有一份提交。</a:t>
            </a:r>
          </a:p>
          <a:p xmlns:a="http://schemas.openxmlformats.org/drawingml/2006/main">
            <a:r>
              <a:t>在学生完成之后再强调：首次提交指首次成功建立记录，失败可以再次请求；请求被拒绝不必对应一个对象的REJECTED状态。当前提交不会因窗口关闭而失效。别的学生或任务的提交不触发当前配对的数量限制。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窗口关闭后已有提交是否自动失效？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不失效，H2 R5明确规定窗口关闭不使当前提交失效。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解释既有对象不变与未创建对象的区别。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将“请求返回值”和“业务对象状态”写成两列。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将H2规则放入活动图，检查何时创建记录、何时保持已有记录不变。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依据选课共同前提与H2 R3–R5；不另造Submission拒绝状态。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能区分请求流程的分支与一个对象的状态变化。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指出这张图跟踪的是一次提交请求；判定节点检查R3的四项条件，而不是判断一个Submission当前处于哪种状态。读成功路径时指出创建保存发生的位置，再读不满足条件时的返回原因与记录不变要求。已有对象的生命周期要另选状态机视角，不能把流程中的拒绝反馈直接搬作对象状态。上传故障仍按R7不展开，创建保存合并表达业务步骤，不承诺事务原子性。最后请学生回读P51的四项条件，再转向P55独立复测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活动图有“拒绝”分支，是否就必须在Submission状态机里增加“已拒绝”？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不必须。活动描述请求流程；状态机描述特定对象的生命周期。此题拒绝不创建也不修改Submission。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能指出两种图的建模对象及规则依据。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回看P52的B、C，请学生先标出Submission是否存在。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暂不继续归纳，先用另一任务的情境让学生独立判断，参考只在教师Notes中。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这不是完整H2五图参考答案；创建保存合并表示规则内成功步骤，不暗示技术原子性或故障恢复。</a:t>
            </a:r>
          </a:p>
          <a:p xmlns:a="http://schemas.openxmlformats.org/drawingml/2006/main">
            <a:r>
              <a:t>图源：diagrams/h2-request.puml；https://www.omg.org/spec/UML/2.5.1/PDF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能按学生—任务配对重新判断成功条件，避免照搬前题的拒绝结论。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只展示题干，让学生独立写三个判断和规则依据。此页没有下一页参考答案；收集后再按Notes口头核对，不提前说可成功。允许查阅规则卡，但不代为指出配对结论。此题是既有规则下的新输入，不是增加业务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本次请求会为哪个学生—任务配对建立记录？T1提交是否构成重复？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成功。R3的四个条件对S与T2均满足，建立并保存S—T2的Submission并反馈。T1已有提交不触发S—T2数量限制，依据R5；原T1记录不因本次请求改变。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判断成功、识别S—T2、正确引用配对范围三项均成立。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若因“已经有提交”判断拒绝，先将两条配对写开，再换成另一学生S2向T1提交且四条件均满足，要求重新判断。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核对后进入迁移小结，说明何种方法可迁移、何种规则需重新读取。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H2学生任务书v1.4 R2、R3、R5、R7；不新增作业要求，不要求编写H2代码。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能用检查问题组织模型评审，而非只检查符号。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让学生分别引用选课与H2中的一条依据。模型和代码相符也可能共同误解业务，预期必须来自需求规则。边界例子帮助找问题但不等于穷尽验证。未知规则先记录问题，不用更复杂图形掩盖。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模型、代码和测试写得一致，是否就一定符合业务？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不一定。还需用原始业务规则独立核对，避免三者复用了同一个错误理解。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给出规则位置、具体模型元素以及可检验结果。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要求用一个输入及预期结果代替笼统的“保持一致”。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将规则、对象和实现的检查方法写成模型联系；完成下一页指定的一行后再看全章归纳。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能把案例中的知识组织为一条模型联系，并用规则解释其用途。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每人选择或由教师指定一行，写出前一步已有的信息、下一步需要确定的内容，再举一条继续有效的选课规则。先独立作答，后交流，不在作答前口述P58。此题检查模型之间如何提供依据，不要求填写固定开发顺序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任选一行：前一步已明确什么，这一步增加什么？哪一条选课规则仍须遵守？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例如分析到设计：增加服务、仓储接口和具体消息；保存后返回继续约束协作。业务到系统：明确软件承担的范围与责任，仍需满足办理目标；其余行见下一页完整归纳。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完成一行，写出相应视角增加或澄清的信息，并引用一条适用的具体约束。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若只列图名，要求追踪一个动作：保存结果由谁协调、怎样调用、如何检查。复测时换“保留同一条记录”要求解释。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完成学生解释后，再翻本章归纳表核对。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本项目教学组织；箭头不是UML关系，不表示必须依次完成的单向流程。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能用共同约束解释模型之间的承接关系。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核对P57的回答，再按表中的两列说明已有依据与新增判断。业务用例提供目标，系统用例增加软件范围和完成条件；系统用例与领域模型相互澄清对象及信息归属；分析同时利用这两类信息安排职责；设计确定操作、接口等实现方案。用保存后返回这一规则再贯穿检查一次，不能只背表格。P48仍保留无余量场景的五模型对应。表中箭头仅表示信息联系，设计发现缺失条件时可返回需求和领域讨论，也不要求项目分别维护五份文件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设计引入仓储后，哪些内容可以改变，哪些内容仍需遵守？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实现技术、类与接口可以调整，已确认的业务规则继续有效。例如换存储实现仍要保留原记录，并在保存本次结果后反馈。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能用一条具体约束解释所选模型联系，并区分新增安排与继续遵守的要求。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沿保存后返回这一要求，分别定位用例、分析、设计与测试中的证据。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把模型联系用于选择项目中的建模工作，再完成课堂自检。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本页为教学归纳，依据本章用例和模型。迭代模型组织参考IBM RUP指南：https://public.dhe.ibm.com/software/dw/rational/pdf/ArchtMgt_SW_series_Part2.pdf。不宣称所有项目必须维护五份独立模型。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能用另一种实现错误检验用例约束，并解释一项迁移或设计判断。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必答是待评价的假想实现，不是配套Java的实际行为。它将检查焦点换为“拒绝仍保留原记录”，避免只重复P49的返回时点；先收学生短答，再按Notes核对。另选A或B一道，保持任务量。记录独立、经提示或仍有误解，不新增评分权重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返回REJECTED但删除原E1，是否满足用例？用什么证据检查？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不满足。P7、P16要求保留原记录并保存拒绝结果；应核对E1仍存在且已保存状态为REJECTED，不能只看返回值。A依据H2 R4，不新增且不改已有提交及评分。B根据A2比较共享协调收益和新增接口维护成本。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必答有正确结论、保留原记录的要求及一项具体检查；选答有规则或假设依据。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若只依据REJECTED判断正确，回到原E1是否存在及保存状态。补救后再给“返回正确、保存状态错误”的情境复测，避免只背本题答案。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收取课堂短答并记录需补讲的问题。参考区按需要选读。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选课案例用于教学，所列假设需在真实项目中重新确认。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知道参考区各部分的用途及阅读位置。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P1–60为课堂主线。P62–64为组件、制品与部署候选方案；P65–68补充架构和分层；P69–81保留原稿图例，P82列参考资料。本区按需选读，不增加本次课堂主线的掌握要求。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原稿综合图的每根箭头是否都表示运行时调用？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不是，还可能表示组织、来源或推导；应按图的语境判读。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能按当前问题找到组件、部署或原稿方法图例，不把参考区全部当作本次必学内容。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区分已讲的内存代码、后续候选设计，以及原稿的综合示意。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可选讲P62–64的组件、制品与部署，或按本次进度结束。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本页沿用既有教学前提，未确认规则继续保留疑问。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能将设计类职责对应到组件，并辨认提供与使用接口。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选课前端承接界面，选课业务承接服务和领域对象，数据访问承接具体仓储。接口的操作沿用前面设计，不增加新的处理规则。组件是逻辑封装，数量不决定部署进程数量。 本页是后续工程化候选方案，与P43–45的内存演示分开看：代码未实现前后端部署或数据库，不把图当作现有实现证据。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将界面实现换成移动端，是否必然改变确认和拒绝规则？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不必然；接口与业务规则可以保持，前端实现可以调整。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能说出至少两个类到组件的归属并正确读接口关系。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先从P37职责归属对应组件，再解释箭头。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组件怎样体现为可交付制品？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知识主题参考孙海英老师原稿P6、24。</a:t>
            </a:r>
            <a:endParaRPr/>
          </a:p>
          <a:p xmlns:a="http://schemas.openxmlformats.org/drawingml/2006/main">
            <a:r>
              <a:t>本图是候选组织方案，不推断微服务或独立部署。</a:t>
            </a:r>
            <a:endParaRPr/>
          </a:p>
          <a:p xmlns:a="http://schemas.openxmlformats.org/drawingml/2006/main">
            <a:r>
              <a:t>图源：diagrams/component.puml；https://www.omg.org/spec/UML/2.5.1/PDF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能区分逻辑组件与部署制品，并读出体现关系的方向。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让学生把三个组件归到两个制品。前端资源包体现前端组件，选课应用包体现业务和数据访问组件；manifest依赖从制品指向被体现的模型元素。 本页是后续工程化候选方案，与P43–45的内存演示分开看：代码未实现前后端部署或数据库，不把图当作现有实现证据。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为何三个组件可以打包为两个应用制品？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逻辑职责划分与物理打包不是一一对应。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正确区分组件数和制品数，且箭头方向解释正确。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用“职责由谁封装、哪些文件打包交付”区分两种问题。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再说明制品部署到什么节点。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知识主题参考孙海英老师原稿P6、24。</a:t>
            </a:r>
            <a:endParaRPr/>
          </a:p>
          <a:p xmlns:a="http://schemas.openxmlformats.org/drawingml/2006/main">
            <a:r>
              <a:t>制品名称为教学示意，不代表已经完成实现与打包。</a:t>
            </a:r>
            <a:endParaRPr/>
          </a:p>
          <a:p xmlns:a="http://schemas.openxmlformats.org/drawingml/2006/main">
            <a:r>
              <a:t>图源：diagrams/manifestation.puml；https://www.omg.org/spec/UML/2.5.1/PDF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能根据节点和嵌套制品说明候选运行位置。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从学生终端沿通信路径读到应用服务器和数据库服务器。前端资源包由应用服务器提供给浏览器。层、组件、制品、节点不是同一级概念，应结合P68、P62、P63逐一对应。 本页是后续工程化候选方案，与P43–45的内存演示分开看：代码未实现前后端部署或数据库，不把图当作现有实现证据。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业务层是否与图中的应用服务器严格一一对应？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不是，层是逻辑组织，节点是运行资源，部署方案还可变化。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能找到应用包的部署位置并指出待确认事项。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让学生分别圈出“逻辑职责”“文件制品”“运行资源”，不要只记三维方框。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下面区分架构决策与技术框架，再比较业务组织与软件分层。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知识主题参考孙海英老师原稿P6、24。</a:t>
            </a:r>
          </a:p>
          <a:p xmlns:a="http://schemas.openxmlformats.org/drawingml/2006/main">
            <a:r>
              <a:t>本图不构成真实系统的性能、安全或高可用保证。</a:t>
            </a:r>
          </a:p>
          <a:p xmlns:a="http://schemas.openxmlformats.org/drawingml/2006/main">
            <a:r>
              <a:t>图源：diagrams/deployment.puml；https://www.omg.org/spec/UML/2.5.1/PDF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能区分架构决策与框架名称。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用“界面是否直接访问存储”说明架构问题；用具体类库支持什么说明框架问题。这里不引入微服务部署等额外复杂度。原稿示例名称可作为课后延伸。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写出某个Web框架的名称，能否说明保存职责位于哪里？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不能，还需具体说明模块职责和依赖。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能提出至少一个框架名称未回答的架构问题。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回到本例的三个职责，询问它们放在哪里。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分别看业务组织和软件组织。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知识主题参考孙海英老师原稿P20。</a:t>
            </a:r>
            <a:endParaRPr/>
          </a:p>
          <a:p xmlns:a="http://schemas.openxmlformats.org/drawingml/2006/main">
            <a:r>
              <a:t>本例分层是教学候选方案，不表示已确定真实系统技术栈。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  <a:endParaRPr/>
          </a:p>
          <a:p xmlns:a="http://schemas.openxmlformats.org/drawingml/2006/main">
            <a:r>
              <a:t>能按业务含义说明三个模块之间的关系。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【承接与讲解】</a:t>
            </a:r>
            <a:endParaRPr/>
          </a:p>
          <a:p xmlns:a="http://schemas.openxmlformats.org/drawingml/2006/main">
            <a:r>
              <a:t>这里仅组织当前已有概念，没有补建完整学籍或排课系统。业务架构说明业务职责的组织，后面的软件分层使用另一种划分依据。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【课堂检查】</a:t>
            </a:r>
            <a:endParaRPr/>
          </a:p>
          <a:p xmlns:a="http://schemas.openxmlformats.org/drawingml/2006/main">
            <a:r>
              <a:t>“开课安排”这个业务模块是否必须独立部署？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【参考回答】</a:t>
            </a:r>
            <a:endParaRPr/>
          </a:p>
          <a:p xmlns:a="http://schemas.openxmlformats.org/drawingml/2006/main">
            <a:r>
              <a:t>不能由此推断，需要另行考虑软件职责、运行环境和质量需求。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【达成标准】</a:t>
            </a:r>
            <a:endParaRPr/>
          </a:p>
          <a:p xmlns:a="http://schemas.openxmlformats.org/drawingml/2006/main">
            <a:r>
              <a:t>能避免把业务模块直接等同于部署节点。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【常见误解与补救】</a:t>
            </a:r>
            <a:endParaRPr/>
          </a:p>
          <a:p xmlns:a="http://schemas.openxmlformats.org/drawingml/2006/main">
            <a:r>
              <a:t>让学生比较“开课安排”与“数据访问层”的划分依据。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【下一步】</a:t>
            </a:r>
            <a:endParaRPr/>
          </a:p>
          <a:p xmlns:a="http://schemas.openxmlformats.org/drawingml/2006/main">
            <a:r>
              <a:t>用包视图概括当前业务概念的组织。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【依据与边界】</a:t>
            </a:r>
            <a:endParaRPr/>
          </a:p>
          <a:p xmlns:a="http://schemas.openxmlformats.org/drawingml/2006/main">
            <a:r>
              <a:t>知识主题参考孙海英老师原稿P21。</a:t>
            </a:r>
            <a:endParaRPr/>
          </a:p>
          <a:p xmlns:a="http://schemas.openxmlformats.org/drawingml/2006/main">
            <a:r>
              <a:t>模块命名是本章教学组织，不宣称真实院校部门结构。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能读出业务包之间的使用关系。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从选课办理包向外追踪：办理需要学生信息与开课班信息。包中类用于提示所组织的概念。箭头不是一条业务流程，也不表示调用同名远程服务。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两条依赖能否告诉我们先执行哪个业务模块？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不能，时间顺序需要用行为或交互视图说明。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能按“使用什么信息”而非“先做什么”读图。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回看业务活动图，对比依赖与控制流。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软件设计还需要补充读取和保存等技术决定。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图源：diagrams/business-packages.puml；https://www.omg.org/spec/UML/2.5.1/PDF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能将界面、业务处理和数据访问元素放入本例层次。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左侧包表示层次依赖，右侧列出归属。业务层使用数据访问层提供的接口，这是本例的分层候选，不将接口位置宣称为所有架构的统一要求。逻辑分层不意味着必须分进程部署。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三个逻辑层是否必须位于三台机器上？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不必，逻辑组织和物理部署是不同视角。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能正确归属Service和Repository，并区分层与节点。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先将全部层设想运行在一台机器，再讨论可能的部署。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以下原稿综合图按当前遇到的模型问题查阅，不必依次讲完。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选型与部署方案尚未定案。</a:t>
            </a:r>
          </a:p>
          <a:p xmlns:a="http://schemas.openxmlformats.org/drawingml/2006/main">
            <a:r>
              <a:t>图源：diagrams/software-packages.puml；https://www.omg.org/spec/UML/2.5.1/PDF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区分业务目标与业务用例实现。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业务参与者和目标开始读图，再看业务对象及其协作。原图汇集业务用例、实体、状态和实现等内容，应分别解释目标与实现，不能将全部元素视为业务用例的必备组成。对照选课案例：办理选课是目标，谁办理、依靠什么信息是实现层面的问题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仅列出“办理选课”能否说明内部由谁处理？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不能。目标与内部实现分别表达，二者通过相同业务场景保持一致。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能指出图中一个目标元素和一个实现元素，并说明用途。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让学生先口头描述参与者想获得的结果，再讨论实现职责。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P70介绍原稿的概念用例方法术语，可按需阅读。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图源：孙海英老师原稿P7、8。模型分区属于方法约定，UML并不要求所有项目采用同一套模型目录。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辨明原稿方法术语，并正确识别UML扩展关系方向。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原稿P10将“概念用例”用于抽取业务用例中的核心业务单元，是该资料的方法术语，不能作为UML额外规定的独立建模阶段。上方标注“扩展”的箭头由业务用例指向概念用例2。如果它意指UML Extend，方向与规范相反。规范中的虚线开箭头由扩展用例指向被扩展用例，标记«extend»。原图具体扩展场景和扩展点未给出，因此保留原图并在页内提示，不猜测业务规则重画。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UML extend箭头指向增加行为的用例，还是被扩展的用例？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指向被扩展的用例。应结合扩展点和条件解释增加的行为。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能口述箭头方向，并说明“概念用例”是本资料的方法用语。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对照规范方向辨析原图，不能只依据中文标签模仿画法。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P71回到课堂主线中的系统用例与内部协作。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图源：孙海英老师原稿P10、11。待确认：图中“扩展”是否意指UML Extend，以及具体扩展场景。规范：OMG UML 2.5.1 §18.1.4，印刷页642（PDF第684页），https://www.omg.org/spec/UML/2.5.1/PDF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区分系统用例描述与用例实现。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图中系统参与者和系统用例描述对外可见的目标与行为。对象及其协作进一步说明软件内部如何实现该行为。本章将后一部分放入分析模型讨论，保留由系统用例追踪到分析职责的联系。图中各类内容不必存放在同一个模型包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“提交选课请求”和“选课控制协调校验”分别回答什么问题？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前者描述系统对参与者提供的行为，后者描述内部职责如何协作。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能把一个外部请求与一组分析职责对应起来。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先遮住内部对象，仅讨论系统边界；再讨论用例实现。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P72、73辨明领域视角与软件视角。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图源：孙海英老师原稿P13、14。分析模型视角参考IBM：https://www.ibm.com/docs/en/dma?topic=approaches-analysis-model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说明领域分析与用例分析的观察重点。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用例关注参与者目标及系统可观察行为。本章领域模型用于理解业务中的概念与关系，如学生、开课班、选课记录。原图将领域分析称为“透明盒”，应结合其业务分析语境理解，不能直接等同于软件内部类或代码。UML类图可用于不同视角，必须先明确所表示对象的含义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领域图中的Student是否已经规定数据库表和Java类？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没有。它先表示业务概念，技术实现由设计阶段进一步决定。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能区分业务概念与软件实现。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给同名Student分别加上“业务概念”“软件类”的语境，再比较职责与细节。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P73说明原稿领域建模范围与本章约定。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图源：孙海英老师原稿P15。概念、规格、实现视角参考Larman：https://www.informit.com/articles/article.aspx?p=360440&amp;seqNum=6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从业务场景抽取概念，并辨明领域模型的范围约定。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原稿P16的领域建模还涉及方法与对象交互，采用了较宽的范围。本章课堂主线将领域模型聚焦于业务概念及关系，软件对象职责分配和消息协作放在分析、设计中展开。回顾选课记录：先讨论它联系学生与开课班、有哪些业务状态，再讨论由哪个软件对象改变状态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看到一条“保存选课记录”消息，是否必须加进领域概念图？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不必。先判断它是业务事实还是软件职责，再选择适当视图。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能为新增元素说明所属视角及理由。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不要仅凭名词相同就把领域概念类和设计类合并。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P74比较分析与后续设计。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图源：孙海英老师原稿P16。原稿的较宽定义予以保留，不把模型范围差异直接判为错误。视角依据：https://www.informit.com/articles/article.aspx?p=360440&amp;seqNum=6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按分析与设计的关注点解读综合图。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读对象职责与交互，再读架构、组件和部署部分。本章分析模型讨论职责与协作，后续设计进一步确定接口、技术组织和运行位置。原图将这些视图并列，是跨阶段的综合关系示意，不代表所有细节都必须在分析时定案。实际项目允许迭代往返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分析时知道需要保存选课记录，是否就能确定数据库服务器部署？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不能。保存职责可以先明确，具体技术和部署还需要质量要求与环境约束。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能指出一个分析问题和一个后续设计问题。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让学生解释决策所需依据，避免只按图形名称划分阶段。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P75、76通过网上购物查看分析交互与分析类的对应。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图源：孙海英老师原稿P17。分析模型依据：https://www.ibm.com/docs/en/dma?topic=approaches-analysis-model；部署记法参见OMG UML 2.5.1第19章。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识别交互参与对象及尚未表达的分支条件。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沿消息自上而下读出认证、浏览等职责。原图将接受与拒绝结果合并标注，未显式给出成功和失败分支的条件及各自后续行为。不能据此断定认证失败后仍按相同路径继续。也不能自行假定未登录用户一定禁止浏览，必须核实原需求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认证失败后能否继续浏览？仅凭这张图能否判断？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仅凭此图不能判断。需确认业务规则，再分别表达分支，例如在顺序图中用带守卫条件的alt片段。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能指出缺少的条件与待确认规则，避免补造流程。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只分析图中已有消息，先列出缺失条件，不现场编造购物系统要求。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P76将这些协作参与者对应到分析类职责。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图源：孙海英老师原稿P18、19。待确认：失败后停止、重试或允许匿名浏览的规则。alt片段与守卫语义参见OMG UML 2.5.1第17章，https://www.omg.org/spec/UML/2.5.1/PDF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辨认分析类职责，并为关联多重性寻找业务依据。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按边界、控制、实体职责读类，不依据圆形或线条外观判断是否数据库表。再选择订单与商品的关联，询问“商品”表示可复用的商品信息，还是一次购买中的订单项。含义不同会影响关联解释。原稿多重性保留，不能移植为选课系统规则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确认订单与商品的多重性，首先需要澄清什么？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需要澄清类的业务含义，以及一个实例可以关联多少另一类实例。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能提出决定关联约束的具体需求问题。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对一个订单、两种商品画出实例关系，仅在需求明确后修订类图。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P77转向业务协作的组织视角。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图源：孙海英老师原稿P18、19。待确认：“商品”的语义、1..n中n的界限、订单与支付记录的1:1约束。BCE职责说明参考IBM RSM Fundamentals学生手册：https://public.dhe.ibm.com/software/websphere/JavaDevTools/Resources/RSM-Fundamentals/RSM-Fundamentals_student_manual.pdf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按业务协作理解模块与参与方。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识别业务领域、组织和参与方之间的联系，再与P66的选课业务模块比较。原图的图标和连线应依业务语境判读。不能把组织自动看作服务器，也不能把每条业务联系当作API调用；缺少图例定义的符号只作整体示意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图中的一个部门是否必然对应一个软件服务？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不能直接推出。还需根据软件职责和质量需求决定服务划分。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能说出业务组织与软件部署的划分依据不同。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将同一业务模块设想由多个岗位共同办理，再讨论软件支持。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P78讨论业务架构与业务模型的相互约束。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图源：孙海英老师原稿P21。原图组织结构和具体符号的额外含义未确认，不扩写为真实组织事实。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区分方法上的推导关系与系统运行关系。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从业务模型识别职责和协作，再用业务架构组织相关业务内容。架构选择也会指导进一步细化模型。图中“推导”“指导”表示建模工作之间的依据和约束，不作为UML调用、继承等关系的记法示例。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图中“指导”箭头能否解释为程序发出一次调用？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不能。它说明模型工作之间的关系。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能用一句话说明箭头的具体语义。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要求每次读箭头都先读文字标签，再确定它处于模型工作还是系统运行的语境。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P79改从软件结构观察层次。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图源：孙海英老师原稿P21。业务架构按原稿方法语境理解，不宣称该示意为UML标准元模型。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区分逻辑层次、层内结构与物理节点。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原稿用“广度与深度”提示层次组织和层内细化，这两个词属于其讲解方式。三维外框是层次示意，不能只因外观近似节点就按部署图解释。Layer1、Layer2、Layer3未给出具体命名，不擅自认定就是P68的三个层。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三个层必须放在三台机器上吗？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不必。逻辑分层和物理部署须分别说明。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能指出仅凭此图无法确定机器数量与部署位置。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对照P64节点图与P68分层图，用建模含义而非外框外观作判断。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P80回到设计决策的输入依据。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图源：孙海英老师原稿P22。原始图片右侧外框线条局部接近图像边缘，保留来源，不补造线条或标签。具体层名待原需求确认。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说明设计决策受哪些输入约束。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从需求目标和分析职责出发，再结合架构选择、技术环境及框架能力作具体设计。选择框架并不能替代职责分配。把本章“谁保存选课记录”的设计与需求、接口以及内存演示环境对应起来。图中输入并非一次性冻结，反馈可能使前面的模型得到修订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更换数据存储实现时，哪些设计需要重新检查？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需检查仓储接口和实现、调用协作以及相关测试，是否改变业务规则则须另作判断。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能为一个设计决定指出至少一个约束来源。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回到具体决策及其依据，避免罗列所有图名。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P81检查不同设计视图之间是否一致。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图源：孙海英老师原稿P23。选课仓储和部署图为候选方案，不代表现有代码已经实现数据库。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按问题选择设计视图，并检查相互一致。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类和接口说明结构，交互或状态视图说明相关行为，组件、制品和节点进一步说明组织与部署。只绘制能回答当前问题的视图。原图中从组件到服务器的概括关系须结合P62–64细化：制品体现组件等模型元素，制品部署于节点，组件与制品不必一一对应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顺序图中的操作在类或接口中找不到，应检查什么？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检查操作名称、接收者职责及接口定义是否一致，再依据需求修正相关视图。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能指出一条跨视图的一致性检查。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选择一条消息追踪到操作及承担职责的组件，避免只数图的种类。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P82按资料来源继续查阅。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图源：孙海英老师原稿P24。制品体现关系与部署语义：OMG UML 2.5.1第19章，https://www.omg.org/spec/UML/2.5.1/PDF。图中方法关系不能全部解释为运行时调用。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区分原始课程资料、理论来源和本课程案例。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区分课程资料来源、UML规范、软件工程方法与本项目的教学扩展。新增设计和代码不是原作者给出的实现，不能混同归属。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选课仓储与部署方案是否由原作者规定？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不是，是本章新增的显式教学候选方案。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能够指出定义或图例的来源，并识别A1—A3的教学假设。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将原作者资料与选课案例、代码演示分开说明归属。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可按需要查阅上述原始资料，并结合本章保留疑问继续确认需求。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知识主题参考孙海英老师原稿P27。</a:t>
            </a:r>
          </a:p>
          <a:p xmlns:a="http://schemas.openxmlformats.org/drawingml/2006/main">
            <a:r>
              <a:t>规范：https://www.omg.org/spec/UML/2.5.1/PDF；方法：https://www.ibm.com/docs/en/dma?topic=approaches-analysis-model；https://www.ibm.com/docs/en/dma?topic=diagrams-use-cases；SWEBOK：https://ieeecs-media.computer.org/media/education/swebok/swebok-v4.pdf（所查版本V4.0a）。教学目标与评价对应参考https://www.cmu.edu/teaching/assessment/basics/alignment.html；选择性建模参考https://martinfowler.com/bliki/UmlAsSketch.html。</a:t>
            </a:r>
          </a:p>
          <a:p xmlns:a="http://schemas.openxmlformats.org/drawingml/2006/main">
            <a:r>
              <a:t>新增定义来源：https://public.dhe.ibm.com/software/dw/rational/pdf/ArchtMgt_SW_series_Part2.pdf；https://public.dhe.ibm.com/software/websphere/JavaDevTools/Resources/RSM-Fundamentals/RSM-Fundamentals_student_manual.pdf；https://public.dhe.ibm.com/software/rational/web/whitepapers/2003/feaf.pdf；https://www.informit.com/articles/article.aspx?p=360440&amp;seqNum=6；https://www.informit.com/content/images/0130925691/samplechapter/0130925691.pdf；https://martinfowler.com/eaaCatalog/domainModel.html。规范语义与方法定义须按上下文区分。</a:t>
            </a:r>
          </a:p>
          <a:p xmlns:a="http://schemas.openxmlformats.org/drawingml/2006/main">
            <a:r>
              <a:t>扩展图例辨析依据：P70的Extend方向见OMG UML 2.5.1 §18.1.4（印刷页642）；P62组件接口见§11.6；P63、64制品体现和部署见第19章。P72、73的领域模型范围按Larman概念视角解释，原稿方法术语保留上下文。</a:t>
            </a:r>
          </a:p>
          <a:p xmlns:a="http://schemas.openxmlformats.org/drawingml/2006/main">
            <a:r>
              <a:t>模型联系图依据本项目《理解与项目应用学习笔记》整理，P47采用原生可编辑图形，另附Mermaid图源。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说明五类模型怎样支持实现与验收，识别需求与验收之间的直接联系。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沿业务用例到系统用例说明目标与软件范围的区别，再看系统用例与领域模型的双向联系。分析同时利用软件责任与业务概念，设计把职责具体到操作和接口。最后分开读验收的两条入线：系统用例提供场景与预期，实现提供被检查的运行结果。不能用代码当前输出反推预期，也不表示测试须等编码完成才开始。用余量0场景追踪：预期拒绝、保留原记录并保存后返回来自UC-01；服务和仓储是设计安排；代码运行后按这些预期检查。箭头仅表示信息联系，设计发现保存失败规则缺失时应返回需求讨论。当前演示只覆盖既定假设下的内存处理，不据此扩大为真实验收完成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验收检查接收哪两类信息？为什么不能只根据代码输出确定预期？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需求提供场景与预期，实现提供被检查的行为和结果。代码可能误解需求，预期不能由当前实现倒推。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能解释两条验收入线，并举出选课案例中的一项需求依据。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先回到当前要解决的问题，再选择模型信息。不能把图种名称当成开发阶段。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在P48中逐行核对无余量规则，随后检查一段存在返回时序问题的交互。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依据本项目《Ch3-UML核心模型-理解与项目应用学习笔记》第五、七、八节。五类模型按本章的RUP/UP语境组织，领域模型采用概念视角。此图是教学关系示意，不是UML标准图，也不是完整的软件生命周期。</a:t>
            </a:r>
          </a:p>
          <a:p xmlns:a="http://schemas.openxmlformats.org/drawingml/2006/main">
            <a:r>
              <a:t>方法独立性：https://www.omg.org/uml/what-is-uml.htm。选择性建模：https://martinfowler.com/bliki/UmlAsSketch.html。原笔记末端节点为“验收场景与预期结果”，此处改为“验收检查”，分别标明需求与实现的作用，避免把实现理解为预期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【教学目标】</a:t>
            </a:r>
          </a:p>
          <a:p xmlns:a="http://schemas.openxmlformats.org/drawingml/2006/main">
            <a:r>
              <a:t>根据项目中的具体困难选择建模工作，并说明应保留的信息。</a:t>
            </a:r>
          </a:p>
          <a:p xmlns:a="http://schemas.openxmlformats.org/drawingml/2006/main">
            <a:r>
              <a:t>【承接与讲解】</a:t>
            </a:r>
          </a:p>
          <a:p xmlns:a="http://schemas.openxmlformats.org/drawingml/2006/main">
            <a:r>
              <a:t>先给学生当前团队项目中的一个例子，再按表定位主要困难。目标不一致先讨论业务范围；软件责任和完成条件不清补用例规约；术语和信息归属混淆开展领域讨论；内部职责分工不清时分析职责与协作；接口和调用约定不一致细化设计。这不是唯一顺序，也不意味着问题只涉及一个模型。要求学生说明需要明确的内容及其用途，不要求再提交五份独立文档。对小改动，可只更新受影响的场景或局部图；保存失败等影响正确性的疑问应记录并澄清，不能自行补造规则。</a:t>
            </a:r>
          </a:p>
          <a:p xmlns:a="http://schemas.openxmlformats.org/drawingml/2006/main">
            <a:r>
              <a:t>【课堂检查】</a:t>
            </a:r>
          </a:p>
          <a:p xmlns:a="http://schemas.openxmlformats.org/drawingml/2006/main">
            <a:r>
              <a:t>若两位开发者都说“保存选课结果”，却对何时返回结果理解不同，优先补充什么？</a:t>
            </a:r>
          </a:p>
          <a:p xmlns:a="http://schemas.openxmlformats.org/drawingml/2006/main">
            <a:r>
              <a:t>【参考回答】</a:t>
            </a:r>
          </a:p>
          <a:p xmlns:a="http://schemas.openxmlformats.org/drawingml/2006/main">
            <a:r>
              <a:t>先核对系统用例中的完成条件，再检查设计交互与实现是否遵守保存后返回。若分歧在save参数或接口，则需进一步明确设计约定。</a:t>
            </a:r>
          </a:p>
          <a:p xmlns:a="http://schemas.openxmlformats.org/drawingml/2006/main">
            <a:r>
              <a:t>【达成标准】</a:t>
            </a:r>
          </a:p>
          <a:p xmlns:a="http://schemas.openxmlformats.org/drawingml/2006/main">
            <a:r>
              <a:t>能指出当前问题、所需模型信息及其用途，不只列出模型名称。</a:t>
            </a:r>
          </a:p>
          <a:p xmlns:a="http://schemas.openxmlformats.org/drawingml/2006/main">
            <a:r>
              <a:t>【常见误解与补救】</a:t>
            </a:r>
          </a:p>
          <a:p xmlns:a="http://schemas.openxmlformats.org/drawingml/2006/main">
            <a:r>
              <a:t>先回到当前要解决的问题，再选择模型信息。不能把图种名称当成开发阶段。</a:t>
            </a:r>
          </a:p>
          <a:p xmlns:a="http://schemas.openxmlformats.org/drawingml/2006/main">
            <a:r>
              <a:t>【下一步】</a:t>
            </a:r>
          </a:p>
          <a:p xmlns:a="http://schemas.openxmlformats.org/drawingml/2006/main">
            <a:r>
              <a:t>完成P60独立自检，分别引用业务规则和实现检查依据。</a:t>
            </a:r>
          </a:p>
          <a:p xmlns:a="http://schemas.openxmlformats.org/drawingml/2006/main">
            <a:r>
              <a:t>【依据与边界】</a:t>
            </a:r>
          </a:p>
          <a:p xmlns:a="http://schemas.openxmlformats.org/drawingml/2006/main">
            <a:r>
              <a:t>依据本项目学习笔记第七至九节的项目应用建议，不新增H2提交要求或评价权重。按问题选择模型：https://martinfowler.com/bliki/UmlAsSketch.html。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39257332a4e0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419759dca4e41" /><Relationship Type="http://schemas.openxmlformats.org/officeDocument/2006/relationships/slideLayout" Target="/ppt/slideLayouts/slideLayout1.xml" Id="R650b2a2e2823458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b2a2e2823458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d948b9a134dda" /><Relationship Type="http://schemas.openxmlformats.org/officeDocument/2006/relationships/image" Target="/ppt/media/image.png" Id="R1e8c1c4316bd4413" /><Relationship Type="http://schemas.openxmlformats.org/officeDocument/2006/relationships/notesSlide" Target="/ppt/notesSlides/notesSlide1.xml" Id="R3fac898af479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3a83a722342d5" /><Relationship Type="http://schemas.openxmlformats.org/officeDocument/2006/relationships/image" Target="/ppt/media/image2.png" Id="Rcb480efedafa44de" /><Relationship Type="http://schemas.openxmlformats.org/officeDocument/2006/relationships/notesSlide" Target="/ppt/notesSlides/notesSlide2.xml" Id="Rb10cb9a4cad745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0bd795abe424f" /><Relationship Type="http://schemas.openxmlformats.org/officeDocument/2006/relationships/image" Target="/ppt/media/image3.png" Id="Rd20443b116ad44b5" /><Relationship Type="http://schemas.openxmlformats.org/officeDocument/2006/relationships/notesSlide" Target="/ppt/notesSlides/notesSlide3.xml" Id="Rd96d40f4b54e4e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56d42970c4284" /><Relationship Type="http://schemas.openxmlformats.org/officeDocument/2006/relationships/image" Target="/ppt/media/image4.png" Id="R7424544c95e34382" /><Relationship Type="http://schemas.openxmlformats.org/officeDocument/2006/relationships/notesSlide" Target="/ppt/notesSlides/notesSlide4.xml" Id="Rea213e4f0774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8ca31af3d47cf" /><Relationship Type="http://schemas.openxmlformats.org/officeDocument/2006/relationships/image" Target="/ppt/media/image5.png" Id="R6e2deaf09c5f420e" /><Relationship Type="http://schemas.openxmlformats.org/officeDocument/2006/relationships/notesSlide" Target="/ppt/notesSlides/notesSlide5.xml" Id="R57e0795615f847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13e17000d4325" /><Relationship Type="http://schemas.openxmlformats.org/officeDocument/2006/relationships/image" Target="/ppt/media/image6.png" Id="R3c0504b42e574255" /><Relationship Type="http://schemas.openxmlformats.org/officeDocument/2006/relationships/notesSlide" Target="/ppt/notesSlides/notesSlide6.xml" Id="R7b35397d7af948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344de43f64779" /><Relationship Type="http://schemas.openxmlformats.org/officeDocument/2006/relationships/image" Target="/ppt/media/image7.png" Id="R6ebc1d4d3d074102" /><Relationship Type="http://schemas.openxmlformats.org/officeDocument/2006/relationships/notesSlide" Target="/ppt/notesSlides/notesSlide7.xml" Id="R23c64fd9fdbe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fcbb8db243cc" /><Relationship Type="http://schemas.openxmlformats.org/officeDocument/2006/relationships/image" Target="/ppt/media/image8.png" Id="R34ac21a51db74c5d" /><Relationship Type="http://schemas.openxmlformats.org/officeDocument/2006/relationships/notesSlide" Target="/ppt/notesSlides/notesSlide8.xml" Id="R7d9ec5135a1245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21d08ff884c60" /><Relationship Type="http://schemas.openxmlformats.org/officeDocument/2006/relationships/image" Target="/ppt/media/image9.png" Id="R1856130d96664305" /><Relationship Type="http://schemas.openxmlformats.org/officeDocument/2006/relationships/notesSlide" Target="/ppt/notesSlides/notesSlide9.xml" Id="R99c5c4b859d4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55fb148cc4e04" /><Relationship Type="http://schemas.openxmlformats.org/officeDocument/2006/relationships/image" Target="/ppt/media/image10.png" Id="Rdc582b1ec70d4098" /><Relationship Type="http://schemas.openxmlformats.org/officeDocument/2006/relationships/notesSlide" Target="/ppt/notesSlides/notesSlide10.xml" Id="Rf05f9b28799d48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2ce8f1c1f4006" /><Relationship Type="http://schemas.openxmlformats.org/officeDocument/2006/relationships/image" Target="/ppt/media/image11.png" Id="R5c3b45408e7245cc" /><Relationship Type="http://schemas.openxmlformats.org/officeDocument/2006/relationships/notesSlide" Target="/ppt/notesSlides/notesSlide11.xml" Id="R84afd7f5bdca41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522653fe42ac" /><Relationship Type="http://schemas.openxmlformats.org/officeDocument/2006/relationships/image" Target="/ppt/media/image12.png" Id="R17a97bfd51044810" /><Relationship Type="http://schemas.openxmlformats.org/officeDocument/2006/relationships/notesSlide" Target="/ppt/notesSlides/notesSlide12.xml" Id="Rd047cfa3ee4042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146cfd3a4da5" /><Relationship Type="http://schemas.openxmlformats.org/officeDocument/2006/relationships/image" Target="/ppt/media/image13.png" Id="R9fddee3b0ef94aa3" /><Relationship Type="http://schemas.openxmlformats.org/officeDocument/2006/relationships/notesSlide" Target="/ppt/notesSlides/notesSlide13.xml" Id="R40d811b7632e4d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c4bca50ed40af" /><Relationship Type="http://schemas.openxmlformats.org/officeDocument/2006/relationships/image" Target="/ppt/media/image14.png" Id="R485d3d3178f14872" /><Relationship Type="http://schemas.openxmlformats.org/officeDocument/2006/relationships/notesSlide" Target="/ppt/notesSlides/notesSlide14.xml" Id="Rc58ddd73f2ea4c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fd650b7e4184" /><Relationship Type="http://schemas.openxmlformats.org/officeDocument/2006/relationships/image" Target="/ppt/media/image15.png" Id="R7caa145bced54bf4" /><Relationship Type="http://schemas.openxmlformats.org/officeDocument/2006/relationships/notesSlide" Target="/ppt/notesSlides/notesSlide15.xml" Id="R79393da9fc944b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15874e094d04" /><Relationship Type="http://schemas.openxmlformats.org/officeDocument/2006/relationships/image" Target="/ppt/media/image16.png" Id="R9015331efefe49e5" /><Relationship Type="http://schemas.openxmlformats.org/officeDocument/2006/relationships/notesSlide" Target="/ppt/notesSlides/notesSlide16.xml" Id="R386466ae219c47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8c7c2c923486a" /><Relationship Type="http://schemas.openxmlformats.org/officeDocument/2006/relationships/image" Target="/ppt/media/image17.png" Id="R091bc39b45e44c93" /><Relationship Type="http://schemas.openxmlformats.org/officeDocument/2006/relationships/notesSlide" Target="/ppt/notesSlides/notesSlide17.xml" Id="Rb20fb9d2be8b43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d0522dd34f5c" /><Relationship Type="http://schemas.openxmlformats.org/officeDocument/2006/relationships/image" Target="/ppt/media/image18.png" Id="Rf79d845cd07e474e" /><Relationship Type="http://schemas.openxmlformats.org/officeDocument/2006/relationships/notesSlide" Target="/ppt/notesSlides/notesSlide18.xml" Id="R2b2c36e13c3047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7a2cfd3442b8" /><Relationship Type="http://schemas.openxmlformats.org/officeDocument/2006/relationships/image" Target="/ppt/media/image19.png" Id="R04f45962f2bb4da4" /><Relationship Type="http://schemas.openxmlformats.org/officeDocument/2006/relationships/notesSlide" Target="/ppt/notesSlides/notesSlide19.xml" Id="R604d405639e443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4781099143d9" /><Relationship Type="http://schemas.openxmlformats.org/officeDocument/2006/relationships/image" Target="/ppt/media/image20.png" Id="R4bc392bf06b74c65" /><Relationship Type="http://schemas.openxmlformats.org/officeDocument/2006/relationships/notesSlide" Target="/ppt/notesSlides/notesSlide20.xml" Id="R158d9533670740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2dc8438d94599" /><Relationship Type="http://schemas.openxmlformats.org/officeDocument/2006/relationships/image" Target="/ppt/media/image21.png" Id="R0202670c52c44f00" /><Relationship Type="http://schemas.openxmlformats.org/officeDocument/2006/relationships/notesSlide" Target="/ppt/notesSlides/notesSlide21.xml" Id="R92a06d0f08a645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99278406f4502" /><Relationship Type="http://schemas.openxmlformats.org/officeDocument/2006/relationships/image" Target="/ppt/media/image22.png" Id="R5ddcbda00d7346a7" /><Relationship Type="http://schemas.openxmlformats.org/officeDocument/2006/relationships/notesSlide" Target="/ppt/notesSlides/notesSlide22.xml" Id="Rf2d3cbb9f4a540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970d5dc504d1d" /><Relationship Type="http://schemas.openxmlformats.org/officeDocument/2006/relationships/image" Target="/ppt/media/image23.png" Id="Rc6640c9182594c50" /><Relationship Type="http://schemas.openxmlformats.org/officeDocument/2006/relationships/notesSlide" Target="/ppt/notesSlides/notesSlide23.xml" Id="R654578a60feb4e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01efc508f4258" /><Relationship Type="http://schemas.openxmlformats.org/officeDocument/2006/relationships/image" Target="/ppt/media/image24.png" Id="R18724ae12a464244" /><Relationship Type="http://schemas.openxmlformats.org/officeDocument/2006/relationships/notesSlide" Target="/ppt/notesSlides/notesSlide24.xml" Id="R1347856a194943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7e94dcc404e9d" /><Relationship Type="http://schemas.openxmlformats.org/officeDocument/2006/relationships/image" Target="/ppt/media/image25.png" Id="Rddca01af7b214594" /><Relationship Type="http://schemas.openxmlformats.org/officeDocument/2006/relationships/notesSlide" Target="/ppt/notesSlides/notesSlide25.xml" Id="R4594b86dce3741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80fc4c58840fc" /><Relationship Type="http://schemas.openxmlformats.org/officeDocument/2006/relationships/image" Target="/ppt/media/image26.png" Id="R72bccc1b2b3d404b" /><Relationship Type="http://schemas.openxmlformats.org/officeDocument/2006/relationships/notesSlide" Target="/ppt/notesSlides/notesSlide26.xml" Id="R46249bcde28443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647146f544dd0" /><Relationship Type="http://schemas.openxmlformats.org/officeDocument/2006/relationships/image" Target="/ppt/media/image27.png" Id="R177aa84efbb34944" /><Relationship Type="http://schemas.openxmlformats.org/officeDocument/2006/relationships/notesSlide" Target="/ppt/notesSlides/notesSlide27.xml" Id="R74117cf232b44d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11f5d74634673" /><Relationship Type="http://schemas.openxmlformats.org/officeDocument/2006/relationships/image" Target="/ppt/media/image28.png" Id="R12d13824d9524dc2" /><Relationship Type="http://schemas.openxmlformats.org/officeDocument/2006/relationships/notesSlide" Target="/ppt/notesSlides/notesSlide28.xml" Id="Ra0dcadeaccd749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9299f48e4d8e" /><Relationship Type="http://schemas.openxmlformats.org/officeDocument/2006/relationships/image" Target="/ppt/media/image29.png" Id="R13e67d6aa6c941a7" /><Relationship Type="http://schemas.openxmlformats.org/officeDocument/2006/relationships/notesSlide" Target="/ppt/notesSlides/notesSlide29.xml" Id="Ra7b1da53e9ea42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151882faf4e1f" /><Relationship Type="http://schemas.openxmlformats.org/officeDocument/2006/relationships/image" Target="/ppt/media/image30.png" Id="R5b8fa8d74d7c4d3b" /><Relationship Type="http://schemas.openxmlformats.org/officeDocument/2006/relationships/notesSlide" Target="/ppt/notesSlides/notesSlide30.xml" Id="Rdbbf5273bf064e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ccb5715e48f6" /><Relationship Type="http://schemas.openxmlformats.org/officeDocument/2006/relationships/image" Target="/ppt/media/image31.png" Id="R0316e4026ab9481d" /><Relationship Type="http://schemas.openxmlformats.org/officeDocument/2006/relationships/notesSlide" Target="/ppt/notesSlides/notesSlide31.xml" Id="R8d9aa28df1424c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9b20508064d2c" /><Relationship Type="http://schemas.openxmlformats.org/officeDocument/2006/relationships/image" Target="/ppt/media/image32.png" Id="Rcd647300540a4409" /><Relationship Type="http://schemas.openxmlformats.org/officeDocument/2006/relationships/notesSlide" Target="/ppt/notesSlides/notesSlide32.xml" Id="Ree083f249b8948b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9aaee1c384724" /><Relationship Type="http://schemas.openxmlformats.org/officeDocument/2006/relationships/image" Target="/ppt/media/image33.png" Id="R1543901aeeef42a8" /><Relationship Type="http://schemas.openxmlformats.org/officeDocument/2006/relationships/notesSlide" Target="/ppt/notesSlides/notesSlide33.xml" Id="R6935944bbff74d6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aa020ef71473c" /><Relationship Type="http://schemas.openxmlformats.org/officeDocument/2006/relationships/image" Target="/ppt/media/image34.png" Id="Ra10c0397da0440f2" /><Relationship Type="http://schemas.openxmlformats.org/officeDocument/2006/relationships/notesSlide" Target="/ppt/notesSlides/notesSlide34.xml" Id="Rd0ee1bcd40b74d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acccb0a94aa6" /><Relationship Type="http://schemas.openxmlformats.org/officeDocument/2006/relationships/image" Target="/ppt/media/image35.png" Id="R8feea1f78a9045d1" /><Relationship Type="http://schemas.openxmlformats.org/officeDocument/2006/relationships/notesSlide" Target="/ppt/notesSlides/notesSlide35.xml" Id="R1b948dceee714f6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095a3c64640ee" /><Relationship Type="http://schemas.openxmlformats.org/officeDocument/2006/relationships/image" Target="/ppt/media/image36.png" Id="R3b179609fb374b60" /><Relationship Type="http://schemas.openxmlformats.org/officeDocument/2006/relationships/notesSlide" Target="/ppt/notesSlides/notesSlide36.xml" Id="Rdf35a49d2d34490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ccd29aae4a13" /><Relationship Type="http://schemas.openxmlformats.org/officeDocument/2006/relationships/image" Target="/ppt/media/image37.png" Id="Rf2a177b269154669" /><Relationship Type="http://schemas.openxmlformats.org/officeDocument/2006/relationships/notesSlide" Target="/ppt/notesSlides/notesSlide37.xml" Id="R1398a5d4bd6d470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bbdd180044ba" /><Relationship Type="http://schemas.openxmlformats.org/officeDocument/2006/relationships/image" Target="/ppt/media/image38.png" Id="R158cdf37bd05409e" /><Relationship Type="http://schemas.openxmlformats.org/officeDocument/2006/relationships/notesSlide" Target="/ppt/notesSlides/notesSlide38.xml" Id="R60114b874c04428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327a435724b81" /><Relationship Type="http://schemas.openxmlformats.org/officeDocument/2006/relationships/image" Target="/ppt/media/image39.png" Id="R023ca8b7d78440e4" /><Relationship Type="http://schemas.openxmlformats.org/officeDocument/2006/relationships/notesSlide" Target="/ppt/notesSlides/notesSlide39.xml" Id="R0a807cafc1474b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f6e93e84149d7" /><Relationship Type="http://schemas.openxmlformats.org/officeDocument/2006/relationships/image" Target="/ppt/media/image40.png" Id="Rd683f1e698ee4714" /><Relationship Type="http://schemas.openxmlformats.org/officeDocument/2006/relationships/notesSlide" Target="/ppt/notesSlides/notesSlide40.xml" Id="Rd94d9bd14a044c0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5ff3cc3d14a18" /><Relationship Type="http://schemas.openxmlformats.org/officeDocument/2006/relationships/image" Target="/ppt/media/image41.png" Id="R07a2ff8b1f444b09" /><Relationship Type="http://schemas.openxmlformats.org/officeDocument/2006/relationships/notesSlide" Target="/ppt/notesSlides/notesSlide41.xml" Id="R6a9a165dde1c428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f30d9c5654f14" /><Relationship Type="http://schemas.openxmlformats.org/officeDocument/2006/relationships/image" Target="/ppt/media/image42.png" Id="R5f1453a39f664c4d" /><Relationship Type="http://schemas.openxmlformats.org/officeDocument/2006/relationships/notesSlide" Target="/ppt/notesSlides/notesSlide42.xml" Id="R07090578d420444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61c7e7f6d4023" /><Relationship Type="http://schemas.openxmlformats.org/officeDocument/2006/relationships/image" Target="/ppt/media/image43.png" Id="Racf2abee31e24beb" /><Relationship Type="http://schemas.openxmlformats.org/officeDocument/2006/relationships/notesSlide" Target="/ppt/notesSlides/notesSlide43.xml" Id="R32ab035fc5034f1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ea0c931004496" /><Relationship Type="http://schemas.openxmlformats.org/officeDocument/2006/relationships/image" Target="/ppt/media/image44.png" Id="Raf60205c9ecf45dc" /><Relationship Type="http://schemas.openxmlformats.org/officeDocument/2006/relationships/notesSlide" Target="/ppt/notesSlides/notesSlide44.xml" Id="R870ee912b670446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0372f8b6b4f23" /><Relationship Type="http://schemas.openxmlformats.org/officeDocument/2006/relationships/image" Target="/ppt/media/image45.png" Id="Ra50ee7065739475f" /><Relationship Type="http://schemas.openxmlformats.org/officeDocument/2006/relationships/notesSlide" Target="/ppt/notesSlides/notesSlide45.xml" Id="Raad8582bce9e48d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92c6dcc384a33" /><Relationship Type="http://schemas.openxmlformats.org/officeDocument/2006/relationships/image" Target="/ppt/media/image46.png" Id="Rae37d49dec6442d9" /><Relationship Type="http://schemas.openxmlformats.org/officeDocument/2006/relationships/notesSlide" Target="/ppt/notesSlides/notesSlide46.xml" Id="R628fd5f0819a4b0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575544e7f4620" /><Relationship Type="http://schemas.openxmlformats.org/officeDocument/2006/relationships/image" Target="/ppt/media/image47.png" Id="R1f59d488fa74439d" /><Relationship Type="http://schemas.openxmlformats.org/officeDocument/2006/relationships/notesSlide" Target="/ppt/notesSlides/notesSlide47.xml" Id="R001b39c269b5410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e764494c441b6" /><Relationship Type="http://schemas.openxmlformats.org/officeDocument/2006/relationships/image" Target="/ppt/media/image48.png" Id="R5a40677517464680" /><Relationship Type="http://schemas.openxmlformats.org/officeDocument/2006/relationships/notesSlide" Target="/ppt/notesSlides/notesSlide48.xml" Id="R94089bc48a054ff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30c943d484bfa" /><Relationship Type="http://schemas.openxmlformats.org/officeDocument/2006/relationships/image" Target="/ppt/media/image49.png" Id="R432764b5020e4339" /><Relationship Type="http://schemas.openxmlformats.org/officeDocument/2006/relationships/notesSlide" Target="/ppt/notesSlides/notesSlide49.xml" Id="Rf41c2556f13f476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863858be4713" /><Relationship Type="http://schemas.openxmlformats.org/officeDocument/2006/relationships/image" Target="/ppt/media/image50.png" Id="Rf18536f9cf134c75" /><Relationship Type="http://schemas.openxmlformats.org/officeDocument/2006/relationships/notesSlide" Target="/ppt/notesSlides/notesSlide50.xml" Id="Rd8d05ff009d145c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ef7e073964cd7" /><Relationship Type="http://schemas.openxmlformats.org/officeDocument/2006/relationships/image" Target="/ppt/media/image51.png" Id="R8f71ea8fac0c49eb" /><Relationship Type="http://schemas.openxmlformats.org/officeDocument/2006/relationships/notesSlide" Target="/ppt/notesSlides/notesSlide51.xml" Id="R03a84f95b9f3481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9354988224535" /><Relationship Type="http://schemas.openxmlformats.org/officeDocument/2006/relationships/image" Target="/ppt/media/image52.png" Id="Ra00a41fd5a024f85" /><Relationship Type="http://schemas.openxmlformats.org/officeDocument/2006/relationships/notesSlide" Target="/ppt/notesSlides/notesSlide52.xml" Id="R6659f127200b4b7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c282220e94450" /><Relationship Type="http://schemas.openxmlformats.org/officeDocument/2006/relationships/image" Target="/ppt/media/image53.png" Id="R5abef51dc8ef4358" /><Relationship Type="http://schemas.openxmlformats.org/officeDocument/2006/relationships/notesSlide" Target="/ppt/notesSlides/notesSlide53.xml" Id="Rd79dc23a17cb497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d598562d4693" /><Relationship Type="http://schemas.openxmlformats.org/officeDocument/2006/relationships/image" Target="/ppt/media/image54.png" Id="R395d06ffd58c4c4a" /><Relationship Type="http://schemas.openxmlformats.org/officeDocument/2006/relationships/notesSlide" Target="/ppt/notesSlides/notesSlide54.xml" Id="R386245efa71847f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cc8dfe9664e0d" /><Relationship Type="http://schemas.openxmlformats.org/officeDocument/2006/relationships/image" Target="/ppt/media/image55.png" Id="R1f6e643e61b94566" /><Relationship Type="http://schemas.openxmlformats.org/officeDocument/2006/relationships/notesSlide" Target="/ppt/notesSlides/notesSlide55.xml" Id="R9e235f0db0c34f2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2d8e390004aa9" /><Relationship Type="http://schemas.openxmlformats.org/officeDocument/2006/relationships/image" Target="/ppt/media/image56.png" Id="R25f22f0c00f040fe" /><Relationship Type="http://schemas.openxmlformats.org/officeDocument/2006/relationships/notesSlide" Target="/ppt/notesSlides/notesSlide56.xml" Id="R14195c1751004cd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d7d1c40b46d4" /><Relationship Type="http://schemas.openxmlformats.org/officeDocument/2006/relationships/image" Target="/ppt/media/image57.png" Id="R49e9694af3ce4977" /><Relationship Type="http://schemas.openxmlformats.org/officeDocument/2006/relationships/notesSlide" Target="/ppt/notesSlides/notesSlide57.xml" Id="R653f3a35e6ce4e9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9a7d15ba7494d" /><Relationship Type="http://schemas.openxmlformats.org/officeDocument/2006/relationships/image" Target="/ppt/media/image58.png" Id="Rbd119f51247942d8" /><Relationship Type="http://schemas.openxmlformats.org/officeDocument/2006/relationships/notesSlide" Target="/ppt/notesSlides/notesSlide58.xml" Id="R59a742c7dd4b445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cfdbf787b4e24" /><Relationship Type="http://schemas.openxmlformats.org/officeDocument/2006/relationships/image" Target="/ppt/media/image59.png" Id="R1150769e01324ffb" /><Relationship Type="http://schemas.openxmlformats.org/officeDocument/2006/relationships/notesSlide" Target="/ppt/notesSlides/notesSlide59.xml" Id="Rc165e3c734bb4b9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fad9139f547fe" /><Relationship Type="http://schemas.openxmlformats.org/officeDocument/2006/relationships/image" Target="/ppt/media/image60.png" Id="Rbf26f6ed50f3443a" /><Relationship Type="http://schemas.openxmlformats.org/officeDocument/2006/relationships/notesSlide" Target="/ppt/notesSlides/notesSlide60.xml" Id="R1065fbd8d8f3409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2fbbecfa64580" /><Relationship Type="http://schemas.openxmlformats.org/officeDocument/2006/relationships/image" Target="/ppt/media/image61.png" Id="R89c2a3c8466c4362" /><Relationship Type="http://schemas.openxmlformats.org/officeDocument/2006/relationships/notesSlide" Target="/ppt/notesSlides/notesSlide61.xml" Id="Rab56f481ad5b44e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044ac15248d7" /><Relationship Type="http://schemas.openxmlformats.org/officeDocument/2006/relationships/image" Target="/ppt/media/image62.png" Id="Rbe136eec97864151" /><Relationship Type="http://schemas.openxmlformats.org/officeDocument/2006/relationships/notesSlide" Target="/ppt/notesSlides/notesSlide62.xml" Id="R712ffbdce5fa467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bd54ce7e94710" /><Relationship Type="http://schemas.openxmlformats.org/officeDocument/2006/relationships/image" Target="/ppt/media/image63.png" Id="R30bea2f28ded445b" /><Relationship Type="http://schemas.openxmlformats.org/officeDocument/2006/relationships/notesSlide" Target="/ppt/notesSlides/notesSlide63.xml" Id="R183f0a0deb78433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3a7622404feb" /><Relationship Type="http://schemas.openxmlformats.org/officeDocument/2006/relationships/image" Target="/ppt/media/image64.png" Id="R75b2cd847d0942e8" /><Relationship Type="http://schemas.openxmlformats.org/officeDocument/2006/relationships/notesSlide" Target="/ppt/notesSlides/notesSlide64.xml" Id="Ree41f4878837426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4fa36531b4076" /><Relationship Type="http://schemas.openxmlformats.org/officeDocument/2006/relationships/image" Target="/ppt/media/image65.png" Id="R2e607be6422548e1" /><Relationship Type="http://schemas.openxmlformats.org/officeDocument/2006/relationships/notesSlide" Target="/ppt/notesSlides/notesSlide65.xml" Id="Raecf405748a8472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d0437c6d2445a" /><Relationship Type="http://schemas.openxmlformats.org/officeDocument/2006/relationships/image" Target="/ppt/media/image66.png" Id="R1d8c7b3a02674711" /><Relationship Type="http://schemas.openxmlformats.org/officeDocument/2006/relationships/notesSlide" Target="/ppt/notesSlides/notesSlide66.xml" Id="R29387a31323e4ad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1e06165d44296" /><Relationship Type="http://schemas.openxmlformats.org/officeDocument/2006/relationships/image" Target="/ppt/media/image67.png" Id="R1308901a8a24482b" /><Relationship Type="http://schemas.openxmlformats.org/officeDocument/2006/relationships/image" Target="/ppt/media/image68.png" Id="R4c244e83e6a24288" /><Relationship Type="http://schemas.openxmlformats.org/officeDocument/2006/relationships/notesSlide" Target="/ppt/notesSlides/notesSlide67.xml" Id="R2fe788fde06f433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045d67164b3d" /><Relationship Type="http://schemas.openxmlformats.org/officeDocument/2006/relationships/image" Target="/ppt/media/image69.png" Id="R921ec7e2b06c42cf" /><Relationship Type="http://schemas.openxmlformats.org/officeDocument/2006/relationships/image" Target="/ppt/media/image70.png" Id="Re35bc9ade0bb4249" /><Relationship Type="http://schemas.openxmlformats.org/officeDocument/2006/relationships/notesSlide" Target="/ppt/notesSlides/notesSlide68.xml" Id="R5230b0a789964a4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ad9fa10dd494f" /><Relationship Type="http://schemas.openxmlformats.org/officeDocument/2006/relationships/image" Target="/ppt/media/image71.png" Id="Rd48c2e6f4cdd4315" /><Relationship Type="http://schemas.openxmlformats.org/officeDocument/2006/relationships/image" Target="/ppt/media/image72.png" Id="Rbfb2f2f6b76c4ab7" /><Relationship Type="http://schemas.openxmlformats.org/officeDocument/2006/relationships/notesSlide" Target="/ppt/notesSlides/notesSlide69.xml" Id="R135dc3be1e9247c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f44ee3cff42f3" /><Relationship Type="http://schemas.openxmlformats.org/officeDocument/2006/relationships/image" Target="/ppt/media/image73.png" Id="R95f4013b04664f1c" /><Relationship Type="http://schemas.openxmlformats.org/officeDocument/2006/relationships/image" Target="/ppt/media/image74.png" Id="R14f13fcd608345fd" /><Relationship Type="http://schemas.openxmlformats.org/officeDocument/2006/relationships/notesSlide" Target="/ppt/notesSlides/notesSlide70.xml" Id="R18ff74395a59428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5f5f369684c43" /><Relationship Type="http://schemas.openxmlformats.org/officeDocument/2006/relationships/image" Target="/ppt/media/image75.png" Id="R4becb88105674745" /><Relationship Type="http://schemas.openxmlformats.org/officeDocument/2006/relationships/image" Target="/ppt/media/image76.png" Id="R60ccde50ef0b4215" /><Relationship Type="http://schemas.openxmlformats.org/officeDocument/2006/relationships/notesSlide" Target="/ppt/notesSlides/notesSlide71.xml" Id="Rdc66ebad188242c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883f3e77c4d6b" /><Relationship Type="http://schemas.openxmlformats.org/officeDocument/2006/relationships/image" Target="/ppt/media/image77.png" Id="R0dc6ac0c03ff4273" /><Relationship Type="http://schemas.openxmlformats.org/officeDocument/2006/relationships/image" Target="/ppt/media/image78.png" Id="R20b0c1839def47fe" /><Relationship Type="http://schemas.openxmlformats.org/officeDocument/2006/relationships/notesSlide" Target="/ppt/notesSlides/notesSlide72.xml" Id="R67cd4c22b9d2418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dd973d9c94cb3" /><Relationship Type="http://schemas.openxmlformats.org/officeDocument/2006/relationships/image" Target="/ppt/media/image79.png" Id="Rb63282b9d5cf4611" /><Relationship Type="http://schemas.openxmlformats.org/officeDocument/2006/relationships/image" Target="/ppt/media/image80.png" Id="R8ed1de4906c24396" /><Relationship Type="http://schemas.openxmlformats.org/officeDocument/2006/relationships/notesSlide" Target="/ppt/notesSlides/notesSlide73.xml" Id="Rc6138b16e9f1482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b3239b3954941" /><Relationship Type="http://schemas.openxmlformats.org/officeDocument/2006/relationships/image" Target="/ppt/media/image81.png" Id="Rf41e3aa0ffab4981" /><Relationship Type="http://schemas.openxmlformats.org/officeDocument/2006/relationships/image" Target="/ppt/media/image82.png" Id="Rea27f0c74db0414e" /><Relationship Type="http://schemas.openxmlformats.org/officeDocument/2006/relationships/notesSlide" Target="/ppt/notesSlides/notesSlide74.xml" Id="R6b4c8b39f57b4e1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2540e2874ffe" /><Relationship Type="http://schemas.openxmlformats.org/officeDocument/2006/relationships/image" Target="/ppt/media/image83.png" Id="Rd5b45c1a28e846ee" /><Relationship Type="http://schemas.openxmlformats.org/officeDocument/2006/relationships/image" Target="/ppt/media/image84.png" Id="R974634395bc44bc1" /><Relationship Type="http://schemas.openxmlformats.org/officeDocument/2006/relationships/notesSlide" Target="/ppt/notesSlides/notesSlide75.xml" Id="R1a7a2efdf4104ed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202f0ac146ba" /><Relationship Type="http://schemas.openxmlformats.org/officeDocument/2006/relationships/image" Target="/ppt/media/image85.png" Id="R48b641d2b1f64322" /><Relationship Type="http://schemas.openxmlformats.org/officeDocument/2006/relationships/image" Target="/ppt/media/image86.png" Id="R793fb8f69d0c49a9" /><Relationship Type="http://schemas.openxmlformats.org/officeDocument/2006/relationships/notesSlide" Target="/ppt/notesSlides/notesSlide76.xml" Id="R598568f237224a9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4ed69ed7b4805" /><Relationship Type="http://schemas.openxmlformats.org/officeDocument/2006/relationships/image" Target="/ppt/media/image87.png" Id="Rb81515dd316a4e31" /><Relationship Type="http://schemas.openxmlformats.org/officeDocument/2006/relationships/image" Target="/ppt/media/image88.png" Id="R50ff2d54e5674202" /><Relationship Type="http://schemas.openxmlformats.org/officeDocument/2006/relationships/notesSlide" Target="/ppt/notesSlides/notesSlide77.xml" Id="Rda6adf621fdb4ae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6539b5ac344e0" /><Relationship Type="http://schemas.openxmlformats.org/officeDocument/2006/relationships/image" Target="/ppt/media/image89.png" Id="R17890d4abc5a42cb" /><Relationship Type="http://schemas.openxmlformats.org/officeDocument/2006/relationships/image" Target="/ppt/media/image90.png" Id="R97663247b0c84056" /><Relationship Type="http://schemas.openxmlformats.org/officeDocument/2006/relationships/notesSlide" Target="/ppt/notesSlides/notesSlide78.xml" Id="R029d16e0bf894d0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ea49186b949c2" /><Relationship Type="http://schemas.openxmlformats.org/officeDocument/2006/relationships/image" Target="/ppt/media/image91.png" Id="R47b328663e6244cc" /><Relationship Type="http://schemas.openxmlformats.org/officeDocument/2006/relationships/image" Target="/ppt/media/image92.png" Id="Rf585d13af1e34eb7" /><Relationship Type="http://schemas.openxmlformats.org/officeDocument/2006/relationships/notesSlide" Target="/ppt/notesSlides/notesSlide79.xml" Id="R7460bcbb4673400b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8f29f401b41fd" /><Relationship Type="http://schemas.openxmlformats.org/officeDocument/2006/relationships/image" Target="/ppt/media/image93.png" Id="Ra0c5dd7c113a4cf5" /><Relationship Type="http://schemas.openxmlformats.org/officeDocument/2006/relationships/notesSlide" Target="/ppt/notesSlides/notesSlide80.xml" Id="R3ed4a1fd7d3746a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92c6dcc384a33" /><Relationship Type="http://schemas.openxmlformats.org/officeDocument/2006/relationships/image" Target="/ppt/media/image46.png" Id="Rae37d49dec6442d9" /><Relationship Type="http://schemas.openxmlformats.org/officeDocument/2006/relationships/notesSlide" Target="/ppt/notesSlides/notesSlide81.xml" Id="R628fd5f0819a4b0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92c6dcc384a33" /><Relationship Type="http://schemas.openxmlformats.org/officeDocument/2006/relationships/image" Target="/ppt/media/image46.png" Id="Rae37d49dec6442d9" /><Relationship Type="http://schemas.openxmlformats.org/officeDocument/2006/relationships/notesSlide" Target="/ppt/notesSlides/notesSlide82.xml" Id="R628fd5f0819a4b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rame-1">
            <a:extLst xmlns:a="http://schemas.openxmlformats.org/drawingml/2006/main">
              <a:ext uri="{FF2B5EF4-FFF2-40B4-BE49-F238E27FC236}">
                <a16:creationId xmlns:a16="http://schemas.microsoft.com/office/drawing/2014/main" id="{EE9BAA58-7C9A-4A8F-AD28-958DD8A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242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noFill/>
          </a:ln>
        </p:spPr>
      </p:sp>
      <p:sp>
        <p:nvSpPr>
          <p:cNvPr id="2" name="content-2">
            <a:extLst xmlns:a="http://schemas.openxmlformats.org/drawingml/2006/main">
              <a:ext uri="{FF2B5EF4-FFF2-40B4-BE49-F238E27FC236}">
                <a16:creationId xmlns:a16="http://schemas.microsoft.com/office/drawing/2014/main" id="{A4C97DD9-3057-463E-A879-2C0A4DF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FACULTY OF IT</a:t>
            </a:r>
          </a:p>
        </p:txBody>
      </p:sp>
      <p:sp>
        <p:nvSpPr>
          <p:cNvPr id="3" name="content-3">
            <a:extLst xmlns:a="http://schemas.openxmlformats.org/drawingml/2006/main">
              <a:ext uri="{FF2B5EF4-FFF2-40B4-BE49-F238E27FC236}">
                <a16:creationId xmlns:a16="http://schemas.microsoft.com/office/drawing/2014/main" id="{D4AAF5EF-00B6-4816-9E3A-E1A2ACC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SOFTWARE ENGINEERING</a:t>
            </a:r>
          </a:p>
        </p:txBody>
      </p:sp>
      <p:sp>
        <p:nvSpPr>
          <p:cNvPr id="4" name="content-4">
            <a:extLst xmlns:a="http://schemas.openxmlformats.org/drawingml/2006/main">
              <a:ext uri="{FF2B5EF4-FFF2-40B4-BE49-F238E27FC236}">
                <a16:creationId xmlns:a16="http://schemas.microsoft.com/office/drawing/2014/main" id="{A4698552-47BF-4064-A39B-D8DD8C8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288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UML MODELING</a:t>
            </a:r>
          </a:p>
        </p:txBody>
      </p:sp>
      <p:sp>
        <p:nvSpPr>
          <p:cNvPr id="5" name="content-5">
            <a:extLst xmlns:a="http://schemas.openxmlformats.org/drawingml/2006/main">
              <a:ext uri="{FF2B5EF4-FFF2-40B4-BE49-F238E27FC236}">
                <a16:creationId xmlns:a16="http://schemas.microsoft.com/office/drawing/2014/main" id="{49EF4262-D0A2-4ADE-A4AF-0CA262D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CORE MODELS</a:t>
            </a:r>
          </a:p>
        </p:txBody>
      </p:sp>
      <p:sp>
        <p:nvSpPr>
          <p:cNvPr id="6" name="content-6">
            <a:extLst xmlns:a="http://schemas.openxmlformats.org/drawingml/2006/main">
              <a:ext uri="{FF2B5EF4-FFF2-40B4-BE49-F238E27FC236}">
                <a16:creationId xmlns:a16="http://schemas.microsoft.com/office/drawing/2014/main" id="{8BF7155D-D0A9-4548-A9C3-9A05E01E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434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华东师范大学 · 2026 秋季课程</a:t>
            </a:r>
          </a:p>
        </p:txBody>
      </p:sp>
      <p:sp>
        <p:nvSpPr>
          <p:cNvPr id="7" name="content-7">
            <a:extLst xmlns:a="http://schemas.openxmlformats.org/drawingml/2006/main">
              <a:ext uri="{FF2B5EF4-FFF2-40B4-BE49-F238E27FC236}">
                <a16:creationId xmlns:a16="http://schemas.microsoft.com/office/drawing/2014/main" id="{F40889B1-FD4E-4D98-8C7E-B60A0C3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001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8" name="content-8">
            <a:extLst xmlns:a="http://schemas.openxmlformats.org/drawingml/2006/main">
              <a:ext uri="{FF2B5EF4-FFF2-40B4-BE49-F238E27FC236}">
                <a16:creationId xmlns:a16="http://schemas.microsoft.com/office/drawing/2014/main" id="{40D88AEC-BB0B-4070-A995-A4BBDCC2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383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300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 核心模型</a:t>
            </a:r>
          </a:p>
        </p:txBody>
      </p:sp>
      <p:sp>
        <p:nvSpPr>
          <p:cNvPr id="9" name="content-9">
            <a:extLst xmlns:a="http://schemas.openxmlformats.org/drawingml/2006/main">
              <a:ext uri="{FF2B5EF4-FFF2-40B4-BE49-F238E27FC236}">
                <a16:creationId xmlns:a16="http://schemas.microsoft.com/office/drawing/2014/main" id="{F37FD9A5-8A40-4809-A036-72F74CA8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860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rPr>
              <a:t>选课系统建模案例</a:t>
            </a:r>
          </a:p>
        </p:txBody>
      </p:sp>
      <p:sp>
        <p:nvSpPr>
          <p:cNvPr id="10" name="content-10">
            <a:extLst xmlns:a="http://schemas.openxmlformats.org/drawingml/2006/main">
              <a:ext uri="{FF2B5EF4-FFF2-40B4-BE49-F238E27FC236}">
                <a16:creationId xmlns:a16="http://schemas.microsoft.com/office/drawing/2014/main" id="{3C514D97-4CE4-4242-ABD9-06CE98F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289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业务、需求、分析与设计</a:t>
            </a:r>
          </a:p>
        </p:txBody>
      </p:sp>
      <p:sp>
        <p:nvSpPr>
          <p:cNvPr id="11" name="content-11">
            <a:extLst xmlns:a="http://schemas.openxmlformats.org/drawingml/2006/main">
              <a:ext uri="{FF2B5EF4-FFF2-40B4-BE49-F238E27FC236}">
                <a16:creationId xmlns:a16="http://schemas.microsoft.com/office/drawing/2014/main" id="{626C7534-C261-4EA5-B9D1-70F4460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442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肖宇</a:t>
            </a:r>
          </a:p>
        </p:txBody>
      </p:sp>
      <p:sp>
        <p:nvSpPr>
          <p:cNvPr id="12" name="content-12">
            <a:extLst xmlns:a="http://schemas.openxmlformats.org/drawingml/2006/main">
              <a:ext uri="{FF2B5EF4-FFF2-40B4-BE49-F238E27FC236}">
                <a16:creationId xmlns:a16="http://schemas.microsoft.com/office/drawing/2014/main" id="{EF64DAF8-CAAD-4F23-96DD-B1168CF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052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yxiao@sei.ecnu.edu.cn  ·  理科楼 B209</a:t>
            </a:r>
          </a:p>
        </p:txBody>
      </p:sp>
      <p:sp>
        <p:nvSpPr>
          <p:cNvPr id="13" name="content-13">
            <a:extLst xmlns:a="http://schemas.openxmlformats.org/drawingml/2006/main">
              <a:ext uri="{FF2B5EF4-FFF2-40B4-BE49-F238E27FC236}">
                <a16:creationId xmlns:a16="http://schemas.microsoft.com/office/drawing/2014/main" id="{5A804031-0133-4E49-8683-E6EFE27C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005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邮件或微信预约答疑时间</a:t>
            </a:r>
          </a:p>
        </p:txBody>
      </p:sp>
      <p:sp>
        <p:nvSpPr>
          <p:cNvPr id="14" name="content-14">
            <a:extLst xmlns:a="http://schemas.openxmlformats.org/drawingml/2006/main">
              <a:ext uri="{FF2B5EF4-FFF2-40B4-BE49-F238E27FC236}">
                <a16:creationId xmlns:a16="http://schemas.microsoft.com/office/drawing/2014/main" id="{066E5E0B-C8F5-4A87-B02F-5634A31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196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EB6BB-EFD8-4F91-9601-16DC57941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c1c4316bd4413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15">
            <a:extLst xmlns:a="http://schemas.openxmlformats.org/drawingml/2006/main">
              <a:ext uri="{FF2B5EF4-FFF2-40B4-BE49-F238E27FC236}">
                <a16:creationId xmlns:a16="http://schemas.microsoft.com/office/drawing/2014/main" id="{FD63DCE1-7F86-4CAC-85ED-9DA16D3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前章回顾：四类图的用途</a:t>
            </a:r>
          </a:p>
        </p:txBody>
      </p:sp>
      <p:sp>
        <p:nvSpPr>
          <p:cNvPr id="2" name="frame-16">
            <a:extLst xmlns:a="http://schemas.openxmlformats.org/drawingml/2006/main">
              <a:ext uri="{FF2B5EF4-FFF2-40B4-BE49-F238E27FC236}">
                <a16:creationId xmlns:a16="http://schemas.microsoft.com/office/drawing/2014/main" id="{B7C97600-BC9B-4955-AECC-4E49E6A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7">
            <a:extLst xmlns:a="http://schemas.openxmlformats.org/drawingml/2006/main">
              <a:ext uri="{FF2B5EF4-FFF2-40B4-BE49-F238E27FC236}">
                <a16:creationId xmlns:a16="http://schemas.microsoft.com/office/drawing/2014/main" id="{F4E08838-C105-4A38-84D8-E291BB1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A527696-B234-4B2C-A289-A99B0C0D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8D29312-EE0D-485D-BF81-53CF231E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02 / 82</a:t>
            </a:r>
          </a:p>
        </p:txBody>
      </p:sp>
      <p:sp>
        <p:nvSpPr>
          <p:cNvPr id="6" name="content-18">
            <a:extLst xmlns:a="http://schemas.openxmlformats.org/drawingml/2006/main">
              <a:ext uri="{FF2B5EF4-FFF2-40B4-BE49-F238E27FC236}">
                <a16:creationId xmlns:a16="http://schemas.microsoft.com/office/drawing/2014/main" id="{6E25D0E1-24CA-4F3C-AEDE-EDEBC088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问题①</a:t>
            </a:r>
          </a:p>
        </p:txBody>
      </p:sp>
      <p:sp>
        <p:nvSpPr>
          <p:cNvPr id="7" name="content-19">
            <a:extLst xmlns:a="http://schemas.openxmlformats.org/drawingml/2006/main">
              <a:ext uri="{FF2B5EF4-FFF2-40B4-BE49-F238E27FC236}">
                <a16:creationId xmlns:a16="http://schemas.microsoft.com/office/drawing/2014/main" id="{8135E117-AC2E-4C36-B787-DC25B0FD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记录关联哪名学生、哪个开课班？</a:t>
            </a:r>
          </a:p>
        </p:txBody>
      </p:sp>
      <p:sp>
        <p:nvSpPr>
          <p:cNvPr id="8" name="frame-20">
            <a:extLst xmlns:a="http://schemas.openxmlformats.org/drawingml/2006/main">
              <a:ext uri="{FF2B5EF4-FFF2-40B4-BE49-F238E27FC236}">
                <a16:creationId xmlns:a16="http://schemas.microsoft.com/office/drawing/2014/main" id="{0267D8EF-EEB6-4BFD-A3EE-8D1F8FA2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1">
            <a:extLst xmlns:a="http://schemas.openxmlformats.org/drawingml/2006/main">
              <a:ext uri="{FF2B5EF4-FFF2-40B4-BE49-F238E27FC236}">
                <a16:creationId xmlns:a16="http://schemas.microsoft.com/office/drawing/2014/main" id="{42DD1270-1B6F-493B-84D4-8B9F8BA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问题②</a:t>
            </a:r>
          </a:p>
        </p:txBody>
      </p:sp>
      <p:sp>
        <p:nvSpPr>
          <p:cNvPr id="10" name="content-22">
            <a:extLst xmlns:a="http://schemas.openxmlformats.org/drawingml/2006/main">
              <a:ext uri="{FF2B5EF4-FFF2-40B4-BE49-F238E27FC236}">
                <a16:creationId xmlns:a16="http://schemas.microsoft.com/office/drawing/2014/main" id="{10CC3E30-B998-4B72-B8E7-5DB02E4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办理过程有哪些步骤和分支？</a:t>
            </a:r>
          </a:p>
        </p:txBody>
      </p:sp>
      <p:sp>
        <p:nvSpPr>
          <p:cNvPr id="11" name="frame-23">
            <a:extLst xmlns:a="http://schemas.openxmlformats.org/drawingml/2006/main">
              <a:ext uri="{FF2B5EF4-FFF2-40B4-BE49-F238E27FC236}">
                <a16:creationId xmlns:a16="http://schemas.microsoft.com/office/drawing/2014/main" id="{2E238F33-0EC2-4B01-9BD5-554F1199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4">
            <a:extLst xmlns:a="http://schemas.openxmlformats.org/drawingml/2006/main">
              <a:ext uri="{FF2B5EF4-FFF2-40B4-BE49-F238E27FC236}">
                <a16:creationId xmlns:a16="http://schemas.microsoft.com/office/drawing/2014/main" id="{BA344606-7487-4F4D-AC97-7F7902E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问题③</a:t>
            </a:r>
          </a:p>
        </p:txBody>
      </p:sp>
      <p:sp>
        <p:nvSpPr>
          <p:cNvPr id="13" name="content-25">
            <a:extLst xmlns:a="http://schemas.openxmlformats.org/drawingml/2006/main">
              <a:ext uri="{FF2B5EF4-FFF2-40B4-BE49-F238E27FC236}">
                <a16:creationId xmlns:a16="http://schemas.microsoft.com/office/drawing/2014/main" id="{6CD44FC2-7EF2-4B2D-A47E-BCAD3A5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哪些参与者按什么先后发送消息？</a:t>
            </a:r>
          </a:p>
        </p:txBody>
      </p:sp>
      <p:sp>
        <p:nvSpPr>
          <p:cNvPr id="14" name="frame-26">
            <a:extLst xmlns:a="http://schemas.openxmlformats.org/drawingml/2006/main">
              <a:ext uri="{FF2B5EF4-FFF2-40B4-BE49-F238E27FC236}">
                <a16:creationId xmlns:a16="http://schemas.microsoft.com/office/drawing/2014/main" id="{A41D38E3-4351-454E-8DCB-BC9505B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27">
            <a:extLst xmlns:a="http://schemas.openxmlformats.org/drawingml/2006/main">
              <a:ext uri="{FF2B5EF4-FFF2-40B4-BE49-F238E27FC236}">
                <a16:creationId xmlns:a16="http://schemas.microsoft.com/office/drawing/2014/main" id="{1243067C-D115-4403-9191-7F502F01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问题④</a:t>
            </a:r>
          </a:p>
        </p:txBody>
      </p:sp>
      <p:sp>
        <p:nvSpPr>
          <p:cNvPr id="16" name="content-28">
            <a:extLst xmlns:a="http://schemas.openxmlformats.org/drawingml/2006/main">
              <a:ext uri="{FF2B5EF4-FFF2-40B4-BE49-F238E27FC236}">
                <a16:creationId xmlns:a16="http://schemas.microsoft.com/office/drawing/2014/main" id="{9068974D-936A-4970-BBEF-1624A6FE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一条记录在什么事件和条件下改变状态？</a:t>
            </a:r>
          </a:p>
        </p:txBody>
      </p:sp>
      <p:sp>
        <p:nvSpPr>
          <p:cNvPr id="17" name="content-29">
            <a:extLst xmlns:a="http://schemas.openxmlformats.org/drawingml/2006/main">
              <a:ext uri="{FF2B5EF4-FFF2-40B4-BE49-F238E27FC236}">
                <a16:creationId xmlns:a16="http://schemas.microsoft.com/office/drawing/2014/main" id="{2F3ADE4E-34B8-4AB7-9A51-3339303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写出对应图类，并选一项说明它能回答什么问题。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8DA0E-073F-42D5-9F35-48156C876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80efedafa44d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0">
            <a:extLst xmlns:a="http://schemas.openxmlformats.org/drawingml/2006/main">
              <a:ext uri="{FF2B5EF4-FFF2-40B4-BE49-F238E27FC236}">
                <a16:creationId xmlns:a16="http://schemas.microsoft.com/office/drawing/2014/main" id="{F9B06270-6947-4E0D-9F6A-93D4D5BB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本章内容与学习任务</a:t>
            </a:r>
          </a:p>
        </p:txBody>
      </p:sp>
      <p:sp>
        <p:nvSpPr>
          <p:cNvPr id="2" name="frame-31">
            <a:extLst xmlns:a="http://schemas.openxmlformats.org/drawingml/2006/main">
              <a:ext uri="{FF2B5EF4-FFF2-40B4-BE49-F238E27FC236}">
                <a16:creationId xmlns:a16="http://schemas.microsoft.com/office/drawing/2014/main" id="{47DB0B11-A4CC-48E8-891E-A016689A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2">
            <a:extLst xmlns:a="http://schemas.openxmlformats.org/drawingml/2006/main">
              <a:ext uri="{FF2B5EF4-FFF2-40B4-BE49-F238E27FC236}">
                <a16:creationId xmlns:a16="http://schemas.microsoft.com/office/drawing/2014/main" id="{619D66AF-3C72-4302-83B8-6E25778E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DB65E9C-8926-4260-8DC9-8BF96DF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43327AD-4A6A-4578-86F8-E525B416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03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314ED-7655-44D2-A6F4-8A666CF6D37B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333875"/>
                <a:gridCol w="1143000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教学单元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学习任务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页码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01 业务与系统需求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区分业务规则、系统责任与设计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P8–18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02 领域模型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解释信息归属，读懂关联和约束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P19–25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03 分析模型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分配职责，检查处理步骤是否遗漏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P26–32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04 设计与实现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比较方案，对照模型、代码与测试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P33–47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05 一致性检验与迁移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检查模型，并按H2规则分析新情境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P48–60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33">
            <a:extLst xmlns:a="http://schemas.openxmlformats.org/drawingml/2006/main">
              <a:ext uri="{FF2B5EF4-FFF2-40B4-BE49-F238E27FC236}">
                <a16:creationId xmlns:a16="http://schemas.microsoft.com/office/drawing/2014/main" id="{3DCF887C-41E5-4439-A8C6-463C1B72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先理解各模型的用途，再结合选课案例检查它们能否相互对应。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C0222-0944-4944-AA4B-88EB32BFC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43b116ad44b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34">
            <a:extLst xmlns:a="http://schemas.openxmlformats.org/drawingml/2006/main">
              <a:ext uri="{FF2B5EF4-FFF2-40B4-BE49-F238E27FC236}">
                <a16:creationId xmlns:a16="http://schemas.microsoft.com/office/drawing/2014/main" id="{FFE02291-29FC-4B55-AB1B-283BD0C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会画UML图，为什么还要学习模型？</a:t>
            </a:r>
          </a:p>
        </p:txBody>
      </p:sp>
      <p:sp>
        <p:nvSpPr>
          <p:cNvPr id="2" name="frame-35">
            <a:extLst xmlns:a="http://schemas.openxmlformats.org/drawingml/2006/main">
              <a:ext uri="{FF2B5EF4-FFF2-40B4-BE49-F238E27FC236}">
                <a16:creationId xmlns:a16="http://schemas.microsoft.com/office/drawing/2014/main" id="{FB8E2AB0-77CD-41A9-A353-D7232BD5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6">
            <a:extLst xmlns:a="http://schemas.openxmlformats.org/drawingml/2006/main">
              <a:ext uri="{FF2B5EF4-FFF2-40B4-BE49-F238E27FC236}">
                <a16:creationId xmlns:a16="http://schemas.microsoft.com/office/drawing/2014/main" id="{F1F5DB67-20F0-4FBB-91FF-59B5C171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7BA375E-8CF6-43FD-875E-1AD685E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08C8FC1-807F-49C7-8055-66CE816E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04 / 82</a:t>
            </a:r>
          </a:p>
        </p:txBody>
      </p:sp>
      <p:sp>
        <p:nvSpPr>
          <p:cNvPr id="6" name="content-37">
            <a:extLst xmlns:a="http://schemas.openxmlformats.org/drawingml/2006/main">
              <a:ext uri="{FF2B5EF4-FFF2-40B4-BE49-F238E27FC236}">
                <a16:creationId xmlns:a16="http://schemas.microsoft.com/office/drawing/2014/main" id="{C807EDED-90C6-4993-B8B6-0D42A36A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图的学习</a:t>
            </a:r>
          </a:p>
        </p:txBody>
      </p:sp>
      <p:sp>
        <p:nvSpPr>
          <p:cNvPr id="7" name="content-38">
            <a:extLst xmlns:a="http://schemas.openxmlformats.org/drawingml/2006/main">
              <a:ext uri="{FF2B5EF4-FFF2-40B4-BE49-F238E27FC236}">
                <a16:creationId xmlns:a16="http://schemas.microsoft.com/office/drawing/2014/main" id="{030F3A4E-2B2F-4E62-A68C-AAD6330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掌握结构、流程、交互、状态等表达方法。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图展示模型的部分内容，文字规约与约束也需明确。</a:t>
            </a:r>
          </a:p>
        </p:txBody>
      </p:sp>
      <p:sp>
        <p:nvSpPr>
          <p:cNvPr id="8" name="frame-39">
            <a:extLst xmlns:a="http://schemas.openxmlformats.org/drawingml/2006/main">
              <a:ext uri="{FF2B5EF4-FFF2-40B4-BE49-F238E27FC236}">
                <a16:creationId xmlns:a16="http://schemas.microsoft.com/office/drawing/2014/main" id="{8CED45A5-C1BC-41F0-BA1B-1CA5C52E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0">
            <a:extLst xmlns:a="http://schemas.openxmlformats.org/drawingml/2006/main">
              <a:ext uri="{FF2B5EF4-FFF2-40B4-BE49-F238E27FC236}">
                <a16:creationId xmlns:a16="http://schemas.microsoft.com/office/drawing/2014/main" id="{2F67AA82-5371-4FC5-9808-65602F7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模型的学习</a:t>
            </a:r>
          </a:p>
        </p:txBody>
      </p:sp>
      <p:sp>
        <p:nvSpPr>
          <p:cNvPr id="10" name="content-41">
            <a:extLst xmlns:a="http://schemas.openxmlformats.org/drawingml/2006/main">
              <a:ext uri="{FF2B5EF4-FFF2-40B4-BE49-F238E27FC236}">
                <a16:creationId xmlns:a16="http://schemas.microsoft.com/office/drawing/2014/main" id="{DB2E7901-4EAD-46B1-84E3-8779060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围绕要解决的问题，选择并组织相关信息。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判断需要描述什么、依据是什么、细节到何种程度。</a:t>
            </a:r>
          </a:p>
        </p:txBody>
      </p:sp>
      <p:sp>
        <p:nvSpPr>
          <p:cNvPr id="11" name="frame-42">
            <a:extLst xmlns:a="http://schemas.openxmlformats.org/drawingml/2006/main">
              <a:ext uri="{FF2B5EF4-FFF2-40B4-BE49-F238E27FC236}">
                <a16:creationId xmlns:a16="http://schemas.microsoft.com/office/drawing/2014/main" id="{CA33D3F3-2FAF-4D4E-B00D-F9883C5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3">
            <a:extLst xmlns:a="http://schemas.openxmlformats.org/drawingml/2006/main">
              <a:ext uri="{FF2B5EF4-FFF2-40B4-BE49-F238E27FC236}">
                <a16:creationId xmlns:a16="http://schemas.microsoft.com/office/drawing/2014/main" id="{701D30E1-A077-43E6-99A7-771CE16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项目中的用途</a:t>
            </a:r>
          </a:p>
        </p:txBody>
      </p:sp>
      <p:sp>
        <p:nvSpPr>
          <p:cNvPr id="13" name="content-44">
            <a:extLst xmlns:a="http://schemas.openxmlformats.org/drawingml/2006/main">
              <a:ext uri="{FF2B5EF4-FFF2-40B4-BE49-F238E27FC236}">
                <a16:creationId xmlns:a16="http://schemas.microsoft.com/office/drawing/2014/main" id="{84D58E78-EC94-400D-8937-C07EF27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把业务要求转成可讨论、可实现、可检查的软件方案。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同一种图可以用于不同模型，内容由建模目的决定。</a:t>
            </a:r>
          </a:p>
        </p:txBody>
      </p:sp>
      <p:sp>
        <p:nvSpPr>
          <p:cNvPr id="14" name="content-45">
            <a:extLst xmlns:a="http://schemas.openxmlformats.org/drawingml/2006/main">
              <a:ext uri="{FF2B5EF4-FFF2-40B4-BE49-F238E27FC236}">
                <a16:creationId xmlns:a16="http://schemas.microsoft.com/office/drawing/2014/main" id="{35F68DC3-A38E-4A2C-9AC4-F5A57409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依据：OMG UML 2.5.1；模型视角参考 Larman/UP。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8A654-C64A-47B1-9BA1-BAE68A9B28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4544c95e3438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6">
            <a:extLst xmlns:a="http://schemas.openxmlformats.org/drawingml/2006/main">
              <a:ext uri="{FF2B5EF4-FFF2-40B4-BE49-F238E27FC236}">
                <a16:creationId xmlns:a16="http://schemas.microsoft.com/office/drawing/2014/main" id="{AD803B12-C11C-4B37-86F2-543B45C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选课案例的研究范围</a:t>
            </a:r>
          </a:p>
        </p:txBody>
      </p:sp>
      <p:sp>
        <p:nvSpPr>
          <p:cNvPr id="2" name="frame-47">
            <a:extLst xmlns:a="http://schemas.openxmlformats.org/drawingml/2006/main">
              <a:ext uri="{FF2B5EF4-FFF2-40B4-BE49-F238E27FC236}">
                <a16:creationId xmlns:a16="http://schemas.microsoft.com/office/drawing/2014/main" id="{708761E5-B381-4709-A8F9-0BE41A35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8">
            <a:extLst xmlns:a="http://schemas.openxmlformats.org/drawingml/2006/main">
              <a:ext uri="{FF2B5EF4-FFF2-40B4-BE49-F238E27FC236}">
                <a16:creationId xmlns:a16="http://schemas.microsoft.com/office/drawing/2014/main" id="{EDAF1509-E68D-4415-8D94-A044EDEE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FB04606-3B6B-479D-A233-D7C02588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F4F3E4E-7082-4061-B642-4D5F6A0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05 / 82</a:t>
            </a:r>
          </a:p>
        </p:txBody>
      </p:sp>
      <p:sp>
        <p:nvSpPr>
          <p:cNvPr id="6" name="content-49">
            <a:extLst xmlns:a="http://schemas.openxmlformats.org/drawingml/2006/main">
              <a:ext uri="{FF2B5EF4-FFF2-40B4-BE49-F238E27FC236}">
                <a16:creationId xmlns:a16="http://schemas.microsoft.com/office/drawing/2014/main" id="{ACAAEE3D-A17E-4FA0-9238-9F1E9CD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学生目标</a:t>
            </a:r>
          </a:p>
        </p:txBody>
      </p:sp>
      <p:sp>
        <p:nvSpPr>
          <p:cNvPr id="7" name="content-50">
            <a:extLst xmlns:a="http://schemas.openxmlformats.org/drawingml/2006/main">
              <a:ext uri="{FF2B5EF4-FFF2-40B4-BE49-F238E27FC236}">
                <a16:creationId xmlns:a16="http://schemas.microsoft.com/office/drawing/2014/main" id="{D3D55DE4-2847-4493-9D6C-689114F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申请一个开课班，并获知办理结果。</a:t>
            </a:r>
          </a:p>
        </p:txBody>
      </p:sp>
      <p:sp>
        <p:nvSpPr>
          <p:cNvPr id="8" name="frame-51">
            <a:extLst xmlns:a="http://schemas.openxmlformats.org/drawingml/2006/main">
              <a:ext uri="{FF2B5EF4-FFF2-40B4-BE49-F238E27FC236}">
                <a16:creationId xmlns:a16="http://schemas.microsoft.com/office/drawing/2014/main" id="{D9B9BAAC-3191-496C-929E-ADB80D1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52">
            <a:extLst xmlns:a="http://schemas.openxmlformats.org/drawingml/2006/main">
              <a:ext uri="{FF2B5EF4-FFF2-40B4-BE49-F238E27FC236}">
                <a16:creationId xmlns:a16="http://schemas.microsoft.com/office/drawing/2014/main" id="{1C013AA4-4272-46BA-9FC0-973C7F3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研究对象</a:t>
            </a:r>
          </a:p>
        </p:txBody>
      </p:sp>
      <p:sp>
        <p:nvSpPr>
          <p:cNvPr id="10" name="content-53">
            <a:extLst xmlns:a="http://schemas.openxmlformats.org/drawingml/2006/main">
              <a:ext uri="{FF2B5EF4-FFF2-40B4-BE49-F238E27FC236}">
                <a16:creationId xmlns:a16="http://schemas.microsoft.com/office/drawing/2014/main" id="{1F808CFE-4BB2-48EB-8EA7-AF69DE9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处理一条已有的待处理记录：按余量判定，保存后反馈。</a:t>
            </a:r>
          </a:p>
        </p:txBody>
      </p:sp>
      <p:sp>
        <p:nvSpPr>
          <p:cNvPr id="11" name="frame-54">
            <a:extLst xmlns:a="http://schemas.openxmlformats.org/drawingml/2006/main">
              <a:ext uri="{FF2B5EF4-FFF2-40B4-BE49-F238E27FC236}">
                <a16:creationId xmlns:a16="http://schemas.microsoft.com/office/drawing/2014/main" id="{51ABA0C1-B9C0-4D24-A0D5-FF1B1CC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55">
            <a:extLst xmlns:a="http://schemas.openxmlformats.org/drawingml/2006/main">
              <a:ext uri="{FF2B5EF4-FFF2-40B4-BE49-F238E27FC236}">
                <a16:creationId xmlns:a16="http://schemas.microsoft.com/office/drawing/2014/main" id="{CDBB97AC-9969-43E4-8F02-4BF99A48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暂不展开</a:t>
            </a:r>
          </a:p>
        </p:txBody>
      </p:sp>
      <p:sp>
        <p:nvSpPr>
          <p:cNvPr id="13" name="content-56">
            <a:extLst xmlns:a="http://schemas.openxmlformats.org/drawingml/2006/main">
              <a:ext uri="{FF2B5EF4-FFF2-40B4-BE49-F238E27FC236}">
                <a16:creationId xmlns:a16="http://schemas.microsoft.com/office/drawing/2014/main" id="{D1F4D489-41DC-43B3-9FCD-E207B05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记录创建、资格核验、退选与候补；真实规则待确认。</a:t>
            </a:r>
          </a:p>
        </p:txBody>
      </p:sp>
      <p:sp>
        <p:nvSpPr>
          <p:cNvPr id="14" name="content-57">
            <a:extLst xmlns:a="http://schemas.openxmlformats.org/drawingml/2006/main">
              <a:ext uri="{FF2B5EF4-FFF2-40B4-BE49-F238E27FC236}">
                <a16:creationId xmlns:a16="http://schemas.microsoft.com/office/drawing/2014/main" id="{1D831BBE-61ED-46F1-B029-0213A73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记录如何创建、资格如何核验，需在完整业务中另行说明。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9CA04-9415-4226-94FE-F16F7B5D0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eaf09c5f420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8">
            <a:extLst xmlns:a="http://schemas.openxmlformats.org/drawingml/2006/main">
              <a:ext uri="{FF2B5EF4-FFF2-40B4-BE49-F238E27FC236}">
                <a16:creationId xmlns:a16="http://schemas.microsoft.com/office/drawing/2014/main" id="{F000BEF1-D1A2-44C2-946E-88CD0EF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五类模型的区别与用途</a:t>
            </a:r>
          </a:p>
        </p:txBody>
      </p:sp>
      <p:sp>
        <p:nvSpPr>
          <p:cNvPr id="2" name="frame-59">
            <a:extLst xmlns:a="http://schemas.openxmlformats.org/drawingml/2006/main">
              <a:ext uri="{FF2B5EF4-FFF2-40B4-BE49-F238E27FC236}">
                <a16:creationId xmlns:a16="http://schemas.microsoft.com/office/drawing/2014/main" id="{0582198D-9C32-4C73-8491-51213E4E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0">
            <a:extLst xmlns:a="http://schemas.openxmlformats.org/drawingml/2006/main">
              <a:ext uri="{FF2B5EF4-FFF2-40B4-BE49-F238E27FC236}">
                <a16:creationId xmlns:a16="http://schemas.microsoft.com/office/drawing/2014/main" id="{13328971-AE6E-42CC-9E66-C7E5B53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1A24719-83EA-495F-BB7A-76807E5E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616B3B9-C2E0-44CF-925B-E3FA5894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06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47787-AF93-4FDF-9AE1-3B31E57EB837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381375"/>
                <a:gridCol w="3333750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关注的问题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在项目中的用途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业务用例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业务为谁完成什么目标？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确定业务目标与办理范围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系统用例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哪些工作由当前软件完成？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约定软件责任与完成条件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领域模型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信息属于谁，关系怎样约束？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统一业务术语，核对信息归属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内部由哪些对象协作？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分配职责，发现遗漏与混杂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采用什么操作、接口和结构？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指导实现，约定接口与协作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61">
            <a:extLst xmlns:a="http://schemas.openxmlformats.org/drawingml/2006/main">
              <a:ext uri="{FF2B5EF4-FFF2-40B4-BE49-F238E27FC236}">
                <a16:creationId xmlns:a16="http://schemas.microsoft.com/office/drawing/2014/main" id="{558D157B-3C53-4EDC-BFE2-D766B9BB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模型的区别在于研究的问题；同一条业务规则会约束多个模型。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31EFB-CA88-440A-B87C-5212C46A0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504b42e57425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62">
            <a:extLst xmlns:a="http://schemas.openxmlformats.org/drawingml/2006/main">
              <a:ext uri="{FF2B5EF4-FFF2-40B4-BE49-F238E27FC236}">
                <a16:creationId xmlns:a16="http://schemas.microsoft.com/office/drawing/2014/main" id="{34CD4492-A4E3-4379-B857-A69E422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选课案例的处理约定</a:t>
            </a:r>
          </a:p>
        </p:txBody>
      </p:sp>
      <p:sp>
        <p:nvSpPr>
          <p:cNvPr id="2" name="frame-63">
            <a:extLst xmlns:a="http://schemas.openxmlformats.org/drawingml/2006/main">
              <a:ext uri="{FF2B5EF4-FFF2-40B4-BE49-F238E27FC236}">
                <a16:creationId xmlns:a16="http://schemas.microsoft.com/office/drawing/2014/main" id="{60CABD6C-64EA-482C-8D32-2D23066F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4">
            <a:extLst xmlns:a="http://schemas.openxmlformats.org/drawingml/2006/main">
              <a:ext uri="{FF2B5EF4-FFF2-40B4-BE49-F238E27FC236}">
                <a16:creationId xmlns:a16="http://schemas.microsoft.com/office/drawing/2014/main" id="{66019F28-04C6-49D7-8C23-2F51C493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CC7935C-AAB2-4762-933F-70F6CB1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导入：图、模型与案例范围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ACDCD01-0673-423D-82AB-A6CA314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07 / 82</a:t>
            </a:r>
          </a:p>
        </p:txBody>
      </p:sp>
      <p:sp>
        <p:nvSpPr>
          <p:cNvPr id="6" name="content-65">
            <a:extLst xmlns:a="http://schemas.openxmlformats.org/drawingml/2006/main">
              <a:ext uri="{FF2B5EF4-FFF2-40B4-BE49-F238E27FC236}">
                <a16:creationId xmlns:a16="http://schemas.microsoft.com/office/drawing/2014/main" id="{00C1C31B-87DD-47DE-A895-E65BF96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处理对象</a:t>
            </a:r>
          </a:p>
        </p:txBody>
      </p:sp>
      <p:sp>
        <p:nvSpPr>
          <p:cNvPr id="7" name="content-66">
            <a:extLst xmlns:a="http://schemas.openxmlformats.org/drawingml/2006/main">
              <a:ext uri="{FF2B5EF4-FFF2-40B4-BE49-F238E27FC236}">
                <a16:creationId xmlns:a16="http://schemas.microsoft.com/office/drawing/2014/main" id="{6458B09E-8657-42E2-9EC1-95EFAA5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已有记录e处于待处理；身份与记录归属已核验。</a:t>
            </a:r>
          </a:p>
        </p:txBody>
      </p:sp>
      <p:sp>
        <p:nvSpPr>
          <p:cNvPr id="8" name="frame-67">
            <a:extLst xmlns:a="http://schemas.openxmlformats.org/drawingml/2006/main">
              <a:ext uri="{FF2B5EF4-FFF2-40B4-BE49-F238E27FC236}">
                <a16:creationId xmlns:a16="http://schemas.microsoft.com/office/drawing/2014/main" id="{C9E5931E-6A11-4C26-9373-DF1C3ED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68">
            <a:extLst xmlns:a="http://schemas.openxmlformats.org/drawingml/2006/main">
              <a:ext uri="{FF2B5EF4-FFF2-40B4-BE49-F238E27FC236}">
                <a16:creationId xmlns:a16="http://schemas.microsoft.com/office/drawing/2014/main" id="{86DD3AFA-C746-4500-893B-B7B4E12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处理规则</a:t>
            </a:r>
          </a:p>
        </p:txBody>
      </p:sp>
      <p:sp>
        <p:nvSpPr>
          <p:cNvPr id="10" name="content-69">
            <a:extLst xmlns:a="http://schemas.openxmlformats.org/drawingml/2006/main">
              <a:ext uri="{FF2B5EF4-FFF2-40B4-BE49-F238E27FC236}">
                <a16:creationId xmlns:a16="http://schemas.microsoft.com/office/drawing/2014/main" id="{5E21DC55-DB9A-49FB-9FDD-D7A6DB4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余量为非负整数；大于0确认，等于0拒绝。</a:t>
            </a:r>
          </a:p>
        </p:txBody>
      </p:sp>
      <p:sp>
        <p:nvSpPr>
          <p:cNvPr id="11" name="frame-70">
            <a:extLst xmlns:a="http://schemas.openxmlformats.org/drawingml/2006/main">
              <a:ext uri="{FF2B5EF4-FFF2-40B4-BE49-F238E27FC236}">
                <a16:creationId xmlns:a16="http://schemas.microsoft.com/office/drawing/2014/main" id="{143D5FED-8697-409E-B74C-4D40E0B9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71">
            <a:extLst xmlns:a="http://schemas.openxmlformats.org/drawingml/2006/main">
              <a:ext uri="{FF2B5EF4-FFF2-40B4-BE49-F238E27FC236}">
                <a16:creationId xmlns:a16="http://schemas.microsoft.com/office/drawing/2014/main" id="{02AB687D-7320-45D6-8460-240AAA8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完成条件</a:t>
            </a:r>
          </a:p>
        </p:txBody>
      </p:sp>
      <p:sp>
        <p:nvSpPr>
          <p:cNvPr id="13" name="content-72">
            <a:extLst xmlns:a="http://schemas.openxmlformats.org/drawingml/2006/main">
              <a:ext uri="{FF2B5EF4-FFF2-40B4-BE49-F238E27FC236}">
                <a16:creationId xmlns:a16="http://schemas.microsoft.com/office/drawing/2014/main" id="{59DA622E-07D5-4537-9C94-1D1DDBB8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办理结果已经保存，再向学生返回结果；记录保留。</a:t>
            </a:r>
          </a:p>
        </p:txBody>
      </p:sp>
      <p:sp>
        <p:nvSpPr>
          <p:cNvPr id="14" name="frame-73">
            <a:extLst xmlns:a="http://schemas.openxmlformats.org/drawingml/2006/main">
              <a:ext uri="{FF2B5EF4-FFF2-40B4-BE49-F238E27FC236}">
                <a16:creationId xmlns:a16="http://schemas.microsoft.com/office/drawing/2014/main" id="{E6A4402C-F4C0-402D-AA19-9159E26C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74">
            <a:extLst xmlns:a="http://schemas.openxmlformats.org/drawingml/2006/main">
              <a:ext uri="{FF2B5EF4-FFF2-40B4-BE49-F238E27FC236}">
                <a16:creationId xmlns:a16="http://schemas.microsoft.com/office/drawing/2014/main" id="{7D12856C-4785-422B-8695-4DA2197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简化范围</a:t>
            </a:r>
          </a:p>
        </p:txBody>
      </p:sp>
      <p:sp>
        <p:nvSpPr>
          <p:cNvPr id="16" name="content-75">
            <a:extLst xmlns:a="http://schemas.openxmlformats.org/drawingml/2006/main">
              <a:ext uri="{FF2B5EF4-FFF2-40B4-BE49-F238E27FC236}">
                <a16:creationId xmlns:a16="http://schemas.microsoft.com/office/drawing/2014/main" id="{13153CA3-454E-401E-90B7-C2244C39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请求期间余量稳定，本章不扣减名额。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并发、事务与故障处理仍待确定。</a:t>
            </a:r>
          </a:p>
        </p:txBody>
      </p:sp>
      <p:sp>
        <p:nvSpPr>
          <p:cNvPr id="17" name="content-76">
            <a:extLst xmlns:a="http://schemas.openxmlformats.org/drawingml/2006/main">
              <a:ext uri="{FF2B5EF4-FFF2-40B4-BE49-F238E27FC236}">
                <a16:creationId xmlns:a16="http://schemas.microsoft.com/office/drawing/2014/main" id="{6BBD2219-47D5-41F6-893E-115E3A2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这些约定只服务于本章案例，不代表实际学校选课制度。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D875E-5F94-4940-8E95-FECA39320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c1d4d3d07410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77">
            <a:extLst xmlns:a="http://schemas.openxmlformats.org/drawingml/2006/main">
              <a:ext uri="{FF2B5EF4-FFF2-40B4-BE49-F238E27FC236}">
                <a16:creationId xmlns:a16="http://schemas.microsoft.com/office/drawing/2014/main" id="{D351A594-31C1-4C5F-AF1A-CEF48D27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01 业务用例与系统用例</a:t>
            </a:r>
          </a:p>
        </p:txBody>
      </p:sp>
      <p:sp>
        <p:nvSpPr>
          <p:cNvPr id="2" name="frame-78">
            <a:extLst xmlns:a="http://schemas.openxmlformats.org/drawingml/2006/main">
              <a:ext uri="{FF2B5EF4-FFF2-40B4-BE49-F238E27FC236}">
                <a16:creationId xmlns:a16="http://schemas.microsoft.com/office/drawing/2014/main" id="{2181C49A-2F54-401D-A8D8-29AE264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79">
            <a:extLst xmlns:a="http://schemas.openxmlformats.org/drawingml/2006/main">
              <a:ext uri="{FF2B5EF4-FFF2-40B4-BE49-F238E27FC236}">
                <a16:creationId xmlns:a16="http://schemas.microsoft.com/office/drawing/2014/main" id="{0BD18DA3-1B13-444C-91FE-8F0D2CA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4103358-5FB3-4C2F-B55E-5BE00D2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C524733-8624-4622-9A3E-3EC1E183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08 / 82</a:t>
            </a:r>
          </a:p>
        </p:txBody>
      </p:sp>
      <p:sp>
        <p:nvSpPr>
          <p:cNvPr id="6" name="content-80">
            <a:extLst xmlns:a="http://schemas.openxmlformats.org/drawingml/2006/main">
              <a:ext uri="{FF2B5EF4-FFF2-40B4-BE49-F238E27FC236}">
                <a16:creationId xmlns:a16="http://schemas.microsoft.com/office/drawing/2014/main" id="{CF7F45A5-6DA3-4E51-9518-1AC6314D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用例（UML）</a:t>
            </a:r>
          </a:p>
        </p:txBody>
      </p:sp>
      <p:sp>
        <p:nvSpPr>
          <p:cNvPr id="7" name="content-81">
            <a:extLst xmlns:a="http://schemas.openxmlformats.org/drawingml/2006/main">
              <a:ext uri="{FF2B5EF4-FFF2-40B4-BE49-F238E27FC236}">
                <a16:creationId xmlns:a16="http://schemas.microsoft.com/office/drawing/2014/main" id="{39812095-FCD7-4854-AC8C-EA104CF8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规定研究对象执行的一组行为，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产生对参与者或其他利益相关者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有价值的可观察结果。</a:t>
            </a:r>
          </a:p>
        </p:txBody>
      </p:sp>
      <p:sp>
        <p:nvSpPr>
          <p:cNvPr id="8" name="frame-82">
            <a:extLst xmlns:a="http://schemas.openxmlformats.org/drawingml/2006/main">
              <a:ext uri="{FF2B5EF4-FFF2-40B4-BE49-F238E27FC236}">
                <a16:creationId xmlns:a16="http://schemas.microsoft.com/office/drawing/2014/main" id="{2E142015-0303-4152-9629-0E0B629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83">
            <a:extLst xmlns:a="http://schemas.openxmlformats.org/drawingml/2006/main">
              <a:ext uri="{FF2B5EF4-FFF2-40B4-BE49-F238E27FC236}">
                <a16:creationId xmlns:a16="http://schemas.microsoft.com/office/drawing/2014/main" id="{04E51A8B-5AAC-42A0-839F-0A54EAF0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业务用例模型</a:t>
            </a:r>
          </a:p>
        </p:txBody>
      </p:sp>
      <p:sp>
        <p:nvSpPr>
          <p:cNvPr id="10" name="content-84">
            <a:extLst xmlns:a="http://schemas.openxmlformats.org/drawingml/2006/main">
              <a:ext uri="{FF2B5EF4-FFF2-40B4-BE49-F238E27FC236}">
                <a16:creationId xmlns:a16="http://schemas.microsoft.com/office/drawing/2014/main" id="{1465BC48-97B2-4E35-B047-0B03F3D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从外部参与者的角度，描述业务提供的服务与目标。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关注整个业务范围，不限定为某个软件系统。</a:t>
            </a:r>
          </a:p>
        </p:txBody>
      </p:sp>
      <p:sp>
        <p:nvSpPr>
          <p:cNvPr id="11" name="frame-85">
            <a:extLst xmlns:a="http://schemas.openxmlformats.org/drawingml/2006/main">
              <a:ext uri="{FF2B5EF4-FFF2-40B4-BE49-F238E27FC236}">
                <a16:creationId xmlns:a16="http://schemas.microsoft.com/office/drawing/2014/main" id="{2AD84CA1-C86A-4A10-B9FE-BED85419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86">
            <a:extLst xmlns:a="http://schemas.openxmlformats.org/drawingml/2006/main">
              <a:ext uri="{FF2B5EF4-FFF2-40B4-BE49-F238E27FC236}">
                <a16:creationId xmlns:a16="http://schemas.microsoft.com/office/drawing/2014/main" id="{8C9A7772-D295-46FE-B5E9-B416C29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系统用例模型</a:t>
            </a:r>
          </a:p>
        </p:txBody>
      </p:sp>
      <p:sp>
        <p:nvSpPr>
          <p:cNvPr id="13" name="content-87">
            <a:extLst xmlns:a="http://schemas.openxmlformats.org/drawingml/2006/main">
              <a:ext uri="{FF2B5EF4-FFF2-40B4-BE49-F238E27FC236}">
                <a16:creationId xmlns:a16="http://schemas.microsoft.com/office/drawing/2014/main" id="{D7155295-5B96-4086-85AE-C377F3F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从外部参与者与系统交互的角度，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描述待建系统应提供的功能行为。</a:t>
            </a:r>
          </a:p>
        </p:txBody>
      </p:sp>
      <p:sp>
        <p:nvSpPr>
          <p:cNvPr id="14" name="content-88">
            <a:extLst xmlns:a="http://schemas.openxmlformats.org/drawingml/2006/main">
              <a:ext uri="{FF2B5EF4-FFF2-40B4-BE49-F238E27FC236}">
                <a16:creationId xmlns:a16="http://schemas.microsoft.com/office/drawing/2014/main" id="{C3C996E9-D8EC-4407-9C73-6EB918A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用例语义依据OMG；两类用例模型采用RUP方法语境。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7B7D8-925D-4594-B40C-5C21826D8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c21a51db74c5d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89">
            <a:extLst xmlns:a="http://schemas.openxmlformats.org/drawingml/2006/main">
              <a:ext uri="{FF2B5EF4-FFF2-40B4-BE49-F238E27FC236}">
                <a16:creationId xmlns:a16="http://schemas.microsoft.com/office/drawing/2014/main" id="{9980E276-9A68-4D74-B8C2-EB62493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业务办理：确认与拒绝两种结果</a:t>
            </a:r>
          </a:p>
        </p:txBody>
      </p:sp>
      <p:sp>
        <p:nvSpPr>
          <p:cNvPr id="2" name="frame-90">
            <a:extLst xmlns:a="http://schemas.openxmlformats.org/drawingml/2006/main">
              <a:ext uri="{FF2B5EF4-FFF2-40B4-BE49-F238E27FC236}">
                <a16:creationId xmlns:a16="http://schemas.microsoft.com/office/drawing/2014/main" id="{BE0AB584-D1B0-4560-A7BE-AAA24A7D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91">
            <a:extLst xmlns:a="http://schemas.openxmlformats.org/drawingml/2006/main">
              <a:ext uri="{FF2B5EF4-FFF2-40B4-BE49-F238E27FC236}">
                <a16:creationId xmlns:a16="http://schemas.microsoft.com/office/drawing/2014/main" id="{8ED891FC-03FF-4896-93D0-90FFB4B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817EB70-A9E4-430C-A57A-A387BDD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419245A-529E-4130-ADD5-A3D1AF11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09 / 82</a:t>
            </a:r>
          </a:p>
        </p:txBody>
      </p:sp>
      <p:sp>
        <p:nvSpPr>
          <p:cNvPr id="6" name="content-92">
            <a:extLst xmlns:a="http://schemas.openxmlformats.org/drawingml/2006/main">
              <a:ext uri="{FF2B5EF4-FFF2-40B4-BE49-F238E27FC236}">
                <a16:creationId xmlns:a16="http://schemas.microsoft.com/office/drawing/2014/main" id="{05B82BC9-0210-424E-8EDF-A2F46F7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共同起点</a:t>
            </a:r>
          </a:p>
        </p:txBody>
      </p:sp>
      <p:sp>
        <p:nvSpPr>
          <p:cNvPr id="7" name="content-93">
            <a:extLst xmlns:a="http://schemas.openxmlformats.org/drawingml/2006/main">
              <a:ext uri="{FF2B5EF4-FFF2-40B4-BE49-F238E27FC236}">
                <a16:creationId xmlns:a16="http://schemas.microsoft.com/office/drawing/2014/main" id="{6A95741B-0076-43CF-BB3F-CBD953E2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已有待处理记录；使用它对应开课班的余量。</a:t>
            </a:r>
          </a:p>
        </p:txBody>
      </p:sp>
      <p:sp>
        <p:nvSpPr>
          <p:cNvPr id="8" name="frame-94">
            <a:extLst xmlns:a="http://schemas.openxmlformats.org/drawingml/2006/main">
              <a:ext uri="{FF2B5EF4-FFF2-40B4-BE49-F238E27FC236}">
                <a16:creationId xmlns:a16="http://schemas.microsoft.com/office/drawing/2014/main" id="{14455F07-F004-4674-8CA0-152EB44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95">
            <a:extLst xmlns:a="http://schemas.openxmlformats.org/drawingml/2006/main">
              <a:ext uri="{FF2B5EF4-FFF2-40B4-BE49-F238E27FC236}">
                <a16:creationId xmlns:a16="http://schemas.microsoft.com/office/drawing/2014/main" id="{5E78F1FA-7191-4B37-801D-222E73D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有余量</a:t>
            </a:r>
          </a:p>
        </p:txBody>
      </p:sp>
      <p:sp>
        <p:nvSpPr>
          <p:cNvPr id="10" name="content-96">
            <a:extLst xmlns:a="http://schemas.openxmlformats.org/drawingml/2006/main">
              <a:ext uri="{FF2B5EF4-FFF2-40B4-BE49-F238E27FC236}">
                <a16:creationId xmlns:a16="http://schemas.microsoft.com/office/drawing/2014/main" id="{AE5FBB96-A601-4947-B865-8539A33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确认选课，保留办理结果，并告知学生。</a:t>
            </a:r>
          </a:p>
        </p:txBody>
      </p:sp>
      <p:sp>
        <p:nvSpPr>
          <p:cNvPr id="11" name="frame-97">
            <a:extLst xmlns:a="http://schemas.openxmlformats.org/drawingml/2006/main">
              <a:ext uri="{FF2B5EF4-FFF2-40B4-BE49-F238E27FC236}">
                <a16:creationId xmlns:a16="http://schemas.microsoft.com/office/drawing/2014/main" id="{CADFF449-46F8-4D44-AD63-744F18D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98">
            <a:extLst xmlns:a="http://schemas.openxmlformats.org/drawingml/2006/main">
              <a:ext uri="{FF2B5EF4-FFF2-40B4-BE49-F238E27FC236}">
                <a16:creationId xmlns:a16="http://schemas.microsoft.com/office/drawing/2014/main" id="{C74ACFC4-C041-4A40-9B44-E5B2187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无余量</a:t>
            </a:r>
          </a:p>
        </p:txBody>
      </p:sp>
      <p:sp>
        <p:nvSpPr>
          <p:cNvPr id="13" name="content-99">
            <a:extLst xmlns:a="http://schemas.openxmlformats.org/drawingml/2006/main">
              <a:ext uri="{FF2B5EF4-FFF2-40B4-BE49-F238E27FC236}">
                <a16:creationId xmlns:a16="http://schemas.microsoft.com/office/drawing/2014/main" id="{0D547DC3-0275-4723-91FC-80AE852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拒绝选课，仍保留同一条记录，并告知学生。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3C44F-B0D7-4B1F-889A-6910E6140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6130d9666430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100">
            <a:extLst xmlns:a="http://schemas.openxmlformats.org/drawingml/2006/main">
              <a:ext uri="{FF2B5EF4-FFF2-40B4-BE49-F238E27FC236}">
                <a16:creationId xmlns:a16="http://schemas.microsoft.com/office/drawing/2014/main" id="{17A483D1-34BD-4722-AED0-F85058FC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业务工作与软件边界</a:t>
            </a:r>
          </a:p>
        </p:txBody>
      </p:sp>
      <p:sp>
        <p:nvSpPr>
          <p:cNvPr id="2" name="frame-101">
            <a:extLst xmlns:a="http://schemas.openxmlformats.org/drawingml/2006/main">
              <a:ext uri="{FF2B5EF4-FFF2-40B4-BE49-F238E27FC236}">
                <a16:creationId xmlns:a16="http://schemas.microsoft.com/office/drawing/2014/main" id="{F305E3BC-531B-4BBC-9685-C3964761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02">
            <a:extLst xmlns:a="http://schemas.openxmlformats.org/drawingml/2006/main">
              <a:ext uri="{FF2B5EF4-FFF2-40B4-BE49-F238E27FC236}">
                <a16:creationId xmlns:a16="http://schemas.microsoft.com/office/drawing/2014/main" id="{BC856794-D17F-4A42-B3B9-55C0591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9D79E6F-FB8E-48B5-B9E8-B37952C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7A0DDCB-6248-4122-B42C-C4E7C16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10 / 82</a:t>
            </a:r>
          </a:p>
        </p:txBody>
      </p:sp>
      <p:sp>
        <p:nvSpPr>
          <p:cNvPr id="6" name="content-103">
            <a:extLst xmlns:a="http://schemas.openxmlformats.org/drawingml/2006/main">
              <a:ext uri="{FF2B5EF4-FFF2-40B4-BE49-F238E27FC236}">
                <a16:creationId xmlns:a16="http://schemas.microsoft.com/office/drawing/2014/main" id="{F4089691-4E3F-4F5F-A8DF-E61F23EC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软件范围外</a:t>
            </a:r>
          </a:p>
        </p:txBody>
      </p:sp>
      <p:sp>
        <p:nvSpPr>
          <p:cNvPr id="7" name="content-104">
            <a:extLst xmlns:a="http://schemas.openxmlformats.org/drawingml/2006/main">
              <a:ext uri="{FF2B5EF4-FFF2-40B4-BE49-F238E27FC236}">
                <a16:creationId xmlns:a16="http://schemas.microsoft.com/office/drawing/2014/main" id="{0E0F8443-EB06-4751-81C5-CDC10C1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教务人员确定开课安排与容量。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教学假设A1：本章将这项工作放在软件范围之外。</a:t>
            </a:r>
          </a:p>
        </p:txBody>
      </p:sp>
      <p:sp>
        <p:nvSpPr>
          <p:cNvPr id="8" name="frame-105">
            <a:extLst xmlns:a="http://schemas.openxmlformats.org/drawingml/2006/main">
              <a:ext uri="{FF2B5EF4-FFF2-40B4-BE49-F238E27FC236}">
                <a16:creationId xmlns:a16="http://schemas.microsoft.com/office/drawing/2014/main" id="{E448D4CC-26EC-41FE-8A1C-4A46508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06">
            <a:extLst xmlns:a="http://schemas.openxmlformats.org/drawingml/2006/main">
              <a:ext uri="{FF2B5EF4-FFF2-40B4-BE49-F238E27FC236}">
                <a16:creationId xmlns:a16="http://schemas.microsoft.com/office/drawing/2014/main" id="{6AD61C7D-4581-426E-B2F5-7E6B123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软件范围内</a:t>
            </a:r>
          </a:p>
        </p:txBody>
      </p:sp>
      <p:sp>
        <p:nvSpPr>
          <p:cNvPr id="10" name="content-107">
            <a:extLst xmlns:a="http://schemas.openxmlformats.org/drawingml/2006/main">
              <a:ext uri="{FF2B5EF4-FFF2-40B4-BE49-F238E27FC236}">
                <a16:creationId xmlns:a16="http://schemas.microsoft.com/office/drawing/2014/main" id="{CCD81861-7EBA-43B4-8D14-9C09E9B7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软件处理已有记录，保存结果，并反馈学生。</a:t>
            </a:r>
          </a:p>
        </p:txBody>
      </p:sp>
      <p:sp>
        <p:nvSpPr>
          <p:cNvPr id="11" name="frame-108">
            <a:extLst xmlns:a="http://schemas.openxmlformats.org/drawingml/2006/main">
              <a:ext uri="{FF2B5EF4-FFF2-40B4-BE49-F238E27FC236}">
                <a16:creationId xmlns:a16="http://schemas.microsoft.com/office/drawing/2014/main" id="{2C39D4A3-D03A-4C05-9BE1-9A635B5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09">
            <a:extLst xmlns:a="http://schemas.openxmlformats.org/drawingml/2006/main">
              <a:ext uri="{FF2B5EF4-FFF2-40B4-BE49-F238E27FC236}">
                <a16:creationId xmlns:a16="http://schemas.microsoft.com/office/drawing/2014/main" id="{F5DFE416-9205-4298-97A7-EE5FF6C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仍需确认</a:t>
            </a:r>
          </a:p>
        </p:txBody>
      </p:sp>
      <p:sp>
        <p:nvSpPr>
          <p:cNvPr id="13" name="content-110">
            <a:extLst xmlns:a="http://schemas.openxmlformats.org/drawingml/2006/main">
              <a:ext uri="{FF2B5EF4-FFF2-40B4-BE49-F238E27FC236}">
                <a16:creationId xmlns:a16="http://schemas.microsoft.com/office/drawing/2014/main" id="{7082AE3D-97B7-4077-892B-E9C118EF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记录怎样创建？资格怎样核验？由哪个系统负责？</a:t>
            </a:r>
          </a:p>
        </p:txBody>
      </p:sp>
      <p:sp>
        <p:nvSpPr>
          <p:cNvPr id="14" name="content-111">
            <a:extLst xmlns:a="http://schemas.openxmlformats.org/drawingml/2006/main">
              <a:ext uri="{FF2B5EF4-FFF2-40B4-BE49-F238E27FC236}">
                <a16:creationId xmlns:a16="http://schemas.microsoft.com/office/drawing/2014/main" id="{8E38BC71-0D81-4DDB-8F4A-5B69BC1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A1是教学假设。一个业务用例可由多项系统功能支持。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A6D2F-2BD0-49DC-856C-E907873A5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82b1ec70d409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112">
            <a:extLst xmlns:a="http://schemas.openxmlformats.org/drawingml/2006/main">
              <a:ext uri="{FF2B5EF4-FFF2-40B4-BE49-F238E27FC236}">
                <a16:creationId xmlns:a16="http://schemas.microsoft.com/office/drawing/2014/main" id="{EEAFDC8D-2F3B-4E81-9271-C2194DF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选课业务用例</a:t>
            </a:r>
          </a:p>
        </p:txBody>
      </p:sp>
      <p:sp>
        <p:nvSpPr>
          <p:cNvPr id="2" name="frame-113">
            <a:extLst xmlns:a="http://schemas.openxmlformats.org/drawingml/2006/main">
              <a:ext uri="{FF2B5EF4-FFF2-40B4-BE49-F238E27FC236}">
                <a16:creationId xmlns:a16="http://schemas.microsoft.com/office/drawing/2014/main" id="{EBBAD83A-1449-4BE1-860C-C78A996B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14">
            <a:extLst xmlns:a="http://schemas.openxmlformats.org/drawingml/2006/main">
              <a:ext uri="{FF2B5EF4-FFF2-40B4-BE49-F238E27FC236}">
                <a16:creationId xmlns:a16="http://schemas.microsoft.com/office/drawing/2014/main" id="{D4D95846-5948-4F85-B582-AC583E9E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28DC547-7882-4F06-94D8-9FBA1F98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3173A49-042E-41D1-AE5A-1864118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11 / 82</a:t>
            </a:r>
          </a:p>
        </p:txBody>
      </p:sp>
      <p:sp>
        <p:nvSpPr>
          <p:cNvPr id="10" name="UML business-usecase box 10"/>
          <p:cNvSpPr/>
          <p:nvPr/>
        </p:nvSpPr>
        <p:spPr>
          <ns1:xfrm xmlns:ns1="http://schemas.openxmlformats.org/drawingml/2006/main">
            <ns1:off x="3588306" y="1401842"/>
            <ns1:ext cx="2674620" cy="236601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1" name="UML business-usecase label 11"/>
          <p:cNvSpPr/>
          <p:nvPr/>
        </p:nvSpPr>
        <p:spPr>
          <ns1:xfrm xmlns:ns1="http://schemas.openxmlformats.org/drawingml/2006/main">
            <ns1:off x="4149590" y="1448133"/>
            <ns1:ext cx="163306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教务选课业务</ns7:t>
            </ns7:r>
            <ns7:endParaRPr lang="zh-CN" sz="2025"/>
          </ns7:p>
        </p:txBody>
      </p:sp>
      <p:sp>
        <p:nvSpPr>
          <p:cNvPr id="12" name="UML business-usecase anchor 12"/>
          <p:cNvSpPr/>
          <p:nvPr/>
        </p:nvSpPr>
        <p:spPr>
          <ns1:xfrm xmlns:ns1="http://schemas.openxmlformats.org/drawingml/2006/main">
            <ns1:off x="2971086" y="2276237"/>
            <ns1:ext cx="205740" cy="205740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3" name="UML business-usecase connection 13"/>
          <p:cNvSpPr/>
          <p:nvPr/>
        </p:nvSpPr>
        <p:spPr>
          <ns1:xfrm xmlns:ns1="http://schemas.openxmlformats.org/drawingml/2006/main">
            <ns1:off x="2906792" y="2481977"/>
            <ns1:ext cx="334328" cy="54006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7650" h="400050" fill="none" stroke="1" extrusionOk="0">
                <ns2:moveTo>
                  <ns2:pt x="123825" y="0"/>
                </ns2:moveTo>
                <ns2:lnTo>
                  <ns2:pt x="123825" y="257175"/>
                </ns2:lnTo>
                <ns2:moveTo>
                  <ns2:pt x="0" y="76200"/>
                </ns2:moveTo>
                <ns2:lnTo>
                  <ns2:pt x="247650" y="76200"/>
                </ns2:lnTo>
                <ns2:moveTo>
                  <ns2:pt x="123825" y="257175"/>
                </ns2:moveTo>
                <ns2:lnTo>
                  <ns2:pt x="0" y="400050"/>
                </ns2:lnTo>
                <ns2:moveTo>
                  <ns2:pt x="123825" y="257175"/>
                </ns2:moveTo>
                <ns2:lnTo>
                  <ns2:pt x="247650" y="4000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4" name="UML business-usecase label 14"/>
          <p:cNvSpPr/>
          <p:nvPr/>
        </p:nvSpPr>
        <p:spPr>
          <ns1:xfrm xmlns:ns1="http://schemas.openxmlformats.org/drawingml/2006/main">
            <ns1:off x="2812280" y="3068336"/>
            <ns1:ext cx="60436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学生</ns7:t>
            </ns7:r>
            <ns7:endParaRPr lang="zh-CN" sz="2025"/>
          </ns7:p>
        </p:txBody>
      </p:sp>
      <p:sp>
        <p:nvSpPr>
          <p:cNvPr id="15" name="UML business-usecase anchor 15"/>
          <p:cNvSpPr/>
          <p:nvPr/>
        </p:nvSpPr>
        <p:spPr>
          <ns1:xfrm xmlns:ns1="http://schemas.openxmlformats.org/drawingml/2006/main">
            <ns1:off x="4160520" y="2115502"/>
            <ns1:ext cx="1531966" cy="603795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6" name="UML business-usecase label 16"/>
          <p:cNvSpPr/>
          <p:nvPr/>
        </p:nvSpPr>
        <p:spPr>
          <ns1:xfrm xmlns:ns1="http://schemas.openxmlformats.org/drawingml/2006/main">
            <ns1:off x="4407652" y="2280840"/>
            <ns1:ext cx="111871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办理选课</ns7:t>
            </ns7:r>
            <ns7:endParaRPr lang="zh-CN" sz="2025"/>
          </ns7:p>
        </p:txBody>
      </p:sp>
      <p:sp>
        <p:nvSpPr>
          <p:cNvPr id="17" name="UML business-usecase anchor 17"/>
          <p:cNvSpPr/>
          <p:nvPr/>
        </p:nvSpPr>
        <p:spPr>
          <ns1:xfrm xmlns:ns1="http://schemas.openxmlformats.org/drawingml/2006/main">
            <ns1:off x="3794046" y="2951321"/>
            <ns1:ext cx="2259360" cy="603795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8" name="UML business-usecase label 18"/>
          <p:cNvSpPr/>
          <p:nvPr/>
        </p:nvSpPr>
        <p:spPr>
          <ns1:xfrm xmlns:ns1="http://schemas.openxmlformats.org/drawingml/2006/main">
            <ns1:off x="4147700" y="3116659"/>
            <ns1:ext cx="163306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查询选课结果</ns7:t>
            </ns7:r>
            <ns7:endParaRPr lang="zh-CN" sz="2025"/>
          </ns7:p>
        </p:txBody>
      </p:sp>
      <p:sp>
        <p:nvSpPr>
          <p:cNvPr id="19" name="UML business-usecase connection 19"/>
          <p:cNvSpPr/>
          <p:nvPr/>
        </p:nvSpPr>
        <p:spPr>
          <ns1:xfrm xmlns:ns1="http://schemas.openxmlformats.org/drawingml/2006/main">
            <ns1:off x="3333072" y="2569841"/>
            <ns1:ext cx="932272" cy="21494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90572" h="159220" fill="none" stroke="1" extrusionOk="0">
                <ns2:moveTo>
                  <ns2:pt x="0" y="159220"/>
                </ns2:moveTo>
                <ns2:lnTo>
                  <ns2:pt x="690572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0" name="UML business-usecase connection 20"/>
          <p:cNvSpPr/>
          <p:nvPr/>
        </p:nvSpPr>
        <p:spPr>
          <ns1:xfrm xmlns:ns1="http://schemas.openxmlformats.org/drawingml/2006/main">
            <ns1:off x="3333072" y="2897520"/>
            <ns1:ext cx="724269" cy="1619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36496" h="119967" fill="none" stroke="1" extrusionOk="0">
                <ns2:moveTo>
                  <ns2:pt x="0" y="0"/>
                </ns2:moveTo>
                <ns2:lnTo>
                  <ns2:pt x="536496" y="119967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7" name="content-115">
            <a:extLst xmlns:a="http://schemas.openxmlformats.org/drawingml/2006/main">
              <a:ext uri="{FF2B5EF4-FFF2-40B4-BE49-F238E27FC236}">
                <a16:creationId xmlns:a16="http://schemas.microsoft.com/office/drawing/2014/main" id="{973DF2BB-008E-4F66-9750-BE5776FB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业务边界内可有人员和软件协作；本图先说明学生需要的服务。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C6933-989C-4A78-A1DE-637C520A36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b45408e7245cc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ntent-116">
            <a:extLst xmlns:a="http://schemas.openxmlformats.org/drawingml/2006/main">
              <a:ext uri="{FF2B5EF4-FFF2-40B4-BE49-F238E27FC236}">
                <a16:creationId xmlns:a16="http://schemas.microsoft.com/office/drawing/2014/main" id="{4775B1FD-3533-475D-B868-CFECBD9F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业务活动：已有记录的处理</a:t>
            </a:r>
          </a:p>
        </p:txBody>
      </p:sp>
      <p:sp>
        <p:nvSpPr>
          <p:cNvPr id="2" name="frame-117">
            <a:extLst xmlns:a="http://schemas.openxmlformats.org/drawingml/2006/main">
              <a:ext uri="{FF2B5EF4-FFF2-40B4-BE49-F238E27FC236}">
                <a16:creationId xmlns:a16="http://schemas.microsoft.com/office/drawing/2014/main" id="{54F48DD9-B7D8-454E-A8AE-70AB2B7E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18">
            <a:extLst xmlns:a="http://schemas.openxmlformats.org/drawingml/2006/main">
              <a:ext uri="{FF2B5EF4-FFF2-40B4-BE49-F238E27FC236}">
                <a16:creationId xmlns:a16="http://schemas.microsoft.com/office/drawing/2014/main" id="{555A4D9A-88D0-48C6-BE90-02C8AFC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9B1DE82-3673-4F1A-B27E-7A3CFE7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C9B4600-98D6-4C73-A004-2E618C8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12 / 82</a:t>
            </a:r>
          </a:p>
        </p:txBody>
      </p:sp>
      <p:sp>
        <p:nvSpPr>
          <p:cNvPr id="15" name="UML business-activity anchor 15"/>
          <p:cNvSpPr/>
          <p:nvPr/>
        </p:nvSpPr>
        <p:spPr>
          <ns1:xfrm xmlns:ns1="http://schemas.openxmlformats.org/drawingml/2006/main">
            <ns1:off x="2851585" y="1144152"/>
            <ns1:ext cx="154704" cy="154704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16" name="UML business-activity box 16"/>
          <p:cNvSpPr/>
          <p:nvPr/>
        </p:nvSpPr>
        <p:spPr>
          <ns1:xfrm xmlns:ns1="http://schemas.openxmlformats.org/drawingml/2006/main">
            <ns1:off x="2387473" y="1453560"/>
            <ns1:ext cx="1082929" cy="378716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17" name="UML business-activity label 17"/>
          <p:cNvSpPr/>
          <p:nvPr/>
        </p:nvSpPr>
        <p:spPr>
          <ns1:xfrm xmlns:ns1="http://schemas.openxmlformats.org/drawingml/2006/main">
            <ns1:off x="2462118" y="1543289"/>
            <ns1:ext cx="982371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学生请求办理</ns7:t>
            </ns7:r>
            <ns7:endParaRPr lang="zh-CN" sz="1218"/>
          </ns7:p>
        </p:txBody>
      </p:sp>
      <p:sp>
        <p:nvSpPr>
          <p:cNvPr id="18" name="UML business-activity box 18"/>
          <p:cNvSpPr/>
          <p:nvPr/>
        </p:nvSpPr>
        <p:spPr>
          <ns1:xfrm xmlns:ns1="http://schemas.openxmlformats.org/drawingml/2006/main">
            <ns1:off x="2310121" y="1986980"/>
            <ns1:ext cx="1237633" cy="378716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19" name="UML business-activity label 19"/>
          <p:cNvSpPr/>
          <p:nvPr/>
        </p:nvSpPr>
        <p:spPr>
          <ns1:xfrm xmlns:ns1="http://schemas.openxmlformats.org/drawingml/2006/main">
            <ns1:off x="2384766" y="2076708"/>
            <ns1:ext cx="1137075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核对开课班余量</ns7:t>
            </ns7:r>
            <ns7:endParaRPr lang="zh-CN" sz="1218"/>
          </ns7:p>
        </p:txBody>
      </p:sp>
      <p:sp>
        <p:nvSpPr>
          <p:cNvPr id="20" name="UML business-activity arrow 20"/>
          <p:cNvSpPr/>
          <p:nvPr/>
        </p:nvSpPr>
        <p:spPr>
          <ns1:xfrm xmlns:ns1="http://schemas.openxmlformats.org/drawingml/2006/main">
            <ns1:off x="2526707" y="2580332"/>
            <ns1:ext cx="804461" cy="4096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90600" h="504444" fill="norm" stroke="1" extrusionOk="0">
                <ns2:moveTo>
                  <ns2:pt x="495300" y="0"/>
                </ns2:moveTo>
                <ns2:lnTo>
                  <ns2:pt x="990600" y="252222"/>
                </ns2:lnTo>
                <ns2:lnTo>
                  <ns2:pt x="495300" y="504444"/>
                </ns2:lnTo>
                <ns2:lnTo>
                  <ns2:pt x="0" y="252222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21" name="UML business-activity label 21"/>
          <p:cNvSpPr/>
          <p:nvPr/>
        </p:nvSpPr>
        <p:spPr>
          <ns1:xfrm xmlns:ns1="http://schemas.openxmlformats.org/drawingml/2006/main">
            <ns1:off x="2616822" y="2685531"/>
            <ns1:ext cx="672963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余量判定</ns7:t>
            </ns7:r>
            <ns7:endParaRPr lang="zh-CN" sz="1218"/>
          </ns7:p>
        </p:txBody>
      </p:sp>
      <p:sp>
        <p:nvSpPr>
          <p:cNvPr id="22" name="UML business-activity label 22"/>
          <p:cNvSpPr/>
          <p:nvPr/>
        </p:nvSpPr>
        <p:spPr>
          <ns1:xfrm xmlns:ns1="http://schemas.openxmlformats.org/drawingml/2006/main">
            <ns1:off x="1934484" y="2482683"/>
            <ns1:ext cx="638247" cy="20328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96" dirty="0">
                <ns7:solidFill>
                  <ns7:srgbClr val="1F2A44"/>
                </ns7:solidFill>
                <ns7:latin typeface="Noto Sans SC"/>
                <ns7:ea typeface="Noto Sans SC"/>
              </ns7:rPr>
              <ns7:t>[余量 &gt; 0]</ns7:t>
            </ns7:r>
            <ns7:endParaRPr lang="zh-CN" sz="1096"/>
          </ns7:p>
        </p:txBody>
      </p:sp>
      <p:sp>
        <p:nvSpPr>
          <p:cNvPr id="23" name="UML business-activity label 23"/>
          <p:cNvSpPr/>
          <p:nvPr/>
        </p:nvSpPr>
        <p:spPr>
          <ns1:xfrm xmlns:ns1="http://schemas.openxmlformats.org/drawingml/2006/main">
            <ns1:off x="3328461" y="2521359"/>
            <ns1:ext cx="638247" cy="20328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96" dirty="0">
                <ns7:solidFill>
                  <ns7:srgbClr val="1F2A44"/>
                </ns7:solidFill>
                <ns7:latin typeface="Noto Sans SC"/>
                <ns7:ea typeface="Noto Sans SC"/>
              </ns7:rPr>
              <ns7:t>[余量 = 0]</ns7:t>
            </ns7:r>
            <ns7:endParaRPr lang="zh-CN" sz="1096"/>
          </ns7:p>
        </p:txBody>
      </p:sp>
      <p:sp>
        <p:nvSpPr>
          <p:cNvPr id="24" name="UML business-activity box 24"/>
          <p:cNvSpPr/>
          <p:nvPr/>
        </p:nvSpPr>
        <p:spPr>
          <ns1:xfrm xmlns:ns1="http://schemas.openxmlformats.org/drawingml/2006/main">
            <ns1:off x="1768657" y="3067341"/>
            <ns1:ext cx="1082929" cy="378716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25" name="UML business-activity label 25"/>
          <p:cNvSpPr/>
          <p:nvPr/>
        </p:nvSpPr>
        <p:spPr>
          <ns1:xfrm xmlns:ns1="http://schemas.openxmlformats.org/drawingml/2006/main">
            <ns1:off x="1843301" y="3157069"/>
            <ns1:ext cx="982371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登记确认结果</ns7:t>
            </ns7:r>
            <ns7:endParaRPr lang="zh-CN" sz="1218"/>
          </ns7:p>
        </p:txBody>
      </p:sp>
      <p:sp>
        <p:nvSpPr>
          <p:cNvPr id="26" name="UML business-activity box 26"/>
          <p:cNvSpPr/>
          <p:nvPr/>
        </p:nvSpPr>
        <p:spPr>
          <ns1:xfrm xmlns:ns1="http://schemas.openxmlformats.org/drawingml/2006/main">
            <ns1:off x="3006290" y="3067341"/>
            <ns1:ext cx="1082929" cy="378716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27" name="UML business-activity label 27"/>
          <p:cNvSpPr/>
          <p:nvPr/>
        </p:nvSpPr>
        <p:spPr>
          <ns1:xfrm xmlns:ns1="http://schemas.openxmlformats.org/drawingml/2006/main">
            <ns1:off x="3080934" y="3157069"/>
            <ns1:ext cx="982371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登记拒绝结果</ns7:t>
            </ns7:r>
            <ns7:endParaRPr lang="zh-CN" sz="1218"/>
          </ns7:p>
        </p:txBody>
      </p:sp>
      <p:sp>
        <p:nvSpPr>
          <p:cNvPr id="28" name="UML business-activity arrow 28"/>
          <p:cNvSpPr/>
          <p:nvPr/>
        </p:nvSpPr>
        <p:spPr>
          <ns1:xfrm xmlns:ns1="http://schemas.openxmlformats.org/drawingml/2006/main">
            <ns1:off x="2836115" y="3492468"/>
            <ns1:ext cx="185645" cy="18564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8600" h="228600" fill="norm" stroke="1" extrusionOk="0">
                <ns2:moveTo>
                  <ns2:pt x="114300" y="0"/>
                </ns2:moveTo>
                <ns2:lnTo>
                  <ns2:pt x="228600" y="114300"/>
                </ns2:lnTo>
                <ns2:lnTo>
                  <ns2:pt x="114300" y="228600"/>
                </ns2:lnTo>
                <ns2:lnTo>
                  <ns2:pt x="0" y="114300"/>
                </ns2:lnTo>
                <ns2:lnTo>
                  <ns2:pt x="11430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29" name="UML business-activity box 29"/>
          <p:cNvSpPr/>
          <p:nvPr/>
        </p:nvSpPr>
        <p:spPr>
          <ns1:xfrm xmlns:ns1="http://schemas.openxmlformats.org/drawingml/2006/main">
            <ns1:off x="2232769" y="3832817"/>
            <ns1:ext cx="1392337" cy="378716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0" name="UML business-activity label 30"/>
          <p:cNvSpPr/>
          <p:nvPr/>
        </p:nvSpPr>
        <p:spPr>
          <ns1:xfrm xmlns:ns1="http://schemas.openxmlformats.org/drawingml/2006/main">
            <ns1:off x="2307414" y="3922545"/>
            <ns1:ext cx="1291779" cy="22586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735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18" dirty="0">
                <ns7:solidFill>
                  <ns7:srgbClr val="000000"/>
                </ns7:solidFill>
                <ns7:latin typeface="Noto Sans SC"/>
                <ns7:ea typeface="Noto Sans SC"/>
              </ns7:rPr>
              <ns7:t>告知学生办理结果</ns7:t>
            </ns7:r>
            <ns7:endParaRPr lang="zh-CN" sz="1218"/>
          </ns7:p>
        </p:txBody>
      </p:sp>
      <p:sp>
        <p:nvSpPr>
          <p:cNvPr id="31" name="UML business-activity anchor 31"/>
          <p:cNvSpPr/>
          <p:nvPr/>
        </p:nvSpPr>
        <p:spPr>
          <ns1:xfrm xmlns:ns1="http://schemas.openxmlformats.org/drawingml/2006/main">
            <ns1:off x="2843850" y="4366236"/>
            <ns1:ext cx="170175" cy="170175"/>
          </ns1:xfrm>
          <ns2:prstGeom xmlns:ns2="http://schemas.openxmlformats.org/drawingml/2006/main" prst="ellipse">
            <ns2:avLst/>
          </ns2:pr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2" name="UML business-activity anchor 32"/>
          <p:cNvSpPr/>
          <p:nvPr/>
        </p:nvSpPr>
        <p:spPr>
          <ns1:xfrm xmlns:ns1="http://schemas.openxmlformats.org/drawingml/2006/main">
            <ns1:off x="2882526" y="4404912"/>
            <ns1:ext cx="92822" cy="92822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3" name="UML business-activity divider 33"/>
          <p:cNvSpPr/>
          <p:nvPr/>
        </p:nvSpPr>
        <p:spPr>
          <ns1:xfrm xmlns:ns1="http://schemas.openxmlformats.org/drawingml/2006/main">
            <ns1:off x="2928938" y="1298856"/>
            <ns1:ext cx="952" cy="1547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4" name="UML business-activity arrow 34"/>
          <p:cNvSpPr/>
          <p:nvPr/>
        </p:nvSpPr>
        <p:spPr>
          <ns1:xfrm xmlns:ns1="http://schemas.openxmlformats.org/drawingml/2006/main">
            <ns1:off x="2897997" y="1376208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5" name="UML business-activity divider 35"/>
          <p:cNvSpPr/>
          <p:nvPr/>
        </p:nvSpPr>
        <p:spPr>
          <ns1:xfrm xmlns:ns1="http://schemas.openxmlformats.org/drawingml/2006/main">
            <ns1:off x="2928938" y="1832276"/>
            <ns1:ext cx="952" cy="1547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6" name="UML business-activity arrow 36"/>
          <p:cNvSpPr/>
          <p:nvPr/>
        </p:nvSpPr>
        <p:spPr>
          <ns1:xfrm xmlns:ns1="http://schemas.openxmlformats.org/drawingml/2006/main">
            <ns1:off x="2897997" y="1909628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7" name="UML business-activity divider 37"/>
          <p:cNvSpPr/>
          <p:nvPr/>
        </p:nvSpPr>
        <p:spPr>
          <ns1:xfrm xmlns:ns1="http://schemas.openxmlformats.org/drawingml/2006/main">
            <ns1:off x="2310121" y="2785160"/>
            <ns1:ext cx="21658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66700" h="952" fill="none" stroke="1" extrusionOk="0">
                <ns2:moveTo>
                  <ns2:pt x="26670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8" name="UML business-activity divider 38"/>
          <p:cNvSpPr/>
          <p:nvPr/>
        </p:nvSpPr>
        <p:spPr>
          <ns1:xfrm xmlns:ns1="http://schemas.openxmlformats.org/drawingml/2006/main">
            <ns1:off x="2310121" y="2785160"/>
            <ns1:ext cx="952" cy="2821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47472" fill="none" stroke="1" extrusionOk="0">
                <ns2:moveTo>
                  <ns2:pt x="0" y="0"/>
                </ns2:moveTo>
                <ns2:lnTo>
                  <ns2:pt x="0" y="347472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39" name="UML business-activity arrow 39"/>
          <p:cNvSpPr/>
          <p:nvPr/>
        </p:nvSpPr>
        <p:spPr>
          <ns1:xfrm xmlns:ns1="http://schemas.openxmlformats.org/drawingml/2006/main">
            <ns1:off x="2279180" y="2989989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0" name="UML business-activity divider 40"/>
          <p:cNvSpPr/>
          <p:nvPr/>
        </p:nvSpPr>
        <p:spPr>
          <ns1:xfrm xmlns:ns1="http://schemas.openxmlformats.org/drawingml/2006/main">
            <ns1:off x="3331168" y="2785160"/>
            <ns1:ext cx="21658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66700" h="952" fill="none" stroke="1" extrusionOk="0">
                <ns2:moveTo>
                  <ns2:pt x="0" y="0"/>
                </ns2:moveTo>
                <ns2:lnTo>
                  <ns2:pt x="2667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1" name="UML business-activity divider 41"/>
          <p:cNvSpPr/>
          <p:nvPr/>
        </p:nvSpPr>
        <p:spPr>
          <ns1:xfrm xmlns:ns1="http://schemas.openxmlformats.org/drawingml/2006/main">
            <ns1:off x="3547754" y="2785160"/>
            <ns1:ext cx="952" cy="2821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47472" fill="none" stroke="1" extrusionOk="0">
                <ns2:moveTo>
                  <ns2:pt x="0" y="0"/>
                </ns2:moveTo>
                <ns2:lnTo>
                  <ns2:pt x="0" y="347472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2" name="UML business-activity arrow 42"/>
          <p:cNvSpPr/>
          <p:nvPr/>
        </p:nvSpPr>
        <p:spPr>
          <ns1:xfrm xmlns:ns1="http://schemas.openxmlformats.org/drawingml/2006/main">
            <ns1:off x="3516813" y="2989989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3" name="UML business-activity divider 43"/>
          <p:cNvSpPr/>
          <p:nvPr/>
        </p:nvSpPr>
        <p:spPr>
          <ns1:xfrm xmlns:ns1="http://schemas.openxmlformats.org/drawingml/2006/main">
            <ns1:off x="2310121" y="3446056"/>
            <ns1:ext cx="952" cy="13923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71450" fill="none" stroke="1" extrusionOk="0">
                <ns2:moveTo>
                  <ns2:pt x="0" y="0"/>
                </ns2:moveTo>
                <ns2:lnTo>
                  <ns2:pt x="0" y="1714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4" name="UML business-activity divider 44"/>
          <p:cNvSpPr/>
          <p:nvPr/>
        </p:nvSpPr>
        <p:spPr>
          <ns1:xfrm xmlns:ns1="http://schemas.openxmlformats.org/drawingml/2006/main">
            <ns1:off x="2310121" y="3585290"/>
            <ns1:ext cx="52599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47700" h="952" fill="none" stroke="1" extrusionOk="0">
                <ns2:moveTo>
                  <ns2:pt x="0" y="0"/>
                </ns2:moveTo>
                <ns2:lnTo>
                  <ns2:pt x="6477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5" name="UML business-activity arrow 45"/>
          <p:cNvSpPr/>
          <p:nvPr/>
        </p:nvSpPr>
        <p:spPr>
          <ns1:xfrm xmlns:ns1="http://schemas.openxmlformats.org/drawingml/2006/main">
            <ns1:off x="2758763" y="3554349"/>
            <ns1:ext cx="77352" cy="618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6" name="UML business-activity divider 46"/>
          <p:cNvSpPr/>
          <p:nvPr/>
        </p:nvSpPr>
        <p:spPr>
          <ns1:xfrm xmlns:ns1="http://schemas.openxmlformats.org/drawingml/2006/main">
            <ns1:off x="3547754" y="3446056"/>
            <ns1:ext cx="952" cy="13923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71450" fill="none" stroke="1" extrusionOk="0">
                <ns2:moveTo>
                  <ns2:pt x="0" y="0"/>
                </ns2:moveTo>
                <ns2:lnTo>
                  <ns2:pt x="0" y="1714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7" name="UML business-activity divider 47"/>
          <p:cNvSpPr/>
          <p:nvPr/>
        </p:nvSpPr>
        <p:spPr>
          <ns1:xfrm xmlns:ns1="http://schemas.openxmlformats.org/drawingml/2006/main">
            <ns1:off x="3021760" y="3585290"/>
            <ns1:ext cx="52599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47700" h="952" fill="none" stroke="1" extrusionOk="0">
                <ns2:moveTo>
                  <ns2:pt x="64770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8" name="UML business-activity arrow 48"/>
          <p:cNvSpPr/>
          <p:nvPr/>
        </p:nvSpPr>
        <p:spPr>
          <ns1:xfrm xmlns:ns1="http://schemas.openxmlformats.org/drawingml/2006/main">
            <ns1:off x="3021760" y="3554349"/>
            <ns1:ext cx="77352" cy="618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lnTo>
                  <ns2:pt x="5715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49" name="UML business-activity divider 49"/>
          <p:cNvSpPr/>
          <p:nvPr/>
        </p:nvSpPr>
        <p:spPr>
          <ns1:xfrm xmlns:ns1="http://schemas.openxmlformats.org/drawingml/2006/main">
            <ns1:off x="2928938" y="2365696"/>
            <ns1:ext cx="952" cy="21463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64300" fill="none" stroke="1" extrusionOk="0">
                <ns2:moveTo>
                  <ns2:pt x="0" y="0"/>
                </ns2:moveTo>
                <ns2:lnTo>
                  <ns2:pt x="0" y="2643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50" name="UML business-activity arrow 50"/>
          <p:cNvSpPr/>
          <p:nvPr/>
        </p:nvSpPr>
        <p:spPr>
          <ns1:xfrm xmlns:ns1="http://schemas.openxmlformats.org/drawingml/2006/main">
            <ns1:off x="2897997" y="2502980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51" name="UML business-activity divider 51"/>
          <p:cNvSpPr/>
          <p:nvPr/>
        </p:nvSpPr>
        <p:spPr>
          <ns1:xfrm xmlns:ns1="http://schemas.openxmlformats.org/drawingml/2006/main">
            <ns1:off x="2928938" y="3678112"/>
            <ns1:ext cx="952" cy="1547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52" name="UML business-activity arrow 52"/>
          <p:cNvSpPr/>
          <p:nvPr/>
        </p:nvSpPr>
        <p:spPr>
          <ns1:xfrm xmlns:ns1="http://schemas.openxmlformats.org/drawingml/2006/main">
            <ns1:off x="2897997" y="3755464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53" name="UML business-activity divider 53"/>
          <p:cNvSpPr/>
          <p:nvPr/>
        </p:nvSpPr>
        <p:spPr>
          <ns1:xfrm xmlns:ns1="http://schemas.openxmlformats.org/drawingml/2006/main">
            <ns1:off x="2928938" y="4211532"/>
            <ns1:ext cx="952" cy="1547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54" name="UML business-activity arrow 54"/>
          <p:cNvSpPr/>
          <p:nvPr/>
        </p:nvSpPr>
        <p:spPr>
          <ns1:xfrm xmlns:ns1="http://schemas.openxmlformats.org/drawingml/2006/main">
            <ns1:off x="2897997" y="4288884"/>
            <ns1:ext cx="61882" cy="773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735">
            <ns4:solidFill>
              <ns4:srgbClr val="1F2A44"/>
            </ns4:solidFill>
          </ns4:ln>
        </p:spPr>
      </p:sp>
      <p:sp>
        <p:nvSpPr>
          <p:cNvPr id="7" name="content-119">
            <a:extLst xmlns:a="http://schemas.openxmlformats.org/drawingml/2006/main">
              <a:ext uri="{FF2B5EF4-FFF2-40B4-BE49-F238E27FC236}">
                <a16:creationId xmlns:a16="http://schemas.microsoft.com/office/drawing/2014/main" id="{E702CC3D-B3B5-4421-AAF6-D8EA7B81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8" name="content-120">
            <a:extLst xmlns:a="http://schemas.openxmlformats.org/drawingml/2006/main">
              <a:ext uri="{FF2B5EF4-FFF2-40B4-BE49-F238E27FC236}">
                <a16:creationId xmlns:a16="http://schemas.microsoft.com/office/drawing/2014/main" id="{FB050211-9852-46E9-83BD-CC632EF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已有待处理的选课记录。</a:t>
            </a:r>
          </a:p>
        </p:txBody>
      </p:sp>
      <p:sp>
        <p:nvSpPr>
          <p:cNvPr id="9" name="content-121">
            <a:extLst xmlns:a="http://schemas.openxmlformats.org/drawingml/2006/main">
              <a:ext uri="{FF2B5EF4-FFF2-40B4-BE49-F238E27FC236}">
                <a16:creationId xmlns:a16="http://schemas.microsoft.com/office/drawing/2014/main" id="{381D2273-978E-43F9-BD19-645FC29E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判断</a:t>
            </a:r>
          </a:p>
        </p:txBody>
      </p:sp>
      <p:sp>
        <p:nvSpPr>
          <p:cNvPr id="10" name="content-122">
            <a:extLst xmlns:a="http://schemas.openxmlformats.org/drawingml/2006/main">
              <a:ext uri="{FF2B5EF4-FFF2-40B4-BE49-F238E27FC236}">
                <a16:creationId xmlns:a16="http://schemas.microsoft.com/office/drawing/2014/main" id="{C7773C7A-BD77-41C3-90C4-2F857F10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依据同一开课班的余量。</a:t>
            </a:r>
          </a:p>
        </p:txBody>
      </p:sp>
      <p:sp>
        <p:nvSpPr>
          <p:cNvPr id="11" name="content-123">
            <a:extLst xmlns:a="http://schemas.openxmlformats.org/drawingml/2006/main">
              <a:ext uri="{FF2B5EF4-FFF2-40B4-BE49-F238E27FC236}">
                <a16:creationId xmlns:a16="http://schemas.microsoft.com/office/drawing/2014/main" id="{DF49DBEF-F362-4BEE-A34E-4903F76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输出</a:t>
            </a:r>
          </a:p>
        </p:txBody>
      </p:sp>
      <p:sp>
        <p:nvSpPr>
          <p:cNvPr id="12" name="content-124">
            <a:extLst xmlns:a="http://schemas.openxmlformats.org/drawingml/2006/main">
              <a:ext uri="{FF2B5EF4-FFF2-40B4-BE49-F238E27FC236}">
                <a16:creationId xmlns:a16="http://schemas.microsoft.com/office/drawing/2014/main" id="{96FC037C-77CD-495B-9188-F1CD77AF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登记办理结果并告知学生。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2F089-DA96-4E88-9D28-02EC23B81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97bfd51044810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125">
            <a:extLst xmlns:a="http://schemas.openxmlformats.org/drawingml/2006/main">
              <a:ext uri="{FF2B5EF4-FFF2-40B4-BE49-F238E27FC236}">
                <a16:creationId xmlns:a16="http://schemas.microsoft.com/office/drawing/2014/main" id="{1378E30E-3FC2-4F50-8481-B8D6F61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练习：业务规则、系统责任与设计</a:t>
            </a:r>
          </a:p>
        </p:txBody>
      </p:sp>
      <p:sp>
        <p:nvSpPr>
          <p:cNvPr id="2" name="frame-126">
            <a:extLst xmlns:a="http://schemas.openxmlformats.org/drawingml/2006/main">
              <a:ext uri="{FF2B5EF4-FFF2-40B4-BE49-F238E27FC236}">
                <a16:creationId xmlns:a16="http://schemas.microsoft.com/office/drawing/2014/main" id="{638F6794-A941-411F-9153-2F2E7790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27">
            <a:extLst xmlns:a="http://schemas.openxmlformats.org/drawingml/2006/main">
              <a:ext uri="{FF2B5EF4-FFF2-40B4-BE49-F238E27FC236}">
                <a16:creationId xmlns:a16="http://schemas.microsoft.com/office/drawing/2014/main" id="{4B246E86-78DF-4B32-82A4-A38D1872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014804A-4B22-4369-B3FF-08F7B75F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75A03BC-4AA3-4CB3-9C5E-8C08B03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13 / 82</a:t>
            </a:r>
          </a:p>
        </p:txBody>
      </p:sp>
      <p:sp>
        <p:nvSpPr>
          <p:cNvPr id="6" name="content-128">
            <a:extLst xmlns:a="http://schemas.openxmlformats.org/drawingml/2006/main">
              <a:ext uri="{FF2B5EF4-FFF2-40B4-BE49-F238E27FC236}">
                <a16:creationId xmlns:a16="http://schemas.microsoft.com/office/drawing/2014/main" id="{E05F8870-EB8A-4F48-8F8A-50AF203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表述A</a:t>
            </a:r>
          </a:p>
        </p:txBody>
      </p:sp>
      <p:sp>
        <p:nvSpPr>
          <p:cNvPr id="7" name="content-129">
            <a:extLst xmlns:a="http://schemas.openxmlformats.org/drawingml/2006/main">
              <a:ext uri="{FF2B5EF4-FFF2-40B4-BE49-F238E27FC236}">
                <a16:creationId xmlns:a16="http://schemas.microsoft.com/office/drawing/2014/main" id="{4B5DB090-B1E8-4EB1-9640-9FAD0D6D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余量为0时拒绝选课，办理记录保留。</a:t>
            </a:r>
          </a:p>
        </p:txBody>
      </p:sp>
      <p:sp>
        <p:nvSpPr>
          <p:cNvPr id="8" name="frame-130">
            <a:extLst xmlns:a="http://schemas.openxmlformats.org/drawingml/2006/main">
              <a:ext uri="{FF2B5EF4-FFF2-40B4-BE49-F238E27FC236}">
                <a16:creationId xmlns:a16="http://schemas.microsoft.com/office/drawing/2014/main" id="{0ADC3599-EC5A-4111-972F-1ECDCEC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31">
            <a:extLst xmlns:a="http://schemas.openxmlformats.org/drawingml/2006/main">
              <a:ext uri="{FF2B5EF4-FFF2-40B4-BE49-F238E27FC236}">
                <a16:creationId xmlns:a16="http://schemas.microsoft.com/office/drawing/2014/main" id="{CE37D21B-77EE-4DB7-BD4C-3547365E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表述B</a:t>
            </a:r>
          </a:p>
        </p:txBody>
      </p:sp>
      <p:sp>
        <p:nvSpPr>
          <p:cNvPr id="10" name="content-132">
            <a:extLst xmlns:a="http://schemas.openxmlformats.org/drawingml/2006/main">
              <a:ext uri="{FF2B5EF4-FFF2-40B4-BE49-F238E27FC236}">
                <a16:creationId xmlns:a16="http://schemas.microsoft.com/office/drawing/2014/main" id="{BB8B349F-5923-4C26-9319-19F1BDF3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系统保存处理结果，并向学生反馈结果。</a:t>
            </a:r>
          </a:p>
        </p:txBody>
      </p:sp>
      <p:sp>
        <p:nvSpPr>
          <p:cNvPr id="11" name="frame-133">
            <a:extLst xmlns:a="http://schemas.openxmlformats.org/drawingml/2006/main">
              <a:ext uri="{FF2B5EF4-FFF2-40B4-BE49-F238E27FC236}">
                <a16:creationId xmlns:a16="http://schemas.microsoft.com/office/drawing/2014/main" id="{F6876466-6D44-4B7F-8D19-284725B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34">
            <a:extLst xmlns:a="http://schemas.openxmlformats.org/drawingml/2006/main">
              <a:ext uri="{FF2B5EF4-FFF2-40B4-BE49-F238E27FC236}">
                <a16:creationId xmlns:a16="http://schemas.microsoft.com/office/drawing/2014/main" id="{D3B9108F-96E0-4C9A-BBDD-548ED710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表述C</a:t>
            </a:r>
          </a:p>
        </p:txBody>
      </p:sp>
      <p:sp>
        <p:nvSpPr>
          <p:cNvPr id="13" name="content-135">
            <a:extLst xmlns:a="http://schemas.openxmlformats.org/drawingml/2006/main">
              <a:ext uri="{FF2B5EF4-FFF2-40B4-BE49-F238E27FC236}">
                <a16:creationId xmlns:a16="http://schemas.microsoft.com/office/drawing/2014/main" id="{6FB85E81-452E-4F8E-85D4-3D9618C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处理服务调用记录存储接口的save(e)操作。</a:t>
            </a:r>
          </a:p>
        </p:txBody>
      </p:sp>
      <p:sp>
        <p:nvSpPr>
          <p:cNvPr id="14" name="content-136">
            <a:extLst xmlns:a="http://schemas.openxmlformats.org/drawingml/2006/main">
              <a:ext uri="{FF2B5EF4-FFF2-40B4-BE49-F238E27FC236}">
                <a16:creationId xmlns:a16="http://schemas.microsoft.com/office/drawing/2014/main" id="{5DDD7C11-63E8-4962-AE00-7B29A04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哪句规定业务规则？哪句说明软件责任？哪句已涉及实现方案？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99B9D-CBD2-4796-B49B-A1732AD0D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dee3b0ef94aa3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137">
            <a:extLst xmlns:a="http://schemas.openxmlformats.org/drawingml/2006/main">
              <a:ext uri="{FF2B5EF4-FFF2-40B4-BE49-F238E27FC236}">
                <a16:creationId xmlns:a16="http://schemas.microsoft.com/office/drawing/2014/main" id="{0DA9B352-F436-4964-908F-A6F9890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参考：三种表述的区别</a:t>
            </a:r>
          </a:p>
        </p:txBody>
      </p:sp>
      <p:sp>
        <p:nvSpPr>
          <p:cNvPr id="2" name="frame-138">
            <a:extLst xmlns:a="http://schemas.openxmlformats.org/drawingml/2006/main">
              <a:ext uri="{FF2B5EF4-FFF2-40B4-BE49-F238E27FC236}">
                <a16:creationId xmlns:a16="http://schemas.microsoft.com/office/drawing/2014/main" id="{70AB0E5C-A201-433F-B1BF-E03758B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39">
            <a:extLst xmlns:a="http://schemas.openxmlformats.org/drawingml/2006/main">
              <a:ext uri="{FF2B5EF4-FFF2-40B4-BE49-F238E27FC236}">
                <a16:creationId xmlns:a16="http://schemas.microsoft.com/office/drawing/2014/main" id="{CD929FA3-A66F-4725-96FC-51FAC5F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8A7059D-98A6-4CB9-9A9F-6669469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EDDFBBF-7B2D-430F-A765-9090C7E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14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E2CC4-2E8E-4FB5-B470-2808636D732B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952625"/>
                <a:gridCol w="35242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表述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主要关注点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后续如何使用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 余量为0时拒绝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业务规则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规约、状态与交互均应遵守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 保存并反馈结果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系统责任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作为完成条件，检查内部协作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 调用save(e)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设计方案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解释怎样满足保存结果的责任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140">
            <a:extLst xmlns:a="http://schemas.openxmlformats.org/drawingml/2006/main">
              <a:ext uri="{FF2B5EF4-FFF2-40B4-BE49-F238E27FC236}">
                <a16:creationId xmlns:a16="http://schemas.microsoft.com/office/drawing/2014/main" id="{0E273CD1-CA31-4A86-811C-C0902FD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保存方式可以改变；无余量时拒绝、保留记录等要求仍然有效。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D24C3-9EA3-4936-92FF-F724267A7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d3d3178f1487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141">
            <a:extLst xmlns:a="http://schemas.openxmlformats.org/drawingml/2006/main">
              <a:ext uri="{FF2B5EF4-FFF2-40B4-BE49-F238E27FC236}">
                <a16:creationId xmlns:a16="http://schemas.microsoft.com/office/drawing/2014/main" id="{3AC28A3F-07EF-4B38-AD0A-3E9397DA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选课系统用例</a:t>
            </a:r>
          </a:p>
        </p:txBody>
      </p:sp>
      <p:sp>
        <p:nvSpPr>
          <p:cNvPr id="2" name="frame-142">
            <a:extLst xmlns:a="http://schemas.openxmlformats.org/drawingml/2006/main">
              <a:ext uri="{FF2B5EF4-FFF2-40B4-BE49-F238E27FC236}">
                <a16:creationId xmlns:a16="http://schemas.microsoft.com/office/drawing/2014/main" id="{F2911508-A315-4463-B50E-E8239C7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43">
            <a:extLst xmlns:a="http://schemas.openxmlformats.org/drawingml/2006/main">
              <a:ext uri="{FF2B5EF4-FFF2-40B4-BE49-F238E27FC236}">
                <a16:creationId xmlns:a16="http://schemas.microsoft.com/office/drawing/2014/main" id="{8A1F9EDC-4963-4B90-9CFF-8C6B74D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6EE0DCC-F0F7-466A-AEC2-48C612E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49A1F67-B976-452B-9A1C-C35CA92A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15 / 82</a:t>
            </a:r>
          </a:p>
        </p:txBody>
      </p:sp>
      <p:sp>
        <p:nvSpPr>
          <p:cNvPr id="10" name="UML system-usecase box 10"/>
          <p:cNvSpPr/>
          <p:nvPr/>
        </p:nvSpPr>
        <p:spPr>
          <ns1:xfrm xmlns:ns1="http://schemas.openxmlformats.org/drawingml/2006/main">
            <ns1:off x="3652421" y="1150560"/>
            <ns1:ext cx="2467441" cy="289010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11" name="UML system-usecase label 11"/>
          <p:cNvSpPr/>
          <p:nvPr/>
        </p:nvSpPr>
        <p:spPr>
          <ns1:xfrm xmlns:ns1="http://schemas.openxmlformats.org/drawingml/2006/main">
            <ns1:off x="3739810" y="1191684"/>
            <ns1:ext cx="2364631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选课系统（当前范围）</ns7:t>
            </ns7:r>
            <ns7:endParaRPr lang="zh-CN" sz="1799"/>
          </ns7:p>
        </p:txBody>
      </p:sp>
      <p:sp>
        <p:nvSpPr>
          <p:cNvPr id="12" name="UML system-usecase anchor 12"/>
          <p:cNvSpPr/>
          <p:nvPr/>
        </p:nvSpPr>
        <p:spPr>
          <ns1:xfrm xmlns:ns1="http://schemas.openxmlformats.org/drawingml/2006/main">
            <ns1:off x="3104101" y="2327164"/>
            <ns1:ext cx="182773" cy="182773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13" name="UML system-usecase connection 13"/>
          <p:cNvSpPr/>
          <p:nvPr/>
        </p:nvSpPr>
        <p:spPr>
          <ns1:xfrm xmlns:ns1="http://schemas.openxmlformats.org/drawingml/2006/main">
            <ns1:off x="3046984" y="2509937"/>
            <ns1:ext cx="297007" cy="4797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7650" h="400050" fill="none" stroke="1" extrusionOk="0">
                <ns2:moveTo>
                  <ns2:pt x="123825" y="0"/>
                </ns2:moveTo>
                <ns2:lnTo>
                  <ns2:pt x="123825" y="257175"/>
                </ns2:lnTo>
                <ns2:moveTo>
                  <ns2:pt x="0" y="76200"/>
                </ns2:moveTo>
                <ns2:lnTo>
                  <ns2:pt x="247650" y="76200"/>
                </ns2:lnTo>
                <ns2:moveTo>
                  <ns2:pt x="123825" y="257175"/>
                </ns2:moveTo>
                <ns2:lnTo>
                  <ns2:pt x="0" y="400050"/>
                </ns2:lnTo>
                <ns2:moveTo>
                  <ns2:pt x="123825" y="257175"/>
                </ns2:moveTo>
                <ns2:lnTo>
                  <ns2:pt x="247650" y="4000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14" name="UML system-usecase label 14"/>
          <p:cNvSpPr/>
          <p:nvPr/>
        </p:nvSpPr>
        <p:spPr>
          <ns1:xfrm xmlns:ns1="http://schemas.openxmlformats.org/drawingml/2006/main">
            <ns1:off x="2963023" y="3030842"/>
            <ns1:ext cx="536897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学生</ns7:t>
            </ns7:r>
            <ns7:endParaRPr lang="zh-CN" sz="1799"/>
          </ns7:p>
        </p:txBody>
      </p:sp>
      <p:sp>
        <p:nvSpPr>
          <p:cNvPr id="15" name="UML system-usecase anchor 15"/>
          <p:cNvSpPr/>
          <p:nvPr/>
        </p:nvSpPr>
        <p:spPr>
          <ns1:xfrm xmlns:ns1="http://schemas.openxmlformats.org/drawingml/2006/main">
            <ns1:off x="4246435" y="1784555"/>
            <ns1:ext cx="1282201" cy="947223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16" name="UML system-usecase label 16"/>
          <p:cNvSpPr/>
          <p:nvPr/>
        </p:nvSpPr>
        <p:spPr>
          <ns1:xfrm xmlns:ns1="http://schemas.openxmlformats.org/drawingml/2006/main">
            <ns1:off x="4561856" y="1929723"/>
            <ns1:ext cx="723326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UC-01</ns7:t>
            </ns7:r>
            <ns7:endParaRPr lang="zh-CN" sz="1799"/>
          </ns7:p>
        </p:txBody>
      </p:sp>
      <p:sp>
        <p:nvSpPr>
          <p:cNvPr id="17" name="UML system-usecase label 17"/>
          <p:cNvSpPr/>
          <p:nvPr/>
        </p:nvSpPr>
        <p:spPr>
          <ns1:xfrm xmlns:ns1="http://schemas.openxmlformats.org/drawingml/2006/main">
            <ns1:off x="4426604" y="2260543"/>
            <ns1:ext cx="993831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处理选课</ns7:t>
            </ns7:r>
            <ns7:endParaRPr lang="zh-CN" sz="1799"/>
          </ns7:p>
        </p:txBody>
      </p:sp>
      <p:sp>
        <p:nvSpPr>
          <p:cNvPr id="18" name="UML system-usecase anchor 18"/>
          <p:cNvSpPr/>
          <p:nvPr/>
        </p:nvSpPr>
        <p:spPr>
          <ns1:xfrm xmlns:ns1="http://schemas.openxmlformats.org/drawingml/2006/main">
            <ns1:off x="3972275" y="2944024"/>
            <ns1:ext cx="1828374" cy="917957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19" name="UML system-usecase label 19"/>
          <p:cNvSpPr/>
          <p:nvPr/>
        </p:nvSpPr>
        <p:spPr>
          <ns1:xfrm xmlns:ns1="http://schemas.openxmlformats.org/drawingml/2006/main">
            <ns1:off x="4560782" y="3051792"/>
            <ns1:ext cx="723326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UC-02</ns7:t>
            </ns7:r>
            <ns7:endParaRPr lang="zh-CN" sz="1799"/>
          </ns7:p>
        </p:txBody>
      </p:sp>
      <p:sp>
        <p:nvSpPr>
          <p:cNvPr id="20" name="UML system-usecase label 20"/>
          <p:cNvSpPr/>
          <p:nvPr/>
        </p:nvSpPr>
        <p:spPr>
          <ns1:xfrm xmlns:ns1="http://schemas.openxmlformats.org/drawingml/2006/main">
            <ns1:off x="4197063" y="3382612"/>
            <ns1:ext cx="1450764" cy="33356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42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99" dirty="0">
                <ns7:solidFill>
                  <ns7:srgbClr val="000000"/>
                </ns7:solidFill>
                <ns7:latin typeface="Noto Sans SC"/>
                <ns7:ea typeface="Noto Sans SC"/>
              </ns7:rPr>
              <ns7:t>查询选课结果</ns7:t>
            </ns7:r>
            <ns7:endParaRPr lang="zh-CN" sz="1799"/>
          </ns7:p>
        </p:txBody>
      </p:sp>
      <p:sp>
        <p:nvSpPr>
          <p:cNvPr id="21" name="UML system-usecase connection 21"/>
          <p:cNvSpPr/>
          <p:nvPr/>
        </p:nvSpPr>
        <p:spPr>
          <ns1:xfrm xmlns:ns1="http://schemas.openxmlformats.org/drawingml/2006/main">
            <ns1:off x="3424948" y="2456065"/>
            <ns1:ext cx="880134" cy="2990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33873" h="249355" fill="none" stroke="1" extrusionOk="0">
                <ns2:moveTo>
                  <ns2:pt x="0" y="249355"/>
                </ns2:moveTo>
                <ns2:lnTo>
                  <ns2:pt x="73387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22" name="UML system-usecase connection 22"/>
          <p:cNvSpPr/>
          <p:nvPr/>
        </p:nvSpPr>
        <p:spPr>
          <ns1:xfrm xmlns:ns1="http://schemas.openxmlformats.org/drawingml/2006/main">
            <ns1:off x="3424948" y="2904465"/>
            <ns1:ext cx="705345" cy="24059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88131" h="200616" fill="none" stroke="1" extrusionOk="0">
                <ns2:moveTo>
                  <ns2:pt x="0" y="0"/>
                </ns2:moveTo>
                <ns2:lnTo>
                  <ns2:pt x="588131" y="200616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423">
            <ns4:solidFill>
              <ns4:srgbClr val="1F2A44"/>
            </ns4:solidFill>
          </ns4:ln>
        </p:spPr>
      </p:sp>
      <p:sp>
        <p:nvSpPr>
          <p:cNvPr id="7" name="content-144">
            <a:extLst xmlns:a="http://schemas.openxmlformats.org/drawingml/2006/main">
              <a:ext uri="{FF2B5EF4-FFF2-40B4-BE49-F238E27FC236}">
                <a16:creationId xmlns:a16="http://schemas.microsoft.com/office/drawing/2014/main" id="{EA8E1D8F-A9CC-4B25-A6F0-ED5969E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边界是选课软件；UC-01处理已有记录，UC-02仅列范围。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8720D-D54B-4F77-B335-FF5F68601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a145bced54bf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145">
            <a:extLst xmlns:a="http://schemas.openxmlformats.org/drawingml/2006/main">
              <a:ext uri="{FF2B5EF4-FFF2-40B4-BE49-F238E27FC236}">
                <a16:creationId xmlns:a16="http://schemas.microsoft.com/office/drawing/2014/main" id="{01460754-26B2-4F80-95BF-55E8EEC1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UC-01：处理已有选课记录</a:t>
            </a:r>
          </a:p>
        </p:txBody>
      </p:sp>
      <p:sp>
        <p:nvSpPr>
          <p:cNvPr id="2" name="frame-146">
            <a:extLst xmlns:a="http://schemas.openxmlformats.org/drawingml/2006/main">
              <a:ext uri="{FF2B5EF4-FFF2-40B4-BE49-F238E27FC236}">
                <a16:creationId xmlns:a16="http://schemas.microsoft.com/office/drawing/2014/main" id="{1CF820EB-036E-4299-B457-7E41F60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47">
            <a:extLst xmlns:a="http://schemas.openxmlformats.org/drawingml/2006/main">
              <a:ext uri="{FF2B5EF4-FFF2-40B4-BE49-F238E27FC236}">
                <a16:creationId xmlns:a16="http://schemas.microsoft.com/office/drawing/2014/main" id="{DC81A67F-6695-4845-973B-33194AC5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39FC48F-591C-4032-BCED-A911E11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909071F-CF0F-47C2-AFAD-45E8A5CE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16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F11D8-EC13-4971-8118-B455E170FD90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6429375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约定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参与者与目标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学生；获得一条已有选课记录的处理结果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前置条件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身份与归属已核验；e为待处理；余量为非负整数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基本流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余量大于0时确认记录，保存后返回已确认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备选流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余量为0时拒绝记录，保存后返回已拒绝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后置条件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e变为已确认或已拒绝；本次结果已保存，记录保留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148">
            <a:extLst xmlns:a="http://schemas.openxmlformats.org/drawingml/2006/main">
              <a:ext uri="{FF2B5EF4-FFF2-40B4-BE49-F238E27FC236}">
                <a16:creationId xmlns:a16="http://schemas.microsoft.com/office/drawing/2014/main" id="{98E10C6F-3009-453E-B121-8B7D11D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技术故障的处理方式待确认；不等同于业务拒绝。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7EB52-0FA6-45FD-A52E-02126C2C3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5331efefe49e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149">
            <a:extLst xmlns:a="http://schemas.openxmlformats.org/drawingml/2006/main">
              <a:ext uri="{FF2B5EF4-FFF2-40B4-BE49-F238E27FC236}">
                <a16:creationId xmlns:a16="http://schemas.microsoft.com/office/drawing/2014/main" id="{D228F866-0A7B-4209-BD56-B8BE8C86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系统顺序图：请求与结果</a:t>
            </a:r>
          </a:p>
        </p:txBody>
      </p:sp>
      <p:sp>
        <p:nvSpPr>
          <p:cNvPr id="2" name="frame-150">
            <a:extLst xmlns:a="http://schemas.openxmlformats.org/drawingml/2006/main">
              <a:ext uri="{FF2B5EF4-FFF2-40B4-BE49-F238E27FC236}">
                <a16:creationId xmlns:a16="http://schemas.microsoft.com/office/drawing/2014/main" id="{5F6FB1A1-1079-44AC-A004-475546D8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51">
            <a:extLst xmlns:a="http://schemas.openxmlformats.org/drawingml/2006/main">
              <a:ext uri="{FF2B5EF4-FFF2-40B4-BE49-F238E27FC236}">
                <a16:creationId xmlns:a16="http://schemas.microsoft.com/office/drawing/2014/main" id="{FA2BD7EE-D5E5-43E7-8CDB-15AC241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6425266-DC31-4367-8D49-02BF26F3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9FDDE0A-615E-45A6-B98B-AC77B561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17 / 82</a:t>
            </a:r>
          </a:p>
        </p:txBody>
      </p:sp>
      <p:sp>
        <p:nvSpPr>
          <p:cNvPr id="10" name="UML system-sequence box 10"/>
          <p:cNvSpPr/>
          <p:nvPr/>
        </p:nvSpPr>
        <p:spPr>
          <ns1:xfrm xmlns:ns1="http://schemas.openxmlformats.org/drawingml/2006/main">
            <ns1:off x="2901650" y="2460157"/>
            <ns1:ext cx="2074363" cy="153793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FFFFFF"/>
            </ns4:solidFill>
          </ns4:ln>
        </p:spPr>
      </p:sp>
      <p:sp>
        <p:nvSpPr>
          <p:cNvPr id="11" name="UML system-sequence box 11"/>
          <p:cNvSpPr/>
          <p:nvPr/>
        </p:nvSpPr>
        <p:spPr>
          <ns1:xfrm xmlns:ns1="http://schemas.openxmlformats.org/drawingml/2006/main">
            <ns1:off x="2901650" y="2460157"/>
            <ns1:ext cx="2074363" cy="153793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2" name="UML system-sequence box 12"/>
          <p:cNvSpPr/>
          <p:nvPr/>
        </p:nvSpPr>
        <p:spPr>
          <ns1:xfrm xmlns:ns1="http://schemas.openxmlformats.org/drawingml/2006/main">
            <ns1:off x="3016688" y="1967685"/>
            <ns1:ext cx="73624" cy="225128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</p:sp>
      <p:sp>
        <p:nvSpPr>
          <p:cNvPr id="13" name="UML system-sequence divider 13"/>
          <p:cNvSpPr/>
          <p:nvPr/>
        </p:nvSpPr>
        <p:spPr>
          <ns1:xfrm xmlns:ns1="http://schemas.openxmlformats.org/drawingml/2006/main">
            <ns1:off x="3048899" y="1967685"/>
            <ns1:ext cx="952" cy="22512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330044" fill="none" stroke="1" extrusionOk="0">
                <ns2:moveTo>
                  <ns2:pt x="0" y="0"/>
                </ns2:moveTo>
                <ns2:lnTo>
                  <ns2:pt x="0" y="2330044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697487"/>
            </ns4:solidFill>
            <ns4:prstDash val="dash"/>
          </ns4:ln>
        </p:spPr>
      </p:sp>
      <p:sp>
        <p:nvSpPr>
          <p:cNvPr id="14" name="UML system-sequence box 14"/>
          <p:cNvSpPr/>
          <p:nvPr/>
        </p:nvSpPr>
        <p:spPr>
          <ns1:xfrm xmlns:ns1="http://schemas.openxmlformats.org/drawingml/2006/main">
            <ns1:off x="4796554" y="1967685"/>
            <ns1:ext cx="73624" cy="225128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</p:sp>
      <p:sp>
        <p:nvSpPr>
          <p:cNvPr id="15" name="UML system-sequence divider 15"/>
          <p:cNvSpPr/>
          <p:nvPr/>
        </p:nvSpPr>
        <p:spPr>
          <ns1:xfrm xmlns:ns1="http://schemas.openxmlformats.org/drawingml/2006/main">
            <ns1:off x="4828764" y="1967685"/>
            <ns1:ext cx="952" cy="22512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330044" fill="none" stroke="1" extrusionOk="0">
                <ns2:moveTo>
                  <ns2:pt x="0" y="0"/>
                </ns2:moveTo>
                <ns2:lnTo>
                  <ns2:pt x="0" y="2330044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697487"/>
            </ns4:solidFill>
            <ns4:prstDash val="dash"/>
          </ns4:ln>
        </p:spPr>
      </p:sp>
      <p:sp>
        <p:nvSpPr>
          <p:cNvPr id="16" name="UML system-sequence box 16"/>
          <p:cNvSpPr/>
          <p:nvPr/>
        </p:nvSpPr>
        <p:spPr>
          <ns1:xfrm xmlns:ns1="http://schemas.openxmlformats.org/drawingml/2006/main">
            <ns1:off x="4782749" y="2349721"/>
            <ns1:ext cx="92030" cy="177721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000000"/>
            </ns4:solidFill>
          </ns4:ln>
        </p:spPr>
      </p:sp>
      <p:sp>
        <p:nvSpPr>
          <p:cNvPr id="17" name="UML system-sequence label 17"/>
          <p:cNvSpPr/>
          <p:nvPr/>
        </p:nvSpPr>
        <p:spPr>
          <ns1:xfrm xmlns:ns1="http://schemas.openxmlformats.org/drawingml/2006/main">
            <ns1:off x="2834008" y="1715890"/>
            <ns1:ext cx="432542" cy="2687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49" dirty="0">
                <ns7:solidFill>
                  <ns7:srgbClr val="000000"/>
                </ns7:solidFill>
                <ns7:latin typeface="Noto Sans SC"/>
                <ns7:ea typeface="Noto Sans SC"/>
              </ns7:rPr>
              <ns7:t>学生</ns7:t>
            </ns7:r>
            <ns7:endParaRPr lang="zh-CN" sz="1449"/>
          </ns7:p>
        </p:txBody>
      </p:sp>
      <p:sp>
        <p:nvSpPr>
          <p:cNvPr id="18" name="UML system-sequence anchor 18"/>
          <p:cNvSpPr/>
          <p:nvPr/>
        </p:nvSpPr>
        <p:spPr>
          <ns1:xfrm xmlns:ns1="http://schemas.openxmlformats.org/drawingml/2006/main">
            <ns1:off x="2975275" y="1148983"/>
            <ns1:ext cx="147248" cy="147248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9" name="UML system-sequence connection 19"/>
          <p:cNvSpPr/>
          <p:nvPr/>
        </p:nvSpPr>
        <p:spPr>
          <ns1:xfrm xmlns:ns1="http://schemas.openxmlformats.org/drawingml/2006/main">
            <ns1:off x="2929259" y="1296232"/>
            <ns1:ext cx="239279" cy="38652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7650" h="400050" fill="none" stroke="1" extrusionOk="0">
                <ns2:moveTo>
                  <ns2:pt x="123825" y="0"/>
                </ns2:moveTo>
                <ns2:lnTo>
                  <ns2:pt x="123825" y="257175"/>
                </ns2:lnTo>
                <ns2:moveTo>
                  <ns2:pt x="0" y="76200"/>
                </ns2:moveTo>
                <ns2:lnTo>
                  <ns2:pt x="247650" y="76200"/>
                </ns2:lnTo>
                <ns2:moveTo>
                  <ns2:pt x="123825" y="257175"/>
                </ns2:moveTo>
                <ns2:lnTo>
                  <ns2:pt x="0" y="400050"/>
                </ns2:lnTo>
                <ns2:moveTo>
                  <ns2:pt x="123825" y="257175"/>
                </ns2:moveTo>
                <ns2:lnTo>
                  <ns2:pt x="247650" y="4000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0" name="UML system-sequence box 20"/>
          <p:cNvSpPr/>
          <p:nvPr/>
        </p:nvSpPr>
        <p:spPr>
          <ns1:xfrm xmlns:ns1="http://schemas.openxmlformats.org/drawingml/2006/main">
            <ns1:off x="3444629" y="1553917"/>
            <ns1:ext cx="2768271" cy="35855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1" name="UML system-sequence label 21"/>
          <p:cNvSpPr/>
          <p:nvPr/>
        </p:nvSpPr>
        <p:spPr>
          <ns1:xfrm xmlns:ns1="http://schemas.openxmlformats.org/drawingml/2006/main">
            <ns1:off x="4085620" y="1614657"/>
            <ns1:ext cx="1544268" cy="2687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49" dirty="0">
                <ns7:solidFill>
                  <ns7:srgbClr val="000000"/>
                </ns7:solidFill>
                <ns7:latin typeface="Noto Sans SC"/>
                <ns7:ea typeface="Noto Sans SC"/>
              </ns7:rPr>
              <ns7:t>system : 选课系统</ns7:t>
            </ns7:r>
            <ns7:endParaRPr lang="zh-CN" sz="1449"/>
          </ns7:p>
        </p:txBody>
      </p:sp>
      <p:sp>
        <p:nvSpPr>
          <p:cNvPr id="22" name="UML system-sequence arrow 22"/>
          <p:cNvSpPr/>
          <p:nvPr/>
        </p:nvSpPr>
        <p:spPr>
          <ns1:xfrm xmlns:ns1="http://schemas.openxmlformats.org/drawingml/2006/main">
            <ns1:off x="4672313" y="2312909"/>
            <ns1:ext cx="92030" cy="73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3" name="UML system-sequence divider 23"/>
          <p:cNvSpPr/>
          <p:nvPr/>
        </p:nvSpPr>
        <p:spPr>
          <ns1:xfrm xmlns:ns1="http://schemas.openxmlformats.org/drawingml/2006/main">
            <ns1:off x="3048899" y="2349721"/>
            <ns1:ext cx="167863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37360" h="952" fill="none" stroke="1" extrusionOk="0">
                <ns2:moveTo>
                  <ns2:pt x="0" y="0"/>
                </ns2:moveTo>
                <ns2:lnTo>
                  <ns2:pt x="173736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4" name="UML system-sequence label 24"/>
          <p:cNvSpPr/>
          <p:nvPr/>
        </p:nvSpPr>
        <p:spPr>
          <ns1:xfrm xmlns:ns1="http://schemas.openxmlformats.org/drawingml/2006/main">
            <ns1:off x="3409280" y="2092110"/>
            <ns1:ext cx="1067855" cy="25529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77" dirty="0">
                <ns7:solidFill>
                  <ns7:srgbClr val="1F2A44"/>
                </ns7:solidFill>
                <ns7:latin typeface="Noto Sans SC"/>
                <ns7:ea typeface="Noto Sans SC"/>
              </ns7:rPr>
              <ns7:t>process(eId)</ns7:t>
            </ns7:r>
            <ns7:endParaRPr lang="zh-CN" sz="1377"/>
          </ns7:p>
        </p:txBody>
      </p:sp>
      <p:sp>
        <p:nvSpPr>
          <p:cNvPr id="25" name="UML system-sequence connection 25"/>
          <p:cNvSpPr/>
          <p:nvPr/>
        </p:nvSpPr>
        <p:spPr>
          <ns1:xfrm xmlns:ns1="http://schemas.openxmlformats.org/drawingml/2006/main">
            <ns1:off x="2901650" y="2460157"/>
            <ns1:ext cx="639426" cy="28492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61797" h="294894" fill="norm" stroke="1" extrusionOk="0">
                <ns2:moveTo>
                  <ns2:pt x="0" y="0"/>
                </ns2:moveTo>
                <ns2:lnTo>
                  <ns2:pt x="661797" y="0"/>
                </ns2:lnTo>
                <ns2:lnTo>
                  <ns2:pt x="661797" y="199644"/>
                </ns2:lnTo>
                <ns2:lnTo>
                  <ns2:pt x="566547" y="294894"/>
                </ns2:lnTo>
                <ns2:lnTo>
                  <ns2:pt x="0" y="294894"/>
                </ns2:lnTo>
                <ns2:lnTo>
                  <ns2:pt x="0" y="0"/>
                </ns2:lnTo>
              </ns2:path>
            </ns2:pathLst>
          </ns2:custGeom>
          <ns3:solidFill xmlns:ns3="http://schemas.openxmlformats.org/drawingml/2006/main">
            <ns3:srgbClr val="F7F2E9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6" name="UML system-sequence box 26"/>
          <p:cNvSpPr/>
          <p:nvPr/>
        </p:nvSpPr>
        <p:spPr>
          <ns1:xfrm xmlns:ns1="http://schemas.openxmlformats.org/drawingml/2006/main">
            <ns1:off x="2901650" y="2460157"/>
            <ns1:ext cx="2074363" cy="153793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7" name="UML system-sequence label 27"/>
          <p:cNvSpPr/>
          <p:nvPr/>
        </p:nvSpPr>
        <p:spPr>
          <ns1:xfrm xmlns:ns1="http://schemas.openxmlformats.org/drawingml/2006/main">
            <ns1:off x="3036475" y="2484085"/>
            <ns1:ext cx="289711" cy="2687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49" dirty="0">
                <ns7:solidFill>
                  <ns7:srgbClr val="000000"/>
                </ns7:solidFill>
                <ns7:latin typeface="Noto Sans SC"/>
                <ns7:ea typeface="Noto Sans SC"/>
              </ns7:rPr>
              <ns7:t>alt</ns7:t>
            </ns7:r>
            <ns7:endParaRPr lang="zh-CN" sz="1449"/>
          </ns7:p>
        </p:txBody>
      </p:sp>
      <p:sp>
        <p:nvSpPr>
          <p:cNvPr id="28" name="UML system-sequence label 28"/>
          <p:cNvSpPr/>
          <p:nvPr/>
        </p:nvSpPr>
        <p:spPr>
          <ns1:xfrm xmlns:ns1="http://schemas.openxmlformats.org/drawingml/2006/main">
            <ns1:off x="3675901" y="2491816"/>
            <ns1:ext cx="759360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000000"/>
                </ns7:solidFill>
                <ns7:latin typeface="Noto Sans SC"/>
                <ns7:ea typeface="Noto Sans SC"/>
              </ns7:rPr>
              <ns7:t>[余量 &gt; 0]</ns7:t>
            </ns7:r>
            <ns7:endParaRPr lang="zh-CN" sz="1304"/>
          </ns7:p>
        </p:txBody>
      </p:sp>
      <p:sp>
        <p:nvSpPr>
          <p:cNvPr id="29" name="UML system-sequence arrow 29"/>
          <p:cNvSpPr/>
          <p:nvPr/>
        </p:nvSpPr>
        <p:spPr>
          <ns1:xfrm xmlns:ns1="http://schemas.openxmlformats.org/drawingml/2006/main">
            <ns1:off x="3058102" y="3210535"/>
            <ns1:ext cx="92030" cy="73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0" name="UML system-sequence divider 30"/>
          <p:cNvSpPr/>
          <p:nvPr/>
        </p:nvSpPr>
        <p:spPr>
          <ns1:xfrm xmlns:ns1="http://schemas.openxmlformats.org/drawingml/2006/main">
            <ns1:off x="3094914" y="3247347"/>
            <ns1:ext cx="167863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37360" h="952" fill="none" stroke="1" extrusionOk="0">
                <ns2:moveTo>
                  <ns2:pt x="0" y="0"/>
                </ns2:moveTo>
                <ns2:lnTo>
                  <ns2:pt x="173736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1" name="UML system-sequence label 31"/>
          <p:cNvSpPr/>
          <p:nvPr/>
        </p:nvSpPr>
        <p:spPr>
          <ns1:xfrm xmlns:ns1="http://schemas.openxmlformats.org/drawingml/2006/main">
            <ns1:off x="3650317" y="2989736"/>
            <ns1:ext cx="585773" cy="25529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77" dirty="0">
                <ns7:solidFill>
                  <ns7:srgbClr val="1F2A44"/>
                </ns7:solidFill>
                <ns7:latin typeface="Noto Sans SC"/>
                <ns7:ea typeface="Noto Sans SC"/>
              </ns7:rPr>
              <ns7:t>已确认</ns7:t>
            </ns7:r>
            <ns7:endParaRPr lang="zh-CN" sz="1377"/>
          </ns7:p>
        </p:txBody>
      </p:sp>
      <p:sp>
        <p:nvSpPr>
          <p:cNvPr id="32" name="UML system-sequence divider 32"/>
          <p:cNvSpPr/>
          <p:nvPr/>
        </p:nvSpPr>
        <p:spPr>
          <ns1:xfrm xmlns:ns1="http://schemas.openxmlformats.org/drawingml/2006/main">
            <ns1:off x="2901650" y="3330175"/>
            <ns1:ext cx="207436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46935" h="952" fill="none" stroke="1" extrusionOk="0">
                <ns2:moveTo>
                  <ns2:pt x="0" y="0"/>
                </ns2:moveTo>
                <ns2:lnTo>
                  <ns2:pt x="214693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3" name="UML system-sequence label 33"/>
          <p:cNvSpPr/>
          <p:nvPr/>
        </p:nvSpPr>
        <p:spPr>
          <ns1:xfrm xmlns:ns1="http://schemas.openxmlformats.org/drawingml/2006/main">
            <ns1:off x="2944444" y="3361833"/>
            <ns1:ext cx="759360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000000"/>
                </ns7:solidFill>
                <ns7:latin typeface="Noto Sans SC"/>
                <ns7:ea typeface="Noto Sans SC"/>
              </ns7:rPr>
              <ns7:t>[余量 = 0]</ns7:t>
            </ns7:r>
            <ns7:endParaRPr lang="zh-CN" sz="1304"/>
          </ns7:p>
        </p:txBody>
      </p:sp>
      <p:sp>
        <p:nvSpPr>
          <p:cNvPr id="34" name="UML system-sequence arrow 34"/>
          <p:cNvSpPr/>
          <p:nvPr/>
        </p:nvSpPr>
        <p:spPr>
          <ns1:xfrm xmlns:ns1="http://schemas.openxmlformats.org/drawingml/2006/main">
            <ns1:off x="3058102" y="3887657"/>
            <ns1:ext cx="92030" cy="73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5" name="UML system-sequence divider 35"/>
          <p:cNvSpPr/>
          <p:nvPr/>
        </p:nvSpPr>
        <p:spPr>
          <ns1:xfrm xmlns:ns1="http://schemas.openxmlformats.org/drawingml/2006/main">
            <ns1:off x="3094914" y="3924469"/>
            <ns1:ext cx="167863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37360" h="952" fill="none" stroke="1" extrusionOk="0">
                <ns2:moveTo>
                  <ns2:pt x="0" y="0"/>
                </ns2:moveTo>
                <ns2:lnTo>
                  <ns2:pt x="173736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6" name="UML system-sequence label 36"/>
          <p:cNvSpPr/>
          <p:nvPr/>
        </p:nvSpPr>
        <p:spPr>
          <ns1:xfrm xmlns:ns1="http://schemas.openxmlformats.org/drawingml/2006/main">
            <ns1:off x="3650317" y="3666858"/>
            <ns1:ext cx="585773" cy="25529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77" dirty="0">
                <ns7:solidFill>
                  <ns7:srgbClr val="1F2A44"/>
                </ns7:solidFill>
                <ns7:latin typeface="Noto Sans SC"/>
                <ns7:ea typeface="Noto Sans SC"/>
              </ns7:rPr>
              <ns7:t>已拒绝</ns7:t>
            </ns7:r>
            <ns7:endParaRPr lang="zh-CN" sz="1377"/>
          </ns7:p>
        </p:txBody>
      </p:sp>
      <p:sp>
        <p:nvSpPr>
          <p:cNvPr id="7" name="content-152">
            <a:extLst xmlns:a="http://schemas.openxmlformats.org/drawingml/2006/main">
              <a:ext uri="{FF2B5EF4-FFF2-40B4-BE49-F238E27FC236}">
                <a16:creationId xmlns:a16="http://schemas.microsoft.com/office/drawing/2014/main" id="{36A42FF3-6A51-478A-9325-28F639E9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process(eId)表示请求处理编号为eId的已有记录；两种返回均须已保存。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18B2-607E-49AB-8794-68DD1A27A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bc39b45e44c93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153">
            <a:extLst xmlns:a="http://schemas.openxmlformats.org/drawingml/2006/main">
              <a:ext uri="{FF2B5EF4-FFF2-40B4-BE49-F238E27FC236}">
                <a16:creationId xmlns:a16="http://schemas.microsoft.com/office/drawing/2014/main" id="{ABF47145-7306-42DF-951A-0890613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01 小结：业务目标与软件责任</a:t>
            </a:r>
          </a:p>
        </p:txBody>
      </p:sp>
      <p:sp>
        <p:nvSpPr>
          <p:cNvPr id="2" name="frame-154">
            <a:extLst xmlns:a="http://schemas.openxmlformats.org/drawingml/2006/main">
              <a:ext uri="{FF2B5EF4-FFF2-40B4-BE49-F238E27FC236}">
                <a16:creationId xmlns:a16="http://schemas.microsoft.com/office/drawing/2014/main" id="{8FAB7DD0-9C52-43B4-94EC-BCD6D38A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55">
            <a:extLst xmlns:a="http://schemas.openxmlformats.org/drawingml/2006/main">
              <a:ext uri="{FF2B5EF4-FFF2-40B4-BE49-F238E27FC236}">
                <a16:creationId xmlns:a16="http://schemas.microsoft.com/office/drawing/2014/main" id="{F30D4733-E8C6-4346-9303-CDE75046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A5B5928-A270-4A94-9E91-D0CA6AB4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01 业务与系统需求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53F1CF7-ABE8-4681-AEEA-872DA243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18 / 82</a:t>
            </a:r>
          </a:p>
        </p:txBody>
      </p:sp>
      <p:sp>
        <p:nvSpPr>
          <p:cNvPr id="6" name="content-156">
            <a:extLst xmlns:a="http://schemas.openxmlformats.org/drawingml/2006/main">
              <a:ext uri="{FF2B5EF4-FFF2-40B4-BE49-F238E27FC236}">
                <a16:creationId xmlns:a16="http://schemas.microsoft.com/office/drawing/2014/main" id="{141A33FB-EF06-45CA-9E4D-0044C250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业务用例</a:t>
            </a:r>
          </a:p>
        </p:txBody>
      </p:sp>
      <p:sp>
        <p:nvSpPr>
          <p:cNvPr id="7" name="content-157">
            <a:extLst xmlns:a="http://schemas.openxmlformats.org/drawingml/2006/main">
              <a:ext uri="{FF2B5EF4-FFF2-40B4-BE49-F238E27FC236}">
                <a16:creationId xmlns:a16="http://schemas.microsoft.com/office/drawing/2014/main" id="{D598D5C0-BA61-4701-AF84-61E05D4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学生要办理选课并获知结果。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业务范围可同时包含人员工作和软件支持。</a:t>
            </a:r>
          </a:p>
        </p:txBody>
      </p:sp>
      <p:sp>
        <p:nvSpPr>
          <p:cNvPr id="8" name="frame-158">
            <a:extLst xmlns:a="http://schemas.openxmlformats.org/drawingml/2006/main">
              <a:ext uri="{FF2B5EF4-FFF2-40B4-BE49-F238E27FC236}">
                <a16:creationId xmlns:a16="http://schemas.microsoft.com/office/drawing/2014/main" id="{97F8F7BB-ACE7-4F6F-B171-0E50D1A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59">
            <a:extLst xmlns:a="http://schemas.openxmlformats.org/drawingml/2006/main">
              <a:ext uri="{FF2B5EF4-FFF2-40B4-BE49-F238E27FC236}">
                <a16:creationId xmlns:a16="http://schemas.microsoft.com/office/drawing/2014/main" id="{DAF2ABC6-431C-4686-B7BF-988D594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系统用例</a:t>
            </a:r>
          </a:p>
        </p:txBody>
      </p:sp>
      <p:sp>
        <p:nvSpPr>
          <p:cNvPr id="10" name="content-160">
            <a:extLst xmlns:a="http://schemas.openxmlformats.org/drawingml/2006/main">
              <a:ext uri="{FF2B5EF4-FFF2-40B4-BE49-F238E27FC236}">
                <a16:creationId xmlns:a16="http://schemas.microsoft.com/office/drawing/2014/main" id="{253DE3B2-D3E0-4062-A825-8366645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当前软件处理已有记录，保存后反馈。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用例图说明目标，规约写清前提、分支和完成条件。</a:t>
            </a:r>
          </a:p>
        </p:txBody>
      </p:sp>
      <p:sp>
        <p:nvSpPr>
          <p:cNvPr id="11" name="frame-161">
            <a:extLst xmlns:a="http://schemas.openxmlformats.org/drawingml/2006/main">
              <a:ext uri="{FF2B5EF4-FFF2-40B4-BE49-F238E27FC236}">
                <a16:creationId xmlns:a16="http://schemas.microsoft.com/office/drawing/2014/main" id="{E5A3059D-4981-4E2C-8E7C-33693B25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62">
            <a:extLst xmlns:a="http://schemas.openxmlformats.org/drawingml/2006/main">
              <a:ext uri="{FF2B5EF4-FFF2-40B4-BE49-F238E27FC236}">
                <a16:creationId xmlns:a16="http://schemas.microsoft.com/office/drawing/2014/main" id="{40ACDD4D-486D-45E7-85D8-DAD8A8C8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项目中的作用</a:t>
            </a:r>
          </a:p>
        </p:txBody>
      </p:sp>
      <p:sp>
        <p:nvSpPr>
          <p:cNvPr id="13" name="content-163">
            <a:extLst xmlns:a="http://schemas.openxmlformats.org/drawingml/2006/main">
              <a:ext uri="{FF2B5EF4-FFF2-40B4-BE49-F238E27FC236}">
                <a16:creationId xmlns:a16="http://schemas.microsoft.com/office/drawing/2014/main" id="{44598908-6A2B-4406-AFC2-21D97058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两类用例帮助确认业务范围与软件责任。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下一步要说明：处理的是哪条记录，余量属于谁。</a:t>
            </a:r>
          </a:p>
        </p:txBody>
      </p:sp>
      <p:sp>
        <p:nvSpPr>
          <p:cNvPr id="14" name="content-164">
            <a:extLst xmlns:a="http://schemas.openxmlformats.org/drawingml/2006/main">
              <a:ext uri="{FF2B5EF4-FFF2-40B4-BE49-F238E27FC236}">
                <a16:creationId xmlns:a16="http://schemas.microsoft.com/office/drawing/2014/main" id="{926876B7-7E39-45E5-AABB-C338643E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质量要求与环境约束仍需补充说明；用例图不能替代全部需求。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B49A0-4F54-4641-955A-74530CF4F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d845cd07e474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165">
            <a:extLst xmlns:a="http://schemas.openxmlformats.org/drawingml/2006/main">
              <a:ext uri="{FF2B5EF4-FFF2-40B4-BE49-F238E27FC236}">
                <a16:creationId xmlns:a16="http://schemas.microsoft.com/office/drawing/2014/main" id="{868B0B30-1046-4FC9-A994-DFDC9E5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02 领域模型：概念及其关系</a:t>
            </a:r>
          </a:p>
        </p:txBody>
      </p:sp>
      <p:sp>
        <p:nvSpPr>
          <p:cNvPr id="2" name="frame-166">
            <a:extLst xmlns:a="http://schemas.openxmlformats.org/drawingml/2006/main">
              <a:ext uri="{FF2B5EF4-FFF2-40B4-BE49-F238E27FC236}">
                <a16:creationId xmlns:a16="http://schemas.microsoft.com/office/drawing/2014/main" id="{2C7579EC-80C0-45BE-B958-CE37086E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67">
            <a:extLst xmlns:a="http://schemas.openxmlformats.org/drawingml/2006/main">
              <a:ext uri="{FF2B5EF4-FFF2-40B4-BE49-F238E27FC236}">
                <a16:creationId xmlns:a16="http://schemas.microsoft.com/office/drawing/2014/main" id="{2ED866DE-216D-49EC-9841-DB4B3A8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9BDF35-0830-470F-AD1E-B731E5A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FF1338E-3E43-4741-AC91-BC68CD8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19 / 82</a:t>
            </a:r>
          </a:p>
        </p:txBody>
      </p:sp>
      <p:sp>
        <p:nvSpPr>
          <p:cNvPr id="6" name="content-168">
            <a:extLst xmlns:a="http://schemas.openxmlformats.org/drawingml/2006/main">
              <a:ext uri="{FF2B5EF4-FFF2-40B4-BE49-F238E27FC236}">
                <a16:creationId xmlns:a16="http://schemas.microsoft.com/office/drawing/2014/main" id="{0C7C2208-6824-413E-82F1-198A0C1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7" name="content-169">
            <a:extLst xmlns:a="http://schemas.openxmlformats.org/drawingml/2006/main">
              <a:ext uri="{FF2B5EF4-FFF2-40B4-BE49-F238E27FC236}">
                <a16:creationId xmlns:a16="http://schemas.microsoft.com/office/drawing/2014/main" id="{F177E6F3-47B8-4C04-A02A-E895A7AF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领域模型表示问题领域中的重要概念，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说明它们的属性、关联及业务含义。</a:t>
            </a:r>
          </a:p>
        </p:txBody>
      </p:sp>
      <p:sp>
        <p:nvSpPr>
          <p:cNvPr id="8" name="frame-170">
            <a:extLst xmlns:a="http://schemas.openxmlformats.org/drawingml/2006/main">
              <a:ext uri="{FF2B5EF4-FFF2-40B4-BE49-F238E27FC236}">
                <a16:creationId xmlns:a16="http://schemas.microsoft.com/office/drawing/2014/main" id="{A356107E-2103-4D08-A693-AEC62FC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71">
            <a:extLst xmlns:a="http://schemas.openxmlformats.org/drawingml/2006/main">
              <a:ext uri="{FF2B5EF4-FFF2-40B4-BE49-F238E27FC236}">
                <a16:creationId xmlns:a16="http://schemas.microsoft.com/office/drawing/2014/main" id="{7A14A110-BBA3-46B2-9122-AE59D4F0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表达方式</a:t>
            </a:r>
          </a:p>
        </p:txBody>
      </p:sp>
      <p:sp>
        <p:nvSpPr>
          <p:cNvPr id="10" name="content-172">
            <a:extLst xmlns:a="http://schemas.openxmlformats.org/drawingml/2006/main">
              <a:ext uri="{FF2B5EF4-FFF2-40B4-BE49-F238E27FC236}">
                <a16:creationId xmlns:a16="http://schemas.microsoft.com/office/drawing/2014/main" id="{1DB7CF25-B182-4D8A-937D-6B16CF5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以类图表达概念及其关系，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用必要的状态和文字约束补充业务规则。</a:t>
            </a:r>
          </a:p>
        </p:txBody>
      </p:sp>
      <p:sp>
        <p:nvSpPr>
          <p:cNvPr id="11" name="frame-173">
            <a:extLst xmlns:a="http://schemas.openxmlformats.org/drawingml/2006/main">
              <a:ext uri="{FF2B5EF4-FFF2-40B4-BE49-F238E27FC236}">
                <a16:creationId xmlns:a16="http://schemas.microsoft.com/office/drawing/2014/main" id="{13B2EA0D-F262-4A53-9AA5-421B02D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74">
            <a:extLst xmlns:a="http://schemas.openxmlformats.org/drawingml/2006/main">
              <a:ext uri="{FF2B5EF4-FFF2-40B4-BE49-F238E27FC236}">
                <a16:creationId xmlns:a16="http://schemas.microsoft.com/office/drawing/2014/main" id="{A85E3E2C-9DE4-42FE-B882-4A0C0C9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设计之前</a:t>
            </a:r>
          </a:p>
        </p:txBody>
      </p:sp>
      <p:sp>
        <p:nvSpPr>
          <p:cNvPr id="13" name="content-175">
            <a:extLst xmlns:a="http://schemas.openxmlformats.org/drawingml/2006/main">
              <a:ext uri="{FF2B5EF4-FFF2-40B4-BE49-F238E27FC236}">
                <a16:creationId xmlns:a16="http://schemas.microsoft.com/office/drawing/2014/main" id="{E796FC18-85B3-48EB-93BD-ABCE70C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先说明概念及业务含义。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界面、仓储、数据表等软件安排留待设计。</a:t>
            </a:r>
          </a:p>
        </p:txBody>
      </p:sp>
      <p:sp>
        <p:nvSpPr>
          <p:cNvPr id="14" name="content-176">
            <a:extLst xmlns:a="http://schemas.openxmlformats.org/drawingml/2006/main">
              <a:ext uri="{FF2B5EF4-FFF2-40B4-BE49-F238E27FC236}">
                <a16:creationId xmlns:a16="http://schemas.microsoft.com/office/drawing/2014/main" id="{8D9C613B-3E8F-442F-8E8B-980AA90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采用Larman/UP的概念建模视角；不把领域概念直接当作软件类。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16345-1A76-4C0D-847B-460688700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5962f2bb4da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177">
            <a:extLst xmlns:a="http://schemas.openxmlformats.org/drawingml/2006/main">
              <a:ext uri="{FF2B5EF4-FFF2-40B4-BE49-F238E27FC236}">
                <a16:creationId xmlns:a16="http://schemas.microsoft.com/office/drawing/2014/main" id="{00E54E08-BA8F-440D-9306-71D14C2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练习：选课结果应记录在哪里？</a:t>
            </a:r>
          </a:p>
        </p:txBody>
      </p:sp>
      <p:sp>
        <p:nvSpPr>
          <p:cNvPr id="2" name="frame-178">
            <a:extLst xmlns:a="http://schemas.openxmlformats.org/drawingml/2006/main">
              <a:ext uri="{FF2B5EF4-FFF2-40B4-BE49-F238E27FC236}">
                <a16:creationId xmlns:a16="http://schemas.microsoft.com/office/drawing/2014/main" id="{087CA080-30E4-416F-ACFE-48701FC7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79">
            <a:extLst xmlns:a="http://schemas.openxmlformats.org/drawingml/2006/main">
              <a:ext uri="{FF2B5EF4-FFF2-40B4-BE49-F238E27FC236}">
                <a16:creationId xmlns:a16="http://schemas.microsoft.com/office/drawing/2014/main" id="{FA0EB229-0158-4F70-9495-9F99EAE9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E19938C-7632-453F-92CC-33694595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9F96F4C-A124-447E-82FF-4A8CF3BD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20 / 82</a:t>
            </a:r>
          </a:p>
        </p:txBody>
      </p:sp>
      <p:sp>
        <p:nvSpPr>
          <p:cNvPr id="6" name="content-180">
            <a:extLst xmlns:a="http://schemas.openxmlformats.org/drawingml/2006/main">
              <a:ext uri="{FF2B5EF4-FFF2-40B4-BE49-F238E27FC236}">
                <a16:creationId xmlns:a16="http://schemas.microsoft.com/office/drawing/2014/main" id="{41F8DF0D-E262-44E4-8E8D-A5BDE8C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业务事实</a:t>
            </a:r>
          </a:p>
        </p:txBody>
      </p:sp>
      <p:sp>
        <p:nvSpPr>
          <p:cNvPr id="7" name="content-181">
            <a:extLst xmlns:a="http://schemas.openxmlformats.org/drawingml/2006/main">
              <a:ext uri="{FF2B5EF4-FFF2-40B4-BE49-F238E27FC236}">
                <a16:creationId xmlns:a16="http://schemas.microsoft.com/office/drawing/2014/main" id="{F4574A34-1DFB-41EA-B1E1-8F773D31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学生A的两条待处理记录，分别对应余量2和0的开课班。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处理后，一条确认，一条拒绝。</a:t>
            </a:r>
          </a:p>
        </p:txBody>
      </p:sp>
      <p:sp>
        <p:nvSpPr>
          <p:cNvPr id="8" name="frame-182">
            <a:extLst xmlns:a="http://schemas.openxmlformats.org/drawingml/2006/main">
              <a:ext uri="{FF2B5EF4-FFF2-40B4-BE49-F238E27FC236}">
                <a16:creationId xmlns:a16="http://schemas.microsoft.com/office/drawing/2014/main" id="{25ED95C6-1184-4ABC-A3D5-9C16AF20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83">
            <a:extLst xmlns:a="http://schemas.openxmlformats.org/drawingml/2006/main">
              <a:ext uri="{FF2B5EF4-FFF2-40B4-BE49-F238E27FC236}">
                <a16:creationId xmlns:a16="http://schemas.microsoft.com/office/drawing/2014/main" id="{32E6A97A-C44A-4974-AA48-E5A3F10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信息要求</a:t>
            </a:r>
          </a:p>
        </p:txBody>
      </p:sp>
      <p:sp>
        <p:nvSpPr>
          <p:cNvPr id="10" name="content-184">
            <a:extLst xmlns:a="http://schemas.openxmlformats.org/drawingml/2006/main">
              <a:ext uri="{FF2B5EF4-FFF2-40B4-BE49-F238E27FC236}">
                <a16:creationId xmlns:a16="http://schemas.microsoft.com/office/drawing/2014/main" id="{162667F8-7C7B-4147-AF75-02D4EBA6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两个办理结果都要保留，并能对应到各自的开课班。</a:t>
            </a:r>
          </a:p>
        </p:txBody>
      </p:sp>
      <p:sp>
        <p:nvSpPr>
          <p:cNvPr id="11" name="frame-185">
            <a:extLst xmlns:a="http://schemas.openxmlformats.org/drawingml/2006/main">
              <a:ext uri="{FF2B5EF4-FFF2-40B4-BE49-F238E27FC236}">
                <a16:creationId xmlns:a16="http://schemas.microsoft.com/office/drawing/2014/main" id="{C051ACAB-7F13-4FE1-B666-81BEAC8D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86">
            <a:extLst xmlns:a="http://schemas.openxmlformats.org/drawingml/2006/main">
              <a:ext uri="{FF2B5EF4-FFF2-40B4-BE49-F238E27FC236}">
                <a16:creationId xmlns:a16="http://schemas.microsoft.com/office/drawing/2014/main" id="{A7E87C79-817D-4657-B9D9-606BD36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</p:txBody>
      </p:sp>
      <p:sp>
        <p:nvSpPr>
          <p:cNvPr id="13" name="content-187">
            <a:extLst xmlns:a="http://schemas.openxmlformats.org/drawingml/2006/main">
              <a:ext uri="{FF2B5EF4-FFF2-40B4-BE49-F238E27FC236}">
                <a16:creationId xmlns:a16="http://schemas.microsoft.com/office/drawing/2014/main" id="{C41FF03C-F071-4E65-AF7B-63899E22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结果应属于学生、开课班，还是两者的选课关系？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作出选择，并说明其他表达会遇到什么问题。</a:t>
            </a:r>
          </a:p>
        </p:txBody>
      </p:sp>
      <p:sp>
        <p:nvSpPr>
          <p:cNvPr id="14" name="content-188">
            <a:extLst xmlns:a="http://schemas.openxmlformats.org/drawingml/2006/main">
              <a:ext uri="{FF2B5EF4-FFF2-40B4-BE49-F238E27FC236}">
                <a16:creationId xmlns:a16="http://schemas.microsoft.com/office/drawing/2014/main" id="{A706D343-D30F-405E-8BB6-D602E9AF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说明结果为什么需要按学生与开课班区分，暂不画完整类图。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5FBBE-D11D-450C-BAE0-BFF5002DA9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392bf06b74c6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189">
            <a:extLst xmlns:a="http://schemas.openxmlformats.org/drawingml/2006/main">
              <a:ext uri="{FF2B5EF4-FFF2-40B4-BE49-F238E27FC236}">
                <a16:creationId xmlns:a16="http://schemas.microsoft.com/office/drawing/2014/main" id="{C5697BD8-FC02-4483-8E63-EED5982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选课记录及其信息</a:t>
            </a:r>
          </a:p>
        </p:txBody>
      </p:sp>
      <p:sp>
        <p:nvSpPr>
          <p:cNvPr id="2" name="frame-190">
            <a:extLst xmlns:a="http://schemas.openxmlformats.org/drawingml/2006/main">
              <a:ext uri="{FF2B5EF4-FFF2-40B4-BE49-F238E27FC236}">
                <a16:creationId xmlns:a16="http://schemas.microsoft.com/office/drawing/2014/main" id="{9334319C-A120-4D2F-A268-73D1B3CB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191">
            <a:extLst xmlns:a="http://schemas.openxmlformats.org/drawingml/2006/main">
              <a:ext uri="{FF2B5EF4-FFF2-40B4-BE49-F238E27FC236}">
                <a16:creationId xmlns:a16="http://schemas.microsoft.com/office/drawing/2014/main" id="{BC8BDDCC-8C32-4DBF-9274-EDA521C4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47B7C66-2DA0-4236-B93F-CEDB095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E5296DF-1F35-440F-9767-765C697B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21 / 82</a:t>
            </a:r>
          </a:p>
        </p:txBody>
      </p:sp>
      <p:sp>
        <p:nvSpPr>
          <p:cNvPr id="6" name="content-192">
            <a:extLst xmlns:a="http://schemas.openxmlformats.org/drawingml/2006/main">
              <a:ext uri="{FF2B5EF4-FFF2-40B4-BE49-F238E27FC236}">
                <a16:creationId xmlns:a16="http://schemas.microsoft.com/office/drawing/2014/main" id="{8A04699D-A000-43A8-8BCF-0585F7D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同一学生</a:t>
            </a:r>
          </a:p>
        </p:txBody>
      </p:sp>
      <p:sp>
        <p:nvSpPr>
          <p:cNvPr id="7" name="content-193">
            <a:extLst xmlns:a="http://schemas.openxmlformats.org/drawingml/2006/main">
              <a:ext uri="{FF2B5EF4-FFF2-40B4-BE49-F238E27FC236}">
                <a16:creationId xmlns:a16="http://schemas.microsoft.com/office/drawing/2014/main" id="{5FD2C3C2-BDFC-473C-9F36-5F996EA9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在两个开课班中，一条记录已确认，另一条已拒绝。</a:t>
            </a:r>
          </a:p>
        </p:txBody>
      </p:sp>
      <p:sp>
        <p:nvSpPr>
          <p:cNvPr id="8" name="frame-194">
            <a:extLst xmlns:a="http://schemas.openxmlformats.org/drawingml/2006/main">
              <a:ext uri="{FF2B5EF4-FFF2-40B4-BE49-F238E27FC236}">
                <a16:creationId xmlns:a16="http://schemas.microsoft.com/office/drawing/2014/main" id="{64FD16D8-1EBE-4EFE-8360-5595918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195">
            <a:extLst xmlns:a="http://schemas.openxmlformats.org/drawingml/2006/main">
              <a:ext uri="{FF2B5EF4-FFF2-40B4-BE49-F238E27FC236}">
                <a16:creationId xmlns:a16="http://schemas.microsoft.com/office/drawing/2014/main" id="{2DD04D33-7C6C-40E5-A7B6-1B6C182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同一开课班</a:t>
            </a:r>
          </a:p>
        </p:txBody>
      </p:sp>
      <p:sp>
        <p:nvSpPr>
          <p:cNvPr id="10" name="content-196">
            <a:extLst xmlns:a="http://schemas.openxmlformats.org/drawingml/2006/main">
              <a:ext uri="{FF2B5EF4-FFF2-40B4-BE49-F238E27FC236}">
                <a16:creationId xmlns:a16="http://schemas.microsoft.com/office/drawing/2014/main" id="{338CA5A5-7671-4B49-A5EC-3972B193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两名学生的记录，一条已确认，另一条仍待处理。</a:t>
            </a:r>
          </a:p>
        </p:txBody>
      </p:sp>
      <p:sp>
        <p:nvSpPr>
          <p:cNvPr id="11" name="frame-197">
            <a:extLst xmlns:a="http://schemas.openxmlformats.org/drawingml/2006/main">
              <a:ext uri="{FF2B5EF4-FFF2-40B4-BE49-F238E27FC236}">
                <a16:creationId xmlns:a16="http://schemas.microsoft.com/office/drawing/2014/main" id="{33640EB7-A741-48E7-A5E1-6D3A19FB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198">
            <a:extLst xmlns:a="http://schemas.openxmlformats.org/drawingml/2006/main">
              <a:ext uri="{FF2B5EF4-FFF2-40B4-BE49-F238E27FC236}">
                <a16:creationId xmlns:a16="http://schemas.microsoft.com/office/drawing/2014/main" id="{EC78F5BC-D7A3-431E-9555-C30502B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信息归属</a:t>
            </a:r>
          </a:p>
        </p:txBody>
      </p:sp>
      <p:sp>
        <p:nvSpPr>
          <p:cNvPr id="13" name="content-199">
            <a:extLst xmlns:a="http://schemas.openxmlformats.org/drawingml/2006/main">
              <a:ext uri="{FF2B5EF4-FFF2-40B4-BE49-F238E27FC236}">
                <a16:creationId xmlns:a16="http://schemas.microsoft.com/office/drawing/2014/main" id="{01390F9C-E378-40FE-A702-DF691BAD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只给学生或开课班保存一个办理状态，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都无法区分每个学生与开课班配对的情况。</a:t>
            </a:r>
          </a:p>
        </p:txBody>
      </p:sp>
      <p:sp>
        <p:nvSpPr>
          <p:cNvPr id="14" name="frame-200">
            <a:extLst xmlns:a="http://schemas.openxmlformats.org/drawingml/2006/main">
              <a:ext uri="{FF2B5EF4-FFF2-40B4-BE49-F238E27FC236}">
                <a16:creationId xmlns:a16="http://schemas.microsoft.com/office/drawing/2014/main" id="{200D75F7-6555-4A4E-9B15-E1EF525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201">
            <a:extLst xmlns:a="http://schemas.openxmlformats.org/drawingml/2006/main">
              <a:ext uri="{FF2B5EF4-FFF2-40B4-BE49-F238E27FC236}">
                <a16:creationId xmlns:a16="http://schemas.microsoft.com/office/drawing/2014/main" id="{DADA79A5-2CF9-45AB-B856-1AF10B1D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选课记录</a:t>
            </a:r>
          </a:p>
        </p:txBody>
      </p:sp>
      <p:sp>
        <p:nvSpPr>
          <p:cNvPr id="16" name="content-202">
            <a:extLst xmlns:a="http://schemas.openxmlformats.org/drawingml/2006/main">
              <a:ext uri="{FF2B5EF4-FFF2-40B4-BE49-F238E27FC236}">
                <a16:creationId xmlns:a16="http://schemas.microsoft.com/office/drawing/2014/main" id="{0C3101F5-E080-418C-A092-315D0B5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由Enrollment连接学生与开课班，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保留这一配对的办理状态和可选成绩。</a:t>
            </a:r>
          </a:p>
        </p:txBody>
      </p:sp>
      <p:sp>
        <p:nvSpPr>
          <p:cNvPr id="17" name="content-203">
            <a:extLst xmlns:a="http://schemas.openxmlformats.org/drawingml/2006/main">
              <a:ext uri="{FF2B5EF4-FFF2-40B4-BE49-F238E27FC236}">
                <a16:creationId xmlns:a16="http://schemas.microsoft.com/office/drawing/2014/main" id="{4600E011-5A07-4AEE-81E6-283EF225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这里采用普通类与关联表达选课记录；其他表示法需另行检查约束。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13685-F033-4C9F-8E96-8512116EC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2670c52c44f00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ntent-204">
            <a:extLst xmlns:a="http://schemas.openxmlformats.org/drawingml/2006/main">
              <a:ext uri="{FF2B5EF4-FFF2-40B4-BE49-F238E27FC236}">
                <a16:creationId xmlns:a16="http://schemas.microsoft.com/office/drawing/2014/main" id="{16D2E402-46E6-4AE4-A197-1E0BA3B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练习：补全开课班一侧的关联</a:t>
            </a:r>
          </a:p>
        </p:txBody>
      </p:sp>
      <p:sp>
        <p:nvSpPr>
          <p:cNvPr id="2" name="frame-205">
            <a:extLst xmlns:a="http://schemas.openxmlformats.org/drawingml/2006/main">
              <a:ext uri="{FF2B5EF4-FFF2-40B4-BE49-F238E27FC236}">
                <a16:creationId xmlns:a16="http://schemas.microsoft.com/office/drawing/2014/main" id="{26697E50-F3E1-43A5-9D8F-E5093129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06">
            <a:extLst xmlns:a="http://schemas.openxmlformats.org/drawingml/2006/main">
              <a:ext uri="{FF2B5EF4-FFF2-40B4-BE49-F238E27FC236}">
                <a16:creationId xmlns:a16="http://schemas.microsoft.com/office/drawing/2014/main" id="{CEDB807C-63E1-4C98-8F8B-0E407A6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23FFF1F-DA6F-448A-8DAD-1BE890B6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861E718-5BA6-407C-B2F6-CEB691FE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22 / 82</a:t>
            </a:r>
          </a:p>
        </p:txBody>
      </p:sp>
      <p:sp>
        <p:nvSpPr>
          <p:cNvPr id="15" name="UML domain-relation-worked box 15"/>
          <p:cNvSpPr/>
          <p:nvPr/>
        </p:nvSpPr>
        <p:spPr>
          <ns1:xfrm xmlns:ns1="http://schemas.openxmlformats.org/drawingml/2006/main">
            <ns1:off x="2461798" y="1270425"/>
            <ns1:ext cx="878437" cy="62361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16" name="UML domain-relation-worked label 16"/>
          <p:cNvSpPr/>
          <p:nvPr/>
        </p:nvSpPr>
        <p:spPr>
          <ns1:xfrm xmlns:ns1="http://schemas.openxmlformats.org/drawingml/2006/main">
            <ns1:off x="2493540" y="1347563"/>
            <ns1:ext cx="882031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1F2A44"/>
                </ns7:solidFill>
                <ns7:latin typeface="Noto Sans SC"/>
                <ns7:ea typeface="Noto Sans SC"/>
              </ns7:rPr>
              <ns7:t>Student</ns7:t>
            </ns7:r>
            <ns7:endParaRPr lang="zh-CN" sz="1698"/>
          </ns7:p>
        </p:txBody>
      </p:sp>
      <p:sp>
        <p:nvSpPr>
          <p:cNvPr id="17" name="UML domain-relation-worked divider 17"/>
          <p:cNvSpPr/>
          <p:nvPr/>
        </p:nvSpPr>
        <p:spPr>
          <ns1:xfrm xmlns:ns1="http://schemas.openxmlformats.org/drawingml/2006/main">
            <ns1:off x="2473776" y="1702397"/>
            <ns1:ext cx="854481" cy="119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18" name="UML domain-relation-worked divider 18"/>
          <p:cNvSpPr/>
          <p:nvPr/>
        </p:nvSpPr>
        <p:spPr>
          <ns1:xfrm xmlns:ns1="http://schemas.openxmlformats.org/drawingml/2006/main">
            <ns1:off x="2473776" y="1798220"/>
            <ns1:ext cx="854481" cy="119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19" name="UML domain-relation-worked box 19"/>
          <p:cNvSpPr/>
          <p:nvPr/>
        </p:nvSpPr>
        <p:spPr>
          <ns1:xfrm xmlns:ns1="http://schemas.openxmlformats.org/drawingml/2006/main">
            <ns1:off x="1557465" y="3210849"/>
            <ns1:ext cx="2688278" cy="1248004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20" name="UML domain-relation-worked label 20"/>
          <p:cNvSpPr/>
          <p:nvPr/>
        </p:nvSpPr>
        <p:spPr>
          <ns1:xfrm xmlns:ns1="http://schemas.openxmlformats.org/drawingml/2006/main">
            <ns1:off x="2333826" y="3287987"/>
            <ns1:ext cx="1202632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698"/>
          </ns7:p>
        </p:txBody>
      </p:sp>
      <p:sp>
        <p:nvSpPr>
          <p:cNvPr id="21" name="UML domain-relation-worked divider 21"/>
          <p:cNvSpPr/>
          <p:nvPr/>
        </p:nvSpPr>
        <p:spPr>
          <ns1:xfrm xmlns:ns1="http://schemas.openxmlformats.org/drawingml/2006/main">
            <ns1:off x="1569443" y="3642821"/>
            <ns1:ext cx="2664322" cy="119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22" name="UML domain-relation-worked label 22"/>
          <p:cNvSpPr/>
          <p:nvPr/>
        </p:nvSpPr>
        <p:spPr>
          <ns1:xfrm xmlns:ns1="http://schemas.openxmlformats.org/drawingml/2006/main">
            <ns1:off x="1625140" y="3707981"/>
            <ns1:ext cx="1803948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000000"/>
                </ns7:solidFill>
                <ns7:latin typeface="Noto Sans SC"/>
                <ns7:ea typeface="Noto Sans SC"/>
              </ns7:rPr>
              <ns7:t>grade : Real [0..1]</ns7:t>
            </ns7:r>
            <ns7:endParaRPr lang="zh-CN" sz="1698"/>
          </ns7:p>
        </p:txBody>
      </p:sp>
      <p:sp>
        <p:nvSpPr>
          <p:cNvPr id="23" name="UML domain-relation-worked label 23"/>
          <p:cNvSpPr/>
          <p:nvPr/>
        </p:nvSpPr>
        <p:spPr>
          <ns1:xfrm xmlns:ns1="http://schemas.openxmlformats.org/drawingml/2006/main">
            <ns1:off x="1625140" y="4020173"/>
            <ns1:ext cx="2620004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000000"/>
                </ns7:solidFill>
                <ns7:latin typeface="Noto Sans SC"/>
                <ns7:ea typeface="Noto Sans SC"/>
              </ns7:rPr>
              <ns7:t>status : EnrollmentStatus</ns7:t>
            </ns7:r>
            <ns7:endParaRPr lang="zh-CN" sz="1698"/>
          </ns7:p>
        </p:txBody>
      </p:sp>
      <p:sp>
        <p:nvSpPr>
          <p:cNvPr id="24" name="UML domain-relation-worked divider 24"/>
          <p:cNvSpPr/>
          <p:nvPr/>
        </p:nvSpPr>
        <p:spPr>
          <ns1:xfrm xmlns:ns1="http://schemas.openxmlformats.org/drawingml/2006/main">
            <ns1:off x="1569443" y="4363030"/>
            <ns1:ext cx="2664322" cy="119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25" name="UML domain-relation-worked connection 25"/>
          <p:cNvSpPr/>
          <p:nvPr/>
        </p:nvSpPr>
        <p:spPr>
          <ns1:xfrm xmlns:ns1="http://schemas.openxmlformats.org/drawingml/2006/main">
            <ns1:off x="2898993" y="1894295"/>
            <ns1:ext cx="1198" cy="13127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043950" fill="none" stroke="1" extrusionOk="0">
                <ns2:moveTo>
                  <ns2:pt x="0" y="0"/>
                </ns2:moveTo>
                <ns2:cubicBezTo>
                  <ns2:pt x="0" y="266348"/>
                  <ns2:pt x="0" y="704259"/>
                  <ns2:pt x="0" y="104395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978">
            <ns4:solidFill>
              <ns4:srgbClr val="1F2A44"/>
            </ns4:solidFill>
          </ns4:ln>
        </p:spPr>
      </p:sp>
      <p:sp>
        <p:nvSpPr>
          <p:cNvPr id="26" name="UML domain-relation-worked label 26"/>
          <p:cNvSpPr/>
          <p:nvPr/>
        </p:nvSpPr>
        <p:spPr>
          <ns1:xfrm xmlns:ns1="http://schemas.openxmlformats.org/drawingml/2006/main">
            <ns1:off x="2547441" y="2900932"/>
            <ns1:ext cx="415682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1F2A44"/>
                </ns7:solidFill>
                <ns7:latin typeface="Noto Sans SC"/>
                <ns7:ea typeface="Noto Sans SC"/>
              </ns7:rPr>
              <ns7:t>0..*</ns7:t>
            </ns7:r>
            <ns7:endParaRPr lang="zh-CN" sz="1698"/>
          </ns7:p>
        </p:txBody>
      </p:sp>
      <p:sp>
        <p:nvSpPr>
          <p:cNvPr id="27" name="UML domain-relation-worked label 27"/>
          <p:cNvSpPr/>
          <p:nvPr/>
        </p:nvSpPr>
        <p:spPr>
          <ns1:xfrm xmlns:ns1="http://schemas.openxmlformats.org/drawingml/2006/main">
            <ns1:off x="2775021" y="1923521"/>
            <ns1:ext cx="291064" cy="31478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97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98" dirty="0">
                <ns7:solidFill>
                  <ns7:srgbClr val="1F2A44"/>
                </ns7:solidFill>
                <ns7:latin typeface="Noto Sans SC"/>
                <ns7:ea typeface="Noto Sans SC"/>
              </ns7:rPr>
              <ns7:t>1</ns7:t>
            </ns7:r>
            <ns7:endParaRPr lang="zh-CN" sz="1698"/>
          </ns7:p>
        </p:txBody>
      </p:sp>
      <p:sp>
        <p:nvSpPr>
          <p:cNvPr id="7" name="content-207">
            <a:extLst xmlns:a="http://schemas.openxmlformats.org/drawingml/2006/main">
              <a:ext uri="{FF2B5EF4-FFF2-40B4-BE49-F238E27FC236}">
                <a16:creationId xmlns:a16="http://schemas.microsoft.com/office/drawing/2014/main" id="{3AC567F1-E113-4166-8CB2-6D796A2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已有示例</a:t>
            </a:r>
          </a:p>
        </p:txBody>
      </p:sp>
      <p:sp>
        <p:nvSpPr>
          <p:cNvPr id="8" name="content-208">
            <a:extLst xmlns:a="http://schemas.openxmlformats.org/drawingml/2006/main">
              <a:ext uri="{FF2B5EF4-FFF2-40B4-BE49-F238E27FC236}">
                <a16:creationId xmlns:a16="http://schemas.microsoft.com/office/drawing/2014/main" id="{E8F6E931-7B53-43B2-BBA1-D67828A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Student：学生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Enrollment：选课记录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读出两端多重性的含义。</a:t>
            </a:r>
          </a:p>
        </p:txBody>
      </p:sp>
      <p:sp>
        <p:nvSpPr>
          <p:cNvPr id="9" name="content-209">
            <a:extLst xmlns:a="http://schemas.openxmlformats.org/drawingml/2006/main">
              <a:ext uri="{FF2B5EF4-FFF2-40B4-BE49-F238E27FC236}">
                <a16:creationId xmlns:a16="http://schemas.microsoft.com/office/drawing/2014/main" id="{44B79D40-9E0A-430E-80EC-D9DAECC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业务事实</a:t>
            </a:r>
          </a:p>
        </p:txBody>
      </p:sp>
      <p:sp>
        <p:nvSpPr>
          <p:cNvPr id="10" name="content-210">
            <a:extLst xmlns:a="http://schemas.openxmlformats.org/drawingml/2006/main">
              <a:ext uri="{FF2B5EF4-FFF2-40B4-BE49-F238E27FC236}">
                <a16:creationId xmlns:a16="http://schemas.microsoft.com/office/drawing/2014/main" id="{04BA9490-9DB8-42D3-AED0-3795EC2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CourseOffering：开课班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开课班可有零到多条记录；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每条记录属于一个开课班。</a:t>
            </a:r>
          </a:p>
        </p:txBody>
      </p:sp>
      <p:sp>
        <p:nvSpPr>
          <p:cNvPr id="11" name="content-211">
            <a:extLst xmlns:a="http://schemas.openxmlformats.org/drawingml/2006/main">
              <a:ext uri="{FF2B5EF4-FFF2-40B4-BE49-F238E27FC236}">
                <a16:creationId xmlns:a16="http://schemas.microsoft.com/office/drawing/2014/main" id="{F6564971-C71A-47F6-9502-AC565D9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待补全</a:t>
            </a:r>
          </a:p>
        </p:txBody>
      </p:sp>
      <p:sp>
        <p:nvSpPr>
          <p:cNvPr id="12" name="content-212">
            <a:extLst xmlns:a="http://schemas.openxmlformats.org/drawingml/2006/main">
              <a:ext uri="{FF2B5EF4-FFF2-40B4-BE49-F238E27FC236}">
                <a16:creationId xmlns:a16="http://schemas.microsoft.com/office/drawing/2014/main" id="{DB350132-C0C9-4A56-BA02-CDE4F4B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补画记录与开课班的关联，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标注两端多重性，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并解释其中一端的含义。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81BED-C82E-44D5-B570-1183766FC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bda00d7346a7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213">
            <a:extLst xmlns:a="http://schemas.openxmlformats.org/drawingml/2006/main">
              <a:ext uri="{FF2B5EF4-FFF2-40B4-BE49-F238E27FC236}">
                <a16:creationId xmlns:a16="http://schemas.microsoft.com/office/drawing/2014/main" id="{F9A6868B-D0A4-41FD-A346-AB385534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选课领域模型</a:t>
            </a:r>
          </a:p>
        </p:txBody>
      </p:sp>
      <p:sp>
        <p:nvSpPr>
          <p:cNvPr id="2" name="frame-214">
            <a:extLst xmlns:a="http://schemas.openxmlformats.org/drawingml/2006/main">
              <a:ext uri="{FF2B5EF4-FFF2-40B4-BE49-F238E27FC236}">
                <a16:creationId xmlns:a16="http://schemas.microsoft.com/office/drawing/2014/main" id="{2B8F3F33-D435-455E-AE5C-DE088F8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15">
            <a:extLst xmlns:a="http://schemas.openxmlformats.org/drawingml/2006/main">
              <a:ext uri="{FF2B5EF4-FFF2-40B4-BE49-F238E27FC236}">
                <a16:creationId xmlns:a16="http://schemas.microsoft.com/office/drawing/2014/main" id="{31E66973-21C3-4A2E-A8FA-33E908F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13D8745-8D52-4CA8-9391-4036E48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BED0A76-2838-461E-8919-5399C665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23 / 82</a:t>
            </a:r>
          </a:p>
        </p:txBody>
      </p:sp>
      <p:sp>
        <p:nvSpPr>
          <p:cNvPr id="10" name="UML domain-class box 10"/>
          <p:cNvSpPr/>
          <p:nvPr/>
        </p:nvSpPr>
        <p:spPr>
          <ns1:xfrm xmlns:ns1="http://schemas.openxmlformats.org/drawingml/2006/main">
            <ns1:off x="596232" y="2403147"/>
            <ns1:ext cx="799931" cy="56788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11" name="UML domain-class label 11"/>
          <p:cNvSpPr/>
          <p:nvPr/>
        </p:nvSpPr>
        <p:spPr>
          <ns1:xfrm xmlns:ns1="http://schemas.openxmlformats.org/drawingml/2006/main">
            <ns1:off x="625137" y="2473391"/>
            <ns1:ext cx="803203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Student</ns7:t>
            </ns7:r>
            <ns7:endParaRPr lang="zh-CN" sz="1546"/>
          </ns7:p>
        </p:txBody>
      </p:sp>
      <p:sp>
        <p:nvSpPr>
          <p:cNvPr id="12" name="UML domain-class divider 12"/>
          <p:cNvSpPr/>
          <p:nvPr/>
        </p:nvSpPr>
        <p:spPr>
          <ns1:xfrm xmlns:ns1="http://schemas.openxmlformats.org/drawingml/2006/main">
            <ns1:off x="607139" y="2796514"/>
            <ns1:ext cx="778116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13" name="UML domain-class divider 13"/>
          <p:cNvSpPr/>
          <p:nvPr/>
        </p:nvSpPr>
        <p:spPr>
          <ns1:xfrm xmlns:ns1="http://schemas.openxmlformats.org/drawingml/2006/main">
            <ns1:off x="607139" y="2883774"/>
            <ns1:ext cx="778116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14" name="UML domain-class box 14"/>
          <p:cNvSpPr/>
          <p:nvPr/>
        </p:nvSpPr>
        <p:spPr>
          <ns1:xfrm xmlns:ns1="http://schemas.openxmlformats.org/drawingml/2006/main">
            <ns1:off x="2592297" y="2119553"/>
            <ns1:ext cx="2448026" cy="113647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15" name="UML domain-class label 15"/>
          <p:cNvSpPr/>
          <p:nvPr/>
        </p:nvSpPr>
        <p:spPr>
          <ns1:xfrm xmlns:ns1="http://schemas.openxmlformats.org/drawingml/2006/main">
            <ns1:off x="3299274" y="2189798"/>
            <ns1:ext cx="1095152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546"/>
          </ns7:p>
        </p:txBody>
      </p:sp>
      <p:sp>
        <p:nvSpPr>
          <p:cNvPr id="16" name="UML domain-class divider 16"/>
          <p:cNvSpPr/>
          <p:nvPr/>
        </p:nvSpPr>
        <p:spPr>
          <ns1:xfrm xmlns:ns1="http://schemas.openxmlformats.org/drawingml/2006/main">
            <ns1:off x="2603204" y="2512920"/>
            <ns1:ext cx="2426211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17" name="UML domain-class label 17"/>
          <p:cNvSpPr/>
          <p:nvPr/>
        </p:nvSpPr>
        <p:spPr>
          <ns1:xfrm xmlns:ns1="http://schemas.openxmlformats.org/drawingml/2006/main">
            <ns1:off x="2653924" y="2572257"/>
            <ns1:ext cx="1642728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000000"/>
                </ns7:solidFill>
                <ns7:latin typeface="Noto Sans SC"/>
                <ns7:ea typeface="Noto Sans SC"/>
              </ns7:rPr>
              <ns7:t>grade : Real [0..1]</ns7:t>
            </ns7:r>
            <ns7:endParaRPr lang="zh-CN" sz="1546"/>
          </ns7:p>
        </p:txBody>
      </p:sp>
      <p:sp>
        <p:nvSpPr>
          <p:cNvPr id="18" name="UML domain-class label 18"/>
          <p:cNvSpPr/>
          <p:nvPr/>
        </p:nvSpPr>
        <p:spPr>
          <ns1:xfrm xmlns:ns1="http://schemas.openxmlformats.org/drawingml/2006/main">
            <ns1:off x="2653924" y="2856549"/>
            <ns1:ext cx="2385853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000000"/>
                </ns7:solidFill>
                <ns7:latin typeface="Noto Sans SC"/>
                <ns7:ea typeface="Noto Sans SC"/>
              </ns7:rPr>
              <ns7:t>status : EnrollmentStatus</ns7:t>
            </ns7:r>
            <ns7:endParaRPr lang="zh-CN" sz="1546"/>
          </ns7:p>
        </p:txBody>
      </p:sp>
      <p:sp>
        <p:nvSpPr>
          <p:cNvPr id="19" name="UML domain-class divider 19"/>
          <p:cNvSpPr/>
          <p:nvPr/>
        </p:nvSpPr>
        <p:spPr>
          <ns1:xfrm xmlns:ns1="http://schemas.openxmlformats.org/drawingml/2006/main">
            <ns1:off x="2603204" y="3168764"/>
            <ns1:ext cx="2426211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0" name="UML domain-class box 20"/>
          <p:cNvSpPr/>
          <p:nvPr/>
        </p:nvSpPr>
        <p:spPr>
          <ns1:xfrm xmlns:ns1="http://schemas.openxmlformats.org/drawingml/2006/main">
            <ns1:off x="6235387" y="2261350"/>
            <ns1:ext cx="2260919" cy="85217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1" name="UML domain-class label 21"/>
          <p:cNvSpPr/>
          <p:nvPr/>
        </p:nvSpPr>
        <p:spPr>
          <ns1:xfrm xmlns:ns1="http://schemas.openxmlformats.org/drawingml/2006/main">
            <ns1:off x="6670540" y="2331594"/>
            <ns1:ext cx="1451695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CourseOffering</ns7:t>
            </ns7:r>
            <ns7:endParaRPr lang="zh-CN" sz="1546"/>
          </ns7:p>
        </p:txBody>
      </p:sp>
      <p:sp>
        <p:nvSpPr>
          <p:cNvPr id="22" name="UML domain-class divider 22"/>
          <p:cNvSpPr/>
          <p:nvPr/>
        </p:nvSpPr>
        <p:spPr>
          <ns1:xfrm xmlns:ns1="http://schemas.openxmlformats.org/drawingml/2006/main">
            <ns1:off x="6246295" y="2654717"/>
            <ns1:ext cx="2239105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955311" h="952" fill="none" stroke="1" extrusionOk="0">
                <ns2:moveTo>
                  <ns2:pt x="0" y="0"/>
                </ns2:moveTo>
                <ns2:lnTo>
                  <ns2:pt x="195531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3" name="UML domain-class label 23"/>
          <p:cNvSpPr/>
          <p:nvPr/>
        </p:nvSpPr>
        <p:spPr>
          <ns1:xfrm xmlns:ns1="http://schemas.openxmlformats.org/drawingml/2006/main">
            <ns1:off x="6297014" y="2714054"/>
            <ns1:ext cx="2198747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000000"/>
                </ns7:solidFill>
                <ns7:latin typeface="Noto Sans SC"/>
                <ns7:ea typeface="Noto Sans SC"/>
              </ns7:rPr>
              <ns7:t>availableSeats : Integer</ns7:t>
            </ns7:r>
            <ns7:endParaRPr lang="zh-CN" sz="1546"/>
          </ns7:p>
        </p:txBody>
      </p:sp>
      <p:sp>
        <p:nvSpPr>
          <p:cNvPr id="24" name="UML domain-class divider 24"/>
          <p:cNvSpPr/>
          <p:nvPr/>
        </p:nvSpPr>
        <p:spPr>
          <ns1:xfrm xmlns:ns1="http://schemas.openxmlformats.org/drawingml/2006/main">
            <ns1:off x="6246295" y="3026269"/>
            <ns1:ext cx="2239105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955311" h="952" fill="none" stroke="1" extrusionOk="0">
                <ns2:moveTo>
                  <ns2:pt x="0" y="0"/>
                </ns2:moveTo>
                <ns2:lnTo>
                  <ns2:pt x="195531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5" name="UML domain-class connection 25"/>
          <p:cNvSpPr/>
          <p:nvPr/>
        </p:nvSpPr>
        <p:spPr>
          <ns1:xfrm xmlns:ns1="http://schemas.openxmlformats.org/drawingml/2006/main">
            <ns1:off x="1394276" y="2686741"/>
            <ns1:ext cx="1196799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45112" h="952" fill="none" stroke="1" extrusionOk="0">
                <ns2:moveTo>
                  <ns2:pt x="0" y="0"/>
                </ns2:moveTo>
                <ns2:cubicBezTo>
                  <ns2:pt x="272072" y="0"/>
                  <ns2:pt x="669093" y="0"/>
                  <ns2:pt x="1045112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6" name="UML domain-class label 26"/>
          <p:cNvSpPr/>
          <p:nvPr/>
        </p:nvSpPr>
        <p:spPr>
          <ns1:xfrm xmlns:ns1="http://schemas.openxmlformats.org/drawingml/2006/main">
            <ns1:off x="2270941" y="2713355"/>
            <ns1:ext cx="378532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0..*</ns7:t>
            </ns7:r>
            <ns7:endParaRPr lang="zh-CN" sz="1546"/>
          </ns7:p>
        </p:txBody>
      </p:sp>
      <p:sp>
        <p:nvSpPr>
          <p:cNvPr id="27" name="UML domain-class label 27"/>
          <p:cNvSpPr/>
          <p:nvPr/>
        </p:nvSpPr>
        <p:spPr>
          <ns1:xfrm xmlns:ns1="http://schemas.openxmlformats.org/drawingml/2006/main">
            <ns1:off x="1401366" y="2713355"/>
            <ns1:ext cx="265051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1</ns7:t>
            </ns7:r>
            <ns7:endParaRPr lang="zh-CN" sz="1546"/>
          </ns7:p>
        </p:txBody>
      </p:sp>
      <p:sp>
        <p:nvSpPr>
          <p:cNvPr id="28" name="UML domain-class connection 28"/>
          <p:cNvSpPr/>
          <p:nvPr/>
        </p:nvSpPr>
        <p:spPr>
          <ns1:xfrm xmlns:ns1="http://schemas.openxmlformats.org/drawingml/2006/main">
            <ns1:off x="5039166" y="2686741"/>
            <ns1:ext cx="1195490" cy="1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43969" h="952" fill="none" stroke="1" extrusionOk="0">
                <ns2:moveTo>
                  <ns2:pt x="0" y="0"/>
                </ns2:moveTo>
                <ns2:cubicBezTo>
                  <ns2:pt x="338604" y="0"/>
                  <ns2:pt x="711584" y="0"/>
                  <ns2:pt x="1043969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0907">
            <ns4:solidFill>
              <ns4:srgbClr val="1F2A44"/>
            </ns4:solidFill>
          </ns4:ln>
        </p:spPr>
      </p:sp>
      <p:sp>
        <p:nvSpPr>
          <p:cNvPr id="29" name="UML domain-class label 29"/>
          <p:cNvSpPr/>
          <p:nvPr/>
        </p:nvSpPr>
        <p:spPr>
          <ns1:xfrm xmlns:ns1="http://schemas.openxmlformats.org/drawingml/2006/main">
            <ns1:off x="6121764" y="2713355"/>
            <ns1:ext cx="265051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1</ns7:t>
            </ns7:r>
            <ns7:endParaRPr lang="zh-CN" sz="1546"/>
          </ns7:p>
        </p:txBody>
      </p:sp>
      <p:sp>
        <p:nvSpPr>
          <p:cNvPr id="30" name="UML domain-class label 30"/>
          <p:cNvSpPr/>
          <p:nvPr/>
        </p:nvSpPr>
        <p:spPr>
          <ns1:xfrm xmlns:ns1="http://schemas.openxmlformats.org/drawingml/2006/main">
            <ns1:off x="5046256" y="2713355"/>
            <ns1:ext cx="378532" cy="2866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90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46" dirty="0">
                <ns7:solidFill>
                  <ns7:srgbClr val="1F2A44"/>
                </ns7:solidFill>
                <ns7:latin typeface="Noto Sans SC"/>
                <ns7:ea typeface="Noto Sans SC"/>
              </ns7:rPr>
              <ns7:t>0..*</ns7:t>
            </ns7:r>
            <ns7:endParaRPr lang="zh-CN" sz="1546"/>
          </ns7:p>
        </p:txBody>
      </p:sp>
      <p:sp>
        <p:nvSpPr>
          <p:cNvPr id="7" name="content-216">
            <a:extLst xmlns:a="http://schemas.openxmlformats.org/drawingml/2006/main">
              <a:ext uri="{FF2B5EF4-FFF2-40B4-BE49-F238E27FC236}">
                <a16:creationId xmlns:a16="http://schemas.microsoft.com/office/drawing/2014/main" id="{0CE7ECE3-E0B2-43E7-9AA7-2F96198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同一学生与同一开课班至多一条记录；多重性本身不保证这一约束。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8BBE-FA88-4E16-85F2-E6963213A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40c9182594c50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217">
            <a:extLst xmlns:a="http://schemas.openxmlformats.org/drawingml/2006/main">
              <a:ext uri="{FF2B5EF4-FFF2-40B4-BE49-F238E27FC236}">
                <a16:creationId xmlns:a16="http://schemas.microsoft.com/office/drawing/2014/main" id="{94237D62-2E4A-4484-BF43-F2C7614F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选课记录的业务状态</a:t>
            </a:r>
          </a:p>
        </p:txBody>
      </p:sp>
      <p:sp>
        <p:nvSpPr>
          <p:cNvPr id="2" name="frame-218">
            <a:extLst xmlns:a="http://schemas.openxmlformats.org/drawingml/2006/main">
              <a:ext uri="{FF2B5EF4-FFF2-40B4-BE49-F238E27FC236}">
                <a16:creationId xmlns:a16="http://schemas.microsoft.com/office/drawing/2014/main" id="{241B63C6-9D38-4CA9-9D8F-75C565C2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19">
            <a:extLst xmlns:a="http://schemas.openxmlformats.org/drawingml/2006/main">
              <a:ext uri="{FF2B5EF4-FFF2-40B4-BE49-F238E27FC236}">
                <a16:creationId xmlns:a16="http://schemas.microsoft.com/office/drawing/2014/main" id="{478214B3-9F83-4901-B4F3-E10ACBE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D52928C-99CA-4512-BC49-2DF6D27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CBF181E-A6D0-4F8B-8ADD-FEA07641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24 / 82</a:t>
            </a:r>
          </a:p>
        </p:txBody>
      </p:sp>
      <p:sp>
        <p:nvSpPr>
          <p:cNvPr id="10" name="UML domain-state box 10"/>
          <p:cNvSpPr/>
          <p:nvPr/>
        </p:nvSpPr>
        <p:spPr>
          <ns1:xfrm xmlns:ns1="http://schemas.openxmlformats.org/drawingml/2006/main">
            <ns1:off x="2604611" y="2366248"/>
            <ns1:ext cx="1067276" cy="648184"/>
          </ns1:xfrm>
          <ns2:prstGeom xmlns:ns2="http://schemas.openxmlformats.org/drawingml/2006/main" prst="roundRect">
            <ns2:avLst>
              <ns2:gd name="adj" fmla="val 17854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1" name="UML domain-state divider 11"/>
          <p:cNvSpPr/>
          <p:nvPr/>
        </p:nvSpPr>
        <p:spPr>
          <ns1:xfrm xmlns:ns1="http://schemas.openxmlformats.org/drawingml/2006/main">
            <ns1:off x="2604611" y="2885844"/>
            <ns1:ext cx="1067276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90575" h="952" fill="none" stroke="1" extrusionOk="0">
                <ns2:moveTo>
                  <ns2:pt x="0" y="0"/>
                </ns2:moveTo>
                <ns2:lnTo>
                  <ns2:pt x="79057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2" name="UML domain-state label 12"/>
          <p:cNvSpPr/>
          <p:nvPr/>
        </p:nvSpPr>
        <p:spPr>
          <ns1:xfrm xmlns:ns1="http://schemas.openxmlformats.org/drawingml/2006/main">
            <ns1:off x="2728698" y="2452145"/>
            <ns1:ext cx="904613" cy="39424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126" dirty="0">
                <ns7:solidFill>
                  <ns7:srgbClr val="000000"/>
                </ns7:solidFill>
                <ns7:latin typeface="Noto Sans SC"/>
                <ns7:ea typeface="Noto Sans SC"/>
              </ns7:rPr>
              <ns7:t>待处理</ns7:t>
            </ns7:r>
            <ns7:endParaRPr lang="zh-CN" sz="2126"/>
          </ns7:p>
        </p:txBody>
      </p:sp>
      <p:sp>
        <p:nvSpPr>
          <p:cNvPr id="13" name="UML domain-state box 13"/>
          <p:cNvSpPr/>
          <p:nvPr/>
        </p:nvSpPr>
        <p:spPr>
          <ns1:xfrm xmlns:ns1="http://schemas.openxmlformats.org/drawingml/2006/main">
            <ns1:off x="6140768" y="1929051"/>
            <ns1:ext cx="1067276" cy="648184"/>
          </ns1:xfrm>
          <ns2:prstGeom xmlns:ns2="http://schemas.openxmlformats.org/drawingml/2006/main" prst="roundRect">
            <ns2:avLst>
              <ns2:gd name="adj" fmla="val 17854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4" name="UML domain-state divider 14"/>
          <p:cNvSpPr/>
          <p:nvPr/>
        </p:nvSpPr>
        <p:spPr>
          <ns1:xfrm xmlns:ns1="http://schemas.openxmlformats.org/drawingml/2006/main">
            <ns1:off x="6140768" y="2448647"/>
            <ns1:ext cx="1067276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90575" h="952" fill="none" stroke="1" extrusionOk="0">
                <ns2:moveTo>
                  <ns2:pt x="0" y="0"/>
                </ns2:moveTo>
                <ns2:lnTo>
                  <ns2:pt x="79057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5" name="UML domain-state label 15"/>
          <p:cNvSpPr/>
          <p:nvPr/>
        </p:nvSpPr>
        <p:spPr>
          <ns1:xfrm xmlns:ns1="http://schemas.openxmlformats.org/drawingml/2006/main">
            <ns1:off x="6264854" y="2014947"/>
            <ns1:ext cx="904613" cy="39424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126" dirty="0">
                <ns7:solidFill>
                  <ns7:srgbClr val="000000"/>
                </ns7:solidFill>
                <ns7:latin typeface="Noto Sans SC"/>
                <ns7:ea typeface="Noto Sans SC"/>
              </ns7:rPr>
              <ns7:t>已确认</ns7:t>
            </ns7:r>
            <ns7:endParaRPr lang="zh-CN" sz="2126"/>
          </ns7:p>
        </p:txBody>
      </p:sp>
      <p:sp>
        <p:nvSpPr>
          <p:cNvPr id="16" name="UML domain-state box 16"/>
          <p:cNvSpPr/>
          <p:nvPr/>
        </p:nvSpPr>
        <p:spPr>
          <ns1:xfrm xmlns:ns1="http://schemas.openxmlformats.org/drawingml/2006/main">
            <ns1:off x="6140768" y="2803446"/>
            <ns1:ext cx="1067276" cy="648184"/>
          </ns1:xfrm>
          <ns2:prstGeom xmlns:ns2="http://schemas.openxmlformats.org/drawingml/2006/main" prst="roundRect">
            <ns2:avLst>
              <ns2:gd name="adj" fmla="val 17854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7" name="UML domain-state divider 17"/>
          <p:cNvSpPr/>
          <p:nvPr/>
        </p:nvSpPr>
        <p:spPr>
          <ns1:xfrm xmlns:ns1="http://schemas.openxmlformats.org/drawingml/2006/main">
            <ns1:off x="6140768" y="3323042"/>
            <ns1:ext cx="1067276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90575" h="952" fill="none" stroke="1" extrusionOk="0">
                <ns2:moveTo>
                  <ns2:pt x="0" y="0"/>
                </ns2:moveTo>
                <ns2:lnTo>
                  <ns2:pt x="79057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8" name="UML domain-state label 18"/>
          <p:cNvSpPr/>
          <p:nvPr/>
        </p:nvSpPr>
        <p:spPr>
          <ns1:xfrm xmlns:ns1="http://schemas.openxmlformats.org/drawingml/2006/main">
            <ns1:off x="6264854" y="2889342"/>
            <ns1:ext cx="904613" cy="39424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126" dirty="0">
                <ns7:solidFill>
                  <ns7:srgbClr val="000000"/>
                </ns7:solidFill>
                <ns7:latin typeface="Noto Sans SC"/>
                <ns7:ea typeface="Noto Sans SC"/>
              </ns7:rPr>
              <ns7:t>已拒绝</ns7:t>
            </ns7:r>
            <ns7:endParaRPr lang="zh-CN" sz="2126"/>
          </ns7:p>
        </p:txBody>
      </p:sp>
      <p:sp>
        <p:nvSpPr>
          <p:cNvPr id="19" name="UML domain-state anchor 19"/>
          <p:cNvSpPr/>
          <p:nvPr/>
        </p:nvSpPr>
        <p:spPr>
          <ns1:xfrm xmlns:ns1="http://schemas.openxmlformats.org/drawingml/2006/main">
            <ns1:off x="1871662" y="2533412"/>
            <ns1:ext cx="257175" cy="257175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000000"/>
            </ns4:solidFill>
          </ns4:ln>
        </p:spPr>
      </p:sp>
      <p:sp>
        <p:nvSpPr>
          <p:cNvPr id="20" name="UML domain-state arrow 20"/>
          <p:cNvSpPr/>
          <p:nvPr/>
        </p:nvSpPr>
        <p:spPr>
          <ns1:xfrm xmlns:ns1="http://schemas.openxmlformats.org/drawingml/2006/main">
            <ns1:off x="2487918" y="2636282"/>
            <ns1:ext cx="115729" cy="10287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5725" h="76200" fill="norm" stroke="1" extrusionOk="0">
                <ns2:moveTo>
                  <ns2:pt x="85725" y="38100"/>
                </ns2:moveTo>
                <ns2:lnTo>
                  <ns2:pt x="0" y="0"/>
                </ns2:lnTo>
                <ns2:lnTo>
                  <ns2:pt x="38100" y="38100"/>
                </ns2:lnTo>
                <ns2:lnTo>
                  <ns2:pt x="0" y="76200"/>
                </ns2:lnTo>
                <ns2:lnTo>
                  <ns2:pt x="85725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1" name="UML domain-state connection 21"/>
          <p:cNvSpPr/>
          <p:nvPr/>
        </p:nvSpPr>
        <p:spPr>
          <ns1:xfrm xmlns:ns1="http://schemas.openxmlformats.org/drawingml/2006/main">
            <ns1:off x="2132142" y="2687717"/>
            <ns1:ext cx="407211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01638" h="952" fill="none" stroke="1" extrusionOk="0">
                <ns2:moveTo>
                  <ns2:pt x="0" y="0"/>
                </ns2:moveTo>
                <ns2:cubicBezTo>
                  <ns2:pt x="84687" y="0"/>
                  <ns2:pt x="171059" y="0"/>
                  <ns2:pt x="301638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2" name="UML domain-state arrow 22"/>
          <p:cNvSpPr/>
          <p:nvPr/>
        </p:nvSpPr>
        <p:spPr>
          <ns1:xfrm xmlns:ns1="http://schemas.openxmlformats.org/drawingml/2006/main">
            <ns1:off x="6015729" y="2279117"/>
            <ns1:ext cx="121194" cy="1020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9773" h="75619" fill="norm" stroke="1" extrusionOk="0">
                <ns2:moveTo>
                  <ns2:pt x="89773" y="27213"/>
                </ns2:moveTo>
                <ns2:lnTo>
                  <ns2:pt x="0" y="0"/>
                </ns2:lnTo>
                <ns2:lnTo>
                  <ns2:pt x="42520" y="33099"/>
                </ns2:lnTo>
                <ns2:lnTo>
                  <ns2:pt x="9420" y="75619"/>
                </ns2:lnTo>
                <ns2:lnTo>
                  <ns2:pt x="89773" y="27213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3" name="UML domain-state connection 23"/>
          <p:cNvSpPr/>
          <p:nvPr/>
        </p:nvSpPr>
        <p:spPr>
          <ns1:xfrm xmlns:ns1="http://schemas.openxmlformats.org/drawingml/2006/main">
            <ns1:off x="3672865" y="2323801"/>
            <ns1:ext cx="2400266" cy="29894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77975" h="221437" fill="none" stroke="1" extrusionOk="0">
                <ns2:moveTo>
                  <ns2:pt x="0" y="221437"/>
                </ns2:moveTo>
                <ns2:cubicBezTo>
                  <ns2:pt x="490928" y="160296"/>
                  <ns2:pt x="1286027" y="61265"/>
                  <ns2:pt x="1777975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4" name="UML domain-state label 24"/>
          <p:cNvSpPr/>
          <p:nvPr/>
        </p:nvSpPr>
        <p:spPr>
          <ns1:xfrm xmlns:ns1="http://schemas.openxmlformats.org/drawingml/2006/main">
            <ns1:off x="3924562" y="2011861"/>
            <ns1:ext cx="2038678" cy="3379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22" dirty="0">
                <ns7:solidFill>
                  <ns7:srgbClr val="1F2A44"/>
                </ns7:solidFill>
                <ns7:latin typeface="Noto Sans SC"/>
                <ns7:ea typeface="Noto Sans SC"/>
              </ns7:rPr>
              <ns7:t>确认决定 [余量 &gt; 0]</ns7:t>
            </ns7:r>
            <ns7:endParaRPr lang="zh-CN" sz="1822"/>
          </ns7:p>
        </p:txBody>
      </p:sp>
      <p:sp>
        <p:nvSpPr>
          <p:cNvPr id="25" name="UML domain-state arrow 25"/>
          <p:cNvSpPr/>
          <p:nvPr/>
        </p:nvSpPr>
        <p:spPr>
          <ns1:xfrm xmlns:ns1="http://schemas.openxmlformats.org/drawingml/2006/main">
            <ns1:off x="6021451" y="3124349"/>
            <ns1:ext cx="118571" cy="10269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7830" h="76067" fill="norm" stroke="1" extrusionOk="0">
                <ns2:moveTo>
                  <ns2:pt x="87830" y="32966"/>
                </ns2:moveTo>
                <ns2:lnTo>
                  <ns2:pt x="0" y="0"/>
                </ns2:lnTo>
                <ns2:lnTo>
                  <ns2:pt x="40291" y="35776"/>
                </ns2:lnTo>
                <ns2:lnTo>
                  <ns2:pt x="4505" y="76067"/>
                </ns2:lnTo>
                <ns2:lnTo>
                  <ns2:pt x="87830" y="32966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6" name="UML domain-state connection 26"/>
          <p:cNvSpPr/>
          <p:nvPr/>
        </p:nvSpPr>
        <p:spPr>
          <ns1:xfrm xmlns:ns1="http://schemas.openxmlformats.org/drawingml/2006/main">
            <ns1:off x="3675874" y="2961647"/>
            <ns1:ext cx="2399970" cy="25375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77756" h="187966" fill="none" stroke="1" extrusionOk="0">
                <ns2:moveTo>
                  <ns2:pt x="0" y="0"/>
                </ns2:moveTo>
                <ns2:cubicBezTo>
                  <ns2:pt x="55350" y="21898"/>
                  <ns2:pt x="112509" y="41005"/>
                  <ns2:pt x="168497" y="54264"/>
                </ns2:cubicBezTo>
                <ns2:cubicBezTo>
                  <ns2:pt x="733139" y="187966"/>
                  <ns2:pt x="1362389" y="180899"/>
                  <ns2:pt x="1777756" y="156296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7" name="UML domain-state label 27"/>
          <p:cNvSpPr/>
          <p:nvPr/>
        </p:nvSpPr>
        <p:spPr>
          <ns1:xfrm xmlns:ns1="http://schemas.openxmlformats.org/drawingml/2006/main">
            <ns1:off x="3924562" y="2693375"/>
            <ns1:ext cx="2038678" cy="3379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22" dirty="0">
                <ns7:solidFill>
                  <ns7:srgbClr val="1F2A44"/>
                </ns7:solidFill>
                <ns7:latin typeface="Noto Sans SC"/>
                <ns7:ea typeface="Noto Sans SC"/>
              </ns7:rPr>
              <ns7:t>拒绝决定 [余量 = 0]</ns7:t>
            </ns7:r>
            <ns7:endParaRPr lang="zh-CN" sz="1822"/>
          </ns7:p>
        </p:txBody>
      </p:sp>
      <p:sp>
        <p:nvSpPr>
          <p:cNvPr id="7" name="content-220">
            <a:extLst xmlns:a="http://schemas.openxmlformats.org/drawingml/2006/main">
              <a:ext uri="{FF2B5EF4-FFF2-40B4-BE49-F238E27FC236}">
                <a16:creationId xmlns:a16="http://schemas.microsoft.com/office/drawing/2014/main" id="{35126D78-81FB-4857-B5DA-BADF7E7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业务状态约束在设计中继续有效；保存结果另由用例规约要求。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525B4-7A53-47CF-B914-D594C9D2B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24ae12a46424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221">
            <a:extLst xmlns:a="http://schemas.openxmlformats.org/drawingml/2006/main">
              <a:ext uri="{FF2B5EF4-FFF2-40B4-BE49-F238E27FC236}">
                <a16:creationId xmlns:a16="http://schemas.microsoft.com/office/drawing/2014/main" id="{3109FB23-A68F-47A4-9695-9CB05FD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02 小结：业务信息与软件职责</a:t>
            </a:r>
          </a:p>
        </p:txBody>
      </p:sp>
      <p:sp>
        <p:nvSpPr>
          <p:cNvPr id="2" name="frame-222">
            <a:extLst xmlns:a="http://schemas.openxmlformats.org/drawingml/2006/main">
              <a:ext uri="{FF2B5EF4-FFF2-40B4-BE49-F238E27FC236}">
                <a16:creationId xmlns:a16="http://schemas.microsoft.com/office/drawing/2014/main" id="{4D37B417-CC84-4267-A2C0-DB5773F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23">
            <a:extLst xmlns:a="http://schemas.openxmlformats.org/drawingml/2006/main">
              <a:ext uri="{FF2B5EF4-FFF2-40B4-BE49-F238E27FC236}">
                <a16:creationId xmlns:a16="http://schemas.microsoft.com/office/drawing/2014/main" id="{2CB206FF-17F8-4C04-BE55-A5838DF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CCE643B-46FB-4CDE-8010-1071A366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02 领域模型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97523A1-39CF-40C6-AFD1-BC43A348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25 / 82</a:t>
            </a:r>
          </a:p>
        </p:txBody>
      </p:sp>
      <p:sp>
        <p:nvSpPr>
          <p:cNvPr id="6" name="content-224">
            <a:extLst xmlns:a="http://schemas.openxmlformats.org/drawingml/2006/main">
              <a:ext uri="{FF2B5EF4-FFF2-40B4-BE49-F238E27FC236}">
                <a16:creationId xmlns:a16="http://schemas.microsoft.com/office/drawing/2014/main" id="{3DD1C57A-EAA7-4182-ADDC-B0DC38A6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领域模型已明确</a:t>
            </a:r>
          </a:p>
        </p:txBody>
      </p:sp>
      <p:sp>
        <p:nvSpPr>
          <p:cNvPr id="7" name="content-225">
            <a:extLst xmlns:a="http://schemas.openxmlformats.org/drawingml/2006/main">
              <a:ext uri="{FF2B5EF4-FFF2-40B4-BE49-F238E27FC236}">
                <a16:creationId xmlns:a16="http://schemas.microsoft.com/office/drawing/2014/main" id="{B762B4CD-0CB1-4161-A58B-1072B90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状态属于选课记录，余量属于开课班。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概念及其含义应有业务依据，不能只按名词建类。</a:t>
            </a:r>
          </a:p>
        </p:txBody>
      </p:sp>
      <p:sp>
        <p:nvSpPr>
          <p:cNvPr id="8" name="frame-226">
            <a:extLst xmlns:a="http://schemas.openxmlformats.org/drawingml/2006/main">
              <a:ext uri="{FF2B5EF4-FFF2-40B4-BE49-F238E27FC236}">
                <a16:creationId xmlns:a16="http://schemas.microsoft.com/office/drawing/2014/main" id="{FFBC5AA4-FC70-4002-A0D8-1BFAC51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27">
            <a:extLst xmlns:a="http://schemas.openxmlformats.org/drawingml/2006/main">
              <a:ext uri="{FF2B5EF4-FFF2-40B4-BE49-F238E27FC236}">
                <a16:creationId xmlns:a16="http://schemas.microsoft.com/office/drawing/2014/main" id="{C9702436-A547-4283-9D74-86C6CEE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必须遵守的规则</a:t>
            </a:r>
          </a:p>
        </p:txBody>
      </p:sp>
      <p:sp>
        <p:nvSpPr>
          <p:cNvPr id="10" name="content-228">
            <a:extLst xmlns:a="http://schemas.openxmlformats.org/drawingml/2006/main">
              <a:ext uri="{FF2B5EF4-FFF2-40B4-BE49-F238E27FC236}">
                <a16:creationId xmlns:a16="http://schemas.microsoft.com/office/drawing/2014/main" id="{4BBDB5A0-25EF-45C1-9836-F10C4226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多重性说明关联数量；配对唯一和状态规则另行约定。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这些业务含义不随软件结构的变化而改变。</a:t>
            </a:r>
          </a:p>
        </p:txBody>
      </p:sp>
      <p:sp>
        <p:nvSpPr>
          <p:cNvPr id="11" name="frame-229">
            <a:extLst xmlns:a="http://schemas.openxmlformats.org/drawingml/2006/main">
              <a:ext uri="{FF2B5EF4-FFF2-40B4-BE49-F238E27FC236}">
                <a16:creationId xmlns:a16="http://schemas.microsoft.com/office/drawing/2014/main" id="{33B7360C-3EEF-4241-BC33-67CF8165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30">
            <a:extLst xmlns:a="http://schemas.openxmlformats.org/drawingml/2006/main">
              <a:ext uri="{FF2B5EF4-FFF2-40B4-BE49-F238E27FC236}">
                <a16:creationId xmlns:a16="http://schemas.microsoft.com/office/drawing/2014/main" id="{41120BB4-9EDA-45ED-A557-EA4D01E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下一步：分析</a:t>
            </a:r>
          </a:p>
        </p:txBody>
      </p:sp>
      <p:sp>
        <p:nvSpPr>
          <p:cNvPr id="13" name="content-231">
            <a:extLst xmlns:a="http://schemas.openxmlformats.org/drawingml/2006/main">
              <a:ext uri="{FF2B5EF4-FFF2-40B4-BE49-F238E27FC236}">
                <a16:creationId xmlns:a16="http://schemas.microsoft.com/office/drawing/2014/main" id="{E9858499-909A-4AA8-BD51-E906B30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用例已说明软件要做什么，领域模型已说明信息属于谁。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还需安排软件内部由哪些对象协作完成处理。</a:t>
            </a:r>
          </a:p>
        </p:txBody>
      </p:sp>
      <p:sp>
        <p:nvSpPr>
          <p:cNvPr id="14" name="content-232">
            <a:extLst xmlns:a="http://schemas.openxmlformats.org/drawingml/2006/main">
              <a:ext uri="{FF2B5EF4-FFF2-40B4-BE49-F238E27FC236}">
                <a16:creationId xmlns:a16="http://schemas.microsoft.com/office/drawing/2014/main" id="{20A65852-DA1E-4BFF-9342-BE12651B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领域模型用于统一业务理解；本例“拒绝仍保留记录”不能照搬到其他业务。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02FE0-7C2A-4765-BD1C-C0760EF7B3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a01af7b21459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233">
            <a:extLst xmlns:a="http://schemas.openxmlformats.org/drawingml/2006/main">
              <a:ext uri="{FF2B5EF4-FFF2-40B4-BE49-F238E27FC236}">
                <a16:creationId xmlns:a16="http://schemas.microsoft.com/office/drawing/2014/main" id="{EE51D98B-AD81-4C70-96C9-9778CFF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03 分析模型：职责与协作</a:t>
            </a:r>
          </a:p>
        </p:txBody>
      </p:sp>
      <p:sp>
        <p:nvSpPr>
          <p:cNvPr id="2" name="frame-234">
            <a:extLst xmlns:a="http://schemas.openxmlformats.org/drawingml/2006/main">
              <a:ext uri="{FF2B5EF4-FFF2-40B4-BE49-F238E27FC236}">
                <a16:creationId xmlns:a16="http://schemas.microsoft.com/office/drawing/2014/main" id="{C32C9824-19E8-4790-BCB5-CA7A7AA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35">
            <a:extLst xmlns:a="http://schemas.openxmlformats.org/drawingml/2006/main">
              <a:ext uri="{FF2B5EF4-FFF2-40B4-BE49-F238E27FC236}">
                <a16:creationId xmlns:a16="http://schemas.microsoft.com/office/drawing/2014/main" id="{410E9D10-4D5E-48FC-BA98-AD741A3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EC9C694-971F-4C3B-9F7B-636F8ACF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3A5F391-A260-45F8-82B5-5FEF186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26 / 82</a:t>
            </a:r>
          </a:p>
        </p:txBody>
      </p:sp>
      <p:sp>
        <p:nvSpPr>
          <p:cNvPr id="6" name="content-236">
            <a:extLst xmlns:a="http://schemas.openxmlformats.org/drawingml/2006/main">
              <a:ext uri="{FF2B5EF4-FFF2-40B4-BE49-F238E27FC236}">
                <a16:creationId xmlns:a16="http://schemas.microsoft.com/office/drawing/2014/main" id="{B98F0AD5-C644-41EA-9A3E-B461F30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定义（RUP）</a:t>
            </a:r>
          </a:p>
        </p:txBody>
      </p:sp>
      <p:sp>
        <p:nvSpPr>
          <p:cNvPr id="7" name="content-237">
            <a:extLst xmlns:a="http://schemas.openxmlformats.org/drawingml/2006/main">
              <a:ext uri="{FF2B5EF4-FFF2-40B4-BE49-F238E27FC236}">
                <a16:creationId xmlns:a16="http://schemas.microsoft.com/office/drawing/2014/main" id="{B0C726F3-3B37-4873-9C35-18B74D28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从软件内部说明主要职责与协作，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描述对象如何共同完成用例。</a:t>
            </a:r>
          </a:p>
        </p:txBody>
      </p:sp>
      <p:sp>
        <p:nvSpPr>
          <p:cNvPr id="8" name="frame-238">
            <a:extLst xmlns:a="http://schemas.openxmlformats.org/drawingml/2006/main">
              <a:ext uri="{FF2B5EF4-FFF2-40B4-BE49-F238E27FC236}">
                <a16:creationId xmlns:a16="http://schemas.microsoft.com/office/drawing/2014/main" id="{30443CBE-28CC-4323-9618-D0013DE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39">
            <a:extLst xmlns:a="http://schemas.openxmlformats.org/drawingml/2006/main">
              <a:ext uri="{FF2B5EF4-FFF2-40B4-BE49-F238E27FC236}">
                <a16:creationId xmlns:a16="http://schemas.microsoft.com/office/drawing/2014/main" id="{702CC399-9EE1-42FA-8772-F5C6BDA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主要内容</a:t>
            </a:r>
          </a:p>
        </p:txBody>
      </p:sp>
      <p:sp>
        <p:nvSpPr>
          <p:cNvPr id="10" name="content-240">
            <a:extLst xmlns:a="http://schemas.openxmlformats.org/drawingml/2006/main">
              <a:ext uri="{FF2B5EF4-FFF2-40B4-BE49-F238E27FC236}">
                <a16:creationId xmlns:a16="http://schemas.microsoft.com/office/drawing/2014/main" id="{F86E7F37-597B-4754-A14A-8053B0E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用分析类说明职责，用交互场景检查配合。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“用例实现”在这里指协作说明，尚非程序实现。</a:t>
            </a:r>
          </a:p>
        </p:txBody>
      </p:sp>
      <p:sp>
        <p:nvSpPr>
          <p:cNvPr id="11" name="frame-241">
            <a:extLst xmlns:a="http://schemas.openxmlformats.org/drawingml/2006/main">
              <a:ext uri="{FF2B5EF4-FFF2-40B4-BE49-F238E27FC236}">
                <a16:creationId xmlns:a16="http://schemas.microsoft.com/office/drawing/2014/main" id="{AE55E379-E60E-4BA6-9367-C5608FD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42">
            <a:extLst xmlns:a="http://schemas.openxmlformats.org/drawingml/2006/main">
              <a:ext uri="{FF2B5EF4-FFF2-40B4-BE49-F238E27FC236}">
                <a16:creationId xmlns:a16="http://schemas.microsoft.com/office/drawing/2014/main" id="{853EBA1C-33BA-4F6B-97CA-B8C85F89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本章范围</a:t>
            </a:r>
          </a:p>
        </p:txBody>
      </p:sp>
      <p:sp>
        <p:nvSpPr>
          <p:cNvPr id="13" name="content-243">
            <a:extLst xmlns:a="http://schemas.openxmlformats.org/drawingml/2006/main">
              <a:ext uri="{FF2B5EF4-FFF2-40B4-BE49-F238E27FC236}">
                <a16:creationId xmlns:a16="http://schemas.microsoft.com/office/drawing/2014/main" id="{08F4AE87-CA94-48A7-904F-E2AF3C6E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保留业务规则与用例约定。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暂不确定具体编程框架、数据表和部署节点。</a:t>
            </a:r>
          </a:p>
        </p:txBody>
      </p:sp>
      <p:sp>
        <p:nvSpPr>
          <p:cNvPr id="14" name="content-244">
            <a:extLst xmlns:a="http://schemas.openxmlformats.org/drawingml/2006/main">
              <a:ext uri="{FF2B5EF4-FFF2-40B4-BE49-F238E27FC236}">
                <a16:creationId xmlns:a16="http://schemas.microsoft.com/office/drawing/2014/main" id="{213C8B10-4AC8-4F97-8932-1A0E1FF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分析模型为设计提供职责方案；具体接口与技术选择还需细化。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2B4A6-85E6-4FFF-87B7-1150B7E80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ccc1b2b3d404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245">
            <a:extLst xmlns:a="http://schemas.openxmlformats.org/drawingml/2006/main">
              <a:ext uri="{FF2B5EF4-FFF2-40B4-BE49-F238E27FC236}">
                <a16:creationId xmlns:a16="http://schemas.microsoft.com/office/drawing/2014/main" id="{65B1659C-4491-4D2C-947E-8D448A7D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开课班余量与读取职责</a:t>
            </a:r>
          </a:p>
        </p:txBody>
      </p:sp>
      <p:sp>
        <p:nvSpPr>
          <p:cNvPr id="2" name="frame-246">
            <a:extLst xmlns:a="http://schemas.openxmlformats.org/drawingml/2006/main">
              <a:ext uri="{FF2B5EF4-FFF2-40B4-BE49-F238E27FC236}">
                <a16:creationId xmlns:a16="http://schemas.microsoft.com/office/drawing/2014/main" id="{EA1DC08E-A066-459A-B6D0-5D2FAF6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47">
            <a:extLst xmlns:a="http://schemas.openxmlformats.org/drawingml/2006/main">
              <a:ext uri="{FF2B5EF4-FFF2-40B4-BE49-F238E27FC236}">
                <a16:creationId xmlns:a16="http://schemas.microsoft.com/office/drawing/2014/main" id="{E646278B-1F1F-4604-88FB-7730D4AB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7BF7F36-3494-4B61-92DA-79087D5A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5982251-9835-4E5A-9003-1EFD70E1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27 / 82</a:t>
            </a:r>
          </a:p>
        </p:txBody>
      </p:sp>
      <p:sp>
        <p:nvSpPr>
          <p:cNvPr id="6" name="content-248">
            <a:extLst xmlns:a="http://schemas.openxmlformats.org/drawingml/2006/main">
              <a:ext uri="{FF2B5EF4-FFF2-40B4-BE49-F238E27FC236}">
                <a16:creationId xmlns:a16="http://schemas.microsoft.com/office/drawing/2014/main" id="{C5954A3E-064F-44F9-9EB9-73B65F9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业务信息</a:t>
            </a:r>
          </a:p>
        </p:txBody>
      </p:sp>
      <p:sp>
        <p:nvSpPr>
          <p:cNvPr id="7" name="content-249">
            <a:extLst xmlns:a="http://schemas.openxmlformats.org/drawingml/2006/main">
              <a:ext uri="{FF2B5EF4-FFF2-40B4-BE49-F238E27FC236}">
                <a16:creationId xmlns:a16="http://schemas.microsoft.com/office/drawing/2014/main" id="{2CC1FA8B-E22D-4D5C-BE21-74F5DB1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CourseOffering表示开课班；availableSeats表示其余量。</a:t>
            </a:r>
          </a:p>
        </p:txBody>
      </p:sp>
      <p:sp>
        <p:nvSpPr>
          <p:cNvPr id="8" name="frame-250">
            <a:extLst xmlns:a="http://schemas.openxmlformats.org/drawingml/2006/main">
              <a:ext uri="{FF2B5EF4-FFF2-40B4-BE49-F238E27FC236}">
                <a16:creationId xmlns:a16="http://schemas.microsoft.com/office/drawing/2014/main" id="{C0BC848B-66C1-4691-A55E-0998EFC9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51">
            <a:extLst xmlns:a="http://schemas.openxmlformats.org/drawingml/2006/main">
              <a:ext uri="{FF2B5EF4-FFF2-40B4-BE49-F238E27FC236}">
                <a16:creationId xmlns:a16="http://schemas.microsoft.com/office/drawing/2014/main" id="{D5138AEF-9EFB-496A-B318-21869BA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职责安排</a:t>
            </a:r>
          </a:p>
        </p:txBody>
      </p:sp>
      <p:sp>
        <p:nvSpPr>
          <p:cNvPr id="10" name="content-252">
            <a:extLst xmlns:a="http://schemas.openxmlformats.org/drawingml/2006/main">
              <a:ext uri="{FF2B5EF4-FFF2-40B4-BE49-F238E27FC236}">
                <a16:creationId xmlns:a16="http://schemas.microsoft.com/office/drawing/2014/main" id="{A15660F8-6342-4B81-B3DD-458CE10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由CourseOffering提供余量；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控制对象据此协调本次处理。</a:t>
            </a:r>
          </a:p>
        </p:txBody>
      </p:sp>
      <p:sp>
        <p:nvSpPr>
          <p:cNvPr id="11" name="frame-253">
            <a:extLst xmlns:a="http://schemas.openxmlformats.org/drawingml/2006/main">
              <a:ext uri="{FF2B5EF4-FFF2-40B4-BE49-F238E27FC236}">
                <a16:creationId xmlns:a16="http://schemas.microsoft.com/office/drawing/2014/main" id="{542B0157-91E9-46B0-997F-6C8B5158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54">
            <a:extLst xmlns:a="http://schemas.openxmlformats.org/drawingml/2006/main">
              <a:ext uri="{FF2B5EF4-FFF2-40B4-BE49-F238E27FC236}">
                <a16:creationId xmlns:a16="http://schemas.microsoft.com/office/drawing/2014/main" id="{FD60D976-8027-4D3D-A84A-69A27048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分配理由</a:t>
            </a:r>
          </a:p>
        </p:txBody>
      </p:sp>
      <p:sp>
        <p:nvSpPr>
          <p:cNvPr id="13" name="content-255">
            <a:extLst xmlns:a="http://schemas.openxmlformats.org/drawingml/2006/main">
              <a:ext uri="{FF2B5EF4-FFF2-40B4-BE49-F238E27FC236}">
                <a16:creationId xmlns:a16="http://schemas.microsoft.com/office/drawing/2014/main" id="{7A99DF2E-5FA9-4EAF-AFEE-DF5F06F4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余量属于对应开课班，由它提供信息有明确依据。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这还不能决定整个用例的全部职责。</a:t>
            </a:r>
          </a:p>
        </p:txBody>
      </p:sp>
      <p:sp>
        <p:nvSpPr>
          <p:cNvPr id="14" name="content-256">
            <a:extLst xmlns:a="http://schemas.openxmlformats.org/drawingml/2006/main">
              <a:ext uri="{FF2B5EF4-FFF2-40B4-BE49-F238E27FC236}">
                <a16:creationId xmlns:a16="http://schemas.microsoft.com/office/drawing/2014/main" id="{B1F97ACB-A31F-4765-A8AD-B97B0CB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这是一种职责安排；业务规则相同，并不要求所有项目采用相同结构。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7C649-8617-4AAC-BEE3-ACFE7E39A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aa84efbb3494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257">
            <a:extLst xmlns:a="http://schemas.openxmlformats.org/drawingml/2006/main">
              <a:ext uri="{FF2B5EF4-FFF2-40B4-BE49-F238E27FC236}">
                <a16:creationId xmlns:a16="http://schemas.microsoft.com/office/drawing/2014/main" id="{1D708EC0-B422-47E4-B05C-4EA54FB4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练习：分配处理职责</a:t>
            </a:r>
          </a:p>
        </p:txBody>
      </p:sp>
      <p:sp>
        <p:nvSpPr>
          <p:cNvPr id="2" name="frame-258">
            <a:extLst xmlns:a="http://schemas.openxmlformats.org/drawingml/2006/main">
              <a:ext uri="{FF2B5EF4-FFF2-40B4-BE49-F238E27FC236}">
                <a16:creationId xmlns:a16="http://schemas.microsoft.com/office/drawing/2014/main" id="{7B796DC8-0766-41C6-9901-9875E34E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59">
            <a:extLst xmlns:a="http://schemas.openxmlformats.org/drawingml/2006/main">
              <a:ext uri="{FF2B5EF4-FFF2-40B4-BE49-F238E27FC236}">
                <a16:creationId xmlns:a16="http://schemas.microsoft.com/office/drawing/2014/main" id="{70E83E1F-3CCC-442C-9D07-88801211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FB2A480-6F6A-48BD-8A56-01197B4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D2D2C88-A7A5-4440-A4DE-897381A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28 / 82</a:t>
            </a:r>
          </a:p>
        </p:txBody>
      </p:sp>
      <p:sp>
        <p:nvSpPr>
          <p:cNvPr id="6" name="content-260">
            <a:extLst xmlns:a="http://schemas.openxmlformats.org/drawingml/2006/main">
              <a:ext uri="{FF2B5EF4-FFF2-40B4-BE49-F238E27FC236}">
                <a16:creationId xmlns:a16="http://schemas.microsoft.com/office/drawing/2014/main" id="{02662E02-B86D-4591-A344-4534403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已给职责</a:t>
            </a:r>
          </a:p>
        </p:txBody>
      </p:sp>
      <p:sp>
        <p:nvSpPr>
          <p:cNvPr id="7" name="content-261">
            <a:extLst xmlns:a="http://schemas.openxmlformats.org/drawingml/2006/main">
              <a:ext uri="{FF2B5EF4-FFF2-40B4-BE49-F238E27FC236}">
                <a16:creationId xmlns:a16="http://schemas.microsoft.com/office/drawing/2014/main" id="{31E5DA69-5552-4D4B-BBCC-0BABF84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CourseOffering提供对应开课班的余量。</a:t>
            </a:r>
          </a:p>
        </p:txBody>
      </p:sp>
      <p:sp>
        <p:nvSpPr>
          <p:cNvPr id="8" name="frame-262">
            <a:extLst xmlns:a="http://schemas.openxmlformats.org/drawingml/2006/main">
              <a:ext uri="{FF2B5EF4-FFF2-40B4-BE49-F238E27FC236}">
                <a16:creationId xmlns:a16="http://schemas.microsoft.com/office/drawing/2014/main" id="{0ED38183-0FE2-4646-92AB-B8CB6D5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63">
            <a:extLst xmlns:a="http://schemas.openxmlformats.org/drawingml/2006/main">
              <a:ext uri="{FF2B5EF4-FFF2-40B4-BE49-F238E27FC236}">
                <a16:creationId xmlns:a16="http://schemas.microsoft.com/office/drawing/2014/main" id="{F02B319E-D961-4C25-8327-735224C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待分配①</a:t>
            </a:r>
          </a:p>
        </p:txBody>
      </p:sp>
      <p:sp>
        <p:nvSpPr>
          <p:cNvPr id="10" name="content-264">
            <a:extLst xmlns:a="http://schemas.openxmlformats.org/drawingml/2006/main">
              <a:ext uri="{FF2B5EF4-FFF2-40B4-BE49-F238E27FC236}">
                <a16:creationId xmlns:a16="http://schemas.microsoft.com/office/drawing/2014/main" id="{3B0FDF3A-ED84-4F43-A7C8-02534A1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接收处理请求，并向学生显示结果。</a:t>
            </a:r>
          </a:p>
        </p:txBody>
      </p:sp>
      <p:sp>
        <p:nvSpPr>
          <p:cNvPr id="11" name="frame-265">
            <a:extLst xmlns:a="http://schemas.openxmlformats.org/drawingml/2006/main">
              <a:ext uri="{FF2B5EF4-FFF2-40B4-BE49-F238E27FC236}">
                <a16:creationId xmlns:a16="http://schemas.microsoft.com/office/drawing/2014/main" id="{C127B941-D6BF-4518-85A3-39AEBDB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66">
            <a:extLst xmlns:a="http://schemas.openxmlformats.org/drawingml/2006/main">
              <a:ext uri="{FF2B5EF4-FFF2-40B4-BE49-F238E27FC236}">
                <a16:creationId xmlns:a16="http://schemas.microsoft.com/office/drawing/2014/main" id="{DF669A9D-0027-4CBB-85E6-45595CD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待分配②</a:t>
            </a:r>
          </a:p>
        </p:txBody>
      </p:sp>
      <p:sp>
        <p:nvSpPr>
          <p:cNvPr id="13" name="content-267">
            <a:extLst xmlns:a="http://schemas.openxmlformats.org/drawingml/2006/main">
              <a:ext uri="{FF2B5EF4-FFF2-40B4-BE49-F238E27FC236}">
                <a16:creationId xmlns:a16="http://schemas.microsoft.com/office/drawing/2014/main" id="{5E6728D4-ECD1-4087-8FEC-5A3814AC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组织余量判断、状态处理与结果保留。</a:t>
            </a:r>
          </a:p>
        </p:txBody>
      </p:sp>
      <p:sp>
        <p:nvSpPr>
          <p:cNvPr id="14" name="frame-268">
            <a:extLst xmlns:a="http://schemas.openxmlformats.org/drawingml/2006/main">
              <a:ext uri="{FF2B5EF4-FFF2-40B4-BE49-F238E27FC236}">
                <a16:creationId xmlns:a16="http://schemas.microsoft.com/office/drawing/2014/main" id="{9CCCDCA2-9A1C-496D-8016-3B738DF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269">
            <a:extLst xmlns:a="http://schemas.openxmlformats.org/drawingml/2006/main">
              <a:ext uri="{FF2B5EF4-FFF2-40B4-BE49-F238E27FC236}">
                <a16:creationId xmlns:a16="http://schemas.microsoft.com/office/drawing/2014/main" id="{D24E3FA1-7F9C-4A87-B66E-EF8E655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待分配③</a:t>
            </a:r>
          </a:p>
        </p:txBody>
      </p:sp>
      <p:sp>
        <p:nvSpPr>
          <p:cNvPr id="16" name="content-270">
            <a:extLst xmlns:a="http://schemas.openxmlformats.org/drawingml/2006/main">
              <a:ext uri="{FF2B5EF4-FFF2-40B4-BE49-F238E27FC236}">
                <a16:creationId xmlns:a16="http://schemas.microsoft.com/office/drawing/2014/main" id="{160C973C-A22B-4A17-AF2E-D7D77F4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执行这条选课记录的确认或拒绝。</a:t>
            </a:r>
          </a:p>
        </p:txBody>
      </p:sp>
      <p:sp>
        <p:nvSpPr>
          <p:cNvPr id="17" name="content-271">
            <a:extLst xmlns:a="http://schemas.openxmlformats.org/drawingml/2006/main">
              <a:ext uri="{FF2B5EF4-FFF2-40B4-BE49-F238E27FC236}">
                <a16:creationId xmlns:a16="http://schemas.microsoft.com/office/drawing/2014/main" id="{754655C2-E838-4717-9982-B86FBFB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为三项工作提出软件内部的承担者，并说明结果保留由谁协调。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0185B-B37F-4604-8226-891A354A8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13824d9524dc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272">
            <a:extLst xmlns:a="http://schemas.openxmlformats.org/drawingml/2006/main">
              <a:ext uri="{FF2B5EF4-FFF2-40B4-BE49-F238E27FC236}">
                <a16:creationId xmlns:a16="http://schemas.microsoft.com/office/drawing/2014/main" id="{CE55BCBE-E0F3-4EF1-BA61-8FBE9B9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参考：边界、控制与实体职责</a:t>
            </a:r>
          </a:p>
        </p:txBody>
      </p:sp>
      <p:sp>
        <p:nvSpPr>
          <p:cNvPr id="2" name="frame-273">
            <a:extLst xmlns:a="http://schemas.openxmlformats.org/drawingml/2006/main">
              <a:ext uri="{FF2B5EF4-FFF2-40B4-BE49-F238E27FC236}">
                <a16:creationId xmlns:a16="http://schemas.microsoft.com/office/drawing/2014/main" id="{4FF637DD-B883-4476-AC83-8D73264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74">
            <a:extLst xmlns:a="http://schemas.openxmlformats.org/drawingml/2006/main">
              <a:ext uri="{FF2B5EF4-FFF2-40B4-BE49-F238E27FC236}">
                <a16:creationId xmlns:a16="http://schemas.microsoft.com/office/drawing/2014/main" id="{23A684A1-A4BF-4750-A663-9699DBB2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F97E4C7-C944-48DC-A8DB-44FE55BD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1CB25B5-EBDB-4568-B56D-85DD11C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29 / 82</a:t>
            </a:r>
          </a:p>
        </p:txBody>
      </p:sp>
      <p:sp>
        <p:nvSpPr>
          <p:cNvPr id="6" name="content-275">
            <a:extLst xmlns:a="http://schemas.openxmlformats.org/drawingml/2006/main">
              <a:ext uri="{FF2B5EF4-FFF2-40B4-BE49-F238E27FC236}">
                <a16:creationId xmlns:a16="http://schemas.microsoft.com/office/drawing/2014/main" id="{87B0FE3D-32C6-4224-95B4-DBBD89E2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边界职责</a:t>
            </a:r>
          </a:p>
        </p:txBody>
      </p:sp>
      <p:sp>
        <p:nvSpPr>
          <p:cNvPr id="7" name="content-276">
            <a:extLst xmlns:a="http://schemas.openxmlformats.org/drawingml/2006/main">
              <a:ext uri="{FF2B5EF4-FFF2-40B4-BE49-F238E27FC236}">
                <a16:creationId xmlns:a16="http://schemas.microsoft.com/office/drawing/2014/main" id="{50295946-C832-4B60-8937-9C722BF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选课界面接收并显示结果，集中处理与学生的交互。</a:t>
            </a:r>
          </a:p>
        </p:txBody>
      </p:sp>
      <p:sp>
        <p:nvSpPr>
          <p:cNvPr id="8" name="frame-277">
            <a:extLst xmlns:a="http://schemas.openxmlformats.org/drawingml/2006/main">
              <a:ext uri="{FF2B5EF4-FFF2-40B4-BE49-F238E27FC236}">
                <a16:creationId xmlns:a16="http://schemas.microsoft.com/office/drawing/2014/main" id="{8E32CF5E-4882-4BEF-88D3-33A6760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78">
            <a:extLst xmlns:a="http://schemas.openxmlformats.org/drawingml/2006/main">
              <a:ext uri="{FF2B5EF4-FFF2-40B4-BE49-F238E27FC236}">
                <a16:creationId xmlns:a16="http://schemas.microsoft.com/office/drawing/2014/main" id="{903674A5-2534-4EEA-B6B0-346B38C3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控制职责</a:t>
            </a:r>
          </a:p>
        </p:txBody>
      </p:sp>
      <p:sp>
        <p:nvSpPr>
          <p:cNvPr id="10" name="content-279">
            <a:extLst xmlns:a="http://schemas.openxmlformats.org/drawingml/2006/main">
              <a:ext uri="{FF2B5EF4-FFF2-40B4-BE49-F238E27FC236}">
                <a16:creationId xmlns:a16="http://schemas.microsoft.com/office/drawing/2014/main" id="{D98E9F22-2882-409C-8259-4C08E8D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选课处理协调多个步骤，并负责组织结果保留。</a:t>
            </a:r>
          </a:p>
        </p:txBody>
      </p:sp>
      <p:sp>
        <p:nvSpPr>
          <p:cNvPr id="11" name="frame-280">
            <a:extLst xmlns:a="http://schemas.openxmlformats.org/drawingml/2006/main">
              <a:ext uri="{FF2B5EF4-FFF2-40B4-BE49-F238E27FC236}">
                <a16:creationId xmlns:a16="http://schemas.microsoft.com/office/drawing/2014/main" id="{FDB8A532-4AB2-41F6-94BF-3CBD12D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281">
            <a:extLst xmlns:a="http://schemas.openxmlformats.org/drawingml/2006/main">
              <a:ext uri="{FF2B5EF4-FFF2-40B4-BE49-F238E27FC236}">
                <a16:creationId xmlns:a16="http://schemas.microsoft.com/office/drawing/2014/main" id="{CCE8B83E-A610-4DDA-BF6B-37A0099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实体职责</a:t>
            </a:r>
          </a:p>
        </p:txBody>
      </p:sp>
      <p:sp>
        <p:nvSpPr>
          <p:cNvPr id="13" name="content-282">
            <a:extLst xmlns:a="http://schemas.openxmlformats.org/drawingml/2006/main">
              <a:ext uri="{FF2B5EF4-FFF2-40B4-BE49-F238E27FC236}">
                <a16:creationId xmlns:a16="http://schemas.microsoft.com/office/drawing/2014/main" id="{C783E297-B993-4B0D-98A1-62EE0BD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开课班提供自己的余量；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选课记录执行该记录的确认或拒绝。</a:t>
            </a:r>
          </a:p>
        </p:txBody>
      </p:sp>
      <p:sp>
        <p:nvSpPr>
          <p:cNvPr id="14" name="content-283">
            <a:extLst xmlns:a="http://schemas.openxmlformats.org/drawingml/2006/main">
              <a:ext uri="{FF2B5EF4-FFF2-40B4-BE49-F238E27FC236}">
                <a16:creationId xmlns:a16="http://schemas.microsoft.com/office/drawing/2014/main" id="{B5975699-9932-4D74-950E-E4FEF7A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BCE分别表示边界、控制、实体；这是本例采用的一种职责分类。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3064F-C3A8-4DBE-B42F-07EF37382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67d6aa6c941a7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284">
            <a:extLst xmlns:a="http://schemas.openxmlformats.org/drawingml/2006/main">
              <a:ext uri="{FF2B5EF4-FFF2-40B4-BE49-F238E27FC236}">
                <a16:creationId xmlns:a16="http://schemas.microsoft.com/office/drawing/2014/main" id="{79C5DB02-2264-4413-A708-1032BF6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选课分析类图</a:t>
            </a:r>
          </a:p>
        </p:txBody>
      </p:sp>
      <p:sp>
        <p:nvSpPr>
          <p:cNvPr id="2" name="frame-285">
            <a:extLst xmlns:a="http://schemas.openxmlformats.org/drawingml/2006/main">
              <a:ext uri="{FF2B5EF4-FFF2-40B4-BE49-F238E27FC236}">
                <a16:creationId xmlns:a16="http://schemas.microsoft.com/office/drawing/2014/main" id="{A80817AB-6FD6-4ED9-AE9B-60C609CD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86">
            <a:extLst xmlns:a="http://schemas.openxmlformats.org/drawingml/2006/main">
              <a:ext uri="{FF2B5EF4-FFF2-40B4-BE49-F238E27FC236}">
                <a16:creationId xmlns:a16="http://schemas.microsoft.com/office/drawing/2014/main" id="{FE9CB005-94FD-47E3-9E67-F6A6FC7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A9E3A2F-D613-4865-91D1-BA7E8D1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DDDD8C8-F7DE-47D2-8909-24A1FDA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30 / 82</a:t>
            </a:r>
          </a:p>
        </p:txBody>
      </p:sp>
      <p:sp>
        <p:nvSpPr>
          <p:cNvPr id="10" name="UML analysis-class box 10"/>
          <p:cNvSpPr/>
          <p:nvPr/>
        </p:nvSpPr>
        <p:spPr>
          <ns1:xfrm xmlns:ns1="http://schemas.openxmlformats.org/drawingml/2006/main">
            <ns1:off x="2924658" y="1204201"/>
            <ns1:ext cx="961164" cy="66929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1" name="UML analysis-class label 11"/>
          <p:cNvSpPr/>
          <p:nvPr/>
        </p:nvSpPr>
        <p:spPr>
          <ns1:xfrm xmlns:ns1="http://schemas.openxmlformats.org/drawingml/2006/main">
            <ns1:off x="2930640" y="1238538"/>
            <ns1:ext cx="997976" cy="22841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32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«boundary»</ns7:t>
            </ns7:r>
            <ns7:endParaRPr lang="zh-CN" sz="1232"/>
          </ns7:p>
        </p:txBody>
      </p:sp>
      <p:sp>
        <p:nvSpPr>
          <p:cNvPr id="12" name="UML analysis-class label 12"/>
          <p:cNvSpPr/>
          <p:nvPr/>
        </p:nvSpPr>
        <p:spPr>
          <ns1:xfrm xmlns:ns1="http://schemas.openxmlformats.org/drawingml/2006/main">
            <ns1:off x="3070710" y="1453613"/>
            <ns1:ext cx="720597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选课界面</ns7:t>
            </ns7:r>
            <ns7:endParaRPr lang="zh-CN" sz="1304"/>
          </ns7:p>
        </p:txBody>
      </p:sp>
      <p:sp>
        <p:nvSpPr>
          <p:cNvPr id="13" name="UML analysis-class divider 13"/>
          <p:cNvSpPr/>
          <p:nvPr/>
        </p:nvSpPr>
        <p:spPr>
          <ns1:xfrm xmlns:ns1="http://schemas.openxmlformats.org/drawingml/2006/main">
            <ns1:off x="2933861" y="1726243"/>
            <ns1:ext cx="94275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75741" h="952" fill="none" stroke="1" extrusionOk="0">
                <ns2:moveTo>
                  <ns2:pt x="0" y="0"/>
                </ns2:moveTo>
                <ns2:lnTo>
                  <ns2:pt x="9757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4" name="UML analysis-class divider 14"/>
          <p:cNvSpPr/>
          <p:nvPr/>
        </p:nvSpPr>
        <p:spPr>
          <ns1:xfrm xmlns:ns1="http://schemas.openxmlformats.org/drawingml/2006/main">
            <ns1:off x="2933861" y="1799867"/>
            <ns1:ext cx="94275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75741" h="952" fill="none" stroke="1" extrusionOk="0">
                <ns2:moveTo>
                  <ns2:pt x="0" y="0"/>
                </ns2:moveTo>
                <ns2:lnTo>
                  <ns2:pt x="9757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5" name="UML analysis-class box 15"/>
          <p:cNvSpPr/>
          <p:nvPr/>
        </p:nvSpPr>
        <p:spPr>
          <ns1:xfrm xmlns:ns1="http://schemas.openxmlformats.org/drawingml/2006/main">
            <ns1:off x="4742256" y="1204201"/>
            <ns1:ext cx="761854" cy="66929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6" name="UML analysis-class label 16"/>
          <p:cNvSpPr/>
          <p:nvPr/>
        </p:nvSpPr>
        <p:spPr>
          <ns1:xfrm xmlns:ns1="http://schemas.openxmlformats.org/drawingml/2006/main">
            <ns1:off x="4748238" y="1238538"/>
            <ns1:ext cx="798666" cy="22841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32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«control»</ns7:t>
            </ns7:r>
            <ns7:endParaRPr lang="zh-CN" sz="1232"/>
          </ns7:p>
        </p:txBody>
      </p:sp>
      <p:sp>
        <p:nvSpPr>
          <p:cNvPr id="17" name="UML analysis-class label 17"/>
          <p:cNvSpPr/>
          <p:nvPr/>
        </p:nvSpPr>
        <p:spPr>
          <ns1:xfrm xmlns:ns1="http://schemas.openxmlformats.org/drawingml/2006/main">
            <ns1:off x="4788658" y="1453613"/>
            <ns1:ext cx="720597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选课处理</ns7:t>
            </ns7:r>
            <ns7:endParaRPr lang="zh-CN" sz="1304"/>
          </ns7:p>
        </p:txBody>
      </p:sp>
      <p:sp>
        <p:nvSpPr>
          <p:cNvPr id="18" name="UML analysis-class divider 18"/>
          <p:cNvSpPr/>
          <p:nvPr/>
        </p:nvSpPr>
        <p:spPr>
          <ns1:xfrm xmlns:ns1="http://schemas.openxmlformats.org/drawingml/2006/main">
            <ns1:off x="4751459" y="1726243"/>
            <ns1:ext cx="74344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9458" h="952" fill="none" stroke="1" extrusionOk="0">
                <ns2:moveTo>
                  <ns2:pt x="0" y="0"/>
                </ns2:moveTo>
                <ns2:lnTo>
                  <ns2:pt x="7694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19" name="UML analysis-class divider 19"/>
          <p:cNvSpPr/>
          <p:nvPr/>
        </p:nvSpPr>
        <p:spPr>
          <ns1:xfrm xmlns:ns1="http://schemas.openxmlformats.org/drawingml/2006/main">
            <ns1:off x="4751459" y="1799867"/>
            <ns1:ext cx="74344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9458" h="952" fill="none" stroke="1" extrusionOk="0">
                <ns2:moveTo>
                  <ns2:pt x="0" y="0"/>
                </ns2:moveTo>
                <ns2:lnTo>
                  <ns2:pt x="7694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0" name="UML analysis-class box 20"/>
          <p:cNvSpPr/>
          <p:nvPr/>
        </p:nvSpPr>
        <p:spPr>
          <ns1:xfrm xmlns:ns1="http://schemas.openxmlformats.org/drawingml/2006/main">
            <ns1:off x="4268300" y="2483422"/>
            <ns1:ext cx="921260" cy="66929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1" name="UML analysis-class label 21"/>
          <p:cNvSpPr/>
          <p:nvPr/>
        </p:nvSpPr>
        <p:spPr>
          <ns1:xfrm xmlns:ns1="http://schemas.openxmlformats.org/drawingml/2006/main">
            <ns1:off x="4399434" y="2517759"/>
            <ns1:ext cx="707759" cy="22841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32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«entity»</ns7:t>
            </ns7:r>
            <ns7:endParaRPr lang="zh-CN" sz="1232"/>
          </ns7:p>
        </p:txBody>
      </p:sp>
      <p:sp>
        <p:nvSpPr>
          <p:cNvPr id="22" name="UML analysis-class label 22"/>
          <p:cNvSpPr/>
          <p:nvPr/>
        </p:nvSpPr>
        <p:spPr>
          <ns1:xfrm xmlns:ns1="http://schemas.openxmlformats.org/drawingml/2006/main">
            <ns1:off x="4292688" y="2732834"/>
            <ns1:ext cx="924021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304"/>
          </ns7:p>
        </p:txBody>
      </p:sp>
      <p:sp>
        <p:nvSpPr>
          <p:cNvPr id="23" name="UML analysis-class divider 23"/>
          <p:cNvSpPr/>
          <p:nvPr/>
        </p:nvSpPr>
        <p:spPr>
          <ns1:xfrm xmlns:ns1="http://schemas.openxmlformats.org/drawingml/2006/main">
            <ns1:off x="4277503" y="3005464"/>
            <ns1:ext cx="90285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4" name="UML analysis-class divider 24"/>
          <p:cNvSpPr/>
          <p:nvPr/>
        </p:nvSpPr>
        <p:spPr>
          <ns1:xfrm xmlns:ns1="http://schemas.openxmlformats.org/drawingml/2006/main">
            <ns1:off x="4277503" y="3079088"/>
            <ns1:ext cx="90285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5" name="UML analysis-class box 25"/>
          <p:cNvSpPr/>
          <p:nvPr/>
        </p:nvSpPr>
        <p:spPr>
          <ns1:xfrm xmlns:ns1="http://schemas.openxmlformats.org/drawingml/2006/main">
            <ns1:off x="4723850" y="3495755"/>
            <ns1:ext cx="1222089" cy="66929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6" name="UML analysis-class label 26"/>
          <p:cNvSpPr/>
          <p:nvPr/>
        </p:nvSpPr>
        <p:spPr>
          <ns1:xfrm xmlns:ns1="http://schemas.openxmlformats.org/drawingml/2006/main">
            <ns1:off x="5005398" y="3530092"/>
            <ns1:ext cx="707759" cy="22841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32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«entity»</ns7:t>
            </ns7:r>
            <ns7:endParaRPr lang="zh-CN" sz="1232"/>
          </ns7:p>
        </p:txBody>
      </p:sp>
      <p:sp>
        <p:nvSpPr>
          <p:cNvPr id="27" name="UML analysis-class label 27"/>
          <p:cNvSpPr/>
          <p:nvPr/>
        </p:nvSpPr>
        <p:spPr>
          <ns1:xfrm xmlns:ns1="http://schemas.openxmlformats.org/drawingml/2006/main">
            <ns1:off x="4748238" y="3745167"/>
            <ns1:ext cx="1224849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CourseOffering</ns7:t>
            </ns7:r>
            <ns7:endParaRPr lang="zh-CN" sz="1304"/>
          </ns7:p>
        </p:txBody>
      </p:sp>
      <p:sp>
        <p:nvSpPr>
          <p:cNvPr id="28" name="UML analysis-class divider 28"/>
          <p:cNvSpPr/>
          <p:nvPr/>
        </p:nvSpPr>
        <p:spPr>
          <ns1:xfrm xmlns:ns1="http://schemas.openxmlformats.org/drawingml/2006/main">
            <ns1:off x="4733053" y="4017797"/>
            <ns1:ext cx="120368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45794" h="952" fill="none" stroke="1" extrusionOk="0">
                <ns2:moveTo>
                  <ns2:pt x="0" y="0"/>
                </ns2:moveTo>
                <ns2:lnTo>
                  <ns2:pt x="12457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29" name="UML analysis-class divider 29"/>
          <p:cNvSpPr/>
          <p:nvPr/>
        </p:nvSpPr>
        <p:spPr>
          <ns1:xfrm xmlns:ns1="http://schemas.openxmlformats.org/drawingml/2006/main">
            <ns1:off x="4733053" y="4091421"/>
            <ns1:ext cx="120368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45794" h="952" fill="none" stroke="1" extrusionOk="0">
                <ns2:moveTo>
                  <ns2:pt x="0" y="0"/>
                </ns2:moveTo>
                <ns2:lnTo>
                  <ns2:pt x="12457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0" name="UML analysis-class arrow 30"/>
          <p:cNvSpPr/>
          <p:nvPr/>
        </p:nvSpPr>
        <p:spPr>
          <ns1:xfrm xmlns:ns1="http://schemas.openxmlformats.org/drawingml/2006/main">
            <ns1:off x="4657008" y="1503300"/>
            <ns1:ext cx="82827" cy="73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5725" h="76200" fill="norm" stroke="1" extrusionOk="0">
                <ns2:moveTo>
                  <ns2:pt x="85725" y="38100"/>
                </ns2:moveTo>
                <ns2:lnTo>
                  <ns2:pt x="0" y="0"/>
                </ns2:lnTo>
                <ns2:lnTo>
                  <ns2:pt x="38100" y="38100"/>
                </ns2:lnTo>
                <ns2:lnTo>
                  <ns2:pt x="0" y="76200"/>
                </ns2:lnTo>
                <ns2:lnTo>
                  <ns2:pt x="85725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1" name="UML analysis-class connection 31"/>
          <p:cNvSpPr/>
          <p:nvPr/>
        </p:nvSpPr>
        <p:spPr>
          <ns1:xfrm xmlns:ns1="http://schemas.openxmlformats.org/drawingml/2006/main">
            <ns1:off x="3882601" y="1540112"/>
            <ns1:ext cx="811219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39600" h="952" fill="none" stroke="1" extrusionOk="0">
                <ns2:moveTo>
                  <ns2:pt x="0" y="0"/>
                </ns2:moveTo>
                <ns2:cubicBezTo>
                  <ns2:pt x="279987" y="0"/>
                  <ns2:pt x="577529" y="0"/>
                  <ns2:pt x="839600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2" name="UML analysis-class label 32"/>
          <p:cNvSpPr/>
          <p:nvPr/>
        </p:nvSpPr>
        <p:spPr>
          <ns1:xfrm xmlns:ns1="http://schemas.openxmlformats.org/drawingml/2006/main">
            <ns1:off x="3977484" y="1268070"/>
            <ns1:ext cx="720597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请求处理</ns7:t>
            </ns7:r>
            <ns7:endParaRPr lang="zh-CN" sz="1304"/>
          </ns7:p>
        </p:txBody>
      </p:sp>
      <p:sp>
        <p:nvSpPr>
          <p:cNvPr id="33" name="UML analysis-class arrow 33"/>
          <p:cNvSpPr/>
          <p:nvPr/>
        </p:nvSpPr>
        <p:spPr>
          <ns1:xfrm xmlns:ns1="http://schemas.openxmlformats.org/drawingml/2006/main">
            <ns1:off x="4558481" y="2393628"/>
            <ns1:ext cx="71848" cy="888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4362" h="91973" fill="norm" stroke="1" extrusionOk="0">
                <ns2:moveTo>
                  <ns2:pt x="55893" y="91973"/>
                </ns2:moveTo>
                <ns2:lnTo>
                  <ns2:pt x="74362" y="0"/>
                </ns2:lnTo>
                <ns2:lnTo>
                  <ns2:pt x="45501" y="45501"/>
                </ns2:lnTo>
                <ns2:lnTo>
                  <ns2:pt x="0" y="16631"/>
                </ns2:lnTo>
                <ns2:lnTo>
                  <ns2:pt x="55893" y="91973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4" name="UML analysis-class connection 34"/>
          <p:cNvSpPr/>
          <p:nvPr/>
        </p:nvSpPr>
        <p:spPr>
          <ns1:xfrm xmlns:ns1="http://schemas.openxmlformats.org/drawingml/2006/main">
            <ns1:off x="4569736" y="1860626"/>
            <ns1:ext cx="171103" cy="57696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7089" h="597151" fill="none" stroke="1" extrusionOk="0">
                <ns2:moveTo>
                  <ns2:pt x="177089" y="0"/>
                </ns2:moveTo>
                <ns2:cubicBezTo>
                  <ns2:pt x="129292" y="57131"/>
                  <ns2:pt x="87554" y="120091"/>
                  <ns2:pt x="59493" y="187385"/>
                </ns2:cubicBezTo>
                <ns2:cubicBezTo>
                  <ns2:pt x="0" y="330070"/>
                  <ns2:pt x="1400" y="452076"/>
                  <ns2:pt x="33852" y="597151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5" name="UML analysis-class label 35"/>
          <p:cNvSpPr/>
          <p:nvPr/>
        </p:nvSpPr>
        <p:spPr>
          <ns1:xfrm xmlns:ns1="http://schemas.openxmlformats.org/drawingml/2006/main">
            <ns1:off x="4642403" y="2073335"/>
            <ns1:ext cx="886252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确认／拒绝</ns7:t>
            </ns7:r>
            <ns7:endParaRPr lang="zh-CN" sz="1304"/>
          </ns7:p>
        </p:txBody>
      </p:sp>
      <p:sp>
        <p:nvSpPr>
          <p:cNvPr id="36" name="UML analysis-class arrow 36"/>
          <p:cNvSpPr/>
          <p:nvPr/>
        </p:nvSpPr>
        <p:spPr>
          <ns1:xfrm xmlns:ns1="http://schemas.openxmlformats.org/drawingml/2006/main">
            <ns1:off x="5427882" y="3405281"/>
            <ns1:ext cx="70992" cy="8961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3476" h="92754" fill="norm" stroke="1" extrusionOk="0">
                <ns2:moveTo>
                  <ns2:pt x="14040" y="92754"/>
                </ns2:moveTo>
                <ns2:lnTo>
                  <ns2:pt x="73476" y="20174"/>
                </ns2:lnTo>
                <ns2:lnTo>
                  <ns2:pt x="26651" y="46825"/>
                </ns2:lnTo>
                <ns2:lnTo>
                  <ns2:pt x="0" y="0"/>
                </ns2:lnTo>
                <ns2:lnTo>
                  <ns2:pt x="14040" y="92754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37" name="UML analysis-class connection 37"/>
          <p:cNvSpPr/>
          <p:nvPr/>
        </p:nvSpPr>
        <p:spPr>
          <ns1:xfrm xmlns:ns1="http://schemas.openxmlformats.org/drawingml/2006/main">
            <ns1:off x="5412632" y="1877458"/>
            <ns1:ext cx="241736" cy="15730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0193" h="1628099" fill="none" stroke="1" extrusionOk="0">
                <ns2:moveTo>
                  <ns2:pt x="0" y="0"/>
                </ns2:moveTo>
                <ns2:cubicBezTo>
                  <ns2:pt x="33728" y="53864"/>
                  <ns2:pt x="62941" y="111262"/>
                  <ns2:pt x="82458" y="169964"/>
                </ns2:cubicBezTo>
                <ns2:cubicBezTo>
                  <ns2:pt x="250193" y="674418"/>
                  <ns2:pt x="145990" y="1251004"/>
                  <ns2:pt x="42434" y="1628099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  <ns4:prstDash val="dash"/>
          </ns4:ln>
        </p:spPr>
      </p:sp>
      <p:sp>
        <p:nvSpPr>
          <p:cNvPr id="38" name="UML analysis-class label 38"/>
          <p:cNvSpPr/>
          <p:nvPr/>
        </p:nvSpPr>
        <p:spPr>
          <ns1:xfrm xmlns:ns1="http://schemas.openxmlformats.org/drawingml/2006/main">
            <ns1:off x="5581112" y="2712946"/>
            <ns1:ext cx="720597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读取余量</ns7:t>
            </ns7:r>
            <ns7:endParaRPr lang="zh-CN" sz="1304"/>
          </ns7:p>
        </p:txBody>
      </p:sp>
      <p:sp>
        <p:nvSpPr>
          <p:cNvPr id="39" name="UML analysis-class connection 39"/>
          <p:cNvSpPr/>
          <p:nvPr/>
        </p:nvSpPr>
        <p:spPr>
          <ns1:xfrm xmlns:ns1="http://schemas.openxmlformats.org/drawingml/2006/main">
            <ns1:off x="4929022" y="3156744"/>
            <ns1:ext cx="206470" cy="3378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3693" h="349682" fill="none" stroke="1" extrusionOk="0">
                <ns2:moveTo>
                  <ns2:pt x="0" y="0"/>
                </ns2:moveTo>
                <ns2:cubicBezTo>
                  <ns2:pt x="68666" y="112357"/>
                  <ns2:pt x="145047" y="237344"/>
                  <ns2:pt x="213693" y="349682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203">
            <ns4:solidFill>
              <ns4:srgbClr val="1F2A44"/>
            </ns4:solidFill>
          </ns4:ln>
        </p:spPr>
      </p:sp>
      <p:sp>
        <p:nvSpPr>
          <p:cNvPr id="40" name="UML analysis-class label 40"/>
          <p:cNvSpPr/>
          <p:nvPr/>
        </p:nvSpPr>
        <p:spPr>
          <ns1:xfrm xmlns:ns1="http://schemas.openxmlformats.org/drawingml/2006/main">
            <ns1:off x="5135491" y="3259376"/>
            <ns1:ext cx="223634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1</ns7:t>
            </ns7:r>
            <ns7:endParaRPr lang="zh-CN" sz="1304"/>
          </ns7:p>
        </p:txBody>
      </p:sp>
      <p:sp>
        <p:nvSpPr>
          <p:cNvPr id="41" name="UML analysis-class label 41"/>
          <p:cNvSpPr/>
          <p:nvPr/>
        </p:nvSpPr>
        <p:spPr>
          <ns1:xfrm xmlns:ns1="http://schemas.openxmlformats.org/drawingml/2006/main">
            <ns1:off x="4658913" y="3179199"/>
            <ns1:ext cx="319382" cy="24185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203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04" dirty="0">
                <ns7:solidFill>
                  <ns7:srgbClr val="1F2A44"/>
                </ns7:solidFill>
                <ns7:latin typeface="Noto Sans SC"/>
                <ns7:ea typeface="Noto Sans SC"/>
              </ns7:rPr>
              <ns7:t>0..*</ns7:t>
            </ns7:r>
            <ns7:endParaRPr lang="zh-CN" sz="1304"/>
          </ns7:p>
        </p:txBody>
      </p:sp>
      <p:sp>
        <p:nvSpPr>
          <p:cNvPr id="7" name="content-287">
            <a:extLst xmlns:a="http://schemas.openxmlformats.org/drawingml/2006/main">
              <a:ext uri="{FF2B5EF4-FFF2-40B4-BE49-F238E27FC236}">
                <a16:creationId xmlns:a16="http://schemas.microsoft.com/office/drawing/2014/main" id="{6871E53D-8214-4D99-8F33-75CC104F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boundary为边界，control为控制，entity为实体；虚线箭头为使用依赖。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EC0B-1CF9-4042-9B45-E12125CC0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fa8d74d7c4d3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288">
            <a:extLst xmlns:a="http://schemas.openxmlformats.org/drawingml/2006/main">
              <a:ext uri="{FF2B5EF4-FFF2-40B4-BE49-F238E27FC236}">
                <a16:creationId xmlns:a16="http://schemas.microsoft.com/office/drawing/2014/main" id="{3DF9F908-FA4F-44A3-9822-FEDF1D2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分析交互：有余量场景</a:t>
            </a:r>
          </a:p>
        </p:txBody>
      </p:sp>
      <p:sp>
        <p:nvSpPr>
          <p:cNvPr id="2" name="frame-289">
            <a:extLst xmlns:a="http://schemas.openxmlformats.org/drawingml/2006/main">
              <a:ext uri="{FF2B5EF4-FFF2-40B4-BE49-F238E27FC236}">
                <a16:creationId xmlns:a16="http://schemas.microsoft.com/office/drawing/2014/main" id="{A8D0B7BB-9280-4E3E-B6B2-459A36D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90">
            <a:extLst xmlns:a="http://schemas.openxmlformats.org/drawingml/2006/main">
              <a:ext uri="{FF2B5EF4-FFF2-40B4-BE49-F238E27FC236}">
                <a16:creationId xmlns:a16="http://schemas.microsoft.com/office/drawing/2014/main" id="{15B23D6E-409D-42C6-90A4-DB96CF1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B40592E-5B83-44EB-82BC-814E546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E78262A-B7E3-470F-A458-3D7B80D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31 / 82</a:t>
            </a:r>
          </a:p>
        </p:txBody>
      </p:sp>
      <p:sp>
        <p:nvSpPr>
          <p:cNvPr id="10" name="UML analysis-sequence box 10"/>
          <p:cNvSpPr/>
          <p:nvPr/>
        </p:nvSpPr>
        <p:spPr>
          <ns1:xfrm xmlns:ns1="http://schemas.openxmlformats.org/drawingml/2006/main">
            <ns1:off x="2364057" y="1547479"/>
            <ns1:ext cx="66675" cy="268020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</p:sp>
      <p:sp>
        <p:nvSpPr>
          <p:cNvPr id="11" name="UML analysis-sequence divider 11"/>
          <p:cNvSpPr/>
          <p:nvPr/>
        </p:nvSpPr>
        <p:spPr>
          <ns1:xfrm xmlns:ns1="http://schemas.openxmlformats.org/drawingml/2006/main">
            <ns1:off x="2393228" y="1547479"/>
            <ns1:ext cx="952" cy="268020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063088" fill="none" stroke="1" extrusionOk="0">
                <ns2:moveTo>
                  <ns2:pt x="0" y="0"/>
                </ns2:moveTo>
                <ns2:lnTo>
                  <ns2:pt x="0" y="3063088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697487"/>
            </ns4:solidFill>
            <ns4:prstDash val="dash"/>
          </ns4:ln>
        </p:spPr>
      </p:sp>
      <p:sp>
        <p:nvSpPr>
          <p:cNvPr id="12" name="UML analysis-sequence box 12"/>
          <p:cNvSpPr/>
          <p:nvPr/>
        </p:nvSpPr>
        <p:spPr>
          <ns1:xfrm xmlns:ns1="http://schemas.openxmlformats.org/drawingml/2006/main">
            <ns1:off x="3601212" y="1547479"/>
            <ns1:ext cx="66675" cy="268020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</p:sp>
      <p:sp>
        <p:nvSpPr>
          <p:cNvPr id="13" name="UML analysis-sequence divider 13"/>
          <p:cNvSpPr/>
          <p:nvPr/>
        </p:nvSpPr>
        <p:spPr>
          <ns1:xfrm xmlns:ns1="http://schemas.openxmlformats.org/drawingml/2006/main">
            <ns1:off x="3630382" y="1547479"/>
            <ns1:ext cx="952" cy="268020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063088" fill="none" stroke="1" extrusionOk="0">
                <ns2:moveTo>
                  <ns2:pt x="0" y="0"/>
                </ns2:moveTo>
                <ns2:lnTo>
                  <ns2:pt x="0" y="3063088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697487"/>
            </ns4:solidFill>
            <ns4:prstDash val="dash"/>
          </ns4:ln>
        </p:spPr>
      </p:sp>
      <p:sp>
        <p:nvSpPr>
          <p:cNvPr id="14" name="UML analysis-sequence box 14"/>
          <p:cNvSpPr/>
          <p:nvPr/>
        </p:nvSpPr>
        <p:spPr>
          <ns1:xfrm xmlns:ns1="http://schemas.openxmlformats.org/drawingml/2006/main">
            <ns1:off x="3588710" y="1893456"/>
            <ns1:ext cx="83344" cy="218420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334">
            <ns4:solidFill>
              <ns4:srgbClr val="000000"/>
            </ns4:solidFill>
          </ns4:ln>
        </p:spPr>
      </p:sp>
      <p:sp>
        <p:nvSpPr>
          <p:cNvPr id="15" name="UML analysis-sequence box 15"/>
          <p:cNvSpPr/>
          <p:nvPr/>
        </p:nvSpPr>
        <p:spPr>
          <ns1:xfrm xmlns:ns1="http://schemas.openxmlformats.org/drawingml/2006/main">
            <ns1:off x="5069062" y="1547479"/>
            <ns1:ext cx="66675" cy="268020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</p:sp>
      <p:sp>
        <p:nvSpPr>
          <p:cNvPr id="16" name="UML analysis-sequence divider 16"/>
          <p:cNvSpPr/>
          <p:nvPr/>
        </p:nvSpPr>
        <p:spPr>
          <ns1:xfrm xmlns:ns1="http://schemas.openxmlformats.org/drawingml/2006/main">
            <ns1:off x="5098232" y="1547479"/>
            <ns1:ext cx="952" cy="268020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063088" fill="none" stroke="1" extrusionOk="0">
                <ns2:moveTo>
                  <ns2:pt x="0" y="0"/>
                </ns2:moveTo>
                <ns2:lnTo>
                  <ns2:pt x="0" y="3063088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697487"/>
            </ns4:solidFill>
            <ns4:prstDash val="dash"/>
          </ns4:ln>
        </p:spPr>
      </p:sp>
      <p:sp>
        <p:nvSpPr>
          <p:cNvPr id="17" name="UML analysis-sequence box 17"/>
          <p:cNvSpPr/>
          <p:nvPr/>
        </p:nvSpPr>
        <p:spPr>
          <ns1:xfrm xmlns:ns1="http://schemas.openxmlformats.org/drawingml/2006/main">
            <ns1:off x="6642926" y="1547479"/>
            <ns1:ext cx="66675" cy="268020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</p:sp>
      <p:sp>
        <p:nvSpPr>
          <p:cNvPr id="18" name="UML analysis-sequence divider 18"/>
          <p:cNvSpPr/>
          <p:nvPr/>
        </p:nvSpPr>
        <p:spPr>
          <ns1:xfrm xmlns:ns1="http://schemas.openxmlformats.org/drawingml/2006/main">
            <ns1:off x="6672096" y="1547479"/>
            <ns1:ext cx="952" cy="268020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063088" fill="none" stroke="1" extrusionOk="0">
                <ns2:moveTo>
                  <ns2:pt x="0" y="0"/>
                </ns2:moveTo>
                <ns2:lnTo>
                  <ns2:pt x="0" y="3063088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697487"/>
            </ns4:solidFill>
            <ns4:prstDash val="dash"/>
          </ns4:ln>
        </p:spPr>
      </p:sp>
      <p:sp>
        <p:nvSpPr>
          <p:cNvPr id="19" name="UML analysis-sequence box 19"/>
          <p:cNvSpPr/>
          <p:nvPr/>
        </p:nvSpPr>
        <p:spPr>
          <ns1:xfrm xmlns:ns1="http://schemas.openxmlformats.org/drawingml/2006/main">
            <ns1:off x="1884164" y="1172766"/>
            <ns1:ext cx="1018127" cy="32470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0" name="UML analysis-sequence label 20"/>
          <p:cNvSpPr/>
          <p:nvPr/>
        </p:nvSpPr>
        <p:spPr>
          <ns1:xfrm xmlns:ns1="http://schemas.openxmlformats.org/drawingml/2006/main">
            <ns1:off x="1922919" y="1227772"/>
            <ns1:ext cx="993124" cy="24336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12" dirty="0">
                <ns7:solidFill>
                  <ns7:srgbClr val="000000"/>
                </ns7:solidFill>
                <ns7:latin typeface="Noto Sans SC"/>
                <ns7:ea typeface="Noto Sans SC"/>
              </ns7:rPr>
              <ns7:t>ui : 选课界面</ns7:t>
            </ns7:r>
            <ns7:endParaRPr lang="zh-CN" sz="1312"/>
          </ns7:p>
        </p:txBody>
      </p:sp>
      <p:sp>
        <p:nvSpPr>
          <p:cNvPr id="21" name="UML analysis-sequence box 21"/>
          <p:cNvSpPr/>
          <p:nvPr/>
        </p:nvSpPr>
        <p:spPr>
          <ns1:xfrm xmlns:ns1="http://schemas.openxmlformats.org/drawingml/2006/main">
            <ns1:off x="3152323" y="1172766"/>
            <ns1:ext cx="956120" cy="32470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2" name="UML analysis-sequence label 22"/>
          <p:cNvSpPr/>
          <p:nvPr/>
        </p:nvSpPr>
        <p:spPr>
          <ns1:xfrm xmlns:ns1="http://schemas.openxmlformats.org/drawingml/2006/main">
            <ns1:off x="3191077" y="1227772"/>
            <ns1:ext cx="931116" cy="24336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12" dirty="0">
                <ns7:solidFill>
                  <ns7:srgbClr val="000000"/>
                </ns7:solidFill>
                <ns7:latin typeface="Noto Sans SC"/>
                <ns7:ea typeface="Noto Sans SC"/>
              </ns7:rPr>
              <ns7:t>c : 选课处理</ns7:t>
            </ns7:r>
            <ns7:endParaRPr lang="zh-CN" sz="1312"/>
          </ns7:p>
        </p:txBody>
      </p:sp>
      <p:sp>
        <p:nvSpPr>
          <p:cNvPr id="23" name="UML analysis-sequence box 23"/>
          <p:cNvSpPr/>
          <p:nvPr/>
        </p:nvSpPr>
        <p:spPr>
          <ns1:xfrm xmlns:ns1="http://schemas.openxmlformats.org/drawingml/2006/main">
            <ns1:off x="4358473" y="1172766"/>
            <ns1:ext cx="1479518" cy="32470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4" name="UML analysis-sequence label 24"/>
          <p:cNvSpPr/>
          <p:nvPr/>
        </p:nvSpPr>
        <p:spPr>
          <ns1:xfrm xmlns:ns1="http://schemas.openxmlformats.org/drawingml/2006/main">
            <ns1:off x="4397228" y="1227772"/>
            <ns1:ext cx="1454515" cy="24336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12" dirty="0">
                <ns7:solidFill>
                  <ns7:srgbClr val="000000"/>
                </ns7:solidFill>
                <ns7:latin typeface="Noto Sans SC"/>
                <ns7:ea typeface="Noto Sans SC"/>
              </ns7:rPr>
              <ns7:t>o : CourseOffering</ns7:t>
            </ns7:r>
            <ns7:endParaRPr lang="zh-CN" sz="1312"/>
          </ns7:p>
        </p:txBody>
      </p:sp>
      <p:sp>
        <p:nvSpPr>
          <p:cNvPr id="25" name="UML analysis-sequence box 25"/>
          <p:cNvSpPr/>
          <p:nvPr/>
        </p:nvSpPr>
        <p:spPr>
          <ns1:xfrm xmlns:ns1="http://schemas.openxmlformats.org/drawingml/2006/main">
            <ns1:off x="6088023" y="1172766"/>
            <ns1:ext cx="1168146" cy="32470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6" name="UML analysis-sequence label 26"/>
          <p:cNvSpPr/>
          <p:nvPr/>
        </p:nvSpPr>
        <p:spPr>
          <ns1:xfrm xmlns:ns1="http://schemas.openxmlformats.org/drawingml/2006/main">
            <ns1:off x="6126778" y="1227772"/>
            <ns1:ext cx="1143143" cy="24336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12" dirty="0">
                <ns7:solidFill>
                  <ns7:srgbClr val="000000"/>
                </ns7:solidFill>
                <ns7:latin typeface="Noto Sans SC"/>
                <ns7:ea typeface="Noto Sans SC"/>
              </ns7:rPr>
              <ns7:t>e : Enrollment</ns7:t>
            </ns7:r>
            <ns7:endParaRPr lang="zh-CN" sz="1312"/>
          </ns7:p>
        </p:txBody>
      </p:sp>
      <p:sp>
        <p:nvSpPr>
          <p:cNvPr id="27" name="UML analysis-sequence arrow 27"/>
          <p:cNvSpPr/>
          <p:nvPr/>
        </p:nvSpPr>
        <p:spPr>
          <ns1:xfrm xmlns:ns1="http://schemas.openxmlformats.org/drawingml/2006/main">
            <ns1:off x="3488698" y="1860118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8" name="UML analysis-sequence divider 28"/>
          <p:cNvSpPr/>
          <p:nvPr/>
        </p:nvSpPr>
        <p:spPr>
          <ns1:xfrm xmlns:ns1="http://schemas.openxmlformats.org/drawingml/2006/main">
            <ns1:off x="2393228" y="1893456"/>
            <ns1:ext cx="114547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309116" h="952" fill="none" stroke="1" extrusionOk="0">
                <ns2:moveTo>
                  <ns2:pt x="0" y="0"/>
                </ns2:moveTo>
                <ns2:lnTo>
                  <ns2:pt x="1309116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29" name="UML analysis-sequence label 29"/>
          <p:cNvSpPr/>
          <p:nvPr/>
        </p:nvSpPr>
        <p:spPr>
          <ns1:xfrm xmlns:ns1="http://schemas.openxmlformats.org/drawingml/2006/main">
            <ns1:off x="2732312" y="1660160"/>
            <ns1:ext cx="566904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处理(e)</ns7:t>
            </ns7:r>
            <ns7:endParaRPr lang="zh-CN" sz="1247"/>
          </ns7:p>
        </p:txBody>
      </p:sp>
      <p:sp>
        <p:nvSpPr>
          <p:cNvPr id="30" name="UML analysis-sequence arrow 30"/>
          <p:cNvSpPr/>
          <p:nvPr/>
        </p:nvSpPr>
        <p:spPr>
          <ns1:xfrm xmlns:ns1="http://schemas.openxmlformats.org/drawingml/2006/main">
            <ns1:off x="4998220" y="2206095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31" name="UML analysis-sequence divider 31"/>
          <p:cNvSpPr/>
          <p:nvPr/>
        </p:nvSpPr>
        <p:spPr>
          <ns1:xfrm xmlns:ns1="http://schemas.openxmlformats.org/drawingml/2006/main">
            <ns1:off x="3672054" y="2239432"/>
            <ns1:ext cx="137617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572768" h="952" fill="none" stroke="1" extrusionOk="0">
                <ns2:moveTo>
                  <ns2:pt x="0" y="0"/>
                </ns2:moveTo>
                <ns2:lnTo>
                  <ns2:pt x="157276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32" name="UML analysis-sequence label 32"/>
          <p:cNvSpPr/>
          <p:nvPr/>
        </p:nvSpPr>
        <p:spPr>
          <ns1:xfrm xmlns:ns1="http://schemas.openxmlformats.org/drawingml/2006/main">
            <ns1:off x="4011997" y="2006136"/>
            <ns1:ext cx="795883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读取余量()</ns7:t>
            </ns7:r>
            <ns7:endParaRPr lang="zh-CN" sz="1247"/>
          </ns7:p>
        </p:txBody>
      </p:sp>
      <p:sp>
        <p:nvSpPr>
          <p:cNvPr id="33" name="UML analysis-sequence arrow 33"/>
          <p:cNvSpPr/>
          <p:nvPr/>
        </p:nvSpPr>
        <p:spPr>
          <ns1:xfrm xmlns:ns1="http://schemas.openxmlformats.org/drawingml/2006/main">
            <ns1:off x="3680389" y="2552071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34" name="UML analysis-sequence divider 34"/>
          <p:cNvSpPr/>
          <p:nvPr/>
        </p:nvSpPr>
        <p:spPr>
          <ns1:xfrm xmlns:ns1="http://schemas.openxmlformats.org/drawingml/2006/main">
            <ns1:off x="3713726" y="2585409"/>
            <ns1:ext cx="137617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572768" h="952" fill="none" stroke="1" extrusionOk="0">
                <ns2:moveTo>
                  <ns2:pt x="0" y="0"/>
                </ns2:moveTo>
                <ns2:lnTo>
                  <ns2:pt x="157276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  <ns4:prstDash val="dash"/>
          </ns4:ln>
        </p:spPr>
      </p:sp>
      <p:sp>
        <p:nvSpPr>
          <p:cNvPr id="35" name="UML analysis-sequence label 35"/>
          <p:cNvSpPr/>
          <p:nvPr/>
        </p:nvSpPr>
        <p:spPr>
          <ns1:xfrm xmlns:ns1="http://schemas.openxmlformats.org/drawingml/2006/main">
            <ns1:off x="4338287" y="2352113"/>
            <ns1:ext cx="213777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2</ns7:t>
            </ns7:r>
            <ns7:endParaRPr lang="zh-CN" sz="1247"/>
          </ns7:p>
        </p:txBody>
      </p:sp>
      <p:sp>
        <p:nvSpPr>
          <p:cNvPr id="36" name="UML analysis-sequence arrow 36"/>
          <p:cNvSpPr/>
          <p:nvPr/>
        </p:nvSpPr>
        <p:spPr>
          <ns1:xfrm xmlns:ns1="http://schemas.openxmlformats.org/drawingml/2006/main">
            <ns1:off x="6572083" y="2898048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37" name="UML analysis-sequence divider 37"/>
          <p:cNvSpPr/>
          <p:nvPr/>
        </p:nvSpPr>
        <p:spPr>
          <ns1:xfrm xmlns:ns1="http://schemas.openxmlformats.org/drawingml/2006/main">
            <ns1:off x="3672054" y="2931385"/>
            <ns1:ext cx="29500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371469" h="952" fill="none" stroke="1" extrusionOk="0">
                <ns2:moveTo>
                  <ns2:pt x="0" y="0"/>
                </ns2:moveTo>
                <ns2:lnTo>
                  <ns2:pt x="337146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38" name="UML analysis-sequence label 38"/>
          <p:cNvSpPr/>
          <p:nvPr/>
        </p:nvSpPr>
        <p:spPr>
          <ns1:xfrm xmlns:ns1="http://schemas.openxmlformats.org/drawingml/2006/main">
            <ns1:off x="4957281" y="2698090"/>
            <ns1:ext cx="479177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确认()</ns7:t>
            </ns7:r>
            <ns7:endParaRPr lang="zh-CN" sz="1247"/>
          </ns7:p>
        </p:txBody>
      </p:sp>
      <p:sp>
        <p:nvSpPr>
          <p:cNvPr id="39" name="UML analysis-sequence arrow 39"/>
          <p:cNvSpPr/>
          <p:nvPr/>
        </p:nvSpPr>
        <p:spPr>
          <ns1:xfrm xmlns:ns1="http://schemas.openxmlformats.org/drawingml/2006/main">
            <ns1:off x="3680389" y="3244024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0" name="UML analysis-sequence divider 40"/>
          <p:cNvSpPr/>
          <p:nvPr/>
        </p:nvSpPr>
        <p:spPr>
          <ns1:xfrm xmlns:ns1="http://schemas.openxmlformats.org/drawingml/2006/main">
            <ns1:off x="3713726" y="3277362"/>
            <ns1:ext cx="29500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371469" h="952" fill="none" stroke="1" extrusionOk="0">
                <ns2:moveTo>
                  <ns2:pt x="0" y="0"/>
                </ns2:moveTo>
                <ns2:lnTo>
                  <ns2:pt x="337146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  <ns4:prstDash val="dash"/>
          </ns4:ln>
        </p:spPr>
      </p:sp>
      <p:sp>
        <p:nvSpPr>
          <p:cNvPr id="41" name="UML analysis-sequence label 41"/>
          <p:cNvSpPr/>
          <p:nvPr/>
        </p:nvSpPr>
        <p:spPr>
          <ns1:xfrm xmlns:ns1="http://schemas.openxmlformats.org/drawingml/2006/main">
            <ns1:off x="4931628" y="3044066"/>
            <ns1:ext cx="530483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已确认</ns7:t>
            </ns7:r>
            <ns7:endParaRPr lang="zh-CN" sz="1247"/>
          </ns7:p>
        </p:txBody>
      </p:sp>
      <p:sp>
        <p:nvSpPr>
          <p:cNvPr id="42" name="UML analysis-sequence divider 42"/>
          <p:cNvSpPr/>
          <p:nvPr/>
        </p:nvSpPr>
        <p:spPr>
          <ns1:xfrm xmlns:ns1="http://schemas.openxmlformats.org/drawingml/2006/main">
            <ns1:off x="3672054" y="3623339"/>
            <ns1:ext cx="35004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400050" h="952" fill="none" stroke="1" extrusionOk="0">
                <ns2:moveTo>
                  <ns2:pt x="0" y="0"/>
                </ns2:moveTo>
                <ns2:lnTo>
                  <ns2:pt x="4000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3" name="UML analysis-sequence divider 43"/>
          <p:cNvSpPr/>
          <p:nvPr/>
        </p:nvSpPr>
        <p:spPr>
          <ns1:xfrm xmlns:ns1="http://schemas.openxmlformats.org/drawingml/2006/main">
            <ns1:off x="4022098" y="3623339"/>
            <ns1:ext cx="952" cy="10834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23825" fill="none" stroke="1" extrusionOk="0">
                <ns2:moveTo>
                  <ns2:pt x="0" y="0"/>
                </ns2:moveTo>
                <ns2:lnTo>
                  <ns2:pt x="0" y="12382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4" name="UML analysis-sequence divider 44"/>
          <p:cNvSpPr/>
          <p:nvPr/>
        </p:nvSpPr>
        <p:spPr>
          <ns1:xfrm xmlns:ns1="http://schemas.openxmlformats.org/drawingml/2006/main">
            <ns1:off x="3680389" y="3731685"/>
            <ns1:ext cx="341709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90525" h="952" fill="none" stroke="1" extrusionOk="0">
                <ns2:moveTo>
                  <ns2:pt x="0" y="0"/>
                </ns2:moveTo>
                <ns2:lnTo>
                  <ns2:pt x="3905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5" name="UML analysis-sequence arrow 45"/>
          <p:cNvSpPr/>
          <p:nvPr/>
        </p:nvSpPr>
        <p:spPr>
          <ns1:xfrm xmlns:ns1="http://schemas.openxmlformats.org/drawingml/2006/main">
            <ns1:off x="3680389" y="3698348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6" name="UML analysis-sequence label 46"/>
          <p:cNvSpPr/>
          <p:nvPr/>
        </p:nvSpPr>
        <p:spPr>
          <ns1:xfrm xmlns:ns1="http://schemas.openxmlformats.org/drawingml/2006/main">
            <ns1:off x="3727478" y="3390043"/>
            <ns1:ext cx="1005542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协调保留结果</ns7:t>
            </ns7:r>
            <ns7:endParaRPr lang="zh-CN" sz="1247"/>
          </ns7:p>
        </p:txBody>
      </p:sp>
      <p:sp>
        <p:nvSpPr>
          <p:cNvPr id="47" name="UML analysis-sequence arrow 47"/>
          <p:cNvSpPr/>
          <p:nvPr/>
        </p:nvSpPr>
        <p:spPr>
          <ns1:xfrm xmlns:ns1="http://schemas.openxmlformats.org/drawingml/2006/main">
            <ns1:off x="2401562" y="4044325"/>
            <ns1:ext cx="83344" cy="666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334">
            <ns4:solidFill>
              <ns4:srgbClr val="1F2A44"/>
            </ns4:solidFill>
          </ns4:ln>
        </p:spPr>
      </p:sp>
      <p:sp>
        <p:nvSpPr>
          <p:cNvPr id="48" name="UML analysis-sequence divider 48"/>
          <p:cNvSpPr/>
          <p:nvPr/>
        </p:nvSpPr>
        <p:spPr>
          <ns1:xfrm xmlns:ns1="http://schemas.openxmlformats.org/drawingml/2006/main">
            <ns1:off x="2434900" y="4077662"/>
            <ns1:ext cx="114547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309116" h="952" fill="none" stroke="1" extrusionOk="0">
                <ns2:moveTo>
                  <ns2:pt x="0" y="0"/>
                </ns2:moveTo>
                <ns2:lnTo>
                  <ns2:pt x="1309116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334">
            <ns4:solidFill>
              <ns4:srgbClr val="1F2A44"/>
            </ns4:solidFill>
            <ns4:prstDash val="dash"/>
          </ns4:ln>
        </p:spPr>
      </p:sp>
      <p:sp>
        <p:nvSpPr>
          <p:cNvPr id="49" name="UML analysis-sequence label 49"/>
          <p:cNvSpPr/>
          <p:nvPr/>
        </p:nvSpPr>
        <p:spPr>
          <ns1:xfrm xmlns:ns1="http://schemas.openxmlformats.org/drawingml/2006/main">
            <ns1:off x="2750522" y="3844366"/>
            <ns1:ext cx="530483" cy="23119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33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47" dirty="0">
                <ns7:solidFill>
                  <ns7:srgbClr val="1F2A44"/>
                </ns7:solidFill>
                <ns7:latin typeface="Noto Sans SC"/>
                <ns7:ea typeface="Noto Sans SC"/>
              </ns7:rPr>
              <ns7:t>已确认</ns7:t>
            </ns7:r>
            <ns7:endParaRPr lang="zh-CN" sz="1247"/>
          </ns7:p>
        </p:txBody>
      </p:sp>
      <p:sp>
        <p:nvSpPr>
          <p:cNvPr id="7" name="content-291">
            <a:extLst xmlns:a="http://schemas.openxmlformats.org/drawingml/2006/main">
              <a:ext uri="{FF2B5EF4-FFF2-40B4-BE49-F238E27FC236}">
                <a16:creationId xmlns:a16="http://schemas.microsoft.com/office/drawing/2014/main" id="{0F051489-5DE9-4ADE-879E-15F240F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e已知且待处理；控制对象协调办理结果的保留，机制留待设计。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61B0C-5222-4498-B625-4FC36DA9D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6e4026ab9481d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292">
            <a:extLst xmlns:a="http://schemas.openxmlformats.org/drawingml/2006/main">
              <a:ext uri="{FF2B5EF4-FFF2-40B4-BE49-F238E27FC236}">
                <a16:creationId xmlns:a16="http://schemas.microsoft.com/office/drawing/2014/main" id="{61B03A15-80EB-4846-8F54-74B76E7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03 小结：需求如何落实为职责</a:t>
            </a:r>
          </a:p>
        </p:txBody>
      </p:sp>
      <p:sp>
        <p:nvSpPr>
          <p:cNvPr id="2" name="frame-293">
            <a:extLst xmlns:a="http://schemas.openxmlformats.org/drawingml/2006/main">
              <a:ext uri="{FF2B5EF4-FFF2-40B4-BE49-F238E27FC236}">
                <a16:creationId xmlns:a16="http://schemas.microsoft.com/office/drawing/2014/main" id="{D7131F82-A16F-45EA-932D-B2C3F4D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294">
            <a:extLst xmlns:a="http://schemas.openxmlformats.org/drawingml/2006/main">
              <a:ext uri="{FF2B5EF4-FFF2-40B4-BE49-F238E27FC236}">
                <a16:creationId xmlns:a16="http://schemas.microsoft.com/office/drawing/2014/main" id="{C3ED8A40-1340-4DB0-8396-6E4A742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4D8A52D-D552-4238-9F4C-28E2D66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03 分析模型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95C2BF7-CF08-473A-B30F-6C7938E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32 / 82</a:t>
            </a:r>
          </a:p>
        </p:txBody>
      </p:sp>
      <p:sp>
        <p:nvSpPr>
          <p:cNvPr id="6" name="content-295">
            <a:extLst xmlns:a="http://schemas.openxmlformats.org/drawingml/2006/main">
              <a:ext uri="{FF2B5EF4-FFF2-40B4-BE49-F238E27FC236}">
                <a16:creationId xmlns:a16="http://schemas.microsoft.com/office/drawing/2014/main" id="{D5AC88A9-4513-413B-A47B-3149D80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系统用例提供</a:t>
            </a:r>
          </a:p>
        </p:txBody>
      </p:sp>
      <p:sp>
        <p:nvSpPr>
          <p:cNvPr id="7" name="content-296">
            <a:extLst xmlns:a="http://schemas.openxmlformats.org/drawingml/2006/main">
              <a:ext uri="{FF2B5EF4-FFF2-40B4-BE49-F238E27FC236}">
                <a16:creationId xmlns:a16="http://schemas.microsoft.com/office/drawing/2014/main" id="{4104E2C3-3B7C-4831-9020-C424653C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处理已有记录，保存后反馈。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这是软件必须满足的完成条件。</a:t>
            </a:r>
          </a:p>
        </p:txBody>
      </p:sp>
      <p:sp>
        <p:nvSpPr>
          <p:cNvPr id="8" name="frame-297">
            <a:extLst xmlns:a="http://schemas.openxmlformats.org/drawingml/2006/main">
              <a:ext uri="{FF2B5EF4-FFF2-40B4-BE49-F238E27FC236}">
                <a16:creationId xmlns:a16="http://schemas.microsoft.com/office/drawing/2014/main" id="{8BE704FD-F677-4F3A-B815-BA6657B6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298">
            <a:extLst xmlns:a="http://schemas.openxmlformats.org/drawingml/2006/main">
              <a:ext uri="{FF2B5EF4-FFF2-40B4-BE49-F238E27FC236}">
                <a16:creationId xmlns:a16="http://schemas.microsoft.com/office/drawing/2014/main" id="{02BA100D-C8C4-4DFA-96DC-D7E946DC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领域模型提供</a:t>
            </a:r>
          </a:p>
        </p:txBody>
      </p:sp>
      <p:sp>
        <p:nvSpPr>
          <p:cNvPr id="10" name="content-299">
            <a:extLst xmlns:a="http://schemas.openxmlformats.org/drawingml/2006/main">
              <a:ext uri="{FF2B5EF4-FFF2-40B4-BE49-F238E27FC236}">
                <a16:creationId xmlns:a16="http://schemas.microsoft.com/office/drawing/2014/main" id="{44DCE7B8-B182-4AE5-BD78-703EFC1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状态属于Enrollment，余量属于CourseOffering。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这些信息帮助判断职责应由谁承担。</a:t>
            </a:r>
          </a:p>
        </p:txBody>
      </p:sp>
      <p:sp>
        <p:nvSpPr>
          <p:cNvPr id="11" name="frame-300">
            <a:extLst xmlns:a="http://schemas.openxmlformats.org/drawingml/2006/main">
              <a:ext uri="{FF2B5EF4-FFF2-40B4-BE49-F238E27FC236}">
                <a16:creationId xmlns:a16="http://schemas.microsoft.com/office/drawing/2014/main" id="{20C18327-7123-4619-855E-7C177F3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301">
            <a:extLst xmlns:a="http://schemas.openxmlformats.org/drawingml/2006/main">
              <a:ext uri="{FF2B5EF4-FFF2-40B4-BE49-F238E27FC236}">
                <a16:creationId xmlns:a16="http://schemas.microsoft.com/office/drawing/2014/main" id="{0BEFDE69-5350-425C-B023-C3B2C054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分析模型增加</a:t>
            </a:r>
          </a:p>
        </p:txBody>
      </p:sp>
      <p:sp>
        <p:nvSpPr>
          <p:cNvPr id="13" name="content-302">
            <a:extLst xmlns:a="http://schemas.openxmlformats.org/drawingml/2006/main">
              <a:ext uri="{FF2B5EF4-FFF2-40B4-BE49-F238E27FC236}">
                <a16:creationId xmlns:a16="http://schemas.microsoft.com/office/drawing/2014/main" id="{F4D950C6-DF9F-4FE5-88A4-59D6EFE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界面负责交互，控制职责协调步骤，实体处理相关信息。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通过场景检查是否漏掉保存、反馈等工作。</a:t>
            </a:r>
          </a:p>
        </p:txBody>
      </p:sp>
      <p:sp>
        <p:nvSpPr>
          <p:cNvPr id="14" name="content-303">
            <a:extLst xmlns:a="http://schemas.openxmlformats.org/drawingml/2006/main">
              <a:ext uri="{FF2B5EF4-FFF2-40B4-BE49-F238E27FC236}">
                <a16:creationId xmlns:a16="http://schemas.microsoft.com/office/drawing/2014/main" id="{73DD1CC9-A0A5-4A62-85B6-ABBB10D6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设计还需确定操作与接口。BCE与MVC、数据表、部署层应分别理解。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74EE2-F490-4876-AE79-81AB54D05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47300540a440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304">
            <a:extLst xmlns:a="http://schemas.openxmlformats.org/drawingml/2006/main">
              <a:ext uri="{FF2B5EF4-FFF2-40B4-BE49-F238E27FC236}">
                <a16:creationId xmlns:a16="http://schemas.microsoft.com/office/drawing/2014/main" id="{D2C8B254-3E56-4F60-8E3B-410F008E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04 设计模型与实现</a:t>
            </a:r>
          </a:p>
        </p:txBody>
      </p:sp>
      <p:sp>
        <p:nvSpPr>
          <p:cNvPr id="2" name="frame-305">
            <a:extLst xmlns:a="http://schemas.openxmlformats.org/drawingml/2006/main">
              <a:ext uri="{FF2B5EF4-FFF2-40B4-BE49-F238E27FC236}">
                <a16:creationId xmlns:a16="http://schemas.microsoft.com/office/drawing/2014/main" id="{9E1BA933-8EA2-4895-B744-363C5C6F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06">
            <a:extLst xmlns:a="http://schemas.openxmlformats.org/drawingml/2006/main">
              <a:ext uri="{FF2B5EF4-FFF2-40B4-BE49-F238E27FC236}">
                <a16:creationId xmlns:a16="http://schemas.microsoft.com/office/drawing/2014/main" id="{7D0A2BB3-05C8-429F-ABBC-5B0059BC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5A6403B-B8FB-4872-8A30-CDE1E3F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7771301-6F71-484B-B2C7-097AFD4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33 / 82</a:t>
            </a:r>
          </a:p>
        </p:txBody>
      </p:sp>
      <p:sp>
        <p:nvSpPr>
          <p:cNvPr id="6" name="content-307">
            <a:extLst xmlns:a="http://schemas.openxmlformats.org/drawingml/2006/main">
              <a:ext uri="{FF2B5EF4-FFF2-40B4-BE49-F238E27FC236}">
                <a16:creationId xmlns:a16="http://schemas.microsoft.com/office/drawing/2014/main" id="{7C2F54C9-7C3C-4822-9D94-86FAA3E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定义（RUP）</a:t>
            </a:r>
          </a:p>
        </p:txBody>
      </p:sp>
      <p:sp>
        <p:nvSpPr>
          <p:cNvPr id="7" name="content-308">
            <a:extLst xmlns:a="http://schemas.openxmlformats.org/drawingml/2006/main">
              <a:ext uri="{FF2B5EF4-FFF2-40B4-BE49-F238E27FC236}">
                <a16:creationId xmlns:a16="http://schemas.microsoft.com/office/drawing/2014/main" id="{91EDD266-5F33-4754-9EE0-234FCA1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描述用例如何由软件类及其协作实现，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为编码与测试提供具体的设计依据。</a:t>
            </a:r>
          </a:p>
        </p:txBody>
      </p:sp>
      <p:sp>
        <p:nvSpPr>
          <p:cNvPr id="8" name="frame-309">
            <a:extLst xmlns:a="http://schemas.openxmlformats.org/drawingml/2006/main">
              <a:ext uri="{FF2B5EF4-FFF2-40B4-BE49-F238E27FC236}">
                <a16:creationId xmlns:a16="http://schemas.microsoft.com/office/drawing/2014/main" id="{34B4544F-53FD-412A-8277-5CC92137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310">
            <a:extLst xmlns:a="http://schemas.openxmlformats.org/drawingml/2006/main">
              <a:ext uri="{FF2B5EF4-FFF2-40B4-BE49-F238E27FC236}">
                <a16:creationId xmlns:a16="http://schemas.microsoft.com/office/drawing/2014/main" id="{069A3D13-CF2B-42AA-B265-FD3FFC9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具体决策</a:t>
            </a:r>
          </a:p>
        </p:txBody>
      </p:sp>
      <p:sp>
        <p:nvSpPr>
          <p:cNvPr id="10" name="content-311">
            <a:extLst xmlns:a="http://schemas.openxmlformats.org/drawingml/2006/main">
              <a:ext uri="{FF2B5EF4-FFF2-40B4-BE49-F238E27FC236}">
                <a16:creationId xmlns:a16="http://schemas.microsoft.com/office/drawing/2014/main" id="{9127A736-F124-4B89-9626-36DAD77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确定所需的类、操作、接口和依赖，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并结合架构、技术环境与质量要求作出选择。</a:t>
            </a:r>
          </a:p>
        </p:txBody>
      </p:sp>
      <p:sp>
        <p:nvSpPr>
          <p:cNvPr id="11" name="frame-312">
            <a:extLst xmlns:a="http://schemas.openxmlformats.org/drawingml/2006/main">
              <a:ext uri="{FF2B5EF4-FFF2-40B4-BE49-F238E27FC236}">
                <a16:creationId xmlns:a16="http://schemas.microsoft.com/office/drawing/2014/main" id="{3E22C1DE-CA95-4466-AC42-B5388CF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313">
            <a:extLst xmlns:a="http://schemas.openxmlformats.org/drawingml/2006/main">
              <a:ext uri="{FF2B5EF4-FFF2-40B4-BE49-F238E27FC236}">
                <a16:creationId xmlns:a16="http://schemas.microsoft.com/office/drawing/2014/main" id="{9F20324B-9A58-4A26-9BBF-2CC4C0B4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方案比较</a:t>
            </a:r>
          </a:p>
        </p:txBody>
      </p:sp>
      <p:sp>
        <p:nvSpPr>
          <p:cNvPr id="13" name="content-314">
            <a:extLst xmlns:a="http://schemas.openxmlformats.org/drawingml/2006/main">
              <a:ext uri="{FF2B5EF4-FFF2-40B4-BE49-F238E27FC236}">
                <a16:creationId xmlns:a16="http://schemas.microsoft.com/office/drawing/2014/main" id="{E1B72DF8-B8D1-47E9-9BBA-17695B4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同一组职责可以采用不同设计。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方案选择取决于约束、维护需要及实现代价。</a:t>
            </a:r>
          </a:p>
        </p:txBody>
      </p:sp>
      <p:sp>
        <p:nvSpPr>
          <p:cNvPr id="14" name="content-315">
            <a:extLst xmlns:a="http://schemas.openxmlformats.org/drawingml/2006/main">
              <a:ext uri="{FF2B5EF4-FFF2-40B4-BE49-F238E27FC236}">
                <a16:creationId xmlns:a16="http://schemas.microsoft.com/office/drawing/2014/main" id="{B4753529-E07A-46B1-B965-2E92DF8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设计可与编码、测试反复核对；不要求先画完全部模型再开始实现。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6BCD7-4425-46F4-9E9A-61DCB6633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3901aeeef42a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316">
            <a:extLst xmlns:a="http://schemas.openxmlformats.org/drawingml/2006/main">
              <a:ext uri="{FF2B5EF4-FFF2-40B4-BE49-F238E27FC236}">
                <a16:creationId xmlns:a16="http://schemas.microsoft.com/office/drawing/2014/main" id="{BC6BCB0D-3935-4656-9A3E-2F086BD6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设计练习：两个入口怎样组织处理？</a:t>
            </a:r>
          </a:p>
        </p:txBody>
      </p:sp>
      <p:sp>
        <p:nvSpPr>
          <p:cNvPr id="2" name="frame-317">
            <a:extLst xmlns:a="http://schemas.openxmlformats.org/drawingml/2006/main">
              <a:ext uri="{FF2B5EF4-FFF2-40B4-BE49-F238E27FC236}">
                <a16:creationId xmlns:a16="http://schemas.microsoft.com/office/drawing/2014/main" id="{7BB59E24-A300-493E-9E54-D3FABF2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18">
            <a:extLst xmlns:a="http://schemas.openxmlformats.org/drawingml/2006/main">
              <a:ext uri="{FF2B5EF4-FFF2-40B4-BE49-F238E27FC236}">
                <a16:creationId xmlns:a16="http://schemas.microsoft.com/office/drawing/2014/main" id="{4F161925-2629-4630-B99C-4E59B17E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BDEAE3-1FAC-4F94-BB66-E1FD83D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D8FB427-CFD9-4073-9B74-65758CE0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34 / 82</a:t>
            </a:r>
          </a:p>
        </p:txBody>
      </p:sp>
      <p:sp>
        <p:nvSpPr>
          <p:cNvPr id="6" name="content-319">
            <a:extLst xmlns:a="http://schemas.openxmlformats.org/drawingml/2006/main">
              <a:ext uri="{FF2B5EF4-FFF2-40B4-BE49-F238E27FC236}">
                <a16:creationId xmlns:a16="http://schemas.microsoft.com/office/drawing/2014/main" id="{813BF4E4-FF36-4A73-9361-3615F251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教学假设A2</a:t>
            </a:r>
          </a:p>
        </p:txBody>
      </p:sp>
      <p:sp>
        <p:nvSpPr>
          <p:cNvPr id="7" name="content-320">
            <a:extLst xmlns:a="http://schemas.openxmlformats.org/drawingml/2006/main">
              <a:ext uri="{FF2B5EF4-FFF2-40B4-BE49-F238E27FC236}">
                <a16:creationId xmlns:a16="http://schemas.microsoft.com/office/drawing/2014/main" id="{44732523-76DA-4B8C-848A-3945C7E7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网页与移动两个入口必须遵守相同办理规则。</a:t>
            </a:r>
          </a:p>
        </p:txBody>
      </p:sp>
      <p:sp>
        <p:nvSpPr>
          <p:cNvPr id="8" name="frame-321">
            <a:extLst xmlns:a="http://schemas.openxmlformats.org/drawingml/2006/main">
              <a:ext uri="{FF2B5EF4-FFF2-40B4-BE49-F238E27FC236}">
                <a16:creationId xmlns:a16="http://schemas.microsoft.com/office/drawing/2014/main" id="{571501C9-3E6C-4ABD-A9B7-ECE1591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322">
            <a:extLst xmlns:a="http://schemas.openxmlformats.org/drawingml/2006/main">
              <a:ext uri="{FF2B5EF4-FFF2-40B4-BE49-F238E27FC236}">
                <a16:creationId xmlns:a16="http://schemas.microsoft.com/office/drawing/2014/main" id="{E324A653-E7F1-45EB-AFE6-F03994A1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方案A</a:t>
            </a:r>
          </a:p>
        </p:txBody>
      </p:sp>
      <p:sp>
        <p:nvSpPr>
          <p:cNvPr id="10" name="content-323">
            <a:extLst xmlns:a="http://schemas.openxmlformats.org/drawingml/2006/main">
              <a:ext uri="{FF2B5EF4-FFF2-40B4-BE49-F238E27FC236}">
                <a16:creationId xmlns:a16="http://schemas.microsoft.com/office/drawing/2014/main" id="{8E4FA88D-EA33-48E6-8518-487DDDB8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两个入口各自组织记录读取、状态处理和结果保存。</a:t>
            </a:r>
          </a:p>
        </p:txBody>
      </p:sp>
      <p:sp>
        <p:nvSpPr>
          <p:cNvPr id="11" name="frame-324">
            <a:extLst xmlns:a="http://schemas.openxmlformats.org/drawingml/2006/main">
              <a:ext uri="{FF2B5EF4-FFF2-40B4-BE49-F238E27FC236}">
                <a16:creationId xmlns:a16="http://schemas.microsoft.com/office/drawing/2014/main" id="{80CD367F-8925-4580-AA69-590B54E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325">
            <a:extLst xmlns:a="http://schemas.openxmlformats.org/drawingml/2006/main">
              <a:ext uri="{FF2B5EF4-FFF2-40B4-BE49-F238E27FC236}">
                <a16:creationId xmlns:a16="http://schemas.microsoft.com/office/drawing/2014/main" id="{59C98848-F56E-4926-A874-96535566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方案B</a:t>
            </a:r>
          </a:p>
        </p:txBody>
      </p:sp>
      <p:sp>
        <p:nvSpPr>
          <p:cNvPr id="13" name="content-326">
            <a:extLst xmlns:a="http://schemas.openxmlformats.org/drawingml/2006/main">
              <a:ext uri="{FF2B5EF4-FFF2-40B4-BE49-F238E27FC236}">
                <a16:creationId xmlns:a16="http://schemas.microsoft.com/office/drawing/2014/main" id="{61F50407-E37C-4837-894C-633C7D10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两个入口调用一个共用服务，由服务组织上述处理。</a:t>
            </a:r>
          </a:p>
        </p:txBody>
      </p:sp>
      <p:sp>
        <p:nvSpPr>
          <p:cNvPr id="14" name="frame-327">
            <a:extLst xmlns:a="http://schemas.openxmlformats.org/drawingml/2006/main">
              <a:ext uri="{FF2B5EF4-FFF2-40B4-BE49-F238E27FC236}">
                <a16:creationId xmlns:a16="http://schemas.microsoft.com/office/drawing/2014/main" id="{5AA1D10E-FE64-4D55-A38F-FB4DE20A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328">
            <a:extLst xmlns:a="http://schemas.openxmlformats.org/drawingml/2006/main">
              <a:ext uri="{FF2B5EF4-FFF2-40B4-BE49-F238E27FC236}">
                <a16:creationId xmlns:a16="http://schemas.microsoft.com/office/drawing/2014/main" id="{9D16FB11-589D-4776-94F9-3E4D4C89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比较问题</a:t>
            </a:r>
          </a:p>
        </p:txBody>
      </p:sp>
      <p:sp>
        <p:nvSpPr>
          <p:cNvPr id="16" name="content-329">
            <a:extLst xmlns:a="http://schemas.openxmlformats.org/drawingml/2006/main">
              <a:ext uri="{FF2B5EF4-FFF2-40B4-BE49-F238E27FC236}">
                <a16:creationId xmlns:a16="http://schemas.microsoft.com/office/drawing/2014/main" id="{5D016369-AE05-4893-8DD1-ED3BB209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规则变化时，各方案要检查哪些位置？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据此选择方案，说明一个理由和一个代价。</a:t>
            </a:r>
          </a:p>
        </p:txBody>
      </p:sp>
      <p:sp>
        <p:nvSpPr>
          <p:cNvPr id="17" name="content-330">
            <a:extLst xmlns:a="http://schemas.openxmlformats.org/drawingml/2006/main">
              <a:ext uri="{FF2B5EF4-FFF2-40B4-BE49-F238E27FC236}">
                <a16:creationId xmlns:a16="http://schemas.microsoft.com/office/drawing/2014/main" id="{626B155C-BA78-4D50-943F-FDA66A2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两种方案都要满足UC-01。选择时说明理由，也说明代价。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E953B-2828-44AB-85B5-B78402223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c0397da0440f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31">
            <a:extLst xmlns:a="http://schemas.openxmlformats.org/drawingml/2006/main">
              <a:ext uri="{FF2B5EF4-FFF2-40B4-BE49-F238E27FC236}">
                <a16:creationId xmlns:a16="http://schemas.microsoft.com/office/drawing/2014/main" id="{8BB807D3-F298-4C38-A2A1-8100041D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参考：分别处理与共用服务</a:t>
            </a:r>
          </a:p>
        </p:txBody>
      </p:sp>
      <p:sp>
        <p:nvSpPr>
          <p:cNvPr id="2" name="frame-332">
            <a:extLst xmlns:a="http://schemas.openxmlformats.org/drawingml/2006/main">
              <a:ext uri="{FF2B5EF4-FFF2-40B4-BE49-F238E27FC236}">
                <a16:creationId xmlns:a16="http://schemas.microsoft.com/office/drawing/2014/main" id="{FBE588EA-75A4-4EEC-95C2-5B37E02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33">
            <a:extLst xmlns:a="http://schemas.openxmlformats.org/drawingml/2006/main">
              <a:ext uri="{FF2B5EF4-FFF2-40B4-BE49-F238E27FC236}">
                <a16:creationId xmlns:a16="http://schemas.microsoft.com/office/drawing/2014/main" id="{22488E11-5A04-48C5-A36A-F555060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F45ABA3-7114-468F-A159-BBDE9562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55C237E-15A4-405D-90DF-EB97313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35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06954-D0DE-43BF-AC16-05106CF6A3A1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333750"/>
                <a:gridCol w="3333750"/>
              </a:tblGrid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比较项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方案A：入口分别协调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方案B：共用处理服务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组织方式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网页与移动入口各自组织处理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两个入口调用同一服务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协调规则改变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核对两个入口的协调逻辑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核对共享服务的协调逻辑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主要代价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需要保持两处行为一致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增加调用边界与接口维护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讨论依据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能否遵守相同用例约定？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复用收益是否值得引入服务？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</a:tbl>
          </a:graphicData>
        </a:graphic>
      </p:graphicFrame>
      <p:sp>
        <p:nvSpPr>
          <p:cNvPr id="7" name="content-334">
            <a:extLst xmlns:a="http://schemas.openxmlformats.org/drawingml/2006/main">
              <a:ext uri="{FF2B5EF4-FFF2-40B4-BE49-F238E27FC236}">
                <a16:creationId xmlns:a16="http://schemas.microsoft.com/office/drawing/2014/main" id="{8C9CA207-3856-4C51-94F3-74ECDA1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教学假设A2：网页与移动两个入口必须遵守相同办理规则。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0AEA8-9510-4F9D-9C50-FB93A81B2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a1f78a9045d1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35">
            <a:extLst xmlns:a="http://schemas.openxmlformats.org/drawingml/2006/main">
              <a:ext uri="{FF2B5EF4-FFF2-40B4-BE49-F238E27FC236}">
                <a16:creationId xmlns:a16="http://schemas.microsoft.com/office/drawing/2014/main" id="{EA2F784F-784E-4773-B461-48CC0E8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本例选择：共用处理服务</a:t>
            </a:r>
          </a:p>
        </p:txBody>
      </p:sp>
      <p:sp>
        <p:nvSpPr>
          <p:cNvPr id="2" name="frame-336">
            <a:extLst xmlns:a="http://schemas.openxmlformats.org/drawingml/2006/main">
              <a:ext uri="{FF2B5EF4-FFF2-40B4-BE49-F238E27FC236}">
                <a16:creationId xmlns:a16="http://schemas.microsoft.com/office/drawing/2014/main" id="{C7A42F8E-B3F8-470B-82A2-ED5516C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37">
            <a:extLst xmlns:a="http://schemas.openxmlformats.org/drawingml/2006/main">
              <a:ext uri="{FF2B5EF4-FFF2-40B4-BE49-F238E27FC236}">
                <a16:creationId xmlns:a16="http://schemas.microsoft.com/office/drawing/2014/main" id="{4E0F085E-9B9A-4064-B51A-C07317D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0693875-6F53-4273-AC7E-A24C0F8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07356C9-90E7-42F5-B82B-7D93AC5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36 / 82</a:t>
            </a:r>
          </a:p>
        </p:txBody>
      </p:sp>
      <p:sp>
        <p:nvSpPr>
          <p:cNvPr id="10" name="UML responsibility-choice box 10"/>
          <p:cNvSpPr/>
          <p:nvPr/>
        </p:nvSpPr>
        <p:spPr>
          <ns1:xfrm xmlns:ns1="http://schemas.openxmlformats.org/drawingml/2006/main">
            <ns1:off x="604242" y="1924970"/>
            <ns1:ext cx="1326464" cy="60579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1" name="UML responsibility-choice label 11"/>
          <p:cNvSpPr/>
          <p:nvPr/>
        </p:nvSpPr>
        <p:spPr>
          <ns1:xfrm xmlns:ns1="http://schemas.openxmlformats.org/drawingml/2006/main">
            <ns1:off x="635077" y="1999904"/>
            <ns1:ext cx="1329955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网页选课界面</ns7:t>
            </ns7:r>
            <ns7:endParaRPr lang="zh-CN" sz="1649"/>
          </ns7:p>
        </p:txBody>
      </p:sp>
      <p:sp>
        <p:nvSpPr>
          <p:cNvPr id="12" name="UML responsibility-choice divider 12"/>
          <p:cNvSpPr/>
          <p:nvPr/>
        </p:nvSpPr>
        <p:spPr>
          <ns1:xfrm xmlns:ns1="http://schemas.openxmlformats.org/drawingml/2006/main">
            <ns1:off x="615878" y="2344598"/>
            <ns1:ext cx="1303193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66800" h="952" fill="none" stroke="1" extrusionOk="0">
                <ns2:moveTo>
                  <ns2:pt x="0" y="0"/>
                </ns2:moveTo>
                <ns2:lnTo>
                  <ns2:pt x="10668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3" name="UML responsibility-choice divider 13"/>
          <p:cNvSpPr/>
          <p:nvPr/>
        </p:nvSpPr>
        <p:spPr>
          <ns1:xfrm xmlns:ns1="http://schemas.openxmlformats.org/drawingml/2006/main">
            <ns1:off x="615878" y="2437683"/>
            <ns1:ext cx="1303193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66800" h="952" fill="none" stroke="1" extrusionOk="0">
                <ns2:moveTo>
                  <ns2:pt x="0" y="0"/>
                </ns2:moveTo>
                <ns2:lnTo>
                  <ns2:pt x="10668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4" name="UML responsibility-choice box 14"/>
          <p:cNvSpPr/>
          <p:nvPr/>
        </p:nvSpPr>
        <p:spPr>
          <ns1:xfrm xmlns:ns1="http://schemas.openxmlformats.org/drawingml/2006/main">
            <ns1:off x="604242" y="2739466"/>
            <ns1:ext cx="1326464" cy="60579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5" name="UML responsibility-choice label 15"/>
          <p:cNvSpPr/>
          <p:nvPr/>
        </p:nvSpPr>
        <p:spPr>
          <ns1:xfrm xmlns:ns1="http://schemas.openxmlformats.org/drawingml/2006/main">
            <ns1:off x="635077" y="2814399"/>
            <ns1:ext cx="1329955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移动选课界面</ns7:t>
            </ns7:r>
            <ns7:endParaRPr lang="zh-CN" sz="1649"/>
          </ns7:p>
        </p:txBody>
      </p:sp>
      <p:sp>
        <p:nvSpPr>
          <p:cNvPr id="16" name="UML responsibility-choice divider 16"/>
          <p:cNvSpPr/>
          <p:nvPr/>
        </p:nvSpPr>
        <p:spPr>
          <ns1:xfrm xmlns:ns1="http://schemas.openxmlformats.org/drawingml/2006/main">
            <ns1:off x="615878" y="3159094"/>
            <ns1:ext cx="1303193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66800" h="952" fill="none" stroke="1" extrusionOk="0">
                <ns2:moveTo>
                  <ns2:pt x="0" y="0"/>
                </ns2:moveTo>
                <ns2:lnTo>
                  <ns2:pt x="10668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7" name="UML responsibility-choice divider 17"/>
          <p:cNvSpPr/>
          <p:nvPr/>
        </p:nvSpPr>
        <p:spPr>
          <ns1:xfrm xmlns:ns1="http://schemas.openxmlformats.org/drawingml/2006/main">
            <ns1:off x="615878" y="3252179"/>
            <ns1:ext cx="1303193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66800" h="952" fill="none" stroke="1" extrusionOk="0">
                <ns2:moveTo>
                  <ns2:pt x="0" y="0"/>
                </ns2:moveTo>
                <ns2:lnTo>
                  <ns2:pt x="10668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8" name="UML responsibility-choice box 18"/>
          <p:cNvSpPr/>
          <p:nvPr/>
        </p:nvSpPr>
        <p:spPr>
          <ns1:xfrm xmlns:ns1="http://schemas.openxmlformats.org/drawingml/2006/main">
            <ns1:off x="2815016" y="2332218"/>
            <ns1:ext cx="1876459" cy="60579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19" name="UML responsibility-choice label 19"/>
          <p:cNvSpPr/>
          <p:nvPr/>
        </p:nvSpPr>
        <p:spPr>
          <ns1:xfrm xmlns:ns1="http://schemas.openxmlformats.org/drawingml/2006/main">
            <ns1:off x="2845851" y="2407152"/>
            <ns1:ext cx="1879949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EnrollmentService</ns7:t>
            </ns7:r>
            <ns7:endParaRPr lang="zh-CN" sz="1649"/>
          </ns7:p>
        </p:txBody>
      </p:sp>
      <p:sp>
        <p:nvSpPr>
          <p:cNvPr id="20" name="UML responsibility-choice divider 20"/>
          <p:cNvSpPr/>
          <p:nvPr/>
        </p:nvSpPr>
        <p:spPr>
          <ns1:xfrm xmlns:ns1="http://schemas.openxmlformats.org/drawingml/2006/main">
            <ns1:off x="2826652" y="2751846"/>
            <ns1:ext cx="1853187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517028" h="952" fill="none" stroke="1" extrusionOk="0">
                <ns2:moveTo>
                  <ns2:pt x="0" y="0"/>
                </ns2:moveTo>
                <ns2:lnTo>
                  <ns2:pt x="151702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1" name="UML responsibility-choice divider 21"/>
          <p:cNvSpPr/>
          <p:nvPr/>
        </p:nvSpPr>
        <p:spPr>
          <ns1:xfrm xmlns:ns1="http://schemas.openxmlformats.org/drawingml/2006/main">
            <ns1:off x="2826652" y="2844931"/>
            <ns1:ext cx="1853187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517028" h="952" fill="none" stroke="1" extrusionOk="0">
                <ns2:moveTo>
                  <ns2:pt x="0" y="0"/>
                </ns2:moveTo>
                <ns2:lnTo>
                  <ns2:pt x="151702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2" name="UML responsibility-choice box 22"/>
          <p:cNvSpPr/>
          <p:nvPr/>
        </p:nvSpPr>
        <p:spPr>
          <ns1:xfrm xmlns:ns1="http://schemas.openxmlformats.org/drawingml/2006/main">
            <ns1:off x="6759503" y="1855156"/>
            <ns1:ext cx="1164775" cy="60579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3" name="UML responsibility-choice label 23"/>
          <p:cNvSpPr/>
          <p:nvPr/>
        </p:nvSpPr>
        <p:spPr>
          <ns1:xfrm xmlns:ns1="http://schemas.openxmlformats.org/drawingml/2006/main">
            <ns1:off x="6790337" y="1930090"/>
            <ns1:ext cx="1168266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649"/>
          </ns7:p>
        </p:txBody>
      </p:sp>
      <p:sp>
        <p:nvSpPr>
          <p:cNvPr id="24" name="UML responsibility-choice divider 24"/>
          <p:cNvSpPr/>
          <p:nvPr/>
        </p:nvSpPr>
        <p:spPr>
          <ns1:xfrm xmlns:ns1="http://schemas.openxmlformats.org/drawingml/2006/main">
            <ns1:off x="6771138" y="2274784"/>
            <ns1:ext cx="1141504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5" name="UML responsibility-choice divider 25"/>
          <p:cNvSpPr/>
          <p:nvPr/>
        </p:nvSpPr>
        <p:spPr>
          <ns1:xfrm xmlns:ns1="http://schemas.openxmlformats.org/drawingml/2006/main">
            <ns1:off x="6771138" y="2367870"/>
            <ns1:ext cx="1141504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6" name="UML responsibility-choice box 26"/>
          <p:cNvSpPr/>
          <p:nvPr/>
        </p:nvSpPr>
        <p:spPr>
          <ns1:xfrm xmlns:ns1="http://schemas.openxmlformats.org/drawingml/2006/main">
            <ns1:off x="6200991" y="2675470"/>
            <ns1:ext cx="2443823" cy="84620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27" name="UML responsibility-choice label 27"/>
          <p:cNvSpPr/>
          <p:nvPr/>
        </p:nvSpPr>
        <p:spPr>
          <ns1:xfrm xmlns:ns1="http://schemas.openxmlformats.org/drawingml/2006/main">
            <ns1:off x="6776898" y="2718882"/>
            <ns1:ext cx="1193678" cy="28879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5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«interface»</ns7:t>
            </ns7:r>
            <ns7:endParaRPr lang="zh-CN" sz="1558"/>
          </ns7:p>
        </p:txBody>
      </p:sp>
      <p:sp>
        <p:nvSpPr>
          <p:cNvPr id="28" name="UML responsibility-choice label 28"/>
          <p:cNvSpPr/>
          <p:nvPr/>
        </p:nvSpPr>
        <p:spPr>
          <ns1:xfrm xmlns:ns1="http://schemas.openxmlformats.org/drawingml/2006/main">
            <ns1:off x="6231826" y="2990808"/>
            <ns1:ext cx="2287313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 i="1">
                <ns7:solidFill>
                  <ns7:srgbClr val="1F2A44"/>
                </ns7:solidFill>
                <ns7:latin typeface="Noto Sans SC"/>
                <ns7:ea typeface="Noto Sans SC"/>
              </ns7:rPr>
              <ns7:t>IEnrollmentRepository</ns7:t>
            </ns7:r>
            <ns7:endParaRPr lang="zh-CN" sz="1649"/>
          </ns7:p>
        </p:txBody>
      </p:sp>
      <p:sp>
        <p:nvSpPr>
          <p:cNvPr id="29" name="UML responsibility-choice divider 29"/>
          <p:cNvSpPr/>
          <p:nvPr/>
        </p:nvSpPr>
        <p:spPr>
          <ns1:xfrm xmlns:ns1="http://schemas.openxmlformats.org/drawingml/2006/main">
            <ns1:off x="6212627" y="3335502"/>
            <ns1:ext cx="2420551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50498" h="952" fill="none" stroke="1" extrusionOk="0">
                <ns2:moveTo>
                  <ns2:pt x="0" y="0"/>
                </ns2:moveTo>
                <ns2:lnTo>
                  <ns2:pt x="185049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30" name="UML responsibility-choice divider 30"/>
          <p:cNvSpPr/>
          <p:nvPr/>
        </p:nvSpPr>
        <p:spPr>
          <ns1:xfrm xmlns:ns1="http://schemas.openxmlformats.org/drawingml/2006/main">
            <ns1:off x="6212627" y="3428587"/>
            <ns1:ext cx="2420551" cy="11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50498" h="952" fill="none" stroke="1" extrusionOk="0">
                <ns2:moveTo>
                  <ns2:pt x="0" y="0"/>
                </ns2:moveTo>
                <ns2:lnTo>
                  <ns2:pt x="185049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31" name="UML responsibility-choice arrow 31"/>
          <p:cNvSpPr/>
          <p:nvPr/>
        </p:nvSpPr>
        <p:spPr>
          <ns1:xfrm xmlns:ns1="http://schemas.openxmlformats.org/drawingml/2006/main">
            <ns1:off x="2699730" y="2417926"/>
            <ns1:ext cx="110923" cy="9184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0802" h="75181" fill="norm" stroke="1" extrusionOk="0">
                <ns2:moveTo>
                  <ns2:pt x="90802" y="51587"/>
                </ns2:moveTo>
                <ns2:lnTo>
                  <ns2:pt x="12440" y="0"/>
                </ns2:lnTo>
                <ns2:lnTo>
                  <ns2:pt x="43815" y="43815"/>
                </ns2:lnTo>
                <ns2:lnTo>
                  <ns2:pt x="0" y="75181"/>
                </ns2:lnTo>
                <ns2:lnTo>
                  <ns2:pt x="90802" y="51587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32" name="UML responsibility-choice connection 32"/>
          <p:cNvSpPr/>
          <p:nvPr/>
        </p:nvSpPr>
        <p:spPr>
          <ns1:xfrm xmlns:ns1="http://schemas.openxmlformats.org/drawingml/2006/main">
            <ns1:off x="1932138" y="2335557"/>
            <ns1:ext cx="821116" cy="135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2170" h="111242" fill="none" stroke="1" extrusionOk="0">
                <ns2:moveTo>
                  <ns2:pt x="0" y="0"/>
                </ns2:moveTo>
                <ns2:cubicBezTo>
                  <ns2:pt x="220304" y="36462"/>
                  <ns2:pt x="432645" y="71599"/>
                  <ns2:pt x="672170" y="111242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  <ns4:prstDash val="dash"/>
          </ns4:ln>
        </p:spPr>
      </p:sp>
      <p:sp>
        <p:nvSpPr>
          <p:cNvPr id="33" name="UML responsibility-choice label 33"/>
          <p:cNvSpPr/>
          <p:nvPr/>
        </p:nvSpPr>
        <p:spPr>
          <ns1:xfrm xmlns:ns1="http://schemas.openxmlformats.org/drawingml/2006/main">
            <ns1:off x="2159347" y="2069718"/>
            <ns1:ext cx="492188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调用</ns7:t>
            </ns7:r>
            <ns7:endParaRPr lang="zh-CN" sz="1649"/>
          </ns7:p>
        </p:txBody>
      </p:sp>
      <p:sp>
        <p:nvSpPr>
          <p:cNvPr id="34" name="UML responsibility-choice arrow 34"/>
          <p:cNvSpPr/>
          <p:nvPr/>
        </p:nvSpPr>
        <p:spPr>
          <ns1:xfrm xmlns:ns1="http://schemas.openxmlformats.org/drawingml/2006/main">
            <ns1:off x="2703605" y="2769055"/>
            <ns1:ext cx="111051" cy="9175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0907" h="75114" fill="norm" stroke="1" extrusionOk="0">
                <ns2:moveTo>
                  <ns2:pt x="90907" y="23165"/>
                </ns2:moveTo>
                <ns2:lnTo>
                  <ns2:pt x="0" y="0"/>
                </ns2:lnTo>
                <ns2:lnTo>
                  <ns2:pt x="43958" y="31166"/>
                </ns2:lnTo>
                <ns2:lnTo>
                  <ns2:pt x="12792" y="75114"/>
                </ns2:lnTo>
                <ns2:lnTo>
                  <ns2:pt x="90907" y="2316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35" name="UML responsibility-choice connection 35"/>
          <p:cNvSpPr/>
          <p:nvPr/>
        </p:nvSpPr>
        <p:spPr>
          <ns1:xfrm xmlns:ns1="http://schemas.openxmlformats.org/drawingml/2006/main">
            <ns1:off x="1933895" y="2807127"/>
            <ns1:ext cx="823409" cy="13361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4046" h="109376" fill="none" stroke="1" extrusionOk="0">
                <ns2:moveTo>
                  <ns2:pt x="0" y="109376"/>
                </ns2:moveTo>
                <ns2:cubicBezTo>
                  <ns2:pt x="175336" y="81791"/>
                  <ns2:pt x="370980" y="50521"/>
                  <ns2:pt x="549840" y="20812"/>
                </ns2:cubicBezTo>
                <ns2:cubicBezTo>
                  <ns2:pt x="605542" y="11563"/>
                  <ns2:pt x="616144" y="9858"/>
                  <ns2:pt x="674046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  <ns4:prstDash val="dash"/>
          </ns4:ln>
        </p:spPr>
      </p:sp>
      <p:sp>
        <p:nvSpPr>
          <p:cNvPr id="36" name="UML responsibility-choice label 36"/>
          <p:cNvSpPr/>
          <p:nvPr/>
        </p:nvSpPr>
        <p:spPr>
          <ns1:xfrm xmlns:ns1="http://schemas.openxmlformats.org/drawingml/2006/main">
            <ns1:off x="2159347" y="2523508"/>
            <ns1:ext cx="492188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调用</ns7:t>
            </ns7:r>
            <ns7:endParaRPr lang="zh-CN" sz="1649"/>
          </ns7:p>
        </p:txBody>
      </p:sp>
      <p:sp>
        <p:nvSpPr>
          <p:cNvPr id="37" name="UML responsibility-choice arrow 37"/>
          <p:cNvSpPr/>
          <p:nvPr/>
        </p:nvSpPr>
        <p:spPr>
          <ns1:xfrm xmlns:ns1="http://schemas.openxmlformats.org/drawingml/2006/main">
            <ns1:off x="6649511" y="2166363"/>
            <ns1:ext cx="108374" cy="9273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8716" h="75914" fill="norm" stroke="1" extrusionOk="0">
                <ns2:moveTo>
                  <ns2:pt x="88716" y="30509"/>
                </ns2:moveTo>
                <ns2:lnTo>
                  <ns2:pt x="0" y="0"/>
                </ns2:lnTo>
                <ns2:lnTo>
                  <ns2:pt x="41262" y="34642"/>
                </ns2:lnTo>
                <ns2:lnTo>
                  <ns2:pt x="6620" y="75914"/>
                </ns2:lnTo>
                <ns2:lnTo>
                  <ns2:pt x="88716" y="30509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38" name="UML responsibility-choice connection 38"/>
          <p:cNvSpPr/>
          <p:nvPr/>
        </p:nvSpPr>
        <p:spPr>
          <ns1:xfrm xmlns:ns1="http://schemas.openxmlformats.org/drawingml/2006/main">
            <ns1:off x="4690858" y="2208682"/>
            <ns1:ext cx="2009058" cy="23844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644625" h="195196" fill="none" stroke="1" extrusionOk="0">
                <ns2:moveTo>
                  <ns2:pt x="0" y="195196"/>
                </ns2:moveTo>
                <ns2:cubicBezTo>
                  <ns2:pt x="57226" y="185337"/>
                  <ns2:pt x="114167" y="176079"/>
                  <ns2:pt x="169402" y="167802"/>
                </ns2:cubicBezTo>
                <ns2:cubicBezTo>
                  <ns2:pt x="688372" y="90078"/>
                  <ns2:pt x="1240279" y="35271"/>
                  <ns2:pt x="1644625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  <ns4:prstDash val="dash"/>
          </ns4:ln>
        </p:spPr>
      </p:sp>
      <p:sp>
        <p:nvSpPr>
          <p:cNvPr id="39" name="UML responsibility-choice label 39"/>
          <p:cNvSpPr/>
          <p:nvPr/>
        </p:nvSpPr>
        <p:spPr>
          <ns1:xfrm xmlns:ns1="http://schemas.openxmlformats.org/drawingml/2006/main">
            <ns1:off x="4916997" y="1976632"/>
            <ns1:ext cx="1120513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确认／拒绝</ns7:t>
            </ns7:r>
            <ns7:endParaRPr lang="zh-CN" sz="1649"/>
          </ns7:p>
        </p:txBody>
      </p:sp>
      <p:sp>
        <p:nvSpPr>
          <p:cNvPr id="40" name="UML responsibility-choice arrow 40"/>
          <p:cNvSpPr/>
          <p:nvPr/>
        </p:nvSpPr>
        <p:spPr>
          <ns1:xfrm xmlns:ns1="http://schemas.openxmlformats.org/drawingml/2006/main">
            <ns1:off x="6089952" y="2893021"/>
            <ns1:ext cx="109864" cy="9229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9935" h="75552" fill="norm" stroke="1" extrusionOk="0">
                <ns2:moveTo>
                  <ns2:pt x="89935" y="48873"/>
                </ns2:moveTo>
                <ns2:lnTo>
                  <ns2:pt x="9858" y="0"/>
                </ns2:lnTo>
                <ns2:lnTo>
                  <ns2:pt x="42710" y="42710"/>
                </ns2:lnTo>
                <ns2:lnTo>
                  <ns2:pt x="0" y="75552"/>
                </ns2:lnTo>
                <ns2:lnTo>
                  <ns2:pt x="89935" y="48873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36">
            <ns4:solidFill>
              <ns4:srgbClr val="1F2A44"/>
            </ns4:solidFill>
          </ns4:ln>
        </p:spPr>
      </p:sp>
      <p:sp>
        <p:nvSpPr>
          <p:cNvPr id="41" name="UML responsibility-choice connection 41"/>
          <p:cNvSpPr/>
          <p:nvPr/>
        </p:nvSpPr>
        <p:spPr>
          <ns1:xfrm xmlns:ns1="http://schemas.openxmlformats.org/drawingml/2006/main">
            <ns1:off x="4691021" y="2755814"/>
            <ns1:ext cx="1451106" cy="1893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87882" h="155029" fill="none" stroke="1" extrusionOk="0">
                <ns2:moveTo>
                  <ns2:pt x="0" y="0"/>
                </ns2:moveTo>
                <ns2:cubicBezTo>
                  <ns2:pt x="377600" y="49282"/>
                  <ns2:pt x="789899" y="103089"/>
                  <ns2:pt x="1187882" y="155029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36">
            <ns4:solidFill>
              <ns4:srgbClr val="1F2A44"/>
            </ns4:solidFill>
            <ns4:prstDash val="dash"/>
          </ns4:ln>
        </p:spPr>
      </p:sp>
      <p:sp>
        <p:nvSpPr>
          <p:cNvPr id="42" name="UML responsibility-choice label 42"/>
          <p:cNvSpPr/>
          <p:nvPr/>
        </p:nvSpPr>
        <p:spPr>
          <ns1:xfrm xmlns:ns1="http://schemas.openxmlformats.org/drawingml/2006/main">
            <ns1:off x="4916997" y="2465330"/>
            <ns1:ext cx="1120513" cy="30578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3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9" dirty="0">
                <ns7:solidFill>
                  <ns7:srgbClr val="1F2A44"/>
                </ns7:solidFill>
                <ns7:latin typeface="Noto Sans SC"/>
                <ns7:ea typeface="Noto Sans SC"/>
              </ns7:rPr>
              <ns7:t>读取／保存</ns7:t>
            </ns7:r>
            <ns7:endParaRPr lang="zh-CN" sz="1649"/>
          </ns7:p>
        </p:txBody>
      </p:sp>
      <p:sp>
        <p:nvSpPr>
          <p:cNvPr id="7" name="content-338">
            <a:extLst xmlns:a="http://schemas.openxmlformats.org/drawingml/2006/main">
              <a:ext uri="{FF2B5EF4-FFF2-40B4-BE49-F238E27FC236}">
                <a16:creationId xmlns:a16="http://schemas.microsoft.com/office/drawing/2014/main" id="{679F82C9-5EC4-4F53-A69E-6071DD6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本例选用共享服务协调；记录对象处理状态，仓储接口负责读取与保存。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A532E-CC21-444C-99E3-951A1F0FD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79609fb374b60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39">
            <a:extLst xmlns:a="http://schemas.openxmlformats.org/drawingml/2006/main">
              <a:ext uri="{FF2B5EF4-FFF2-40B4-BE49-F238E27FC236}">
                <a16:creationId xmlns:a16="http://schemas.microsoft.com/office/drawing/2014/main" id="{8CC4EAD8-2B15-41FE-A681-62233A1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分析与设计：职责如何具体化</a:t>
            </a:r>
          </a:p>
        </p:txBody>
      </p:sp>
      <p:sp>
        <p:nvSpPr>
          <p:cNvPr id="2" name="frame-340">
            <a:extLst xmlns:a="http://schemas.openxmlformats.org/drawingml/2006/main">
              <a:ext uri="{FF2B5EF4-FFF2-40B4-BE49-F238E27FC236}">
                <a16:creationId xmlns:a16="http://schemas.microsoft.com/office/drawing/2014/main" id="{1D064BE6-44F6-4F63-BE1D-C5D6D248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41">
            <a:extLst xmlns:a="http://schemas.openxmlformats.org/drawingml/2006/main">
              <a:ext uri="{FF2B5EF4-FFF2-40B4-BE49-F238E27FC236}">
                <a16:creationId xmlns:a16="http://schemas.microsoft.com/office/drawing/2014/main" id="{418B3E47-0FA8-424E-ABC1-6CC52147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70B411B-07BE-4E31-B63D-9821B164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61E7D48-9554-4DBF-A0C2-B01736D3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37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37D6-F7EA-4A9A-85A0-868B978EB901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286125"/>
                <a:gridCol w="3286125"/>
              </a:tblGrid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分析中的职责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本例的设计安排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设计中新确定的内容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接收与显示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选课界面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调用服务，显示办理结果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协调处理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EnrollmentService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process(eId)组织处理步骤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处理业务信息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Enrollment、CourseOffering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状态操作及余量读取操作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保留结果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IEnrollmentRepository及其实现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findById(eId)、save(e)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</a:tbl>
          </a:graphicData>
        </a:graphic>
      </p:graphicFrame>
      <p:sp>
        <p:nvSpPr>
          <p:cNvPr id="7" name="content-342">
            <a:extLst xmlns:a="http://schemas.openxmlformats.org/drawingml/2006/main">
              <a:ext uri="{FF2B5EF4-FFF2-40B4-BE49-F238E27FC236}">
                <a16:creationId xmlns:a16="http://schemas.microsoft.com/office/drawing/2014/main" id="{014E1A7E-D467-466E-839D-674EC11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仓储接口是本例的设计选择；保存后反馈是用例已规定的责任。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496C7-6BDB-4077-890A-408C9BF5E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177b26915466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ntent-343">
            <a:extLst xmlns:a="http://schemas.openxmlformats.org/drawingml/2006/main">
              <a:ext uri="{FF2B5EF4-FFF2-40B4-BE49-F238E27FC236}">
                <a16:creationId xmlns:a16="http://schemas.microsoft.com/office/drawing/2014/main" id="{55CBDFD0-4323-4CD5-BFF0-DB5382E7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同一条记录的三种建模视角</a:t>
            </a:r>
          </a:p>
        </p:txBody>
      </p:sp>
      <p:sp>
        <p:nvSpPr>
          <p:cNvPr id="2" name="frame-344">
            <a:extLst xmlns:a="http://schemas.openxmlformats.org/drawingml/2006/main">
              <a:ext uri="{FF2B5EF4-FFF2-40B4-BE49-F238E27FC236}">
                <a16:creationId xmlns:a16="http://schemas.microsoft.com/office/drawing/2014/main" id="{14F14028-9BCA-4C01-A3F6-DA45E97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45">
            <a:extLst xmlns:a="http://schemas.openxmlformats.org/drawingml/2006/main">
              <a:ext uri="{FF2B5EF4-FFF2-40B4-BE49-F238E27FC236}">
                <a16:creationId xmlns:a16="http://schemas.microsoft.com/office/drawing/2014/main" id="{1AE9CC57-2673-4DF9-9F4B-2F6BCC5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2E83FB0-26F3-484F-887C-C32089B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FCA1574-170D-4ADA-8E00-28823FF4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38 / 82</a:t>
            </a:r>
          </a:p>
        </p:txBody>
      </p:sp>
      <p:sp>
        <p:nvSpPr>
          <p:cNvPr id="6" name="content-346">
            <a:extLst xmlns:a="http://schemas.openxmlformats.org/drawingml/2006/main">
              <a:ext uri="{FF2B5EF4-FFF2-40B4-BE49-F238E27FC236}">
                <a16:creationId xmlns:a16="http://schemas.microsoft.com/office/drawing/2014/main" id="{D1AD4789-7897-4366-823A-86DC60DD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领域：业务信息</a:t>
            </a:r>
          </a:p>
        </p:txBody>
      </p:sp>
      <p:sp>
        <p:nvSpPr>
          <p:cNvPr id="18" name="UML enrollment-domain-fragment box 18"/>
          <p:cNvSpPr/>
          <p:nvPr/>
        </p:nvSpPr>
        <p:spPr>
          <ns1:xfrm xmlns:ns1="http://schemas.openxmlformats.org/drawingml/2006/main">
            <ns1:off x="589791" y="2202097"/>
            <ns1:ext cx="2316609" cy="107546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322">
            <ns4:solidFill>
              <ns4:srgbClr val="1F2A44"/>
            </ns4:solidFill>
          </ns4:ln>
        </p:spPr>
      </p:sp>
      <p:sp>
        <p:nvSpPr>
          <p:cNvPr id="19" name="UML enrollment-domain-fragment label 19"/>
          <p:cNvSpPr/>
          <p:nvPr/>
        </p:nvSpPr>
        <p:spPr>
          <ns1:xfrm xmlns:ns1="http://schemas.openxmlformats.org/drawingml/2006/main">
            <ns1:off x="1258816" y="2268570"/>
            <ns1:ext cx="1036361" cy="27126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32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63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463"/>
          </ns7:p>
        </p:txBody>
      </p:sp>
      <p:sp>
        <p:nvSpPr>
          <p:cNvPr id="20" name="UML enrollment-domain-fragment divider 20"/>
          <p:cNvSpPr/>
          <p:nvPr/>
        </p:nvSpPr>
        <p:spPr>
          <ns1:xfrm xmlns:ns1="http://schemas.openxmlformats.org/drawingml/2006/main">
            <ns1:off x="600113" y="2574346"/>
            <ns1:ext cx="2295965" cy="103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322">
            <ns4:solidFill>
              <ns4:srgbClr val="1F2A44"/>
            </ns4:solidFill>
          </ns4:ln>
        </p:spPr>
      </p:sp>
      <p:sp>
        <p:nvSpPr>
          <p:cNvPr id="21" name="UML enrollment-domain-fragment label 21"/>
          <p:cNvSpPr/>
          <p:nvPr/>
        </p:nvSpPr>
        <p:spPr>
          <ns1:xfrm xmlns:ns1="http://schemas.openxmlformats.org/drawingml/2006/main">
            <ns1:off x="648110" y="2630497"/>
            <ns1:ext cx="1554542" cy="27126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32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63" dirty="0">
                <ns7:solidFill>
                  <ns7:srgbClr val="000000"/>
                </ns7:solidFill>
                <ns7:latin typeface="Noto Sans SC"/>
                <ns7:ea typeface="Noto Sans SC"/>
              </ns7:rPr>
              <ns7:t>grade : Real [0..1]</ns7:t>
            </ns7:r>
            <ns7:endParaRPr lang="zh-CN" sz="1463"/>
          </ns7:p>
        </p:txBody>
      </p:sp>
      <p:sp>
        <p:nvSpPr>
          <p:cNvPr id="22" name="UML enrollment-domain-fragment label 22"/>
          <p:cNvSpPr/>
          <p:nvPr/>
        </p:nvSpPr>
        <p:spPr>
          <ns1:xfrm xmlns:ns1="http://schemas.openxmlformats.org/drawingml/2006/main">
            <ns1:off x="648110" y="2899527"/>
            <ns1:ext cx="2257774" cy="27126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32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63" dirty="0">
                <ns7:solidFill>
                  <ns7:srgbClr val="000000"/>
                </ns7:solidFill>
                <ns7:latin typeface="Noto Sans SC"/>
                <ns7:ea typeface="Noto Sans SC"/>
              </ns7:rPr>
              <ns7:t>status : EnrollmentStatus</ns7:t>
            </ns7:r>
            <ns7:endParaRPr lang="zh-CN" sz="1463"/>
          </ns7:p>
        </p:txBody>
      </p:sp>
      <p:sp>
        <p:nvSpPr>
          <p:cNvPr id="23" name="UML enrollment-domain-fragment divider 23"/>
          <p:cNvSpPr/>
          <p:nvPr/>
        </p:nvSpPr>
        <p:spPr>
          <ns1:xfrm xmlns:ns1="http://schemas.openxmlformats.org/drawingml/2006/main">
            <ns1:off x="600113" y="3194982"/>
            <ns1:ext cx="2295965" cy="103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118703" h="952" fill="none" stroke="1" extrusionOk="0">
                <ns2:moveTo>
                  <ns2:pt x="0" y="0"/>
                </ns2:moveTo>
                <ns2:lnTo>
                  <ns2:pt x="211870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322">
            <ns4:solidFill>
              <ns4:srgbClr val="1F2A44"/>
            </ns4:solidFill>
          </ns4:ln>
        </p:spPr>
      </p:sp>
      <p:sp>
        <p:nvSpPr>
          <p:cNvPr id="8" name="content-347">
            <a:extLst xmlns:a="http://schemas.openxmlformats.org/drawingml/2006/main">
              <a:ext uri="{FF2B5EF4-FFF2-40B4-BE49-F238E27FC236}">
                <a16:creationId xmlns:a16="http://schemas.microsoft.com/office/drawing/2014/main" id="{3C7EEE37-D6EB-4A15-B861-7CFDBC78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状态和成绩属于这条记录</a:t>
            </a:r>
          </a:p>
        </p:txBody>
      </p:sp>
      <p:sp>
        <p:nvSpPr>
          <p:cNvPr id="9" name="content-348">
            <a:extLst xmlns:a="http://schemas.openxmlformats.org/drawingml/2006/main">
              <a:ext uri="{FF2B5EF4-FFF2-40B4-BE49-F238E27FC236}">
                <a16:creationId xmlns:a16="http://schemas.microsoft.com/office/drawing/2014/main" id="{042BEBC9-CA78-4395-A7D8-5BD89E5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123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分析：对象职责</a:t>
            </a:r>
          </a:p>
        </p:txBody>
      </p:sp>
      <p:sp>
        <p:nvSpPr>
          <p:cNvPr id="24" name="UML enrollment-analysis-fragment box 24"/>
          <p:cNvSpPr/>
          <p:nvPr/>
        </p:nvSpPr>
        <p:spPr>
          <ns1:xfrm xmlns:ns1="http://schemas.openxmlformats.org/drawingml/2006/main">
            <ns1:off x="3979078" y="1724686"/>
            <ns1:ext cx="791726" cy="69553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25" name="UML enrollment-analysis-fragment label 25"/>
          <p:cNvSpPr/>
          <p:nvPr/>
        </p:nvSpPr>
        <p:spPr>
          <ns1:xfrm xmlns:ns1="http://schemas.openxmlformats.org/drawingml/2006/main">
            <ns1:off x="3985295" y="1760369"/>
            <ns1:ext cx="829982" cy="23737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56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80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«control»</ns7:t>
            </ns7:r>
            <ns7:endParaRPr lang="zh-CN" sz="1280"/>
          </ns7:p>
        </p:txBody>
      </p:sp>
      <p:sp>
        <p:nvSpPr>
          <p:cNvPr id="26" name="UML enrollment-analysis-fragment label 26"/>
          <p:cNvSpPr/>
          <p:nvPr/>
        </p:nvSpPr>
        <p:spPr>
          <ns1:xfrm xmlns:ns1="http://schemas.openxmlformats.org/drawingml/2006/main">
            <ns1:off x="4027300" y="1983877"/>
            <ns1:ext cx="748852" cy="25133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56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6" dirty="0">
                <ns7:solidFill>
                  <ns7:srgbClr val="1F2A44"/>
                </ns7:solidFill>
                <ns7:latin typeface="Noto Sans SC"/>
                <ns7:ea typeface="Noto Sans SC"/>
              </ns7:rPr>
              <ns7:t>选课处理</ns7:t>
            </ns7:r>
            <ns7:endParaRPr lang="zh-CN" sz="1356"/>
          </ns7:p>
        </p:txBody>
      </p:sp>
      <p:sp>
        <p:nvSpPr>
          <p:cNvPr id="27" name="UML enrollment-analysis-fragment divider 27"/>
          <p:cNvSpPr/>
          <p:nvPr/>
        </p:nvSpPr>
        <p:spPr>
          <ns1:xfrm xmlns:ns1="http://schemas.openxmlformats.org/drawingml/2006/main">
            <ns1:off x="3988642" y="2267197"/>
            <ns1:ext cx="772599" cy="9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9458" h="952" fill="none" stroke="1" extrusionOk="0">
                <ns2:moveTo>
                  <ns2:pt x="0" y="0"/>
                </ns2:moveTo>
                <ns2:lnTo>
                  <ns2:pt x="7694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28" name="UML enrollment-analysis-fragment divider 28"/>
          <p:cNvSpPr/>
          <p:nvPr/>
        </p:nvSpPr>
        <p:spPr>
          <ns1:xfrm xmlns:ns1="http://schemas.openxmlformats.org/drawingml/2006/main">
            <ns1:off x="3988642" y="2343708"/>
            <ns1:ext cx="772599" cy="9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9458" h="952" fill="none" stroke="1" extrusionOk="0">
                <ns2:moveTo>
                  <ns2:pt x="0" y="0"/>
                </ns2:moveTo>
                <ns2:lnTo>
                  <ns2:pt x="7694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29" name="UML enrollment-analysis-fragment box 29"/>
          <p:cNvSpPr/>
          <p:nvPr/>
        </p:nvSpPr>
        <p:spPr>
          <ns1:xfrm xmlns:ns1="http://schemas.openxmlformats.org/drawingml/2006/main">
            <ns1:off x="3897786" y="3054065"/>
            <ns1:ext cx="957382" cy="69553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30" name="UML enrollment-analysis-fragment label 30"/>
          <p:cNvSpPr/>
          <p:nvPr/>
        </p:nvSpPr>
        <p:spPr>
          <ns1:xfrm xmlns:ns1="http://schemas.openxmlformats.org/drawingml/2006/main">
            <ns1:off x="4034061" y="3089748"/>
            <ns1:ext cx="735510" cy="237375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56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80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«entity»</ns7:t>
            </ns7:r>
            <ns7:endParaRPr lang="zh-CN" sz="1280"/>
          </ns7:p>
        </p:txBody>
      </p:sp>
      <p:sp>
        <p:nvSpPr>
          <p:cNvPr id="31" name="UML enrollment-analysis-fragment label 31"/>
          <p:cNvSpPr/>
          <p:nvPr/>
        </p:nvSpPr>
        <p:spPr>
          <ns1:xfrm xmlns:ns1="http://schemas.openxmlformats.org/drawingml/2006/main">
            <ns1:off x="3923130" y="3313256"/>
            <ns1:ext cx="960252" cy="25133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56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6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356"/>
          </ns7:p>
        </p:txBody>
      </p:sp>
      <p:sp>
        <p:nvSpPr>
          <p:cNvPr id="32" name="UML enrollment-analysis-fragment divider 32"/>
          <p:cNvSpPr/>
          <p:nvPr/>
        </p:nvSpPr>
        <p:spPr>
          <ns1:xfrm xmlns:ns1="http://schemas.openxmlformats.org/drawingml/2006/main">
            <ns1:off x="3907349" y="3596576"/>
            <ns1:ext cx="938255" cy="9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33" name="UML enrollment-analysis-fragment divider 33"/>
          <p:cNvSpPr/>
          <p:nvPr/>
        </p:nvSpPr>
        <p:spPr>
          <ns1:xfrm xmlns:ns1="http://schemas.openxmlformats.org/drawingml/2006/main">
            <ns1:off x="3907349" y="3673087"/>
            <ns1:ext cx="938255" cy="95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34" name="UML enrollment-analysis-fragment arrow 34"/>
          <p:cNvSpPr/>
          <p:nvPr/>
        </p:nvSpPr>
        <p:spPr>
          <ns1:xfrm xmlns:ns1="http://schemas.openxmlformats.org/drawingml/2006/main">
            <ns1:off x="4337724" y="2963830"/>
            <ns1:ext cx="76511" cy="8607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85725" fill="norm" stroke="1" extrusionOk="0">
                <ns2:moveTo>
                  <ns2:pt x="38100" y="85725"/>
                </ns2:moveTo>
                <ns2:lnTo>
                  <ns2:pt x="76200" y="0"/>
                </ns2:lnTo>
                <ns2:lnTo>
                  <ns2:pt x="38100" y="38100"/>
                </ns2:lnTo>
                <ns2:lnTo>
                  <ns2:pt x="0" y="0"/>
                </ns2:lnTo>
                <ns2:lnTo>
                  <ns2:pt x="38100" y="8572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564">
            <ns4:solidFill>
              <ns4:srgbClr val="1F2A44"/>
            </ns4:solidFill>
          </ns4:ln>
        </p:spPr>
      </p:sp>
      <p:sp>
        <p:nvSpPr>
          <p:cNvPr id="35" name="UML enrollment-analysis-fragment connection 35"/>
          <p:cNvSpPr/>
          <p:nvPr/>
        </p:nvSpPr>
        <p:spPr>
          <ns1:xfrm xmlns:ns1="http://schemas.openxmlformats.org/drawingml/2006/main">
            <ns1:off x="4375979" y="2424169"/>
            <ns1:ext cx="956" cy="57791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5567" fill="none" stroke="1" extrusionOk="0">
                <ns2:moveTo>
                  <ns2:pt x="0" y="0"/>
                </ns2:moveTo>
                <ns2:cubicBezTo>
                  <ns2:pt x="0" y="191805"/>
                  <ns2:pt x="0" y="383296"/>
                  <ns2:pt x="0" y="575567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564">
            <ns4:solidFill>
              <ns4:srgbClr val="1F2A44"/>
            </ns4:solidFill>
            <ns4:prstDash val="dash"/>
          </ns4:ln>
        </p:spPr>
      </p:sp>
      <p:sp>
        <p:nvSpPr>
          <p:cNvPr id="36" name="UML enrollment-analysis-fragment label 36"/>
          <p:cNvSpPr/>
          <p:nvPr/>
        </p:nvSpPr>
        <p:spPr>
          <ns1:xfrm xmlns:ns1="http://schemas.openxmlformats.org/drawingml/2006/main">
            <ns1:off x="4391760" y="2627899"/>
            <ns1:ext cx="921001" cy="25133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56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6" dirty="0">
                <ns7:solidFill>
                  <ns7:srgbClr val="1F2A44"/>
                </ns7:solidFill>
                <ns7:latin typeface="Noto Sans SC"/>
                <ns7:ea typeface="Noto Sans SC"/>
              </ns7:rPr>
              <ns7:t>确认／拒绝</ns7:t>
            </ns7:r>
            <ns7:endParaRPr lang="zh-CN" sz="1356"/>
          </ns7:p>
        </p:txBody>
      </p:sp>
      <p:sp>
        <p:nvSpPr>
          <p:cNvPr id="11" name="content-349">
            <a:extLst xmlns:a="http://schemas.openxmlformats.org/drawingml/2006/main">
              <a:ext uri="{FF2B5EF4-FFF2-40B4-BE49-F238E27FC236}">
                <a16:creationId xmlns:a16="http://schemas.microsoft.com/office/drawing/2014/main" id="{4AD71C61-C47A-487D-8EAA-FA12940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29075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由记录承担自身状态改变</a:t>
            </a:r>
          </a:p>
        </p:txBody>
      </p:sp>
      <p:sp>
        <p:nvSpPr>
          <p:cNvPr id="12" name="content-350">
            <a:extLst xmlns:a="http://schemas.openxmlformats.org/drawingml/2006/main">
              <a:ext uri="{FF2B5EF4-FFF2-40B4-BE49-F238E27FC236}">
                <a16:creationId xmlns:a16="http://schemas.microsoft.com/office/drawing/2014/main" id="{D30EDDC3-CB8A-456C-8A9A-76DF887E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23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设计：操作约定</a:t>
            </a:r>
          </a:p>
        </p:txBody>
      </p:sp>
      <p:sp>
        <p:nvSpPr>
          <p:cNvPr id="37" name="UML enrollment-design-fragment box 37"/>
          <p:cNvSpPr/>
          <p:nvPr/>
        </p:nvSpPr>
        <p:spPr>
          <ns1:xfrm xmlns:ns1="http://schemas.openxmlformats.org/drawingml/2006/main">
            <ns1:off x="6156854" y="2270390"/>
            <ns1:ext cx="2344620" cy="937294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996">
            <ns4:solidFill>
              <ns4:srgbClr val="1F2A44"/>
            </ns4:solidFill>
          </ns4:ln>
        </p:spPr>
      </p:sp>
      <p:sp>
        <p:nvSpPr>
          <p:cNvPr id="38" name="UML enrollment-design-fragment label 38"/>
          <p:cNvSpPr/>
          <p:nvPr/>
        </p:nvSpPr>
        <p:spPr>
          <ns1:xfrm xmlns:ns1="http://schemas.openxmlformats.org/drawingml/2006/main">
            <ns1:off x="6902744" y="2328323"/>
            <ns1:ext cx="903218" cy="23641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99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75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275"/>
          </ns7:p>
        </p:txBody>
      </p:sp>
      <p:sp>
        <p:nvSpPr>
          <p:cNvPr id="39" name="UML enrollment-design-fragment divider 39"/>
          <p:cNvSpPr/>
          <p:nvPr/>
        </p:nvSpPr>
        <p:spPr>
          <ns1:xfrm xmlns:ns1="http://schemas.openxmlformats.org/drawingml/2006/main">
            <ns1:off x="6165850" y="2594815"/>
            <ns1:ext cx="232662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63489" h="952" fill="none" stroke="1" extrusionOk="0">
                <ns2:moveTo>
                  <ns2:pt x="0" y="0"/>
                </ns2:moveTo>
                <ns2:lnTo>
                  <ns2:pt x="246348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996">
            <ns4:solidFill>
              <ns4:srgbClr val="1F2A44"/>
            </ns4:solidFill>
          </ns4:ln>
        </p:spPr>
      </p:sp>
      <p:sp>
        <p:nvSpPr>
          <p:cNvPr id="40" name="UML enrollment-design-fragment divider 40"/>
          <p:cNvSpPr/>
          <p:nvPr/>
        </p:nvSpPr>
        <p:spPr>
          <ns1:xfrm xmlns:ns1="http://schemas.openxmlformats.org/drawingml/2006/main">
            <ns1:off x="6165850" y="2666782"/>
            <ns1:ext cx="232662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63489" h="952" fill="none" stroke="1" extrusionOk="0">
                <ns2:moveTo>
                  <ns2:pt x="0" y="0"/>
                </ns2:moveTo>
                <ns2:lnTo>
                  <ns2:pt x="246348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996">
            <ns4:solidFill>
              <ns4:srgbClr val="1F2A44"/>
            </ns4:solidFill>
          </ns4:ln>
        </p:spPr>
      </p:sp>
      <p:sp>
        <p:nvSpPr>
          <p:cNvPr id="41" name="UML enrollment-design-fragment label 41"/>
          <p:cNvSpPr/>
          <p:nvPr/>
        </p:nvSpPr>
        <p:spPr>
          <ns1:xfrm xmlns:ns1="http://schemas.openxmlformats.org/drawingml/2006/main">
            <ns1:off x="6207681" y="2715719"/>
            <ns1:ext cx="2293344" cy="23641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99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75" dirty="0">
                <ns7:solidFill>
                  <ns7:srgbClr val="000000"/>
                </ns7:solidFill>
                <ns7:latin typeface="Noto Sans SC"/>
                <ns7:ea typeface="Noto Sans SC"/>
              </ns7:rPr>
              <ns7:t>+confirm() : EnrollmentStatus</ns7:t>
            </ns7:r>
            <ns7:endParaRPr lang="zh-CN" sz="1275"/>
          </ns7:p>
        </p:txBody>
      </p:sp>
      <p:sp>
        <p:nvSpPr>
          <p:cNvPr id="42" name="UML enrollment-design-fragment label 42"/>
          <p:cNvSpPr/>
          <p:nvPr/>
        </p:nvSpPr>
        <p:spPr>
          <ns1:xfrm xmlns:ns1="http://schemas.openxmlformats.org/drawingml/2006/main">
            <ns1:off x="6207681" y="2950187"/>
            <ns1:ext cx="2134333" cy="23641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996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75" dirty="0">
                <ns7:solidFill>
                  <ns7:srgbClr val="000000"/>
                </ns7:solidFill>
                <ns7:latin typeface="Noto Sans SC"/>
                <ns7:ea typeface="Noto Sans SC"/>
              </ns7:rPr>
              <ns7:t>+reject() : EnrollmentStatus</ns7:t>
            </ns7:r>
            <ns7:endParaRPr lang="zh-CN" sz="1275"/>
          </ns7:p>
        </p:txBody>
      </p:sp>
      <p:sp>
        <p:nvSpPr>
          <p:cNvPr id="14" name="content-351">
            <a:extLst xmlns:a="http://schemas.openxmlformats.org/drawingml/2006/main">
              <a:ext uri="{FF2B5EF4-FFF2-40B4-BE49-F238E27FC236}">
                <a16:creationId xmlns:a16="http://schemas.microsoft.com/office/drawing/2014/main" id="{73AD0976-573B-4CD9-8826-4F49D1F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29075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明确操作名称与返回类型</a:t>
            </a:r>
          </a:p>
        </p:txBody>
      </p:sp>
      <p:sp>
        <p:nvSpPr>
          <p:cNvPr id="15" name="content-352">
            <a:extLst xmlns:a="http://schemas.openxmlformats.org/drawingml/2006/main">
              <a:ext uri="{FF2B5EF4-FFF2-40B4-BE49-F238E27FC236}">
                <a16:creationId xmlns:a16="http://schemas.microsoft.com/office/drawing/2014/main" id="{A44D2FCD-74F1-4D0D-93CB-200817F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三图各取一个局部；模型的区别在于研究目的，不能只看有没有方法。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055BA-3575-428B-99DA-2547EB806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cdf37bd05409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53">
            <a:extLst xmlns:a="http://schemas.openxmlformats.org/drawingml/2006/main">
              <a:ext uri="{FF2B5EF4-FFF2-40B4-BE49-F238E27FC236}">
                <a16:creationId xmlns:a16="http://schemas.microsoft.com/office/drawing/2014/main" id="{B5623738-E828-4D9A-902F-221EFB8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记录与开课班的设计类</a:t>
            </a:r>
          </a:p>
        </p:txBody>
      </p:sp>
      <p:sp>
        <p:nvSpPr>
          <p:cNvPr id="2" name="frame-354">
            <a:extLst xmlns:a="http://schemas.openxmlformats.org/drawingml/2006/main">
              <a:ext uri="{FF2B5EF4-FFF2-40B4-BE49-F238E27FC236}">
                <a16:creationId xmlns:a16="http://schemas.microsoft.com/office/drawing/2014/main" id="{716CA245-E37C-48A3-BD01-CD7D313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55">
            <a:extLst xmlns:a="http://schemas.openxmlformats.org/drawingml/2006/main">
              <a:ext uri="{FF2B5EF4-FFF2-40B4-BE49-F238E27FC236}">
                <a16:creationId xmlns:a16="http://schemas.microsoft.com/office/drawing/2014/main" id="{95467172-432B-4CAD-BA36-45071949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F5D6DFC-788A-4777-A783-D936020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7FEE3F6-A361-41BD-860E-5FE92610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39 / 82</a:t>
            </a:r>
          </a:p>
        </p:txBody>
      </p:sp>
      <p:sp>
        <p:nvSpPr>
          <p:cNvPr id="10" name="UML design-domain box 10"/>
          <p:cNvSpPr/>
          <p:nvPr/>
        </p:nvSpPr>
        <p:spPr>
          <ns1:xfrm xmlns:ns1="http://schemas.openxmlformats.org/drawingml/2006/main">
            <ns1:off x="586675" y="1657350"/>
            <ns1:ext cx="2700605" cy="183088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11" name="UML design-domain label 11"/>
          <p:cNvSpPr/>
          <p:nvPr/>
        </p:nvSpPr>
        <p:spPr>
          <ns1:xfrm xmlns:ns1="http://schemas.openxmlformats.org/drawingml/2006/main">
            <ns1:off x="1461127" y="1721999"/>
            <ns1:ext cx="1007916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423"/>
          </ns7:p>
        </p:txBody>
      </p:sp>
      <p:sp>
        <p:nvSpPr>
          <p:cNvPr id="12" name="UML design-domain divider 12"/>
          <p:cNvSpPr/>
          <p:nvPr/>
        </p:nvSpPr>
        <p:spPr>
          <ns1:xfrm xmlns:ns1="http://schemas.openxmlformats.org/drawingml/2006/main">
            <ns1:off x="596713" y="2019382"/>
            <ns1:ext cx="2680528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43385" h="952" fill="none" stroke="1" extrusionOk="0">
                <ns2:moveTo>
                  <ns2:pt x="0" y="0"/>
                </ns2:moveTo>
                <ns2:lnTo>
                  <ns2:pt x="254338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13" name="UML design-domain label 13"/>
          <p:cNvSpPr/>
          <p:nvPr/>
        </p:nvSpPr>
        <p:spPr>
          <ns1:xfrm xmlns:ns1="http://schemas.openxmlformats.org/drawingml/2006/main">
            <ns1:off x="643393" y="2073992"/>
            <ns1:ext cx="1574575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-grade : Real [0..1]</ns7:t>
            </ns7:r>
            <ns7:endParaRPr lang="zh-CN" sz="1423"/>
          </ns7:p>
        </p:txBody>
      </p:sp>
      <p:sp>
        <p:nvSpPr>
          <p:cNvPr id="14" name="UML design-domain label 14"/>
          <p:cNvSpPr/>
          <p:nvPr/>
        </p:nvSpPr>
        <p:spPr>
          <ns1:xfrm xmlns:ns1="http://schemas.openxmlformats.org/drawingml/2006/main">
            <ns1:off x="643393" y="2335638"/>
            <ns1:ext cx="2258505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-status : EnrollmentStatus</ns7:t>
            </ns7:r>
            <ns7:endParaRPr lang="zh-CN" sz="1423"/>
          </ns7:p>
        </p:txBody>
      </p:sp>
      <p:sp>
        <p:nvSpPr>
          <p:cNvPr id="15" name="UML design-domain divider 15"/>
          <p:cNvSpPr/>
          <p:nvPr/>
        </p:nvSpPr>
        <p:spPr>
          <ns1:xfrm xmlns:ns1="http://schemas.openxmlformats.org/drawingml/2006/main">
            <ns1:off x="596713" y="2622983"/>
            <ns1:ext cx="2680528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43385" h="952" fill="none" stroke="1" extrusionOk="0">
                <ns2:moveTo>
                  <ns2:pt x="0" y="0"/>
                </ns2:moveTo>
                <ns2:lnTo>
                  <ns2:pt x="254338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16" name="UML design-domain label 16"/>
          <p:cNvSpPr/>
          <p:nvPr/>
        </p:nvSpPr>
        <p:spPr>
          <ns1:xfrm xmlns:ns1="http://schemas.openxmlformats.org/drawingml/2006/main">
            <ns1:off x="643393" y="2677593"/>
            <ns1:ext cx="2643385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+getOffering() : CourseOffering</ns7:t>
            </ns7:r>
            <ns7:endParaRPr lang="zh-CN" sz="1423"/>
          </ns7:p>
        </p:txBody>
      </p:sp>
      <p:sp>
        <p:nvSpPr>
          <p:cNvPr id="17" name="UML design-domain label 17"/>
          <p:cNvSpPr/>
          <p:nvPr/>
        </p:nvSpPr>
        <p:spPr>
          <ns1:xfrm xmlns:ns1="http://schemas.openxmlformats.org/drawingml/2006/main">
            <ns1:off x="643393" y="2939239"/>
            <ns1:ext cx="2559181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+confirm() : EnrollmentStatus</ns7:t>
            </ns7:r>
            <ns7:endParaRPr lang="zh-CN" sz="1423"/>
          </ns7:p>
        </p:txBody>
      </p:sp>
      <p:sp>
        <p:nvSpPr>
          <p:cNvPr id="18" name="UML design-domain label 18"/>
          <p:cNvSpPr/>
          <p:nvPr/>
        </p:nvSpPr>
        <p:spPr>
          <ns1:xfrm xmlns:ns1="http://schemas.openxmlformats.org/drawingml/2006/main">
            <ns1:off x="643393" y="3200886"/>
            <ns1:ext cx="2381739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+reject() : EnrollmentStatus</ns7:t>
            </ns7:r>
            <ns7:endParaRPr lang="zh-CN" sz="1423"/>
          </ns7:p>
        </p:txBody>
      </p:sp>
      <p:sp>
        <p:nvSpPr>
          <p:cNvPr id="19" name="UML design-domain box 19"/>
          <p:cNvSpPr/>
          <p:nvPr/>
        </p:nvSpPr>
        <p:spPr>
          <ns1:xfrm xmlns:ns1="http://schemas.openxmlformats.org/drawingml/2006/main">
            <ns1:off x="5927211" y="1526848"/>
            <ns1:ext cx="2581527" cy="1045942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20" name="UML design-domain label 20"/>
          <p:cNvSpPr/>
          <p:nvPr/>
        </p:nvSpPr>
        <p:spPr>
          <ns1:xfrm xmlns:ns1="http://schemas.openxmlformats.org/drawingml/2006/main">
            <ns1:off x="6578054" y="1591497"/>
            <ns1:ext cx="1336058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1F2A44"/>
                </ns7:solidFill>
                <ns7:latin typeface="Noto Sans SC"/>
                <ns7:ea typeface="Noto Sans SC"/>
              </ns7:rPr>
              <ns7:t>CourseOffering</ns7:t>
            </ns7:r>
            <ns7:endParaRPr lang="zh-CN" sz="1423"/>
          </ns7:p>
        </p:txBody>
      </p:sp>
      <p:sp>
        <p:nvSpPr>
          <p:cNvPr id="21" name="UML design-domain divider 21"/>
          <p:cNvSpPr/>
          <p:nvPr/>
        </p:nvSpPr>
        <p:spPr>
          <ns1:xfrm xmlns:ns1="http://schemas.openxmlformats.org/drawingml/2006/main">
            <ns1:off x="5937250" y="1888880"/>
            <ns1:ext cx="2561450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30399" h="952" fill="none" stroke="1" extrusionOk="0">
                <ns2:moveTo>
                  <ns2:pt x="0" y="0"/>
                </ns2:moveTo>
                <ns2:lnTo>
                  <ns2:pt x="243039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22" name="UML design-domain label 22"/>
          <p:cNvSpPr/>
          <p:nvPr/>
        </p:nvSpPr>
        <p:spPr>
          <ns1:xfrm xmlns:ns1="http://schemas.openxmlformats.org/drawingml/2006/main">
            <ns1:off x="5983930" y="1943490"/>
            <ns1:ext cx="2086303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-availableSeats : Integer</ns7:t>
            </ns7:r>
            <ns7:endParaRPr lang="zh-CN" sz="1423"/>
          </ns7:p>
        </p:txBody>
      </p:sp>
      <p:sp>
        <p:nvSpPr>
          <p:cNvPr id="23" name="UML design-domain divider 23"/>
          <p:cNvSpPr/>
          <p:nvPr/>
        </p:nvSpPr>
        <p:spPr>
          <ns1:xfrm xmlns:ns1="http://schemas.openxmlformats.org/drawingml/2006/main">
            <ns1:off x="5937250" y="2230835"/>
            <ns1:ext cx="2561450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430399" h="952" fill="none" stroke="1" extrusionOk="0">
                <ns2:moveTo>
                  <ns2:pt x="0" y="0"/>
                </ns2:moveTo>
                <ns2:lnTo>
                  <ns2:pt x="243039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24" name="UML design-domain label 24"/>
          <p:cNvSpPr/>
          <p:nvPr/>
        </p:nvSpPr>
        <p:spPr>
          <ns1:xfrm xmlns:ns1="http://schemas.openxmlformats.org/drawingml/2006/main">
            <ns1:off x="5983930" y="2285445"/>
            <ns1:ext cx="2524307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+getAvailableSeats() : Integer</ns7:t>
            </ns7:r>
            <ns7:endParaRPr lang="zh-CN" sz="1423"/>
          </ns7:p>
        </p:txBody>
      </p:sp>
      <p:sp>
        <p:nvSpPr>
          <p:cNvPr id="25" name="UML design-domain box 25"/>
          <p:cNvSpPr/>
          <p:nvPr/>
        </p:nvSpPr>
        <p:spPr>
          <ns1:xfrm xmlns:ns1="http://schemas.openxmlformats.org/drawingml/2006/main">
            <ns1:off x="4019877" y="2334956"/>
            <ns1:ext cx="1544821" cy="151499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26" name="UML design-domain label 26"/>
          <p:cNvSpPr/>
          <p:nvPr/>
        </p:nvSpPr>
        <p:spPr>
          <ns1:xfrm xmlns:ns1="http://schemas.openxmlformats.org/drawingml/2006/main">
            <ns1:off x="4135602" y="2372410"/>
            <ns1:ext cx="1366565" cy="24915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44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«enumeration»</ns7:t>
            </ns7:r>
            <ns7:endParaRPr lang="zh-CN" sz="1344"/>
          </ns7:p>
        </p:txBody>
      </p:sp>
      <p:sp>
        <p:nvSpPr>
          <p:cNvPr id="27" name="UML design-domain label 27"/>
          <p:cNvSpPr/>
          <p:nvPr/>
        </p:nvSpPr>
        <p:spPr>
          <ns1:xfrm xmlns:ns1="http://schemas.openxmlformats.org/drawingml/2006/main">
            <ns1:off x="4046479" y="2607012"/>
            <ns1:ext cx="1547832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EnrollmentStatus</ns7:t>
            </ns7:r>
            <ns7:endParaRPr lang="zh-CN" sz="1423"/>
          </ns7:p>
        </p:txBody>
      </p:sp>
      <p:sp>
        <p:nvSpPr>
          <p:cNvPr id="28" name="UML design-domain divider 28"/>
          <p:cNvSpPr/>
          <p:nvPr/>
        </p:nvSpPr>
        <p:spPr>
          <ns1:xfrm xmlns:ns1="http://schemas.openxmlformats.org/drawingml/2006/main">
            <ns1:off x="4029915" y="2904395"/>
            <ns1:ext cx="1524743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446733" h="952" fill="none" stroke="1" extrusionOk="0">
                <ns2:moveTo>
                  <ns2:pt x="0" y="0"/>
                </ns2:moveTo>
                <ns2:lnTo>
                  <ns2:pt x="144673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29" name="UML design-domain label 29"/>
          <p:cNvSpPr/>
          <p:nvPr/>
        </p:nvSpPr>
        <p:spPr>
          <ns1:xfrm xmlns:ns1="http://schemas.openxmlformats.org/drawingml/2006/main">
            <ns1:off x="4076595" y="2959005"/>
            <ns1:ext cx="847097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PENDING</ns7:t>
            </ns7:r>
            <ns7:endParaRPr lang="zh-CN" sz="1423"/>
          </ns7:p>
        </p:txBody>
      </p:sp>
      <p:sp>
        <p:nvSpPr>
          <p:cNvPr id="30" name="UML design-domain label 30"/>
          <p:cNvSpPr/>
          <p:nvPr/>
        </p:nvSpPr>
        <p:spPr>
          <ns1:xfrm xmlns:ns1="http://schemas.openxmlformats.org/drawingml/2006/main">
            <ns1:off x="4076595" y="3220652"/>
            <ns1:ext cx="1088144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CONFIRMED</ns7:t>
            </ns7:r>
            <ns7:endParaRPr lang="zh-CN" sz="1423"/>
          </ns7:p>
        </p:txBody>
      </p:sp>
      <p:sp>
        <p:nvSpPr>
          <p:cNvPr id="31" name="UML design-domain label 31"/>
          <p:cNvSpPr/>
          <p:nvPr/>
        </p:nvSpPr>
        <p:spPr>
          <ns1:xfrm xmlns:ns1="http://schemas.openxmlformats.org/drawingml/2006/main">
            <ns1:off x="4076595" y="3482298"/>
            <ns1:ext cx="941782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000000"/>
                </ns7:solidFill>
                <ns7:latin typeface="Noto Sans SC"/>
                <ns7:ea typeface="Noto Sans SC"/>
              </ns7:rPr>
              <ns7:t>REJECTED</ns7:t>
            </ns7:r>
            <ns7:endParaRPr lang="zh-CN" sz="1423"/>
          </ns7:p>
        </p:txBody>
      </p:sp>
      <p:sp>
        <p:nvSpPr>
          <p:cNvPr id="32" name="UML design-domain divider 32"/>
          <p:cNvSpPr/>
          <p:nvPr/>
        </p:nvSpPr>
        <p:spPr>
          <ns1:xfrm xmlns:ns1="http://schemas.openxmlformats.org/drawingml/2006/main">
            <ns1:off x="4029915" y="3769643"/>
            <ns1:ext cx="1524743" cy="10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446733" h="952" fill="none" stroke="1" extrusionOk="0">
                <ns2:moveTo>
                  <ns2:pt x="0" y="0"/>
                </ns2:moveTo>
                <ns2:lnTo>
                  <ns2:pt x="144673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33" name="UML design-domain connection 33"/>
          <p:cNvSpPr/>
          <p:nvPr/>
        </p:nvSpPr>
        <p:spPr>
          <ns1:xfrm xmlns:ns1="http://schemas.openxmlformats.org/drawingml/2006/main">
            <ns1:off x="3288253" y="2102984"/>
            <ns1:ext cx="2637141" cy="24181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02217" h="229438" fill="none" stroke="1" extrusionOk="0">
                <ns2:moveTo>
                  <ns2:pt x="0" y="229438"/>
                </ns2:moveTo>
                <ns2:cubicBezTo>
                  <ns2:pt x="230553" y="195510"/>
                  <ns2:pt x="469182" y="163611"/>
                  <ns2:pt x="694192" y="139141"/>
                </ns2:cubicBezTo>
                <ns2:cubicBezTo>
                  <ns2:pt x="1287790" y="74590"/>
                  <ns2:pt x="1949482" y="29832"/>
                  <ns2:pt x="2502217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34" name="UML design-domain label 34"/>
          <p:cNvSpPr/>
          <p:nvPr/>
        </p:nvSpPr>
        <p:spPr>
          <ns1:xfrm xmlns:ns1="http://schemas.openxmlformats.org/drawingml/2006/main">
            <ns1:off x="5821495" y="2127478"/>
            <ns1:ext cx="243938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1F2A44"/>
                </ns7:solidFill>
                <ns7:latin typeface="Noto Sans SC"/>
                <ns7:ea typeface="Noto Sans SC"/>
              </ns7:rPr>
              <ns7:t>1</ns7:t>
            </ns7:r>
            <ns7:endParaRPr lang="zh-CN" sz="1423"/>
          </ns7:p>
        </p:txBody>
      </p:sp>
      <p:sp>
        <p:nvSpPr>
          <p:cNvPr id="35" name="UML design-domain label 35"/>
          <p:cNvSpPr/>
          <p:nvPr/>
        </p:nvSpPr>
        <p:spPr>
          <ns1:xfrm xmlns:ns1="http://schemas.openxmlformats.org/drawingml/2006/main">
            <ns1:off x="3294779" y="2369288"/>
            <ns1:ext cx="348380" cy="2638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003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423" dirty="0">
                <ns7:solidFill>
                  <ns7:srgbClr val="1F2A44"/>
                </ns7:solidFill>
                <ns7:latin typeface="Noto Sans SC"/>
                <ns7:ea typeface="Noto Sans SC"/>
              </ns7:rPr>
              <ns7:t>0..*</ns7:t>
            </ns7:r>
            <ns7:endParaRPr lang="zh-CN" sz="1423"/>
          </ns7:p>
        </p:txBody>
      </p:sp>
      <p:sp>
        <p:nvSpPr>
          <p:cNvPr id="36" name="UML design-domain arrow 36"/>
          <p:cNvSpPr/>
          <p:nvPr/>
        </p:nvSpPr>
        <p:spPr>
          <ns1:xfrm xmlns:ns1="http://schemas.openxmlformats.org/drawingml/2006/main">
            <ns1:off x="3923556" y="2896555"/>
            <ns1:ext cx="96120" cy="7898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1202" h="74943" fill="norm" stroke="1" extrusionOk="0">
                <ns2:moveTo>
                  <ns2:pt x="91202" y="52988"/>
                </ns2:moveTo>
                <ns2:lnTo>
                  <ns2:pt x="13792" y="0"/>
                </ns2:lnTo>
                <ns2:lnTo>
                  <ns2:pt x="44367" y="44367"/>
                </ns2:lnTo>
                <ns2:lnTo>
                  <ns2:pt x="0" y="74943"/>
                </ns2:lnTo>
                <ns2:lnTo>
                  <ns2:pt x="91202" y="52988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0039">
            <ns4:solidFill>
              <ns4:srgbClr val="1F2A44"/>
            </ns4:solidFill>
          </ns4:ln>
        </p:spPr>
      </p:sp>
      <p:sp>
        <p:nvSpPr>
          <p:cNvPr id="37" name="UML design-domain connection 37"/>
          <p:cNvSpPr/>
          <p:nvPr/>
        </p:nvSpPr>
        <p:spPr>
          <ns1:xfrm xmlns:ns1="http://schemas.openxmlformats.org/drawingml/2006/main">
            <ns1:off x="3290111" y="2818104"/>
            <ns1:ext cx="680206" cy="12521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45404" h="118805" fill="none" stroke="1" extrusionOk="0">
                <ns2:moveTo>
                  <ns2:pt x="0" y="0"/>
                </ns2:moveTo>
                <ns2:cubicBezTo>
                  <ns2:pt x="237725" y="43758"/>
                  <ns2:pt x="431559" y="79439"/>
                  <ns2:pt x="645404" y="118805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0039">
            <ns4:solidFill>
              <ns4:srgbClr val="1F2A44"/>
            </ns4:solidFill>
            <ns4:prstDash val="dash"/>
          </ns4:ln>
        </p:spPr>
      </p:sp>
      <p:sp>
        <p:nvSpPr>
          <p:cNvPr id="7" name="content-356">
            <a:extLst xmlns:a="http://schemas.openxmlformats.org/drawingml/2006/main">
              <a:ext uri="{FF2B5EF4-FFF2-40B4-BE49-F238E27FC236}">
                <a16:creationId xmlns:a16="http://schemas.microsoft.com/office/drawing/2014/main" id="{9621903D-019D-4C98-A7F9-A89C902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confirm与reject处理对象状态；结果保存由仓储另行承担。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5FE11-DB6A-4840-A6AD-69B5FDD5B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ca8b7d78440e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-357">
            <a:extLst xmlns:a="http://schemas.openxmlformats.org/drawingml/2006/main">
              <a:ext uri="{FF2B5EF4-FFF2-40B4-BE49-F238E27FC236}">
                <a16:creationId xmlns:a16="http://schemas.microsoft.com/office/drawing/2014/main" id="{F129BF2F-FEDB-4B54-AF34-B3057D4E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处理服务与仓储接口</a:t>
            </a:r>
          </a:p>
        </p:txBody>
      </p:sp>
      <p:sp>
        <p:nvSpPr>
          <p:cNvPr id="2" name="frame-358">
            <a:extLst xmlns:a="http://schemas.openxmlformats.org/drawingml/2006/main">
              <a:ext uri="{FF2B5EF4-FFF2-40B4-BE49-F238E27FC236}">
                <a16:creationId xmlns:a16="http://schemas.microsoft.com/office/drawing/2014/main" id="{8515C82B-89B0-43DD-B084-A158E72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59">
            <a:extLst xmlns:a="http://schemas.openxmlformats.org/drawingml/2006/main">
              <a:ext uri="{FF2B5EF4-FFF2-40B4-BE49-F238E27FC236}">
                <a16:creationId xmlns:a16="http://schemas.microsoft.com/office/drawing/2014/main" id="{CD3A9F1F-CDAD-48DC-9F37-A0C66E4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8ABC91E-7690-4F41-B3A5-5C75FAC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810615A-89D1-4BB9-8061-9061C0C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40 / 82</a:t>
            </a:r>
          </a:p>
        </p:txBody>
      </p:sp>
      <p:sp>
        <p:nvSpPr>
          <p:cNvPr id="6" name="content-360">
            <a:extLst xmlns:a="http://schemas.openxmlformats.org/drawingml/2006/main">
              <a:ext uri="{FF2B5EF4-FFF2-40B4-BE49-F238E27FC236}">
                <a16:creationId xmlns:a16="http://schemas.microsoft.com/office/drawing/2014/main" id="{238461FF-8052-40A2-A9A3-7AD2BC9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本例读写选课记录的副本：改变加载对象后，仍须调用save(e)保存结果。</a:t>
            </a:r>
          </a:p>
        </p:txBody>
      </p:sp>
      <p:sp>
        <p:nvSpPr>
          <p:cNvPr id="11" name="UML design-service box 11"/>
          <p:cNvSpPr/>
          <p:nvPr/>
        </p:nvSpPr>
        <p:spPr>
          <ns1:xfrm xmlns:ns1="http://schemas.openxmlformats.org/drawingml/2006/main">
            <ns1:off x="3189105" y="1528134"/>
            <ns1:ext cx="543405" cy="36271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2" name="UML design-service label 12"/>
          <p:cNvSpPr/>
          <p:nvPr/>
        </p:nvSpPr>
        <p:spPr>
          <ns1:xfrm xmlns:ns1="http://schemas.openxmlformats.org/drawingml/2006/main">
            <ns1:off x="3207567" y="1573000"/>
            <ns1:ext cx="545495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1F2A44"/>
                </ns7:solidFill>
                <ns7:latin typeface="Noto Sans SC"/>
                <ns7:ea typeface="Noto Sans SC"/>
              </ns7:rPr>
              <ns7:t>选课界面</ns7:t>
            </ns7:r>
            <ns7:endParaRPr lang="zh-CN" sz="987"/>
          </ns7:p>
        </p:txBody>
      </p:sp>
      <p:sp>
        <p:nvSpPr>
          <p:cNvPr id="13" name="UML design-service divider 13"/>
          <p:cNvSpPr/>
          <p:nvPr/>
        </p:nvSpPr>
        <p:spPr>
          <ns1:xfrm xmlns:ns1="http://schemas.openxmlformats.org/drawingml/2006/main">
            <ns1:off x="3196071" y="1779382"/>
            <ns1:ext cx="52947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23900" h="952" fill="none" stroke="1" extrusionOk="0">
                <ns2:moveTo>
                  <ns2:pt x="0" y="0"/>
                </ns2:moveTo>
                <ns2:lnTo>
                  <ns2:pt x="7239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4" name="UML design-service divider 14"/>
          <p:cNvSpPr/>
          <p:nvPr/>
        </p:nvSpPr>
        <p:spPr>
          <ns1:xfrm xmlns:ns1="http://schemas.openxmlformats.org/drawingml/2006/main">
            <ns1:off x="3196071" y="1835116"/>
            <ns1:ext cx="52947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23900" h="952" fill="none" stroke="1" extrusionOk="0">
                <ns2:moveTo>
                  <ns2:pt x="0" y="0"/>
                </ns2:moveTo>
                <ns2:lnTo>
                  <ns2:pt x="7239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5" name="UML design-service box 15"/>
          <p:cNvSpPr/>
          <p:nvPr/>
        </p:nvSpPr>
        <p:spPr>
          <ns1:xfrm xmlns:ns1="http://schemas.openxmlformats.org/drawingml/2006/main">
            <ns1:off x="2461082" y="2513926"/>
            <ns1:ext cx="1996469" cy="54429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6" name="UML design-service label 16"/>
          <p:cNvSpPr/>
          <p:nvPr/>
        </p:nvSpPr>
        <p:spPr>
          <ns1:xfrm xmlns:ns1="http://schemas.openxmlformats.org/drawingml/2006/main">
            <ns1:off x="2916023" y="2558792"/>
            <ns1:ext cx="1125600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EnrollmentService</ns7:t>
            </ns7:r>
            <ns7:endParaRPr lang="zh-CN" sz="987"/>
          </ns7:p>
        </p:txBody>
      </p:sp>
      <p:sp>
        <p:nvSpPr>
          <p:cNvPr id="17" name="UML design-service divider 17"/>
          <p:cNvSpPr/>
          <p:nvPr/>
        </p:nvSpPr>
        <p:spPr>
          <ns1:xfrm xmlns:ns1="http://schemas.openxmlformats.org/drawingml/2006/main">
            <ns1:off x="2468049" y="2765174"/>
            <ns1:ext cx="19825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710548" h="952" fill="none" stroke="1" extrusionOk="0">
                <ns2:moveTo>
                  <ns2:pt x="0" y="0"/>
                </ns2:moveTo>
                <ns2:lnTo>
                  <ns2:pt x="271054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8" name="UML design-service divider 18"/>
          <p:cNvSpPr/>
          <p:nvPr/>
        </p:nvSpPr>
        <p:spPr>
          <ns1:xfrm xmlns:ns1="http://schemas.openxmlformats.org/drawingml/2006/main">
            <ns1:off x="2468049" y="2820908"/>
            <ns1:ext cx="19825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710548" h="952" fill="none" stroke="1" extrusionOk="0">
                <ns2:moveTo>
                  <ns2:pt x="0" y="0"/>
                </ns2:moveTo>
                <ns2:lnTo>
                  <ns2:pt x="271054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19" name="UML design-service label 19"/>
          <p:cNvSpPr/>
          <p:nvPr/>
        </p:nvSpPr>
        <p:spPr>
          <ns1:xfrm xmlns:ns1="http://schemas.openxmlformats.org/drawingml/2006/main">
            <ns1:off x="2500444" y="2858807"/>
            <ns1:ext cx="1956758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000000"/>
                </ns7:solidFill>
                <ns7:latin typeface="Noto Sans SC"/>
                <ns7:ea typeface="Noto Sans SC"/>
              </ns7:rPr>
              <ns7:t>+process(eId) : EnrollmentStatus</ns7:t>
            </ns7:r>
            <ns7:endParaRPr lang="zh-CN" sz="987"/>
          </ns7:p>
        </p:txBody>
      </p:sp>
      <p:sp>
        <p:nvSpPr>
          <p:cNvPr id="20" name="UML design-service box 20"/>
          <p:cNvSpPr/>
          <p:nvPr/>
        </p:nvSpPr>
        <p:spPr>
          <ns1:xfrm xmlns:ns1="http://schemas.openxmlformats.org/drawingml/2006/main">
            <ns1:off x="4861119" y="2350208"/>
            <ns1:ext cx="1660268" cy="86981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21" name="UML design-service label 21"/>
          <p:cNvSpPr/>
          <p:nvPr/>
        </p:nvSpPr>
        <p:spPr>
          <ns1:xfrm xmlns:ns1="http://schemas.openxmlformats.org/drawingml/2006/main">
            <ns1:off x="5352364" y="2376201"/>
            <ns1:ext cx="714703" cy="17291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33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«interface»</ns7:t>
            </ns7:r>
            <ns7:endParaRPr lang="zh-CN" sz="933"/>
          </ns7:p>
        </p:txBody>
      </p:sp>
      <p:sp>
        <p:nvSpPr>
          <p:cNvPr id="22" name="UML design-service label 22"/>
          <p:cNvSpPr/>
          <p:nvPr/>
        </p:nvSpPr>
        <p:spPr>
          <ns1:xfrm xmlns:ns1="http://schemas.openxmlformats.org/drawingml/2006/main">
            <ns1:off x="5026008" y="2539013"/>
            <ns1:ext cx="1369505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 i="1">
                <ns7:solidFill>
                  <ns7:srgbClr val="1F2A44"/>
                </ns7:solidFill>
                <ns7:latin typeface="Noto Sans SC"/>
                <ns7:ea typeface="Noto Sans SC"/>
              </ns7:rPr>
              <ns7:t>IEnrollmentRepository</ns7:t>
            </ns7:r>
            <ns7:endParaRPr lang="zh-CN" sz="987"/>
          </ns7:p>
        </p:txBody>
      </p:sp>
      <p:sp>
        <p:nvSpPr>
          <p:cNvPr id="23" name="UML design-service divider 23"/>
          <p:cNvSpPr/>
          <p:nvPr/>
        </p:nvSpPr>
        <p:spPr>
          <ns1:xfrm xmlns:ns1="http://schemas.openxmlformats.org/drawingml/2006/main">
            <ns1:off x="4868086" y="2745396"/>
            <ns1:ext cx="16463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50891" h="952" fill="none" stroke="1" extrusionOk="0">
                <ns2:moveTo>
                  <ns2:pt x="0" y="0"/>
                </ns2:moveTo>
                <ns2:lnTo>
                  <ns2:pt x="225089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24" name="UML design-service divider 24"/>
          <p:cNvSpPr/>
          <p:nvPr/>
        </p:nvSpPr>
        <p:spPr>
          <ns1:xfrm xmlns:ns1="http://schemas.openxmlformats.org/drawingml/2006/main">
            <ns1:off x="4868086" y="2801129"/>
            <ns1:ext cx="16463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50891" h="952" fill="none" stroke="1" extrusionOk="0">
                <ns2:moveTo>
                  <ns2:pt x="0" y="0"/>
                </ns2:moveTo>
                <ns2:lnTo>
                  <ns2:pt x="225089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25" name="UML design-service label 25"/>
          <p:cNvSpPr/>
          <p:nvPr/>
        </p:nvSpPr>
        <p:spPr>
          <ns1:xfrm xmlns:ns1="http://schemas.openxmlformats.org/drawingml/2006/main">
            <ns1:off x="4900481" y="2839028"/>
            <ns1:ext cx="1620558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000000"/>
                </ns7:solidFill>
                <ns7:latin typeface="Noto Sans SC"/>
                <ns7:ea typeface="Noto Sans SC"/>
              </ns7:rPr>
              <ns7:t>+findById(eId) : Enrollment</ns7:t>
            </ns7:r>
            <ns7:endParaRPr lang="zh-CN" sz="987"/>
          </ns7:p>
        </p:txBody>
      </p:sp>
      <p:sp>
        <p:nvSpPr>
          <p:cNvPr id="26" name="UML design-service label 26"/>
          <p:cNvSpPr/>
          <p:nvPr/>
        </p:nvSpPr>
        <p:spPr>
          <ns1:xfrm xmlns:ns1="http://schemas.openxmlformats.org/drawingml/2006/main">
            <ns1:off x="4900481" y="3020609"/>
            <ns1:ext cx="876428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000000"/>
                </ns7:solidFill>
                <ns7:latin typeface="Noto Sans SC"/>
                <ns7:ea typeface="Noto Sans SC"/>
              </ns7:rPr>
              <ns7:t>+save(e) : void</ns7:t>
            </ns7:r>
            <ns7:endParaRPr lang="zh-CN" sz="987"/>
          </ns7:p>
        </p:txBody>
      </p:sp>
      <p:sp>
        <p:nvSpPr>
          <p:cNvPr id="27" name="UML design-service box 27"/>
          <p:cNvSpPr/>
          <p:nvPr/>
        </p:nvSpPr>
        <p:spPr>
          <ns1:xfrm xmlns:ns1="http://schemas.openxmlformats.org/drawingml/2006/main">
            <ns1:off x="4728751" y="3478818"/>
            <ns1:ext cx="1921312" cy="725877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28" name="UML design-service label 28"/>
          <p:cNvSpPr/>
          <p:nvPr/>
        </p:nvSpPr>
        <p:spPr>
          <ns1:xfrm xmlns:ns1="http://schemas.openxmlformats.org/drawingml/2006/main">
            <ns1:off x="4747213" y="3523684"/>
            <ns1:ext cx="1923402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1F2A44"/>
                </ns7:solidFill>
                <ns7:latin typeface="Noto Sans SC"/>
                <ns7:ea typeface="Noto Sans SC"/>
              </ns7:rPr>
              <ns7:t>InMemoryEnrollmentRepository</ns7:t>
            </ns7:r>
            <ns7:endParaRPr lang="zh-CN" sz="987"/>
          </ns7:p>
        </p:txBody>
      </p:sp>
      <p:sp>
        <p:nvSpPr>
          <p:cNvPr id="29" name="UML design-service divider 29"/>
          <p:cNvSpPr/>
          <p:nvPr/>
        </p:nvSpPr>
        <p:spPr>
          <ns1:xfrm xmlns:ns1="http://schemas.openxmlformats.org/drawingml/2006/main">
            <ns1:off x="4735718" y="3730066"/>
            <ns1:ext cx="190737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607793" h="952" fill="none" stroke="1" extrusionOk="0">
                <ns2:moveTo>
                  <ns2:pt x="0" y="0"/>
                </ns2:moveTo>
                <ns2:lnTo>
                  <ns2:pt x="260779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30" name="UML design-service divider 30"/>
          <p:cNvSpPr/>
          <p:nvPr/>
        </p:nvSpPr>
        <p:spPr>
          <ns1:xfrm xmlns:ns1="http://schemas.openxmlformats.org/drawingml/2006/main">
            <ns1:off x="4735718" y="3785800"/>
            <ns1:ext cx="190737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607793" h="952" fill="none" stroke="1" extrusionOk="0">
                <ns2:moveTo>
                  <ns2:pt x="0" y="0"/>
                </ns2:moveTo>
                <ns2:lnTo>
                  <ns2:pt x="260779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31" name="UML design-service label 31"/>
          <p:cNvSpPr/>
          <p:nvPr/>
        </p:nvSpPr>
        <p:spPr>
          <ns1:xfrm xmlns:ns1="http://schemas.openxmlformats.org/drawingml/2006/main">
            <ns1:off x="4768113" y="3823699"/>
            <ns1:ext cx="1620558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000000"/>
                </ns7:solidFill>
                <ns7:latin typeface="Noto Sans SC"/>
                <ns7:ea typeface="Noto Sans SC"/>
              </ns7:rPr>
              <ns7:t>+findById(eId) : Enrollment</ns7:t>
            </ns7:r>
            <ns7:endParaRPr lang="zh-CN" sz="987"/>
          </ns7:p>
        </p:txBody>
      </p:sp>
      <p:sp>
        <p:nvSpPr>
          <p:cNvPr id="32" name="UML design-service label 32"/>
          <p:cNvSpPr/>
          <p:nvPr/>
        </p:nvSpPr>
        <p:spPr>
          <ns1:xfrm xmlns:ns1="http://schemas.openxmlformats.org/drawingml/2006/main">
            <ns1:off x="4768113" y="4005279"/>
            <ns1:ext cx="876428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000000"/>
                </ns7:solidFill>
                <ns7:latin typeface="Noto Sans SC"/>
                <ns7:ea typeface="Noto Sans SC"/>
              </ns7:rPr>
              <ns7:t>+save(e) : void</ns7:t>
            </ns7:r>
            <ns7:endParaRPr lang="zh-CN" sz="987"/>
          </ns7:p>
        </p:txBody>
      </p:sp>
      <p:sp>
        <p:nvSpPr>
          <p:cNvPr id="33" name="UML design-service arrow 33"/>
          <p:cNvSpPr/>
          <p:nvPr/>
        </p:nvSpPr>
        <p:spPr>
          <ns1:xfrm xmlns:ns1="http://schemas.openxmlformats.org/drawingml/2006/main">
            <ns1:off x="3432940" y="2450626"/>
            <ns1:ext cx="55734" cy="6270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85725" fill="norm" stroke="1" extrusionOk="0">
                <ns2:moveTo>
                  <ns2:pt x="38100" y="85725"/>
                </ns2:moveTo>
                <ns2:lnTo>
                  <ns2:pt x="76200" y="0"/>
                </ns2:lnTo>
                <ns2:lnTo>
                  <ns2:pt x="38100" y="38100"/>
                </ns2:lnTo>
                <ns2:lnTo>
                  <ns2:pt x="0" y="0"/>
                </ns2:lnTo>
                <ns2:lnTo>
                  <ns2:pt x="38100" y="8572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34" name="UML design-service connection 34"/>
          <p:cNvSpPr/>
          <p:nvPr/>
        </p:nvSpPr>
        <p:spPr>
          <ns1:xfrm xmlns:ns1="http://schemas.openxmlformats.org/drawingml/2006/main">
            <ns1:off x="3460807" y="1891672"/>
            <ns1:ext cx="952" cy="58682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802310" fill="none" stroke="1" extrusionOk="0">
                <ns2:moveTo>
                  <ns2:pt x="0" y="0"/>
                </ns2:moveTo>
                <ns2:cubicBezTo>
                  <ns2:pt x="0" y="231267"/>
                  <ns2:pt x="0" y="536686"/>
                  <ns2:pt x="0" y="80231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  <ns4:prstDash val="dash"/>
          </ns4:ln>
        </p:spPr>
      </p:sp>
      <p:sp>
        <p:nvSpPr>
          <p:cNvPr id="35" name="UML design-service label 35"/>
          <p:cNvSpPr/>
          <p:nvPr/>
        </p:nvSpPr>
        <p:spPr>
          <ns1:xfrm xmlns:ns1="http://schemas.openxmlformats.org/drawingml/2006/main">
            <ns1:off x="3472302" y="2039771"/>
            <ns1:ext cx="294693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1F2A44"/>
                </ns7:solidFill>
                <ns7:latin typeface="Noto Sans SC"/>
                <ns7:ea typeface="Noto Sans SC"/>
              </ns7:rPr>
              <ns7:t>调用</ns7:t>
            </ns7:r>
            <ns7:endParaRPr lang="zh-CN" sz="987"/>
          </ns7:p>
        </p:txBody>
      </p:sp>
      <p:sp>
        <p:nvSpPr>
          <p:cNvPr id="36" name="UML design-service arrow 36"/>
          <p:cNvSpPr/>
          <p:nvPr/>
        </p:nvSpPr>
        <p:spPr>
          <ns1:xfrm xmlns:ns1="http://schemas.openxmlformats.org/drawingml/2006/main">
            <ns1:off x="4796893" y="2757762"/>
            <ns1:ext cx="62701" cy="5573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5725" h="76200" fill="norm" stroke="1" extrusionOk="0">
                <ns2:moveTo>
                  <ns2:pt x="85725" y="38100"/>
                </ns2:moveTo>
                <ns2:lnTo>
                  <ns2:pt x="0" y="0"/>
                </ns2:lnTo>
                <ns2:lnTo>
                  <ns2:pt x="38100" y="38100"/>
                </ns2:lnTo>
                <ns2:lnTo>
                  <ns2:pt x="0" y="76200"/>
                </ns2:lnTo>
                <ns2:lnTo>
                  <ns2:pt x="85725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37" name="UML design-service connection 37"/>
          <p:cNvSpPr/>
          <p:nvPr/>
        </p:nvSpPr>
        <p:spPr>
          <ns1:xfrm xmlns:ns1="http://schemas.openxmlformats.org/drawingml/2006/main">
            <ns1:off x="4461361" y="2785629"/>
            <ns1:ext cx="363398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496843" h="952" fill="none" stroke="1" extrusionOk="0">
                <ns2:moveTo>
                  <ns2:pt x="0" y="0"/>
                </ns2:moveTo>
                <ns2:cubicBezTo>
                  <ns2:pt x="182004" y="0"/>
                  <ns2:pt x="319373" y="0"/>
                  <ns2:pt x="496843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  <ns4:prstDash val="dash"/>
          </ns4:ln>
        </p:spPr>
      </p:sp>
      <p:sp>
        <p:nvSpPr>
          <p:cNvPr id="38" name="UML design-service label 38"/>
          <p:cNvSpPr/>
          <p:nvPr/>
        </p:nvSpPr>
        <p:spPr>
          <ns1:xfrm xmlns:ns1="http://schemas.openxmlformats.org/drawingml/2006/main">
            <ns1:off x="4532986" y="2579692"/>
            <ns1:ext cx="294693" cy="18308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96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87" dirty="0">
                <ns7:solidFill>
                  <ns7:srgbClr val="1F2A44"/>
                </ns7:solidFill>
                <ns7:latin typeface="Noto Sans SC"/>
                <ns7:ea typeface="Noto Sans SC"/>
              </ns7:rPr>
              <ns7:t>使用</ns7:t>
            </ns7:r>
            <ns7:endParaRPr lang="zh-CN" sz="987"/>
          </ns7:p>
        </p:txBody>
      </p:sp>
      <p:sp>
        <p:nvSpPr>
          <p:cNvPr id="39" name="UML design-service arrow 39"/>
          <p:cNvSpPr/>
          <p:nvPr/>
        </p:nvSpPr>
        <p:spPr>
          <ns1:xfrm xmlns:ns1="http://schemas.openxmlformats.org/drawingml/2006/main">
            <ns1:off x="5648359" y="3222240"/>
            <ns1:ext cx="83601" cy="12540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71450" fill="none" stroke="1" extrusionOk="0">
                <ns2:moveTo>
                  <ns2:pt x="57150" y="0"/>
                </ns2:moveTo>
                <ns2:lnTo>
                  <ns2:pt x="0" y="171450"/>
                </ns2:lnTo>
                <ns2:lnTo>
                  <ns2:pt x="114300" y="171450"/>
                </ns2:lnTo>
                <ns2:lnTo>
                  <ns2:pt x="57150" y="0"/>
                </ns2:lnTo>
                <ns2:close/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</ns4:ln>
        </p:spPr>
      </p:sp>
      <p:sp>
        <p:nvSpPr>
          <p:cNvPr id="40" name="UML design-service connection 40"/>
          <p:cNvSpPr/>
          <p:nvPr/>
        </p:nvSpPr>
        <p:spPr>
          <ns1:xfrm xmlns:ns1="http://schemas.openxmlformats.org/drawingml/2006/main">
            <ns1:off x="5690160" y="3347641"/>
            <ns1:ext cx="952" cy="13068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78679" fill="none" stroke="1" extrusionOk="0">
                <ns2:moveTo>
                  <ns2:pt x="0" y="0"/>
                </ns2:moveTo>
                <ns2:cubicBezTo>
                  <ns2:pt x="0" y="116443"/>
                  <ns2:pt x="0" y="66037"/>
                  <ns2:pt x="0" y="178679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6967">
            <ns4:solidFill>
              <ns4:srgbClr val="1F2A44"/>
            </ns4:solidFill>
            <ns4:prstDash val="dash"/>
          </ns4:ln>
        </p:spPr>
      </p:sp>
      <p:sp>
        <p:nvSpPr>
          <p:cNvPr id="8" name="content-361">
            <a:extLst xmlns:a="http://schemas.openxmlformats.org/drawingml/2006/main">
              <a:ext uri="{FF2B5EF4-FFF2-40B4-BE49-F238E27FC236}">
                <a16:creationId xmlns:a16="http://schemas.microsoft.com/office/drawing/2014/main" id="{2FA4774C-EFC6-4407-8497-8DAA0553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教学假设A3：用内存仓储演示读取与保存；不代表数据库持久化已实现。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6D3DF-0A9A-44F6-AC96-E9D782732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3f1e698ee4714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361">
            <a:extLst xmlns:a="http://schemas.openxmlformats.org/drawingml/2006/main">
              <a:ext uri="{FF2B5EF4-FFF2-40B4-BE49-F238E27FC236}">
                <a16:creationId xmlns:a16="http://schemas.microsoft.com/office/drawing/2014/main" id="{5F1B037E-83B1-4BD3-A7E1-F01CC6DE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设计交互（1/2）：读取记录与余量</a:t>
            </a:r>
          </a:p>
        </p:txBody>
      </p:sp>
      <p:sp>
        <p:nvSpPr>
          <p:cNvPr id="2" name="frame-362">
            <a:extLst xmlns:a="http://schemas.openxmlformats.org/drawingml/2006/main">
              <a:ext uri="{FF2B5EF4-FFF2-40B4-BE49-F238E27FC236}">
                <a16:creationId xmlns:a16="http://schemas.microsoft.com/office/drawing/2014/main" id="{2854E6D3-59BA-4EFD-8794-4402D3FD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63">
            <a:extLst xmlns:a="http://schemas.openxmlformats.org/drawingml/2006/main">
              <a:ext uri="{FF2B5EF4-FFF2-40B4-BE49-F238E27FC236}">
                <a16:creationId xmlns:a16="http://schemas.microsoft.com/office/drawing/2014/main" id="{5D323B66-FC06-4FEA-8AD6-2638B216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7BEA964-4D6F-4381-BCC2-2797A7C3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59B003A-729E-4736-B470-F2DDD05F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41 / 82</a:t>
            </a:r>
          </a:p>
        </p:txBody>
      </p:sp>
      <p:sp>
        <p:nvSpPr>
          <p:cNvPr id="16" name="UML design-read box 16"/>
          <p:cNvSpPr/>
          <p:nvPr/>
        </p:nvSpPr>
        <p:spPr>
          <ns1:xfrm xmlns:ns1="http://schemas.openxmlformats.org/drawingml/2006/main">
            <ns1:off x="1199026" y="1583670"/>
            <ns1:ext cx="68962" cy="266007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</p:sp>
      <p:sp>
        <p:nvSpPr>
          <p:cNvPr id="17" name="UML design-read divider 17"/>
          <p:cNvSpPr/>
          <p:nvPr/>
        </p:nvSpPr>
        <p:spPr>
          <ns1:xfrm xmlns:ns1="http://schemas.openxmlformats.org/drawingml/2006/main">
            <ns1:off x="1229196" y="1583670"/>
            <ns1:ext cx="952" cy="26600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39263" fill="none" stroke="1" extrusionOk="0">
                <ns2:moveTo>
                  <ns2:pt x="0" y="0"/>
                </ns2:moveTo>
                <ns2:lnTo>
                  <ns2:pt x="0" y="2939263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697487"/>
            </ns4:solidFill>
            <ns4:prstDash val="dash"/>
          </ns4:ln>
        </p:spPr>
      </p:sp>
      <p:sp>
        <p:nvSpPr>
          <p:cNvPr id="18" name="UML design-read box 18"/>
          <p:cNvSpPr/>
          <p:nvPr/>
        </p:nvSpPr>
        <p:spPr>
          <ns1:xfrm xmlns:ns1="http://schemas.openxmlformats.org/drawingml/2006/main">
            <ns1:off x="2391922" y="1583670"/>
            <ns1:ext cx="68962" cy="266007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</p:sp>
      <p:sp>
        <p:nvSpPr>
          <p:cNvPr id="19" name="UML design-read divider 19"/>
          <p:cNvSpPr/>
          <p:nvPr/>
        </p:nvSpPr>
        <p:spPr>
          <ns1:xfrm xmlns:ns1="http://schemas.openxmlformats.org/drawingml/2006/main">
            <ns1:off x="2422093" y="1583670"/>
            <ns1:ext cx="952" cy="26600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39263" fill="none" stroke="1" extrusionOk="0">
                <ns2:moveTo>
                  <ns2:pt x="0" y="0"/>
                </ns2:moveTo>
                <ns2:lnTo>
                  <ns2:pt x="0" y="2939263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697487"/>
            </ns4:solidFill>
            <ns4:prstDash val="dash"/>
          </ns4:ln>
        </p:spPr>
      </p:sp>
      <p:sp>
        <p:nvSpPr>
          <p:cNvPr id="20" name="UML design-read box 20"/>
          <p:cNvSpPr/>
          <p:nvPr/>
        </p:nvSpPr>
        <p:spPr>
          <ns1:xfrm xmlns:ns1="http://schemas.openxmlformats.org/drawingml/2006/main">
            <ns1:off x="2378991" y="1941514"/>
            <ns1:ext cx="86203" cy="230222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000000"/>
            </ns4:solidFill>
          </ns4:ln>
        </p:spPr>
      </p:sp>
      <p:sp>
        <p:nvSpPr>
          <p:cNvPr id="21" name="UML design-read box 21"/>
          <p:cNvSpPr/>
          <p:nvPr/>
        </p:nvSpPr>
        <p:spPr>
          <ns1:xfrm xmlns:ns1="http://schemas.openxmlformats.org/drawingml/2006/main">
            <ns1:off x="3591999" y="1583670"/>
            <ns1:ext cx="68962" cy="266007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</p:sp>
      <p:sp>
        <p:nvSpPr>
          <p:cNvPr id="22" name="UML design-read divider 22"/>
          <p:cNvSpPr/>
          <p:nvPr/>
        </p:nvSpPr>
        <p:spPr>
          <ns1:xfrm xmlns:ns1="http://schemas.openxmlformats.org/drawingml/2006/main">
            <ns1:off x="3622169" y="1583670"/>
            <ns1:ext cx="952" cy="26600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39263" fill="none" stroke="1" extrusionOk="0">
                <ns2:moveTo>
                  <ns2:pt x="0" y="0"/>
                </ns2:moveTo>
                <ns2:lnTo>
                  <ns2:pt x="0" y="2939263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697487"/>
            </ns4:solidFill>
            <ns4:prstDash val="dash"/>
          </ns4:ln>
        </p:spPr>
      </p:sp>
      <p:sp>
        <p:nvSpPr>
          <p:cNvPr id="23" name="UML design-read box 23"/>
          <p:cNvSpPr/>
          <p:nvPr/>
        </p:nvSpPr>
        <p:spPr>
          <ns1:xfrm xmlns:ns1="http://schemas.openxmlformats.org/drawingml/2006/main">
            <ns1:off x="4171452" y="1583670"/>
            <ns1:ext cx="68962" cy="266007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</p:sp>
      <p:sp>
        <p:nvSpPr>
          <p:cNvPr id="24" name="UML design-read divider 24"/>
          <p:cNvSpPr/>
          <p:nvPr/>
        </p:nvSpPr>
        <p:spPr>
          <ns1:xfrm xmlns:ns1="http://schemas.openxmlformats.org/drawingml/2006/main">
            <ns1:off x="4201623" y="1583670"/>
            <ns1:ext cx="952" cy="26600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39263" fill="none" stroke="1" extrusionOk="0">
                <ns2:moveTo>
                  <ns2:pt x="0" y="0"/>
                </ns2:moveTo>
                <ns2:lnTo>
                  <ns2:pt x="0" y="2939263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697487"/>
            </ns4:solidFill>
            <ns4:prstDash val="dash"/>
          </ns4:ln>
        </p:spPr>
      </p:sp>
      <p:sp>
        <p:nvSpPr>
          <p:cNvPr id="25" name="UML design-read box 25"/>
          <p:cNvSpPr/>
          <p:nvPr/>
        </p:nvSpPr>
        <p:spPr>
          <ns1:xfrm xmlns:ns1="http://schemas.openxmlformats.org/drawingml/2006/main">
            <ns1:off x="4616257" y="1583670"/>
            <ns1:ext cx="68962" cy="266007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</p:sp>
      <p:sp>
        <p:nvSpPr>
          <p:cNvPr id="26" name="UML design-read divider 26"/>
          <p:cNvSpPr/>
          <p:nvPr/>
        </p:nvSpPr>
        <p:spPr>
          <ns1:xfrm xmlns:ns1="http://schemas.openxmlformats.org/drawingml/2006/main">
            <ns1:off x="4646428" y="1583670"/>
            <ns1:ext cx="952" cy="26600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39263" fill="none" stroke="1" extrusionOk="0">
                <ns2:moveTo>
                  <ns2:pt x="0" y="0"/>
                </ns2:moveTo>
                <ns2:lnTo>
                  <ns2:pt x="0" y="2939263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697487"/>
            </ns4:solidFill>
            <ns4:prstDash val="dash"/>
          </ns4:ln>
        </p:spPr>
      </p:sp>
      <p:sp>
        <p:nvSpPr>
          <p:cNvPr id="27" name="UML design-read box 27"/>
          <p:cNvSpPr/>
          <p:nvPr/>
        </p:nvSpPr>
        <p:spPr>
          <ns1:xfrm xmlns:ns1="http://schemas.openxmlformats.org/drawingml/2006/main">
            <ns1:off x="1110065" y="1196104"/>
            <ns1:ext cx="238264" cy="33584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8" name="UML design-read label 28"/>
          <p:cNvSpPr/>
          <p:nvPr/>
        </p:nvSpPr>
        <p:spPr>
          <ns1:xfrm xmlns:ns1="http://schemas.openxmlformats.org/drawingml/2006/main">
            <ns1:off x="1150149" y="1252997"/>
            <ns1:ext cx="212403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ui</ns7:t>
            </ns7:r>
            <ns7:endParaRPr lang="zh-CN" sz="1358"/>
          </ns7:p>
        </p:txBody>
      </p:sp>
      <p:sp>
        <p:nvSpPr>
          <p:cNvPr id="29" name="UML design-read box 29"/>
          <p:cNvSpPr/>
          <p:nvPr/>
        </p:nvSpPr>
        <p:spPr>
          <ns1:xfrm xmlns:ns1="http://schemas.openxmlformats.org/drawingml/2006/main">
            <ns1:off x="2249774" y="1196104"/>
            <ns1:ext cx="344638" cy="33584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0" name="UML design-read label 30"/>
          <p:cNvSpPr/>
          <p:nvPr/>
        </p:nvSpPr>
        <p:spPr>
          <ns1:xfrm xmlns:ns1="http://schemas.openxmlformats.org/drawingml/2006/main">
            <ns1:off x="2289858" y="1252997"/>
            <ns1:ext cx="318777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svc</ns7:t>
            </ns7:r>
            <ns7:endParaRPr lang="zh-CN" sz="1358"/>
          </ns7:p>
        </p:txBody>
      </p:sp>
      <p:sp>
        <p:nvSpPr>
          <p:cNvPr id="31" name="UML design-read box 31"/>
          <p:cNvSpPr/>
          <p:nvPr/>
        </p:nvSpPr>
        <p:spPr>
          <ns1:xfrm xmlns:ns1="http://schemas.openxmlformats.org/drawingml/2006/main">
            <ns1:off x="3392181" y="1196104"/>
            <ns1:ext cx="459977" cy="33584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2" name="UML design-read label 32"/>
          <p:cNvSpPr/>
          <p:nvPr/>
        </p:nvSpPr>
        <p:spPr>
          <ns1:xfrm xmlns:ns1="http://schemas.openxmlformats.org/drawingml/2006/main">
            <ns1:off x="3432265" y="1252997"/>
            <ns1:ext cx="434116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repo</ns7:t>
            </ns7:r>
            <ns7:endParaRPr lang="zh-CN" sz="1358"/>
          </ns7:p>
        </p:txBody>
      </p:sp>
      <p:sp>
        <p:nvSpPr>
          <p:cNvPr id="33" name="UML design-read box 33"/>
          <p:cNvSpPr/>
          <p:nvPr/>
        </p:nvSpPr>
        <p:spPr>
          <ns1:xfrm xmlns:ns1="http://schemas.openxmlformats.org/drawingml/2006/main">
            <ns1:off x="4110765" y="1196104"/>
            <ns1:ext cx="181715" cy="33584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4" name="UML design-read label 34"/>
          <p:cNvSpPr/>
          <p:nvPr/>
        </p:nvSpPr>
        <p:spPr>
          <ns1:xfrm xmlns:ns1="http://schemas.openxmlformats.org/drawingml/2006/main">
            <ns1:off x="4150849" y="1252997"/>
            <ns1:ext cx="232747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e</ns7:t>
            </ns7:r>
            <ns7:endParaRPr lang="zh-CN" sz="1358"/>
          </ns7:p>
        </p:txBody>
      </p:sp>
      <p:sp>
        <p:nvSpPr>
          <p:cNvPr id="35" name="UML design-read box 35"/>
          <p:cNvSpPr/>
          <p:nvPr/>
        </p:nvSpPr>
        <p:spPr>
          <ns1:xfrm xmlns:ns1="http://schemas.openxmlformats.org/drawingml/2006/main">
            <ns1:off x="4551088" y="1196104"/>
            <ns1:ext cx="190680" cy="33584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6" name="UML design-read label 36"/>
          <p:cNvSpPr/>
          <p:nvPr/>
        </p:nvSpPr>
        <p:spPr>
          <ns1:xfrm xmlns:ns1="http://schemas.openxmlformats.org/drawingml/2006/main">
            <ns1:off x="4591172" y="1252997"/>
            <ns1:ext cx="232747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o</ns7:t>
            </ns7:r>
            <ns7:endParaRPr lang="zh-CN" sz="1358"/>
          </ns7:p>
        </p:txBody>
      </p:sp>
      <p:sp>
        <p:nvSpPr>
          <p:cNvPr id="37" name="UML design-read arrow 37"/>
          <p:cNvSpPr/>
          <p:nvPr/>
        </p:nvSpPr>
        <p:spPr>
          <ns1:xfrm xmlns:ns1="http://schemas.openxmlformats.org/drawingml/2006/main">
            <ns1:off x="2275548" y="1907033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8" name="UML design-read divider 38"/>
          <p:cNvSpPr/>
          <p:nvPr/>
        </p:nvSpPr>
        <p:spPr>
          <ns1:xfrm xmlns:ns1="http://schemas.openxmlformats.org/drawingml/2006/main">
            <ns1:off x="1229196" y="1941514"/>
            <ns1:ext cx="109807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13323" h="952" fill="none" stroke="1" extrusionOk="0">
                <ns2:moveTo>
                  <ns2:pt x="0" y="0"/>
                </ns2:moveTo>
                <ns2:lnTo>
                  <ns2:pt x="1213323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9" name="UML design-read label 39"/>
          <p:cNvSpPr/>
          <p:nvPr/>
        </p:nvSpPr>
        <p:spPr>
          <ns1:xfrm xmlns:ns1="http://schemas.openxmlformats.org/drawingml/2006/main">
            <ns1:off x="1329622" y="1700216"/>
            <ns1:ext cx="1000234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process(eId)</ns7:t>
            </ns7:r>
            <ns7:endParaRPr lang="zh-CN" sz="1290"/>
          </ns7:p>
        </p:txBody>
      </p:sp>
      <p:sp>
        <p:nvSpPr>
          <p:cNvPr id="40" name="UML design-read arrow 40"/>
          <p:cNvSpPr/>
          <p:nvPr/>
        </p:nvSpPr>
        <p:spPr>
          <ns1:xfrm xmlns:ns1="http://schemas.openxmlformats.org/drawingml/2006/main">
            <ns1:off x="3518726" y="2264877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41" name="UML design-read divider 41"/>
          <p:cNvSpPr/>
          <p:nvPr/>
        </p:nvSpPr>
        <p:spPr>
          <ns1:xfrm xmlns:ns1="http://schemas.openxmlformats.org/drawingml/2006/main">
            <ns1:off x="2465194" y="2299358"/>
            <ns1:ext cx="110525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21257" h="952" fill="none" stroke="1" extrusionOk="0">
                <ns2:moveTo>
                  <ns2:pt x="0" y="0"/>
                </ns2:moveTo>
                <ns2:lnTo>
                  <ns2:pt x="1221257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42" name="UML design-read label 42"/>
          <p:cNvSpPr/>
          <p:nvPr/>
        </p:nvSpPr>
        <p:spPr>
          <ns1:xfrm xmlns:ns1="http://schemas.openxmlformats.org/drawingml/2006/main">
            <ns1:off x="2544069" y="2058060"/>
            <ns1:ext cx="1050515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findById(eId)</ns7:t>
            </ns7:r>
            <ns7:endParaRPr lang="zh-CN" sz="1290"/>
          </ns7:p>
        </p:txBody>
      </p:sp>
      <p:sp>
        <p:nvSpPr>
          <p:cNvPr id="43" name="UML design-read arrow 43"/>
          <p:cNvSpPr/>
          <p:nvPr/>
        </p:nvSpPr>
        <p:spPr>
          <ns1:xfrm xmlns:ns1="http://schemas.openxmlformats.org/drawingml/2006/main">
            <ns1:off x="2473814" y="2622721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44" name="UML design-read divider 44"/>
          <p:cNvSpPr/>
          <p:nvPr/>
        </p:nvSpPr>
        <p:spPr>
          <ns1:xfrm xmlns:ns1="http://schemas.openxmlformats.org/drawingml/2006/main">
            <ns1:off x="2508295" y="2657202"/>
            <ns1:ext cx="110525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21257" h="952" fill="none" stroke="1" extrusionOk="0">
                <ns2:moveTo>
                  <ns2:pt x="0" y="0"/>
                </ns2:moveTo>
                <ns2:lnTo>
                  <ns2:pt x="1221257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  <ns4:prstDash val="dash"/>
          </ns4:ln>
        </p:spPr>
      </p:sp>
      <p:sp>
        <p:nvSpPr>
          <p:cNvPr id="45" name="UML design-read label 45"/>
          <p:cNvSpPr/>
          <p:nvPr/>
        </p:nvSpPr>
        <p:spPr>
          <ns1:xfrm xmlns:ns1="http://schemas.openxmlformats.org/drawingml/2006/main">
            <ns1:off x="2995296" y="2415904"/>
            <ns1:ext cx="221109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e</ns7:t>
            </ns7:r>
            <ns7:endParaRPr lang="zh-CN" sz="1290"/>
          </ns7:p>
        </p:txBody>
      </p:sp>
      <p:sp>
        <p:nvSpPr>
          <p:cNvPr id="46" name="UML design-read arrow 46"/>
          <p:cNvSpPr/>
          <p:nvPr/>
        </p:nvSpPr>
        <p:spPr>
          <ns1:xfrm xmlns:ns1="http://schemas.openxmlformats.org/drawingml/2006/main">
            <ns1:off x="4098180" y="2980565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47" name="UML design-read divider 47"/>
          <p:cNvSpPr/>
          <p:nvPr/>
        </p:nvSpPr>
        <p:spPr>
          <ns1:xfrm xmlns:ns1="http://schemas.openxmlformats.org/drawingml/2006/main">
            <ns1:off x="2465194" y="3015046"/>
            <ns1:ext cx="1684707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1528" h="952" fill="none" stroke="1" extrusionOk="0">
                <ns2:moveTo>
                  <ns2:pt x="0" y="0"/>
                </ns2:moveTo>
                <ns2:lnTo>
                  <ns2:pt x="186152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48" name="UML design-read label 48"/>
          <p:cNvSpPr/>
          <p:nvPr/>
        </p:nvSpPr>
        <p:spPr>
          <ns1:xfrm xmlns:ns1="http://schemas.openxmlformats.org/drawingml/2006/main">
            <ns1:off x="2842804" y="2773748"/>
            <ns1:ext cx="1032499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getOffering()</ns7:t>
            </ns7:r>
            <ns7:endParaRPr lang="zh-CN" sz="1290"/>
          </ns7:p>
        </p:txBody>
      </p:sp>
      <p:sp>
        <p:nvSpPr>
          <p:cNvPr id="49" name="UML design-read arrow 49"/>
          <p:cNvSpPr/>
          <p:nvPr/>
        </p:nvSpPr>
        <p:spPr>
          <ns1:xfrm xmlns:ns1="http://schemas.openxmlformats.org/drawingml/2006/main">
            <ns1:off x="2473814" y="3338408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50" name="UML design-read divider 50"/>
          <p:cNvSpPr/>
          <p:nvPr/>
        </p:nvSpPr>
        <p:spPr>
          <ns1:xfrm xmlns:ns1="http://schemas.openxmlformats.org/drawingml/2006/main">
            <ns1:off x="2508295" y="3372889"/>
            <ns1:ext cx="1684707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1528" h="952" fill="none" stroke="1" extrusionOk="0">
                <ns2:moveTo>
                  <ns2:pt x="0" y="0"/>
                </ns2:moveTo>
                <ns2:lnTo>
                  <ns2:pt x="186152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  <ns4:prstDash val="dash"/>
          </ns4:ln>
        </p:spPr>
      </p:sp>
      <p:sp>
        <p:nvSpPr>
          <p:cNvPr id="51" name="UML design-read label 51"/>
          <p:cNvSpPr/>
          <p:nvPr/>
        </p:nvSpPr>
        <p:spPr>
          <ns1:xfrm xmlns:ns1="http://schemas.openxmlformats.org/drawingml/2006/main">
            <ns1:off x="3280764" y="3131591"/>
            <ns1:ext cx="221109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o</ns7:t>
            </ns7:r>
            <ns7:endParaRPr lang="zh-CN" sz="1290"/>
          </ns7:p>
        </p:txBody>
      </p:sp>
      <p:sp>
        <p:nvSpPr>
          <p:cNvPr id="52" name="UML design-read arrow 52"/>
          <p:cNvSpPr/>
          <p:nvPr/>
        </p:nvSpPr>
        <p:spPr>
          <ns1:xfrm xmlns:ns1="http://schemas.openxmlformats.org/drawingml/2006/main">
            <ns1:off x="4542985" y="3696252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53" name="UML design-read divider 53"/>
          <p:cNvSpPr/>
          <p:nvPr/>
        </p:nvSpPr>
        <p:spPr>
          <ns1:xfrm xmlns:ns1="http://schemas.openxmlformats.org/drawingml/2006/main">
            <ns1:off x="2465194" y="3730733"/>
            <ns1:ext cx="212951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353018" h="952" fill="none" stroke="1" extrusionOk="0">
                <ns2:moveTo>
                  <ns2:pt x="0" y="0"/>
                </ns2:moveTo>
                <ns2:lnTo>
                  <ns2:pt x="235301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54" name="UML design-read label 54"/>
          <p:cNvSpPr/>
          <p:nvPr/>
        </p:nvSpPr>
        <p:spPr>
          <ns1:xfrm xmlns:ns1="http://schemas.openxmlformats.org/drawingml/2006/main">
            <ns1:off x="2815848" y="3489435"/>
            <ns1:ext cx="1531224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getAvailableSeats()</ns7:t>
            </ns7:r>
            <ns7:endParaRPr lang="zh-CN" sz="1290"/>
          </ns7:p>
        </p:txBody>
      </p:sp>
      <p:sp>
        <p:nvSpPr>
          <p:cNvPr id="55" name="UML design-read arrow 55"/>
          <p:cNvSpPr/>
          <p:nvPr/>
        </p:nvSpPr>
        <p:spPr>
          <ns1:xfrm xmlns:ns1="http://schemas.openxmlformats.org/drawingml/2006/main">
            <ns1:off x="2473814" y="4054096"/>
            <ns1:ext cx="86203" cy="6896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56" name="UML design-read divider 56"/>
          <p:cNvSpPr/>
          <p:nvPr/>
        </p:nvSpPr>
        <p:spPr>
          <ns1:xfrm xmlns:ns1="http://schemas.openxmlformats.org/drawingml/2006/main">
            <ns1:off x="2508295" y="4088577"/>
            <ns1:ext cx="212951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353018" h="952" fill="none" stroke="1" extrusionOk="0">
                <ns2:moveTo>
                  <ns2:pt x="0" y="0"/>
                </ns2:moveTo>
                <ns2:lnTo>
                  <ns2:pt x="235301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  <ns4:prstDash val="dash"/>
          </ns4:ln>
        </p:spPr>
      </p:sp>
      <p:sp>
        <p:nvSpPr>
          <p:cNvPr id="57" name="UML design-read label 57"/>
          <p:cNvSpPr/>
          <p:nvPr/>
        </p:nvSpPr>
        <p:spPr>
          <ns1:xfrm xmlns:ns1="http://schemas.openxmlformats.org/drawingml/2006/main">
            <ns1:off x="3502839" y="3847279"/>
            <ns1:ext cx="221109" cy="23912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90" dirty="0">
                <ns7:solidFill>
                  <ns7:srgbClr val="1F2A44"/>
                </ns7:solidFill>
                <ns7:latin typeface="Noto Sans SC"/>
                <ns7:ea typeface="Noto Sans SC"/>
              </ns7:rPr>
              <ns7:t>n</ns7:t>
            </ns7:r>
            <ns7:endParaRPr lang="zh-CN" sz="1290"/>
          </ns7:p>
        </p:txBody>
      </p:sp>
      <p:sp>
        <p:nvSpPr>
          <p:cNvPr id="7" name="content-364">
            <a:extLst xmlns:a="http://schemas.openxmlformats.org/drawingml/2006/main">
              <a:ext uri="{FF2B5EF4-FFF2-40B4-BE49-F238E27FC236}">
                <a16:creationId xmlns:a16="http://schemas.microsoft.com/office/drawing/2014/main" id="{50BB17F0-D10E-421E-AB2B-8437425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同一次process调用的前半段：读取已有记录与对应余量，下一页继续处理。</a:t>
            </a:r>
          </a:p>
        </p:txBody>
      </p:sp>
      <p:sp>
        <p:nvSpPr>
          <p:cNvPr id="8" name="content-365">
            <a:extLst xmlns:a="http://schemas.openxmlformats.org/drawingml/2006/main">
              <a:ext uri="{FF2B5EF4-FFF2-40B4-BE49-F238E27FC236}">
                <a16:creationId xmlns:a16="http://schemas.microsoft.com/office/drawing/2014/main" id="{3781A9D6-F5B7-454D-AC69-C4BC0112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读取</a:t>
            </a:r>
          </a:p>
        </p:txBody>
      </p:sp>
      <p:sp>
        <p:nvSpPr>
          <p:cNvPr id="9" name="content-366">
            <a:extLst xmlns:a="http://schemas.openxmlformats.org/drawingml/2006/main">
              <a:ext uri="{FF2B5EF4-FFF2-40B4-BE49-F238E27FC236}">
                <a16:creationId xmlns:a16="http://schemas.microsoft.com/office/drawing/2014/main" id="{915F6CF2-370C-46AA-A2B2-6482185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按eId取得已有记录e。</a:t>
            </a:r>
          </a:p>
        </p:txBody>
      </p:sp>
      <p:sp>
        <p:nvSpPr>
          <p:cNvPr id="10" name="content-367">
            <a:extLst xmlns:a="http://schemas.openxmlformats.org/drawingml/2006/main">
              <a:ext uri="{FF2B5EF4-FFF2-40B4-BE49-F238E27FC236}">
                <a16:creationId xmlns:a16="http://schemas.microsoft.com/office/drawing/2014/main" id="{16DE8AA9-1A70-4FC7-9D44-40A7A1FB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信息来源</a:t>
            </a:r>
          </a:p>
        </p:txBody>
      </p:sp>
      <p:sp>
        <p:nvSpPr>
          <p:cNvPr id="11" name="content-368">
            <a:extLst xmlns:a="http://schemas.openxmlformats.org/drawingml/2006/main">
              <a:ext uri="{FF2B5EF4-FFF2-40B4-BE49-F238E27FC236}">
                <a16:creationId xmlns:a16="http://schemas.microsoft.com/office/drawing/2014/main" id="{1075BB45-3473-4220-A97F-F506638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由e取得对应开课班o，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再读取该开课班余量n。</a:t>
            </a:r>
          </a:p>
        </p:txBody>
      </p:sp>
      <p:sp>
        <p:nvSpPr>
          <p:cNvPr id="12" name="content-369">
            <a:extLst xmlns:a="http://schemas.openxmlformats.org/drawingml/2006/main">
              <a:ext uri="{FF2B5EF4-FFF2-40B4-BE49-F238E27FC236}">
                <a16:creationId xmlns:a16="http://schemas.microsoft.com/office/drawing/2014/main" id="{ED5C753E-55DC-47A7-BFCB-97D1C51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角色简称</a:t>
            </a:r>
          </a:p>
        </p:txBody>
      </p:sp>
      <p:sp>
        <p:nvSpPr>
          <p:cNvPr id="13" name="content-370">
            <a:extLst xmlns:a="http://schemas.openxmlformats.org/drawingml/2006/main">
              <a:ext uri="{FF2B5EF4-FFF2-40B4-BE49-F238E27FC236}">
                <a16:creationId xmlns:a16="http://schemas.microsoft.com/office/drawing/2014/main" id="{5C4B5580-7340-400E-A459-B280CF1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ui：界面；svc：服务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repo：仓储接口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C0FFE-4DDD-4E9B-8EF6-7ADAEF2B9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2ff8b1f444b0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371">
            <a:extLst xmlns:a="http://schemas.openxmlformats.org/drawingml/2006/main">
              <a:ext uri="{FF2B5EF4-FFF2-40B4-BE49-F238E27FC236}">
                <a16:creationId xmlns:a16="http://schemas.microsoft.com/office/drawing/2014/main" id="{83E64C2A-4DAC-4CB5-A16F-46BF44A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设计交互（2/2）：处理、保存与返回</a:t>
            </a:r>
          </a:p>
        </p:txBody>
      </p:sp>
      <p:sp>
        <p:nvSpPr>
          <p:cNvPr id="2" name="frame-372">
            <a:extLst xmlns:a="http://schemas.openxmlformats.org/drawingml/2006/main">
              <a:ext uri="{FF2B5EF4-FFF2-40B4-BE49-F238E27FC236}">
                <a16:creationId xmlns:a16="http://schemas.microsoft.com/office/drawing/2014/main" id="{4AEA5FFC-BB1E-434D-BA4F-3533C5D4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73">
            <a:extLst xmlns:a="http://schemas.openxmlformats.org/drawingml/2006/main">
              <a:ext uri="{FF2B5EF4-FFF2-40B4-BE49-F238E27FC236}">
                <a16:creationId xmlns:a16="http://schemas.microsoft.com/office/drawing/2014/main" id="{3BAF2CC7-D821-4D6A-9400-9D5E5A0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563287C-82CF-4A18-B93B-B44C4AF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09C59F3-3B27-4625-8193-2018CFA8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42 / 82</a:t>
            </a:r>
          </a:p>
        </p:txBody>
      </p:sp>
      <p:sp>
        <p:nvSpPr>
          <p:cNvPr id="16" name="UML design-complete box 16"/>
          <p:cNvSpPr/>
          <p:nvPr/>
        </p:nvSpPr>
        <p:spPr>
          <ns1:xfrm xmlns:ns1="http://schemas.openxmlformats.org/drawingml/2006/main">
            <ns1:off x="2383533" y="1555571"/>
            <ns1:ext cx="1621359" cy="169898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FFFFFF"/>
            </ns4:solidFill>
          </ns4:ln>
        </p:spPr>
      </p:sp>
      <p:sp>
        <p:nvSpPr>
          <p:cNvPr id="17" name="UML design-complete box 17"/>
          <p:cNvSpPr/>
          <p:nvPr/>
        </p:nvSpPr>
        <p:spPr>
          <ns1:xfrm xmlns:ns1="http://schemas.openxmlformats.org/drawingml/2006/main">
            <ns1:off x="2383533" y="1555571"/>
            <ns1:ext cx="1621359" cy="169898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18" name="UML design-complete box 18"/>
          <p:cNvSpPr/>
          <p:nvPr/>
        </p:nvSpPr>
        <p:spPr>
          <ns1:xfrm xmlns:ns1="http://schemas.openxmlformats.org/drawingml/2006/main">
            <ns1:off x="1925857" y="1474064"/>
            <ns1:ext cx="54338" cy="278938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</p:sp>
      <p:sp>
        <p:nvSpPr>
          <p:cNvPr id="19" name="UML design-complete divider 19"/>
          <p:cNvSpPr/>
          <p:nvPr/>
        </p:nvSpPr>
        <p:spPr>
          <ns1:xfrm xmlns:ns1="http://schemas.openxmlformats.org/drawingml/2006/main">
            <ns1:off x="1949630" y="1474064"/>
            <ns1:ext cx="952" cy="278938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911651" fill="none" stroke="1" extrusionOk="0">
                <ns2:moveTo>
                  <ns2:pt x="0" y="0"/>
                </ns2:moveTo>
                <ns2:lnTo>
                  <ns2:pt x="0" y="3911651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697487"/>
            </ns4:solidFill>
            <ns4:prstDash val="dash"/>
          </ns4:ln>
        </p:spPr>
      </p:sp>
      <p:sp>
        <p:nvSpPr>
          <p:cNvPr id="20" name="UML design-complete box 20"/>
          <p:cNvSpPr/>
          <p:nvPr/>
        </p:nvSpPr>
        <p:spPr>
          <ns1:xfrm xmlns:ns1="http://schemas.openxmlformats.org/drawingml/2006/main">
            <ns1:off x="2468436" y="1474064"/>
            <ns1:ext cx="54338" cy="278938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</p:sp>
      <p:sp>
        <p:nvSpPr>
          <p:cNvPr id="21" name="UML design-complete divider 21"/>
          <p:cNvSpPr/>
          <p:nvPr/>
        </p:nvSpPr>
        <p:spPr>
          <ns1:xfrm xmlns:ns1="http://schemas.openxmlformats.org/drawingml/2006/main">
            <ns1:off x="2492209" y="1474064"/>
            <ns1:ext cx="952" cy="278938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911651" fill="none" stroke="1" extrusionOk="0">
                <ns2:moveTo>
                  <ns2:pt x="0" y="0"/>
                </ns2:moveTo>
                <ns2:lnTo>
                  <ns2:pt x="0" y="3911651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697487"/>
            </ns4:solidFill>
            <ns4:prstDash val="dash"/>
          </ns4:ln>
        </p:spPr>
      </p:sp>
      <p:sp>
        <p:nvSpPr>
          <p:cNvPr id="22" name="UML design-complete box 22"/>
          <p:cNvSpPr/>
          <p:nvPr/>
        </p:nvSpPr>
        <p:spPr>
          <ns1:xfrm xmlns:ns1="http://schemas.openxmlformats.org/drawingml/2006/main">
            <ns1:off x="2458248" y="1528402"/>
            <ns1:ext cx="67923" cy="261279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000000"/>
            </ns4:solidFill>
          </ns4:ln>
        </p:spPr>
      </p:sp>
      <p:sp>
        <p:nvSpPr>
          <p:cNvPr id="23" name="UML design-complete box 23"/>
          <p:cNvSpPr/>
          <p:nvPr/>
        </p:nvSpPr>
        <p:spPr>
          <ns1:xfrm xmlns:ns1="http://schemas.openxmlformats.org/drawingml/2006/main">
            <ns1:off x="3061971" y="1474064"/>
            <ns1:ext cx="54338" cy="278938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</p:sp>
      <p:sp>
        <p:nvSpPr>
          <p:cNvPr id="24" name="UML design-complete divider 24"/>
          <p:cNvSpPr/>
          <p:nvPr/>
        </p:nvSpPr>
        <p:spPr>
          <ns1:xfrm xmlns:ns1="http://schemas.openxmlformats.org/drawingml/2006/main">
            <ns1:off x="3085744" y="1474064"/>
            <ns1:ext cx="952" cy="278938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911651" fill="none" stroke="1" extrusionOk="0">
                <ns2:moveTo>
                  <ns2:pt x="0" y="0"/>
                </ns2:moveTo>
                <ns2:lnTo>
                  <ns2:pt x="0" y="3911651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697487"/>
            </ns4:solidFill>
            <ns4:prstDash val="dash"/>
          </ns4:ln>
        </p:spPr>
      </p:sp>
      <p:sp>
        <p:nvSpPr>
          <p:cNvPr id="25" name="UML design-complete box 25"/>
          <p:cNvSpPr/>
          <p:nvPr/>
        </p:nvSpPr>
        <p:spPr>
          <ns1:xfrm xmlns:ns1="http://schemas.openxmlformats.org/drawingml/2006/main">
            <ns1:off x="3872443" y="1474064"/>
            <ns1:ext cx="54338" cy="278938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</p:sp>
      <p:sp>
        <p:nvSpPr>
          <p:cNvPr id="26" name="UML design-complete divider 26"/>
          <p:cNvSpPr/>
          <p:nvPr/>
        </p:nvSpPr>
        <p:spPr>
          <ns1:xfrm xmlns:ns1="http://schemas.openxmlformats.org/drawingml/2006/main">
            <ns1:off x="3896216" y="1474064"/>
            <ns1:ext cx="952" cy="278938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911651" fill="none" stroke="1" extrusionOk="0">
                <ns2:moveTo>
                  <ns2:pt x="0" y="0"/>
                </ns2:moveTo>
                <ns2:lnTo>
                  <ns2:pt x="0" y="3911651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697487"/>
            </ns4:solidFill>
            <ns4:prstDash val="dash"/>
          </ns4:ln>
        </p:spPr>
      </p:sp>
      <p:sp>
        <p:nvSpPr>
          <p:cNvPr id="27" name="UML design-complete box 27"/>
          <p:cNvSpPr/>
          <p:nvPr/>
        </p:nvSpPr>
        <p:spPr>
          <ns1:xfrm xmlns:ns1="http://schemas.openxmlformats.org/drawingml/2006/main">
            <ns1:off x="1855761" y="1168684"/>
            <ns1:ext cx="187738" cy="26462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28" name="UML design-complete label 28"/>
          <p:cNvSpPr/>
          <p:nvPr/>
        </p:nvSpPr>
        <p:spPr>
          <ns1:xfrm xmlns:ns1="http://schemas.openxmlformats.org/drawingml/2006/main">
            <ns1:off x="1887345" y="1213513"/>
            <ns1:ext cx="167361" cy="19833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70" dirty="0">
                <ns7:solidFill>
                  <ns7:srgbClr val="000000"/>
                </ns7:solidFill>
                <ns7:latin typeface="Noto Sans SC"/>
                <ns7:ea typeface="Noto Sans SC"/>
              </ns7:rPr>
              <ns7:t>ui</ns7:t>
            </ns7:r>
            <ns7:endParaRPr lang="zh-CN" sz="1070"/>
          </ns7:p>
        </p:txBody>
      </p:sp>
      <p:sp>
        <p:nvSpPr>
          <p:cNvPr id="29" name="UML design-complete box 29"/>
          <p:cNvSpPr/>
          <p:nvPr/>
        </p:nvSpPr>
        <p:spPr>
          <ns1:xfrm xmlns:ns1="http://schemas.openxmlformats.org/drawingml/2006/main">
            <ns1:off x="2356432" y="1168684"/>
            <ns1:ext cx="271554" cy="26462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30" name="UML design-complete label 30"/>
          <p:cNvSpPr/>
          <p:nvPr/>
        </p:nvSpPr>
        <p:spPr>
          <ns1:xfrm xmlns:ns1="http://schemas.openxmlformats.org/drawingml/2006/main">
            <ns1:off x="2388016" y="1213513"/>
            <ns1:ext cx="251178" cy="19833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70" dirty="0">
                <ns7:solidFill>
                  <ns7:srgbClr val="000000"/>
                </ns7:solidFill>
                <ns7:latin typeface="Noto Sans SC"/>
                <ns7:ea typeface="Noto Sans SC"/>
              </ns7:rPr>
              <ns7:t>svc</ns7:t>
            </ns7:r>
            <ns7:endParaRPr lang="zh-CN" sz="1070"/>
          </ns7:p>
        </p:txBody>
      </p:sp>
      <p:sp>
        <p:nvSpPr>
          <p:cNvPr id="31" name="UML design-complete box 31"/>
          <p:cNvSpPr/>
          <p:nvPr/>
        </p:nvSpPr>
        <p:spPr>
          <ns1:xfrm xmlns:ns1="http://schemas.openxmlformats.org/drawingml/2006/main">
            <ns1:off x="2904526" y="1168684"/>
            <ns1:ext cx="362435" cy="26462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32" name="UML design-complete label 32"/>
          <p:cNvSpPr/>
          <p:nvPr/>
        </p:nvSpPr>
        <p:spPr>
          <ns1:xfrm xmlns:ns1="http://schemas.openxmlformats.org/drawingml/2006/main">
            <ns1:off x="2936110" y="1213513"/>
            <ns1:ext cx="342058" cy="19833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70" dirty="0">
                <ns7:solidFill>
                  <ns7:srgbClr val="000000"/>
                </ns7:solidFill>
                <ns7:latin typeface="Noto Sans SC"/>
                <ns7:ea typeface="Noto Sans SC"/>
              </ns7:rPr>
              <ns7:t>repo</ns7:t>
            </ns7:r>
            <ns7:endParaRPr lang="zh-CN" sz="1070"/>
          </ns7:p>
        </p:txBody>
      </p:sp>
      <p:sp>
        <p:nvSpPr>
          <p:cNvPr id="33" name="UML design-complete box 33"/>
          <p:cNvSpPr/>
          <p:nvPr/>
        </p:nvSpPr>
        <p:spPr>
          <ns1:xfrm xmlns:ns1="http://schemas.openxmlformats.org/drawingml/2006/main">
            <ns1:off x="3824625" y="1168684"/>
            <ns1:ext cx="143181" cy="26462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34" name="UML design-complete label 34"/>
          <p:cNvSpPr/>
          <p:nvPr/>
        </p:nvSpPr>
        <p:spPr>
          <ns1:xfrm xmlns:ns1="http://schemas.openxmlformats.org/drawingml/2006/main">
            <ns1:off x="3856209" y="1213513"/>
            <ns1:ext cx="183391" cy="19833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70" dirty="0">
                <ns7:solidFill>
                  <ns7:srgbClr val="000000"/>
                </ns7:solidFill>
                <ns7:latin typeface="Noto Sans SC"/>
                <ns7:ea typeface="Noto Sans SC"/>
              </ns7:rPr>
              <ns7:t>e</ns7:t>
            </ns7:r>
            <ns7:endParaRPr lang="zh-CN" sz="1070"/>
          </ns7:p>
        </p:txBody>
      </p:sp>
      <p:sp>
        <p:nvSpPr>
          <p:cNvPr id="35" name="UML design-complete connection 35"/>
          <p:cNvSpPr/>
          <p:nvPr/>
        </p:nvSpPr>
        <p:spPr>
          <ns1:xfrm xmlns:ns1="http://schemas.openxmlformats.org/drawingml/2006/main">
            <ns1:off x="2383533" y="1555571"/>
            <ns1:ext cx="471926" cy="21028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61797" h="294894" fill="norm" stroke="1" extrusionOk="0">
                <ns2:moveTo>
                  <ns2:pt x="0" y="0"/>
                </ns2:moveTo>
                <ns2:lnTo>
                  <ns2:pt x="661797" y="0"/>
                </ns2:lnTo>
                <ns2:lnTo>
                  <ns2:pt x="661797" y="199644"/>
                </ns2:lnTo>
                <ns2:lnTo>
                  <ns2:pt x="566547" y="294894"/>
                </ns2:lnTo>
                <ns2:lnTo>
                  <ns2:pt x="0" y="294894"/>
                </ns2:lnTo>
                <ns2:lnTo>
                  <ns2:pt x="0" y="0"/>
                </ns2:lnTo>
              </ns2:path>
            </ns2:pathLst>
          </ns2:custGeom>
          <ns3:solidFill xmlns:ns3="http://schemas.openxmlformats.org/drawingml/2006/main">
            <ns3:srgbClr val="F7F2E9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36" name="UML design-complete box 36"/>
          <p:cNvSpPr/>
          <p:nvPr/>
        </p:nvSpPr>
        <p:spPr>
          <ns1:xfrm xmlns:ns1="http://schemas.openxmlformats.org/drawingml/2006/main">
            <ns1:off x="2383533" y="1555571"/>
            <ns1:ext cx="1621359" cy="169898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37" name="UML design-complete label 37"/>
          <p:cNvSpPr/>
          <p:nvPr/>
        </p:nvSpPr>
        <p:spPr>
          <ns1:xfrm xmlns:ns1="http://schemas.openxmlformats.org/drawingml/2006/main">
            <ns1:off x="2483039" y="1573231"/>
            <ns1:ext cx="213820" cy="19833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70" dirty="0">
                <ns7:solidFill>
                  <ns7:srgbClr val="000000"/>
                </ns7:solidFill>
                <ns7:latin typeface="Noto Sans SC"/>
                <ns7:ea typeface="Noto Sans SC"/>
              </ns7:rPr>
              <ns7:t>alt</ns7:t>
            </ns7:r>
            <ns7:endParaRPr lang="zh-CN" sz="1070"/>
          </ns7:p>
        </p:txBody>
      </p:sp>
      <p:sp>
        <p:nvSpPr>
          <p:cNvPr id="38" name="UML design-complete label 38"/>
          <p:cNvSpPr/>
          <p:nvPr/>
        </p:nvSpPr>
        <p:spPr>
          <ns1:xfrm xmlns:ns1="http://schemas.openxmlformats.org/drawingml/2006/main">
            <ns1:off x="2954965" y="1578936"/>
            <ns1:ext cx="390500" cy="17850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63" dirty="0">
                <ns7:solidFill>
                  <ns7:srgbClr val="000000"/>
                </ns7:solidFill>
                <ns7:latin typeface="Noto Sans SC"/>
                <ns7:ea typeface="Noto Sans SC"/>
              </ns7:rPr>
              <ns7:t>[n &gt; 0]</ns7:t>
            </ns7:r>
            <ns7:endParaRPr lang="zh-CN" sz="963"/>
          </ns7:p>
        </p:txBody>
      </p:sp>
      <p:sp>
        <p:nvSpPr>
          <p:cNvPr id="39" name="UML design-complete arrow 39"/>
          <p:cNvSpPr/>
          <p:nvPr/>
        </p:nvSpPr>
        <p:spPr>
          <ns1:xfrm xmlns:ns1="http://schemas.openxmlformats.org/drawingml/2006/main">
            <ns1:off x="3814709" y="2109384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40" name="UML design-complete divider 40"/>
          <p:cNvSpPr/>
          <p:nvPr/>
        </p:nvSpPr>
        <p:spPr>
          <ns1:xfrm xmlns:ns1="http://schemas.openxmlformats.org/drawingml/2006/main">
            <ns1:off x="2526170" y="2136553"/>
            <ns1:ext cx="132929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4109" h="952" fill="none" stroke="1" extrusionOk="0">
                <ns2:moveTo>
                  <ns2:pt x="0" y="0"/>
                </ns2:moveTo>
                <ns2:lnTo>
                  <ns2:pt x="186410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41" name="UML design-complete label 41"/>
          <p:cNvSpPr/>
          <p:nvPr/>
        </p:nvSpPr>
        <p:spPr>
          <ns1:xfrm xmlns:ns1="http://schemas.openxmlformats.org/drawingml/2006/main">
            <ns1:off x="2930323" y="1946424"/>
            <ns1:ext cx="602161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confirm()</ns7:t>
            </ns7:r>
            <ns7:endParaRPr lang="zh-CN" sz="1016"/>
          </ns7:p>
        </p:txBody>
      </p:sp>
      <p:sp>
        <p:nvSpPr>
          <p:cNvPr id="42" name="UML design-complete arrow 42"/>
          <p:cNvSpPr/>
          <p:nvPr/>
        </p:nvSpPr>
        <p:spPr>
          <ns1:xfrm xmlns:ns1="http://schemas.openxmlformats.org/drawingml/2006/main">
            <ns1:off x="2532963" y="2391344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43" name="UML design-complete divider 43"/>
          <p:cNvSpPr/>
          <p:nvPr/>
        </p:nvSpPr>
        <p:spPr>
          <ns1:xfrm xmlns:ns1="http://schemas.openxmlformats.org/drawingml/2006/main">
            <ns1:off x="2560132" y="2418513"/>
            <ns1:ext cx="132929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4109" h="952" fill="none" stroke="1" extrusionOk="0">
                <ns2:moveTo>
                  <ns2:pt x="0" y="0"/>
                </ns2:moveTo>
                <ns2:lnTo>
                  <ns2:pt x="186410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  <ns4:prstDash val="dash"/>
          </ns4:ln>
        </p:spPr>
      </p:sp>
      <p:sp>
        <p:nvSpPr>
          <p:cNvPr id="44" name="UML design-complete label 44"/>
          <p:cNvSpPr/>
          <p:nvPr/>
        </p:nvSpPr>
        <p:spPr>
          <ns1:xfrm xmlns:ns1="http://schemas.openxmlformats.org/drawingml/2006/main">
            <ns1:off x="2605300" y="2228384"/>
            <ns1:ext cx="1252200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result = CONFIRMED</ns7:t>
            </ns7:r>
            <ns7:endParaRPr lang="zh-CN" sz="1016"/>
          </ns7:p>
        </p:txBody>
      </p:sp>
      <p:sp>
        <p:nvSpPr>
          <p:cNvPr id="45" name="UML design-complete divider 45"/>
          <p:cNvSpPr/>
          <p:nvPr/>
        </p:nvSpPr>
        <p:spPr>
          <ns1:xfrm xmlns:ns1="http://schemas.openxmlformats.org/drawingml/2006/main">
            <ns1:off x="2383533" y="2479644"/>
            <ns1:ext cx="1621359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73684" h="952" fill="none" stroke="1" extrusionOk="0">
                <ns2:moveTo>
                  <ns2:pt x="0" y="0"/>
                </ns2:moveTo>
                <ns2:lnTo>
                  <ns2:pt x="227368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  <ns4:prstDash val="dash"/>
          </ns4:ln>
        </p:spPr>
      </p:sp>
      <p:sp>
        <p:nvSpPr>
          <p:cNvPr id="46" name="UML design-complete label 46"/>
          <p:cNvSpPr/>
          <p:nvPr/>
        </p:nvSpPr>
        <p:spPr>
          <ns1:xfrm xmlns:ns1="http://schemas.openxmlformats.org/drawingml/2006/main">
            <ns1:off x="2415117" y="2503009"/>
            <ns1:ext cx="390500" cy="17850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63" dirty="0">
                <ns7:solidFill>
                  <ns7:srgbClr val="000000"/>
                </ns7:solidFill>
                <ns7:latin typeface="Noto Sans SC"/>
                <ns7:ea typeface="Noto Sans SC"/>
              </ns7:rPr>
              <ns7:t>[n = 0]</ns7:t>
            </ns7:r>
            <ns7:endParaRPr lang="zh-CN" sz="963"/>
          </ns7:p>
        </p:txBody>
      </p:sp>
      <p:sp>
        <p:nvSpPr>
          <p:cNvPr id="47" name="UML design-complete arrow 47"/>
          <p:cNvSpPr/>
          <p:nvPr/>
        </p:nvSpPr>
        <p:spPr>
          <ns1:xfrm xmlns:ns1="http://schemas.openxmlformats.org/drawingml/2006/main">
            <ns1:off x="3814709" y="2891091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48" name="UML design-complete divider 48"/>
          <p:cNvSpPr/>
          <p:nvPr/>
        </p:nvSpPr>
        <p:spPr>
          <ns1:xfrm xmlns:ns1="http://schemas.openxmlformats.org/drawingml/2006/main">
            <ns1:off x="2526170" y="2918260"/>
            <ns1:ext cx="132929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4109" h="952" fill="none" stroke="1" extrusionOk="0">
                <ns2:moveTo>
                  <ns2:pt x="0" y="0"/>
                </ns2:moveTo>
                <ns2:lnTo>
                  <ns2:pt x="186410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49" name="UML design-complete label 49"/>
          <p:cNvSpPr/>
          <p:nvPr/>
        </p:nvSpPr>
        <p:spPr>
          <ns1:xfrm xmlns:ns1="http://schemas.openxmlformats.org/drawingml/2006/main">
            <ns1:off x="2993688" y="2728131"/>
            <ns1:ext cx="475431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reject()</ns7:t>
            </ns7:r>
            <ns7:endParaRPr lang="zh-CN" sz="1016"/>
          </ns7:p>
        </p:txBody>
      </p:sp>
      <p:sp>
        <p:nvSpPr>
          <p:cNvPr id="50" name="UML design-complete arrow 50"/>
          <p:cNvSpPr/>
          <p:nvPr/>
        </p:nvSpPr>
        <p:spPr>
          <ns1:xfrm xmlns:ns1="http://schemas.openxmlformats.org/drawingml/2006/main">
            <ns1:off x="2532963" y="3173051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51" name="UML design-complete divider 51"/>
          <p:cNvSpPr/>
          <p:nvPr/>
        </p:nvSpPr>
        <p:spPr>
          <ns1:xfrm xmlns:ns1="http://schemas.openxmlformats.org/drawingml/2006/main">
            <ns1:off x="2560132" y="3200220"/>
            <ns1:ext cx="1329292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64109" h="952" fill="none" stroke="1" extrusionOk="0">
                <ns2:moveTo>
                  <ns2:pt x="0" y="0"/>
                </ns2:moveTo>
                <ns2:lnTo>
                  <ns2:pt x="1864109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  <ns4:prstDash val="dash"/>
          </ns4:ln>
        </p:spPr>
      </p:sp>
      <p:sp>
        <p:nvSpPr>
          <p:cNvPr id="52" name="UML design-complete label 52"/>
          <p:cNvSpPr/>
          <p:nvPr/>
        </p:nvSpPr>
        <p:spPr>
          <ns1:xfrm xmlns:ns1="http://schemas.openxmlformats.org/drawingml/2006/main">
            <ns1:off x="2657567" y="3010092"/>
            <ns1:ext cx="1147667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result = REJECTED</ns7:t>
            </ns7:r>
            <ns7:endParaRPr lang="zh-CN" sz="1016"/>
          </ns7:p>
        </p:txBody>
      </p:sp>
      <p:sp>
        <p:nvSpPr>
          <p:cNvPr id="53" name="UML design-complete arrow 53"/>
          <p:cNvSpPr/>
          <p:nvPr/>
        </p:nvSpPr>
        <p:spPr>
          <ns1:xfrm xmlns:ns1="http://schemas.openxmlformats.org/drawingml/2006/main">
            <ns1:off x="3004236" y="3550103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54" name="UML design-complete divider 54"/>
          <p:cNvSpPr/>
          <p:nvPr/>
        </p:nvSpPr>
        <p:spPr>
          <ns1:xfrm xmlns:ns1="http://schemas.openxmlformats.org/drawingml/2006/main">
            <ns1:off x="2526170" y="3577272"/>
            <ns1:ext cx="518820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27558" h="952" fill="none" stroke="1" extrusionOk="0">
                <ns2:moveTo>
                  <ns2:pt x="0" y="0"/>
                </ns2:moveTo>
                <ns2:lnTo>
                  <ns2:pt x="7275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55" name="UML design-complete label 55"/>
          <p:cNvSpPr/>
          <p:nvPr/>
        </p:nvSpPr>
        <p:spPr>
          <ns1:xfrm xmlns:ns1="http://schemas.openxmlformats.org/drawingml/2006/main">
            <ns1:off x="2588319" y="3387143"/>
            <ns1:ext cx="475689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save(e)</ns7:t>
            </ns7:r>
            <ns7:endParaRPr lang="zh-CN" sz="1016"/>
          </ns7:p>
        </p:txBody>
      </p:sp>
      <p:sp>
        <p:nvSpPr>
          <p:cNvPr id="56" name="UML design-complete arrow 56"/>
          <p:cNvSpPr/>
          <p:nvPr/>
        </p:nvSpPr>
        <p:spPr>
          <ns1:xfrm xmlns:ns1="http://schemas.openxmlformats.org/drawingml/2006/main">
            <ns1:off x="2532963" y="3832063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57" name="UML design-complete divider 57"/>
          <p:cNvSpPr/>
          <p:nvPr/>
        </p:nvSpPr>
        <p:spPr>
          <ns1:xfrm xmlns:ns1="http://schemas.openxmlformats.org/drawingml/2006/main">
            <ns1:off x="2560132" y="3859232"/>
            <ns1:ext cx="518820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27558" h="952" fill="none" stroke="1" extrusionOk="0">
                <ns2:moveTo>
                  <ns2:pt x="0" y="0"/>
                </ns2:moveTo>
                <ns2:lnTo>
                  <ns2:pt x="7275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  <ns4:prstDash val="dash"/>
          </ns4:ln>
        </p:spPr>
      </p:sp>
      <p:sp>
        <p:nvSpPr>
          <p:cNvPr id="58" name="UML design-complete label 58"/>
          <p:cNvSpPr/>
          <p:nvPr/>
        </p:nvSpPr>
        <p:spPr>
          <ns1:xfrm xmlns:ns1="http://schemas.openxmlformats.org/drawingml/2006/main">
            <ns1:off x="2674527" y="3669103"/>
            <ns1:ext cx="303274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返回</ns7:t>
            </ns7:r>
            <ns7:endParaRPr lang="zh-CN" sz="1016"/>
          </ns7:p>
        </p:txBody>
      </p:sp>
      <p:sp>
        <p:nvSpPr>
          <p:cNvPr id="59" name="UML design-complete arrow 59"/>
          <p:cNvSpPr/>
          <p:nvPr/>
        </p:nvSpPr>
        <p:spPr>
          <ns1:xfrm xmlns:ns1="http://schemas.openxmlformats.org/drawingml/2006/main">
            <ns1:off x="1956422" y="4114023"/>
            <ns1:ext cx="67923" cy="5433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6792">
            <ns4:solidFill>
              <ns4:srgbClr val="1F2A44"/>
            </ns4:solidFill>
          </ns4:ln>
        </p:spPr>
      </p:sp>
      <p:sp>
        <p:nvSpPr>
          <p:cNvPr id="60" name="UML design-complete divider 60"/>
          <p:cNvSpPr/>
          <p:nvPr/>
        </p:nvSpPr>
        <p:spPr>
          <ns1:xfrm xmlns:ns1="http://schemas.openxmlformats.org/drawingml/2006/main">
            <ns1:off x="1983591" y="4141192"/>
            <ns1:ext cx="46786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56101" h="952" fill="none" stroke="1" extrusionOk="0">
                <ns2:moveTo>
                  <ns2:pt x="0" y="0"/>
                </ns2:moveTo>
                <ns2:lnTo>
                  <ns2:pt x="65610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792">
            <ns4:solidFill>
              <ns4:srgbClr val="1F2A44"/>
            </ns4:solidFill>
            <ns4:prstDash val="dash"/>
          </ns4:ln>
        </p:spPr>
      </p:sp>
      <p:sp>
        <p:nvSpPr>
          <p:cNvPr id="61" name="UML design-complete label 61"/>
          <p:cNvSpPr/>
          <p:nvPr/>
        </p:nvSpPr>
        <p:spPr>
          <ns1:xfrm xmlns:ns1="http://schemas.openxmlformats.org/drawingml/2006/main">
            <ns1:off x="2028760" y="3951063"/>
            <ns1:ext cx="390772" cy="18841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792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16" dirty="0">
                <ns7:solidFill>
                  <ns7:srgbClr val="1F2A44"/>
                </ns7:solidFill>
                <ns7:latin typeface="Noto Sans SC"/>
                <ns7:ea typeface="Noto Sans SC"/>
              </ns7:rPr>
              <ns7:t>result</ns7:t>
            </ns7:r>
            <ns7:endParaRPr lang="zh-CN" sz="1016"/>
          </ns7:p>
        </p:txBody>
      </p:sp>
      <p:sp>
        <p:nvSpPr>
          <p:cNvPr id="7" name="content-374">
            <a:extLst xmlns:a="http://schemas.openxmlformats.org/drawingml/2006/main">
              <a:ext uri="{FF2B5EF4-FFF2-40B4-BE49-F238E27FC236}">
                <a16:creationId xmlns:a16="http://schemas.microsoft.com/office/drawing/2014/main" id="{9621BE9F-FBC2-449D-9658-13C6B07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本页接续上页：确认或拒绝后保存同一条记录，再返回处理结果。</a:t>
            </a:r>
          </a:p>
        </p:txBody>
      </p:sp>
      <p:sp>
        <p:nvSpPr>
          <p:cNvPr id="8" name="content-375">
            <a:extLst xmlns:a="http://schemas.openxmlformats.org/drawingml/2006/main">
              <a:ext uri="{FF2B5EF4-FFF2-40B4-BE49-F238E27FC236}">
                <a16:creationId xmlns:a16="http://schemas.microsoft.com/office/drawing/2014/main" id="{89D3FC8A-0C6D-4F01-87F4-E37D50F6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处理</a:t>
            </a:r>
          </a:p>
        </p:txBody>
      </p:sp>
      <p:sp>
        <p:nvSpPr>
          <p:cNvPr id="9" name="content-376">
            <a:extLst xmlns:a="http://schemas.openxmlformats.org/drawingml/2006/main">
              <a:ext uri="{FF2B5EF4-FFF2-40B4-BE49-F238E27FC236}">
                <a16:creationId xmlns:a16="http://schemas.microsoft.com/office/drawing/2014/main" id="{30C308E3-7F08-46D6-AFB7-960A66F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n &gt; 0时确认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n = 0时拒绝</a:t>
            </a:r>
          </a:p>
        </p:txBody>
      </p:sp>
      <p:sp>
        <p:nvSpPr>
          <p:cNvPr id="10" name="content-377">
            <a:extLst xmlns:a="http://schemas.openxmlformats.org/drawingml/2006/main">
              <a:ext uri="{FF2B5EF4-FFF2-40B4-BE49-F238E27FC236}">
                <a16:creationId xmlns:a16="http://schemas.microsoft.com/office/drawing/2014/main" id="{3AB06308-95AE-441E-AAE3-B86A174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保存</a:t>
            </a:r>
          </a:p>
        </p:txBody>
      </p:sp>
      <p:sp>
        <p:nvSpPr>
          <p:cNvPr id="11" name="content-378">
            <a:extLst xmlns:a="http://schemas.openxmlformats.org/drawingml/2006/main">
              <a:ext uri="{FF2B5EF4-FFF2-40B4-BE49-F238E27FC236}">
                <a16:creationId xmlns:a16="http://schemas.microsoft.com/office/drawing/2014/main" id="{68440D56-1C4A-40ED-9303-004AF6EA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承接上页读取结果，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保存同一条记录e。</a:t>
            </a:r>
          </a:p>
        </p:txBody>
      </p:sp>
      <p:sp>
        <p:nvSpPr>
          <p:cNvPr id="12" name="content-379">
            <a:extLst xmlns:a="http://schemas.openxmlformats.org/drawingml/2006/main">
              <a:ext uri="{FF2B5EF4-FFF2-40B4-BE49-F238E27FC236}">
                <a16:creationId xmlns:a16="http://schemas.microsoft.com/office/drawing/2014/main" id="{E8EF543D-184C-4B52-873C-4D8A9A4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返回</a:t>
            </a:r>
          </a:p>
        </p:txBody>
      </p:sp>
      <p:sp>
        <p:nvSpPr>
          <p:cNvPr id="13" name="content-380">
            <a:extLst xmlns:a="http://schemas.openxmlformats.org/drawingml/2006/main">
              <a:ext uri="{FF2B5EF4-FFF2-40B4-BE49-F238E27FC236}">
                <a16:creationId xmlns:a16="http://schemas.microsoft.com/office/drawing/2014/main" id="{54506EAC-9D93-4E1C-9480-F874F3C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保存成功后返回result；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它与已保存状态一致。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C066B-9278-4B81-98AE-45FFAAB13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53a39f664c4d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381">
            <a:extLst xmlns:a="http://schemas.openxmlformats.org/drawingml/2006/main">
              <a:ext uri="{FF2B5EF4-FFF2-40B4-BE49-F238E27FC236}">
                <a16:creationId xmlns:a16="http://schemas.microsoft.com/office/drawing/2014/main" id="{EFCCFD1D-E312-43AB-8DD6-153844A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模型与Java代码：一次记录处理</a:t>
            </a:r>
          </a:p>
        </p:txBody>
      </p:sp>
      <p:sp>
        <p:nvSpPr>
          <p:cNvPr id="2" name="frame-382">
            <a:extLst xmlns:a="http://schemas.openxmlformats.org/drawingml/2006/main">
              <a:ext uri="{FF2B5EF4-FFF2-40B4-BE49-F238E27FC236}">
                <a16:creationId xmlns:a16="http://schemas.microsoft.com/office/drawing/2014/main" id="{19E80ECD-3986-4E1B-8EE0-BE32778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83">
            <a:extLst xmlns:a="http://schemas.openxmlformats.org/drawingml/2006/main">
              <a:ext uri="{FF2B5EF4-FFF2-40B4-BE49-F238E27FC236}">
                <a16:creationId xmlns:a16="http://schemas.microsoft.com/office/drawing/2014/main" id="{9A771D69-12BC-4EFF-B9E3-163626F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936C59B-B524-434A-BB35-4CC8D36C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C5ED603-1D5E-4925-B0FE-3C32216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43 / 82</a:t>
            </a:r>
          </a:p>
        </p:txBody>
      </p:sp>
      <p:sp>
        <p:nvSpPr>
          <p:cNvPr id="6" name="code-line-384">
            <a:extLst xmlns:a="http://schemas.openxmlformats.org/drawingml/2006/main">
              <a:ext uri="{FF2B5EF4-FFF2-40B4-BE49-F238E27FC236}">
                <a16:creationId xmlns:a16="http://schemas.microsoft.com/office/drawing/2014/main" id="{206FA937-B085-48D3-9317-72A29E1A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public EnrollmentStatus process(String eId) {</a:t>
            </a:r>
          </a:p>
        </p:txBody>
      </p:sp>
      <p:sp>
        <p:nvSpPr>
          <p:cNvPr id="7" name="code-line-385">
            <a:extLst xmlns:a="http://schemas.openxmlformats.org/drawingml/2006/main">
              <a:ext uri="{FF2B5EF4-FFF2-40B4-BE49-F238E27FC236}">
                <a16:creationId xmlns:a16="http://schemas.microsoft.com/office/drawing/2014/main" id="{5D8B2E3F-71C8-4738-BF68-D2B2723F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Enrollment e = repo.findById(eId);</a:t>
            </a:r>
          </a:p>
        </p:txBody>
      </p:sp>
      <p:sp>
        <p:nvSpPr>
          <p:cNvPr id="8" name="code-line-386">
            <a:extLst xmlns:a="http://schemas.openxmlformats.org/drawingml/2006/main">
              <a:ext uri="{FF2B5EF4-FFF2-40B4-BE49-F238E27FC236}">
                <a16:creationId xmlns:a16="http://schemas.microsoft.com/office/drawing/2014/main" id="{E5F471FD-880F-482A-B883-D0DDCF7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CourseOffering o = e.getOffering();</a:t>
            </a:r>
          </a:p>
        </p:txBody>
      </p:sp>
      <p:sp>
        <p:nvSpPr>
          <p:cNvPr id="9" name="code-line-387">
            <a:extLst xmlns:a="http://schemas.openxmlformats.org/drawingml/2006/main">
              <a:ext uri="{FF2B5EF4-FFF2-40B4-BE49-F238E27FC236}">
                <a16:creationId xmlns:a16="http://schemas.microsoft.com/office/drawing/2014/main" id="{7D88F914-7081-482A-98C3-02AAC9B9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int n = o.getAvailableSeats();</a:t>
            </a:r>
          </a:p>
        </p:txBody>
      </p:sp>
      <p:sp>
        <p:nvSpPr>
          <p:cNvPr id="10" name="code-line-388">
            <a:extLst xmlns:a="http://schemas.openxmlformats.org/drawingml/2006/main">
              <a:ext uri="{FF2B5EF4-FFF2-40B4-BE49-F238E27FC236}">
                <a16:creationId xmlns:a16="http://schemas.microsoft.com/office/drawing/2014/main" id="{018805BA-AFB0-4145-B624-02DA3F07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EnrollmentStatus result;</a:t>
            </a:r>
          </a:p>
        </p:txBody>
      </p:sp>
      <p:sp>
        <p:nvSpPr>
          <p:cNvPr id="11" name="code-line-389">
            <a:extLst xmlns:a="http://schemas.openxmlformats.org/drawingml/2006/main">
              <a:ext uri="{FF2B5EF4-FFF2-40B4-BE49-F238E27FC236}">
                <a16:creationId xmlns:a16="http://schemas.microsoft.com/office/drawing/2014/main" id="{7C1B0F47-1B2E-4EEF-A165-7F7458D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if (n &gt; 0) result = e.confirm();</a:t>
            </a:r>
          </a:p>
        </p:txBody>
      </p:sp>
      <p:sp>
        <p:nvSpPr>
          <p:cNvPr id="12" name="code-line-390">
            <a:extLst xmlns:a="http://schemas.openxmlformats.org/drawingml/2006/main">
              <a:ext uri="{FF2B5EF4-FFF2-40B4-BE49-F238E27FC236}">
                <a16:creationId xmlns:a16="http://schemas.microsoft.com/office/drawing/2014/main" id="{05C5313F-80E3-446A-AC5E-BE78FC7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else result = e.reject();</a:t>
            </a:r>
          </a:p>
        </p:txBody>
      </p:sp>
      <p:sp>
        <p:nvSpPr>
          <p:cNvPr id="13" name="code-line-391">
            <a:extLst xmlns:a="http://schemas.openxmlformats.org/drawingml/2006/main">
              <a:ext uri="{FF2B5EF4-FFF2-40B4-BE49-F238E27FC236}">
                <a16:creationId xmlns:a16="http://schemas.microsoft.com/office/drawing/2014/main" id="{8C0800FD-4809-44EE-A166-3B38B70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repo.save(e);</a:t>
            </a:r>
          </a:p>
        </p:txBody>
      </p:sp>
      <p:sp>
        <p:nvSpPr>
          <p:cNvPr id="14" name="code-line-392">
            <a:extLst xmlns:a="http://schemas.openxmlformats.org/drawingml/2006/main">
              <a:ext uri="{FF2B5EF4-FFF2-40B4-BE49-F238E27FC236}">
                <a16:creationId xmlns:a16="http://schemas.microsoft.com/office/drawing/2014/main" id="{5E1A533B-BA5B-4DD4-AFE6-DA6B9215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return result;</a:t>
            </a:r>
          </a:p>
        </p:txBody>
      </p:sp>
      <p:sp>
        <p:nvSpPr>
          <p:cNvPr id="15" name="code-line-393">
            <a:extLst xmlns:a="http://schemas.openxmlformats.org/drawingml/2006/main">
              <a:ext uri="{FF2B5EF4-FFF2-40B4-BE49-F238E27FC236}">
                <a16:creationId xmlns:a16="http://schemas.microsoft.com/office/drawing/2014/main" id="{AE74597D-D0D8-44AC-806F-BE83395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6" name="content-394">
            <a:extLst xmlns:a="http://schemas.openxmlformats.org/drawingml/2006/main">
              <a:ext uri="{FF2B5EF4-FFF2-40B4-BE49-F238E27FC236}">
                <a16:creationId xmlns:a16="http://schemas.microsoft.com/office/drawing/2014/main" id="{92AA87D8-5DF0-42E6-B3D7-C5C232C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片段来自配套Java 11示例；调用前e待处理、n≥0，读写成功。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3CD0F-DBFE-423F-945E-7FF85C6E3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2abee31e24be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396">
            <a:extLst xmlns:a="http://schemas.openxmlformats.org/drawingml/2006/main">
              <a:ext uri="{FF2B5EF4-FFF2-40B4-BE49-F238E27FC236}">
                <a16:creationId xmlns:a16="http://schemas.microsoft.com/office/drawing/2014/main" id="{A254E6F1-754A-42BC-8B37-B963C9B3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测试练习：预测返回与保存结果</a:t>
            </a:r>
          </a:p>
        </p:txBody>
      </p:sp>
      <p:sp>
        <p:nvSpPr>
          <p:cNvPr id="2" name="frame-397">
            <a:extLst xmlns:a="http://schemas.openxmlformats.org/drawingml/2006/main">
              <a:ext uri="{FF2B5EF4-FFF2-40B4-BE49-F238E27FC236}">
                <a16:creationId xmlns:a16="http://schemas.microsoft.com/office/drawing/2014/main" id="{233136FC-C83E-4A57-B732-F43999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398">
            <a:extLst xmlns:a="http://schemas.openxmlformats.org/drawingml/2006/main">
              <a:ext uri="{FF2B5EF4-FFF2-40B4-BE49-F238E27FC236}">
                <a16:creationId xmlns:a16="http://schemas.microsoft.com/office/drawing/2014/main" id="{713F6915-B929-4BFC-815B-A49481C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5F5A079-FFAE-4AC1-8127-EFA5337D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D3C04B6-57FD-42FA-A3A1-FAEFCF8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44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CCDE4-05D9-49BF-AD86-BFA3DDE95C21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190750"/>
                <a:gridCol w="2190750"/>
                <a:gridCol w="21907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输入余量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返回状态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已保存状态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保存后记录数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399">
            <a:extLst xmlns:a="http://schemas.openxmlformats.org/drawingml/2006/main">
              <a:ext uri="{FF2B5EF4-FFF2-40B4-BE49-F238E27FC236}">
                <a16:creationId xmlns:a16="http://schemas.microsoft.com/office/drawing/2014/main" id="{5A26C7B0-A5A7-4F27-974E-D485182A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各行独立从一条待处理E1开始；可写中文状态，并为一行注明规则依据。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B21FE-2FFB-4640-80AC-214921AFC6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0205c9ecf45dc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400">
            <a:extLst xmlns:a="http://schemas.openxmlformats.org/drawingml/2006/main">
              <a:ext uri="{FF2B5EF4-FFF2-40B4-BE49-F238E27FC236}">
                <a16:creationId xmlns:a16="http://schemas.microsoft.com/office/drawing/2014/main" id="{B52AC9D1-C478-42D5-A920-0E06DACE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测试参考：保存与返回都要检查</a:t>
            </a:r>
          </a:p>
        </p:txBody>
      </p:sp>
      <p:sp>
        <p:nvSpPr>
          <p:cNvPr id="2" name="frame-401">
            <a:extLst xmlns:a="http://schemas.openxmlformats.org/drawingml/2006/main">
              <a:ext uri="{FF2B5EF4-FFF2-40B4-BE49-F238E27FC236}">
                <a16:creationId xmlns:a16="http://schemas.microsoft.com/office/drawing/2014/main" id="{D97C61B4-F71A-4C22-88FA-F4B59EA9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02">
            <a:extLst xmlns:a="http://schemas.openxmlformats.org/drawingml/2006/main">
              <a:ext uri="{FF2B5EF4-FFF2-40B4-BE49-F238E27FC236}">
                <a16:creationId xmlns:a16="http://schemas.microsoft.com/office/drawing/2014/main" id="{ACBB5E65-69A0-434B-98BA-FC6F304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5670E2E-EE35-408D-B0B4-04DF7E7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F7D00AD-CFAC-4850-91BA-3841554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45 / 82</a:t>
            </a:r>
          </a:p>
        </p:txBody>
      </p:sp>
      <p:sp>
        <p:nvSpPr>
          <p:cNvPr id="6" name="code-line-403">
            <a:extLst xmlns:a="http://schemas.openxmlformats.org/drawingml/2006/main">
              <a:ext uri="{FF2B5EF4-FFF2-40B4-BE49-F238E27FC236}">
                <a16:creationId xmlns:a16="http://schemas.microsoft.com/office/drawing/2014/main" id="{1C354860-0AB5-42FA-BD8F-DAC7E335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EnrollmentStatus result = service.process("E1");</a:t>
            </a:r>
          </a:p>
        </p:txBody>
      </p:sp>
      <p:sp>
        <p:nvSpPr>
          <p:cNvPr id="7" name="code-line-404">
            <a:extLst xmlns:a="http://schemas.openxmlformats.org/drawingml/2006/main">
              <a:ext uri="{FF2B5EF4-FFF2-40B4-BE49-F238E27FC236}">
                <a16:creationId xmlns:a16="http://schemas.microsoft.com/office/drawing/2014/main" id="{3963BEEA-D39D-4BE0-8DDE-6554ACA1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trace.add("return:" + result);</a:t>
            </a:r>
          </a:p>
        </p:txBody>
      </p:sp>
      <p:sp>
        <p:nvSpPr>
          <p:cNvPr id="8" name="code-line-405">
            <a:extLst xmlns:a="http://schemas.openxmlformats.org/drawingml/2006/main">
              <a:ext uri="{FF2B5EF4-FFF2-40B4-BE49-F238E27FC236}">
                <a16:creationId xmlns:a16="http://schemas.microsoft.com/office/drawing/2014/main" id="{1AAE7285-FD98-4511-A4FE-7EC8571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check(result == expected, "returned status");</a:t>
            </a:r>
          </a:p>
        </p:txBody>
      </p:sp>
      <p:sp>
        <p:nvSpPr>
          <p:cNvPr id="9" name="code-line-406">
            <a:extLst xmlns:a="http://schemas.openxmlformats.org/drawingml/2006/main">
              <a:ext uri="{FF2B5EF4-FFF2-40B4-BE49-F238E27FC236}">
                <a16:creationId xmlns:a16="http://schemas.microsoft.com/office/drawing/2014/main" id="{73407BF9-03C6-491D-AD6B-135BD86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check(repo.savedStatus("E1") == expected,</a:t>
            </a:r>
          </a:p>
        </p:txBody>
      </p:sp>
      <p:sp>
        <p:nvSpPr>
          <p:cNvPr id="10" name="code-line-407">
            <a:extLst xmlns:a="http://schemas.openxmlformats.org/drawingml/2006/main">
              <a:ext uri="{FF2B5EF4-FFF2-40B4-BE49-F238E27FC236}">
                <a16:creationId xmlns:a16="http://schemas.microsoft.com/office/drawing/2014/main" id="{E2011DE8-FBF3-4D0E-B0CA-A1B2C842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  "saved status");</a:t>
            </a:r>
          </a:p>
        </p:txBody>
      </p:sp>
      <p:sp>
        <p:nvSpPr>
          <p:cNvPr id="11" name="code-line-408">
            <a:extLst xmlns:a="http://schemas.openxmlformats.org/drawingml/2006/main">
              <a:ext uri="{FF2B5EF4-FFF2-40B4-BE49-F238E27FC236}">
                <a16:creationId xmlns:a16="http://schemas.microsoft.com/office/drawing/2014/main" id="{E69F5751-4A7F-4A57-9E17-25DD17D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check(repo.size() == 1,</a:t>
            </a:r>
          </a:p>
        </p:txBody>
      </p:sp>
      <p:sp>
        <p:nvSpPr>
          <p:cNvPr id="12" name="code-line-409">
            <a:extLst xmlns:a="http://schemas.openxmlformats.org/drawingml/2006/main">
              <a:ext uri="{FF2B5EF4-FFF2-40B4-BE49-F238E27FC236}">
                <a16:creationId xmlns:a16="http://schemas.microsoft.com/office/drawing/2014/main" id="{4587FAEC-C0DB-4FCD-BB59-10286D07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  "record retained; no extra record");</a:t>
            </a:r>
          </a:p>
        </p:txBody>
      </p:sp>
      <p:sp>
        <p:nvSpPr>
          <p:cNvPr id="13" name="code-line-410">
            <a:extLst xmlns:a="http://schemas.openxmlformats.org/drawingml/2006/main">
              <a:ext uri="{FF2B5EF4-FFF2-40B4-BE49-F238E27FC236}">
                <a16:creationId xmlns:a16="http://schemas.microsoft.com/office/drawing/2014/main" id="{9BDA5F03-B0B6-42A3-A3E2-89AE30C9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check(trace.equals(List.of(</a:t>
            </a:r>
          </a:p>
        </p:txBody>
      </p:sp>
      <p:sp>
        <p:nvSpPr>
          <p:cNvPr id="14" name="code-line-411">
            <a:extLst xmlns:a="http://schemas.openxmlformats.org/drawingml/2006/main">
              <a:ext uri="{FF2B5EF4-FFF2-40B4-BE49-F238E27FC236}">
                <a16:creationId xmlns:a16="http://schemas.microsoft.com/office/drawing/2014/main" id="{DDF8A78B-C18A-4B8A-8487-D9320F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"read:E1", "save:E1", "return:" + expected)),</a:t>
            </a:r>
          </a:p>
        </p:txBody>
      </p:sp>
      <p:sp>
        <p:nvSpPr>
          <p:cNvPr id="15" name="code-line-412">
            <a:extLst xmlns:a="http://schemas.openxmlformats.org/drawingml/2006/main">
              <a:ext uri="{FF2B5EF4-FFF2-40B4-BE49-F238E27FC236}">
                <a16:creationId xmlns:a16="http://schemas.microsoft.com/office/drawing/2014/main" id="{4C54CD6E-3993-4FCB-8F5B-25669EA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804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F2A44"/>
                </a:solidFill>
                <a:latin typeface="Menlo"/>
                <a:ea typeface="Menlo"/>
                <a:cs typeface="Menlo"/>
              </a:rPr>
              <a:t>    "call order");</a:t>
            </a:r>
          </a:p>
        </p:txBody>
      </p:sp>
      <p:sp>
        <p:nvSpPr>
          <p:cNvPr id="16" name="content-413">
            <a:extLst xmlns:a="http://schemas.openxmlformats.org/drawingml/2006/main">
              <a:ext uri="{FF2B5EF4-FFF2-40B4-BE49-F238E27FC236}">
                <a16:creationId xmlns:a16="http://schemas.microsoft.com/office/drawing/2014/main" id="{5CB9D3DF-1135-41BD-8869-4590C2D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参考：余量0为REJECTED；余量1或2为CONFIRMED。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返回与保存状态一致；三组运行的记录数均为1。</a:t>
            </a:r>
          </a:p>
        </p:txBody>
      </p:sp>
      <p:sp>
        <p:nvSpPr>
          <p:cNvPr id="17" name="content-414">
            <a:extLst xmlns:a="http://schemas.openxmlformats.org/drawingml/2006/main">
              <a:ext uri="{FF2B5EF4-FFF2-40B4-BE49-F238E27FC236}">
                <a16:creationId xmlns:a16="http://schemas.microsoft.com/office/drawing/2014/main" id="{0F39469A-4F3B-41AD-8572-4690FECB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expected是事先确定的预期，check用于核对条件；本次只验证内存演示。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90A6D-C55B-4DC7-BC59-4BED75A2F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ee7065739475f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14">
            <a:extLst xmlns:a="http://schemas.openxmlformats.org/drawingml/2006/main">
              <a:ext uri="{FF2B5EF4-FFF2-40B4-BE49-F238E27FC236}">
                <a16:creationId xmlns:a16="http://schemas.microsoft.com/office/drawing/2014/main" id="{2E716A88-4F75-4C95-A885-4BB3833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04 小结：设计、代码与测试的对应</a:t>
            </a:r>
          </a:p>
        </p:txBody>
      </p:sp>
      <p:sp>
        <p:nvSpPr>
          <p:cNvPr id="2" name="frame-415">
            <a:extLst xmlns:a="http://schemas.openxmlformats.org/drawingml/2006/main">
              <a:ext uri="{FF2B5EF4-FFF2-40B4-BE49-F238E27FC236}">
                <a16:creationId xmlns:a16="http://schemas.microsoft.com/office/drawing/2014/main" id="{23C2B39F-B1A1-458A-AD94-CAC25F4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16">
            <a:extLst xmlns:a="http://schemas.openxmlformats.org/drawingml/2006/main">
              <a:ext uri="{FF2B5EF4-FFF2-40B4-BE49-F238E27FC236}">
                <a16:creationId xmlns:a16="http://schemas.microsoft.com/office/drawing/2014/main" id="{3D01B796-0666-4854-B70A-B50E963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1450376-AF07-49FF-8A52-8728E18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D6971C9-CA63-4A38-8B39-0620E33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46 / 82</a:t>
            </a:r>
          </a:p>
        </p:txBody>
      </p:sp>
      <p:sp>
        <p:nvSpPr>
          <p:cNvPr id="6" name="content-417">
            <a:extLst xmlns:a="http://schemas.openxmlformats.org/drawingml/2006/main">
              <a:ext uri="{FF2B5EF4-FFF2-40B4-BE49-F238E27FC236}">
                <a16:creationId xmlns:a16="http://schemas.microsoft.com/office/drawing/2014/main" id="{BF32C27E-1AE7-4F1C-B5DA-D161A8C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设计约定</a:t>
            </a:r>
          </a:p>
        </p:txBody>
      </p:sp>
      <p:sp>
        <p:nvSpPr>
          <p:cNvPr id="7" name="content-418">
            <a:extLst xmlns:a="http://schemas.openxmlformats.org/drawingml/2006/main">
              <a:ext uri="{FF2B5EF4-FFF2-40B4-BE49-F238E27FC236}">
                <a16:creationId xmlns:a16="http://schemas.microsoft.com/office/drawing/2014/main" id="{4513636D-626C-4327-BA20-2B3D88A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类和接口规定操作，顺序图说明调用配合。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这些约定应能逐项对应到代码。</a:t>
            </a:r>
          </a:p>
        </p:txBody>
      </p:sp>
      <p:sp>
        <p:nvSpPr>
          <p:cNvPr id="8" name="frame-419">
            <a:extLst xmlns:a="http://schemas.openxmlformats.org/drawingml/2006/main">
              <a:ext uri="{FF2B5EF4-FFF2-40B4-BE49-F238E27FC236}">
                <a16:creationId xmlns:a16="http://schemas.microsoft.com/office/drawing/2014/main" id="{9DA3AFA5-9101-44A0-B2A6-EE12761C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20">
            <a:extLst xmlns:a="http://schemas.openxmlformats.org/drawingml/2006/main">
              <a:ext uri="{FF2B5EF4-FFF2-40B4-BE49-F238E27FC236}">
                <a16:creationId xmlns:a16="http://schemas.microsoft.com/office/drawing/2014/main" id="{2DAC3934-23D5-49A9-B1F9-28F489F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代码实现</a:t>
            </a:r>
          </a:p>
        </p:txBody>
      </p:sp>
      <p:sp>
        <p:nvSpPr>
          <p:cNvPr id="10" name="content-421">
            <a:extLst xmlns:a="http://schemas.openxmlformats.org/drawingml/2006/main">
              <a:ext uri="{FF2B5EF4-FFF2-40B4-BE49-F238E27FC236}">
                <a16:creationId xmlns:a16="http://schemas.microsoft.com/office/drawing/2014/main" id="{6BF872A5-99B3-4AEE-ACAF-BAEA774E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confirm/reject改变对象状态，save保存结果。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返回之前保存，来自UC-01的完成条件。</a:t>
            </a:r>
          </a:p>
        </p:txBody>
      </p:sp>
      <p:sp>
        <p:nvSpPr>
          <p:cNvPr id="11" name="frame-422">
            <a:extLst xmlns:a="http://schemas.openxmlformats.org/drawingml/2006/main">
              <a:ext uri="{FF2B5EF4-FFF2-40B4-BE49-F238E27FC236}">
                <a16:creationId xmlns:a16="http://schemas.microsoft.com/office/drawing/2014/main" id="{8BCE1467-A0AE-43BD-9180-7D89A559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23">
            <a:extLst xmlns:a="http://schemas.openxmlformats.org/drawingml/2006/main">
              <a:ext uri="{FF2B5EF4-FFF2-40B4-BE49-F238E27FC236}">
                <a16:creationId xmlns:a16="http://schemas.microsoft.com/office/drawing/2014/main" id="{1C649C76-5E00-4E2F-98BD-BBCCEF6D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测试检查</a:t>
            </a:r>
          </a:p>
        </p:txBody>
      </p:sp>
      <p:sp>
        <p:nvSpPr>
          <p:cNvPr id="13" name="content-424">
            <a:extLst xmlns:a="http://schemas.openxmlformats.org/drawingml/2006/main">
              <a:ext uri="{FF2B5EF4-FFF2-40B4-BE49-F238E27FC236}">
                <a16:creationId xmlns:a16="http://schemas.microsoft.com/office/drawing/2014/main" id="{6CBEF69A-FBBD-4CC8-B826-4B7C7DE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按用例确定预期，再检查返回状态、保存结果和目标记录。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当前运行只验证内存演示，不覆盖并发或故障。</a:t>
            </a:r>
          </a:p>
        </p:txBody>
      </p:sp>
      <p:sp>
        <p:nvSpPr>
          <p:cNvPr id="14" name="content-425">
            <a:extLst xmlns:a="http://schemas.openxmlformats.org/drawingml/2006/main">
              <a:ext uri="{FF2B5EF4-FFF2-40B4-BE49-F238E27FC236}">
                <a16:creationId xmlns:a16="http://schemas.microsoft.com/office/drawing/2014/main" id="{AC5BD61A-46D0-4F68-AE0F-AB84B96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模型、代码和测试相互对应后，还要回到原始需求检查是否理解有误。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D34AE-A3CE-4C67-95DE-177806F2F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7d49dec6442d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26">
            <a:extLst xmlns:a="http://schemas.openxmlformats.org/drawingml/2006/main">
              <a:ext uri="{FF2B5EF4-FFF2-40B4-BE49-F238E27FC236}">
                <a16:creationId xmlns:a16="http://schemas.microsoft.com/office/drawing/2014/main" id="{EF368629-9DD4-4149-82C2-FC9B83B6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05 五类模型的一致性检查</a:t>
            </a:r>
          </a:p>
        </p:txBody>
      </p:sp>
      <p:sp>
        <p:nvSpPr>
          <p:cNvPr id="2" name="frame-427">
            <a:extLst xmlns:a="http://schemas.openxmlformats.org/drawingml/2006/main">
              <a:ext uri="{FF2B5EF4-FFF2-40B4-BE49-F238E27FC236}">
                <a16:creationId xmlns:a16="http://schemas.microsoft.com/office/drawing/2014/main" id="{5300C1A5-6A87-4E14-9E99-317E4CE5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28">
            <a:extLst xmlns:a="http://schemas.openxmlformats.org/drawingml/2006/main">
              <a:ext uri="{FF2B5EF4-FFF2-40B4-BE49-F238E27FC236}">
                <a16:creationId xmlns:a16="http://schemas.microsoft.com/office/drawing/2014/main" id="{675F4064-82C9-4122-8731-899F4FE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4EF7ABF-932E-43A4-978D-DE7E3E5D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1F531DD-BE20-4624-BC67-298C87F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48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A052F-7B7F-4EA5-8621-EC0CA5753813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000750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余量为0时，应保持的一致内容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业务用例模型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拒绝本次选课，保留记录并告知学生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系统用例模型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UC-01返回已拒绝，结果已经保存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领域模型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同一条e由待处理进入已拒绝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控制对象协调拒绝处理和结果保留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reject()取得REJECTED，save(e)成功后返回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429">
            <a:extLst xmlns:a="http://schemas.openxmlformats.org/drawingml/2006/main">
              <a:ext uri="{FF2B5EF4-FFF2-40B4-BE49-F238E27FC236}">
                <a16:creationId xmlns:a16="http://schemas.microsoft.com/office/drawing/2014/main" id="{207307C8-BCC4-4859-9FD5-2935083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逐行追踪同一条待处理记录：模型各有分工，拒绝与保留要求保持一致。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C9C01-7560-48BE-9316-D6183B6B8D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9d488fa74439d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31">
            <a:extLst xmlns:a="http://schemas.openxmlformats.org/drawingml/2006/main">
              <a:ext uri="{FF2B5EF4-FFF2-40B4-BE49-F238E27FC236}">
                <a16:creationId xmlns:a16="http://schemas.microsoft.com/office/drawing/2014/main" id="{8E71EF53-7860-4A9F-9A5B-4355B0C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交互诊断练习：返回时满足完成条件吗？</a:t>
            </a:r>
          </a:p>
        </p:txBody>
      </p:sp>
      <p:sp>
        <p:nvSpPr>
          <p:cNvPr id="2" name="frame-432">
            <a:extLst xmlns:a="http://schemas.openxmlformats.org/drawingml/2006/main">
              <a:ext uri="{FF2B5EF4-FFF2-40B4-BE49-F238E27FC236}">
                <a16:creationId xmlns:a16="http://schemas.microsoft.com/office/drawing/2014/main" id="{9B07EFD9-9A63-4627-8A8F-5452DB8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33">
            <a:extLst xmlns:a="http://schemas.openxmlformats.org/drawingml/2006/main">
              <a:ext uri="{FF2B5EF4-FFF2-40B4-BE49-F238E27FC236}">
                <a16:creationId xmlns:a16="http://schemas.microsoft.com/office/drawing/2014/main" id="{2AEB80EE-8107-4B9A-AC4D-A946397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40F8B9E-870C-4F27-BD4F-724CAE3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B55E881-F7FC-4152-9A1E-D3CADF6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49 / 82</a:t>
            </a:r>
          </a:p>
        </p:txBody>
      </p:sp>
      <p:sp>
        <p:nvSpPr>
          <p:cNvPr id="10" name="UML completion-quiz box 10"/>
          <p:cNvSpPr/>
          <p:nvPr/>
        </p:nvSpPr>
        <p:spPr>
          <ns1:xfrm xmlns:ns1="http://schemas.openxmlformats.org/drawingml/2006/main">
            <ns1:off x="1347987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1" name="UML completion-quiz divider 11"/>
          <p:cNvSpPr/>
          <p:nvPr/>
        </p:nvSpPr>
        <p:spPr>
          <ns1:xfrm xmlns:ns1="http://schemas.openxmlformats.org/drawingml/2006/main">
            <ns1:off x="1387316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2" name="UML completion-quiz box 12"/>
          <p:cNvSpPr/>
          <p:nvPr/>
        </p:nvSpPr>
        <p:spPr>
          <ns1:xfrm xmlns:ns1="http://schemas.openxmlformats.org/drawingml/2006/main">
            <ns1:off x="3646889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3" name="UML completion-quiz divider 13"/>
          <p:cNvSpPr/>
          <p:nvPr/>
        </p:nvSpPr>
        <p:spPr>
          <ns1:xfrm xmlns:ns1="http://schemas.openxmlformats.org/drawingml/2006/main">
            <ns1:off x="3686217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4" name="UML completion-quiz box 14"/>
          <p:cNvSpPr/>
          <p:nvPr/>
        </p:nvSpPr>
        <p:spPr>
          <ns1:xfrm xmlns:ns1="http://schemas.openxmlformats.org/drawingml/2006/main">
            <ns1:off x="3630034" y="2248228"/>
            <ns1:ext cx="112366" cy="130947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000000"/>
            </ns4:solidFill>
          </ns4:ln>
        </p:spPr>
      </p:sp>
      <p:sp>
        <p:nvSpPr>
          <p:cNvPr id="15" name="UML completion-quiz box 15"/>
          <p:cNvSpPr/>
          <p:nvPr/>
        </p:nvSpPr>
        <p:spPr>
          <ns1:xfrm xmlns:ns1="http://schemas.openxmlformats.org/drawingml/2006/main">
            <ns1:off x="6828652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6" name="UML completion-quiz divider 16"/>
          <p:cNvSpPr/>
          <p:nvPr/>
        </p:nvSpPr>
        <p:spPr>
          <ns1:xfrm xmlns:ns1="http://schemas.openxmlformats.org/drawingml/2006/main">
            <ns1:off x="6867980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7" name="UML completion-quiz box 17"/>
          <p:cNvSpPr/>
          <p:nvPr/>
        </p:nvSpPr>
        <p:spPr>
          <ns1:xfrm xmlns:ns1="http://schemas.openxmlformats.org/drawingml/2006/main">
            <ns1:off x="700983" y="1653136"/>
            <ns1:ext cx="1372666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18" name="UML completion-quiz label 18"/>
          <p:cNvSpPr/>
          <p:nvPr/>
        </p:nvSpPr>
        <p:spPr>
          <ns1:xfrm xmlns:ns1="http://schemas.openxmlformats.org/drawingml/2006/main">
            <ns1:off x="753233" y="1727298"/>
            <ns1:ext cx="1338956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ui : 选课界面</ns7:t>
            </ns7:r>
            <ns7:endParaRPr lang="zh-CN" sz="1770"/>
          </ns7:p>
        </p:txBody>
      </p:sp>
      <p:sp>
        <p:nvSpPr>
          <p:cNvPr id="19" name="UML completion-quiz box 19"/>
          <p:cNvSpPr/>
          <p:nvPr/>
        </p:nvSpPr>
        <p:spPr>
          <ns1:xfrm xmlns:ns1="http://schemas.openxmlformats.org/drawingml/2006/main">
            <ns1:off x="2410747" y="1653136"/>
            <ns1:ext cx="2550939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0" name="UML completion-quiz label 20"/>
          <p:cNvSpPr/>
          <p:nvPr/>
        </p:nvSpPr>
        <p:spPr>
          <ns1:xfrm xmlns:ns1="http://schemas.openxmlformats.org/drawingml/2006/main">
            <ns1:off x="2462998" y="1727298"/>
            <ns1:ext cx="2517229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svc : EnrollmentService</ns7:t>
            </ns7:r>
            <ns7:endParaRPr lang="zh-CN" sz="1770"/>
          </ns7:p>
        </p:txBody>
      </p:sp>
      <p:sp>
        <p:nvSpPr>
          <p:cNvPr id="21" name="UML completion-quiz box 21"/>
          <p:cNvSpPr/>
          <p:nvPr/>
        </p:nvSpPr>
        <p:spPr>
          <ns1:xfrm xmlns:ns1="http://schemas.openxmlformats.org/drawingml/2006/main">
            <ns1:off x="5298785" y="1653136"/>
            <ns1:ext cx="3138390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2" name="UML completion-quiz label 22"/>
          <p:cNvSpPr/>
          <p:nvPr/>
        </p:nvSpPr>
        <p:spPr>
          <ns1:xfrm xmlns:ns1="http://schemas.openxmlformats.org/drawingml/2006/main">
            <ns1:off x="5351035" y="1727298"/>
            <ns1:ext cx="3104680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repo : IEnrollmentRepository</ns7:t>
            </ns7:r>
            <ns7:endParaRPr lang="zh-CN" sz="1770"/>
          </ns7:p>
        </p:txBody>
      </p:sp>
      <p:sp>
        <p:nvSpPr>
          <p:cNvPr id="23" name="UML completion-quiz arrow 23"/>
          <p:cNvSpPr/>
          <p:nvPr/>
        </p:nvSpPr>
        <p:spPr>
          <ns1:xfrm xmlns:ns1="http://schemas.openxmlformats.org/drawingml/2006/main">
            <ns1:off x="1398552" y="2579843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4" name="UML completion-quiz divider 24"/>
          <p:cNvSpPr/>
          <p:nvPr/>
        </p:nvSpPr>
        <p:spPr>
          <ns1:xfrm xmlns:ns1="http://schemas.openxmlformats.org/drawingml/2006/main">
            <ns1:off x="1443499" y="2624790"/>
            <ns1:ext cx="2175298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43945" h="952" fill="none" stroke="1" extrusionOk="0">
                <ns2:moveTo>
                  <ns2:pt x="0" y="0"/>
                </ns2:moveTo>
                <ns2:lnTo>
                  <ns2:pt x="184394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  <ns4:prstDash val="dash"/>
          </ns4:ln>
        </p:spPr>
      </p:sp>
      <p:sp>
        <p:nvSpPr>
          <p:cNvPr id="25" name="UML completion-quiz label 25"/>
          <p:cNvSpPr/>
          <p:nvPr/>
        </p:nvSpPr>
        <p:spPr>
          <ns1:xfrm xmlns:ns1="http://schemas.openxmlformats.org/drawingml/2006/main">
            <ns1:off x="1899267" y="2310254"/>
            <ns1:ext cx="1285672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CONFIRMED</ns7:t>
            </ns7:r>
            <ns7:endParaRPr lang="zh-CN" sz="1681"/>
          </ns7:p>
        </p:txBody>
      </p:sp>
      <p:sp>
        <p:nvSpPr>
          <p:cNvPr id="26" name="UML completion-quiz arrow 26"/>
          <p:cNvSpPr/>
          <p:nvPr/>
        </p:nvSpPr>
        <p:spPr>
          <ns1:xfrm xmlns:ns1="http://schemas.openxmlformats.org/drawingml/2006/main">
            <ns1:off x="6733140" y="3046298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7" name="UML completion-quiz divider 27"/>
          <p:cNvSpPr/>
          <p:nvPr/>
        </p:nvSpPr>
        <p:spPr>
          <ns1:xfrm xmlns:ns1="http://schemas.openxmlformats.org/drawingml/2006/main">
            <ns1:off x="3742400" y="3091245"/>
            <ns1:ext cx="3058160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92324" h="952" fill="none" stroke="1" extrusionOk="0">
                <ns2:moveTo>
                  <ns2:pt x="0" y="0"/>
                </ns2:moveTo>
                <ns2:lnTo>
                  <ns2:pt x="259232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8" name="UML completion-quiz label 28"/>
          <p:cNvSpPr/>
          <p:nvPr/>
        </p:nvSpPr>
        <p:spPr>
          <ns1:xfrm xmlns:ns1="http://schemas.openxmlformats.org/drawingml/2006/main">
            <ns1:off x="4945146" y="2776709"/>
            <ns1:ext cx="786946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save(e)</ns7:t>
            </ns7:r>
            <ns7:endParaRPr lang="zh-CN" sz="1681"/>
          </ns7:p>
        </p:txBody>
      </p:sp>
      <p:sp>
        <p:nvSpPr>
          <p:cNvPr id="29" name="UML completion-quiz arrow 29"/>
          <p:cNvSpPr/>
          <p:nvPr/>
        </p:nvSpPr>
        <p:spPr>
          <ns1:xfrm xmlns:ns1="http://schemas.openxmlformats.org/drawingml/2006/main">
            <ns1:off x="3753637" y="3512753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30" name="UML completion-quiz divider 30"/>
          <p:cNvSpPr/>
          <p:nvPr/>
        </p:nvSpPr>
        <p:spPr>
          <ns1:xfrm xmlns:ns1="http://schemas.openxmlformats.org/drawingml/2006/main">
            <ns1:off x="3798583" y="3557699"/>
            <ns1:ext cx="3058160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92324" h="952" fill="none" stroke="1" extrusionOk="0">
                <ns2:moveTo>
                  <ns2:pt x="0" y="0"/>
                </ns2:moveTo>
                <ns2:lnTo>
                  <ns2:pt x="259232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  <ns4:prstDash val="dash"/>
          </ns4:ln>
        </p:spPr>
      </p:sp>
      <p:sp>
        <p:nvSpPr>
          <p:cNvPr id="31" name="UML completion-quiz label 31"/>
          <p:cNvSpPr/>
          <p:nvPr/>
        </p:nvSpPr>
        <p:spPr>
          <ns1:xfrm xmlns:ns1="http://schemas.openxmlformats.org/drawingml/2006/main">
            <ns1:off x="5087761" y="3243164"/>
            <ns1:ext cx="501715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返回</ns7:t>
            </ns7:r>
            <ns7:endParaRPr lang="zh-CN" sz="1681"/>
          </ns7:p>
        </p:txBody>
      </p:sp>
      <p:sp>
        <p:nvSpPr>
          <p:cNvPr id="7" name="content-434">
            <a:extLst xmlns:a="http://schemas.openxmlformats.org/drawingml/2006/main">
              <a:ext uri="{FF2B5EF4-FFF2-40B4-BE49-F238E27FC236}">
                <a16:creationId xmlns:a16="http://schemas.microsoft.com/office/drawing/2014/main" id="{D5FA9E69-B49F-4D4D-B4E8-BC24D9E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待诊断交互：e原为待处理，余量2；此处只画confirm()执行后的尾部。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1510-4563-45A4-958B-E7BE5C7A0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677517464680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34">
            <a:extLst xmlns:a="http://schemas.openxmlformats.org/drawingml/2006/main">
              <a:ext uri="{FF2B5EF4-FFF2-40B4-BE49-F238E27FC236}">
                <a16:creationId xmlns:a16="http://schemas.microsoft.com/office/drawing/2014/main" id="{2845207B-C166-4F45-BE0D-FF89B79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完成条件检查：参考修正</a:t>
            </a:r>
          </a:p>
        </p:txBody>
      </p:sp>
      <p:sp>
        <p:nvSpPr>
          <p:cNvPr id="2" name="frame-435">
            <a:extLst xmlns:a="http://schemas.openxmlformats.org/drawingml/2006/main">
              <a:ext uri="{FF2B5EF4-FFF2-40B4-BE49-F238E27FC236}">
                <a16:creationId xmlns:a16="http://schemas.microsoft.com/office/drawing/2014/main" id="{C3797965-AA82-4FD3-A8B5-6CFFD3D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36">
            <a:extLst xmlns:a="http://schemas.openxmlformats.org/drawingml/2006/main">
              <a:ext uri="{FF2B5EF4-FFF2-40B4-BE49-F238E27FC236}">
                <a16:creationId xmlns:a16="http://schemas.microsoft.com/office/drawing/2014/main" id="{900DF2D7-A387-4035-9626-7DE5AF14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2D23A15-F2C7-4401-BEBB-8AF6727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281F544-1187-4A08-8DEA-C851DE2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50 / 82</a:t>
            </a:r>
          </a:p>
        </p:txBody>
      </p:sp>
      <p:sp>
        <p:nvSpPr>
          <p:cNvPr id="10" name="UML completion-answer box 10"/>
          <p:cNvSpPr/>
          <p:nvPr/>
        </p:nvSpPr>
        <p:spPr>
          <ns1:xfrm xmlns:ns1="http://schemas.openxmlformats.org/drawingml/2006/main">
            <ns1:off x="1347987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1" name="UML completion-answer divider 11"/>
          <p:cNvSpPr/>
          <p:nvPr/>
        </p:nvSpPr>
        <p:spPr>
          <ns1:xfrm xmlns:ns1="http://schemas.openxmlformats.org/drawingml/2006/main">
            <ns1:off x="1387316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2" name="UML completion-answer box 12"/>
          <p:cNvSpPr/>
          <p:nvPr/>
        </p:nvSpPr>
        <p:spPr>
          <ns1:xfrm xmlns:ns1="http://schemas.openxmlformats.org/drawingml/2006/main">
            <ns1:off x="3646889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3" name="UML completion-answer divider 13"/>
          <p:cNvSpPr/>
          <p:nvPr/>
        </p:nvSpPr>
        <p:spPr>
          <ns1:xfrm xmlns:ns1="http://schemas.openxmlformats.org/drawingml/2006/main">
            <ns1:off x="3686217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4" name="UML completion-answer box 14"/>
          <p:cNvSpPr/>
          <p:nvPr/>
        </p:nvSpPr>
        <p:spPr>
          <ns1:xfrm xmlns:ns1="http://schemas.openxmlformats.org/drawingml/2006/main">
            <ns1:off x="3630034" y="2248228"/>
            <ns1:ext cx="112366" cy="130947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000000"/>
            </ns4:solidFill>
          </ns4:ln>
        </p:spPr>
      </p:sp>
      <p:sp>
        <p:nvSpPr>
          <p:cNvPr id="15" name="UML completion-answer box 15"/>
          <p:cNvSpPr/>
          <p:nvPr/>
        </p:nvSpPr>
        <p:spPr>
          <ns1:xfrm xmlns:ns1="http://schemas.openxmlformats.org/drawingml/2006/main">
            <ns1:off x="6828652" y="2158335"/>
            <ns1:ext cx="89893" cy="16016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</p:sp>
      <p:sp>
        <p:nvSpPr>
          <p:cNvPr id="16" name="UML completion-answer divider 16"/>
          <p:cNvSpPr/>
          <p:nvPr/>
        </p:nvSpPr>
        <p:spPr>
          <ns1:xfrm xmlns:ns1="http://schemas.openxmlformats.org/drawingml/2006/main">
            <ns1:off x="6867980" y="2158335"/>
            <ns1:ext cx="1124" cy="16016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357655" fill="none" stroke="1" extrusionOk="0">
                <ns2:moveTo>
                  <ns2:pt x="0" y="0"/>
                </ns2:moveTo>
                <ns2:lnTo>
                  <ns2:pt x="0" y="135765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697487"/>
            </ns4:solidFill>
            <ns4:prstDash val="dash"/>
          </ns4:ln>
        </p:spPr>
      </p:sp>
      <p:sp>
        <p:nvSpPr>
          <p:cNvPr id="17" name="UML completion-answer box 17"/>
          <p:cNvSpPr/>
          <p:nvPr/>
        </p:nvSpPr>
        <p:spPr>
          <ns1:xfrm xmlns:ns1="http://schemas.openxmlformats.org/drawingml/2006/main">
            <ns1:off x="700983" y="1653136"/>
            <ns1:ext cx="1372666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18" name="UML completion-answer label 18"/>
          <p:cNvSpPr/>
          <p:nvPr/>
        </p:nvSpPr>
        <p:spPr>
          <ns1:xfrm xmlns:ns1="http://schemas.openxmlformats.org/drawingml/2006/main">
            <ns1:off x="753233" y="1727298"/>
            <ns1:ext cx="1338956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ui : 选课界面</ns7:t>
            </ns7:r>
            <ns7:endParaRPr lang="zh-CN" sz="1770"/>
          </ns7:p>
        </p:txBody>
      </p:sp>
      <p:sp>
        <p:nvSpPr>
          <p:cNvPr id="19" name="UML completion-answer box 19"/>
          <p:cNvSpPr/>
          <p:nvPr/>
        </p:nvSpPr>
        <p:spPr>
          <ns1:xfrm xmlns:ns1="http://schemas.openxmlformats.org/drawingml/2006/main">
            <ns1:off x="2410747" y="1653136"/>
            <ns1:ext cx="2550939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0" name="UML completion-answer label 20"/>
          <p:cNvSpPr/>
          <p:nvPr/>
        </p:nvSpPr>
        <p:spPr>
          <ns1:xfrm xmlns:ns1="http://schemas.openxmlformats.org/drawingml/2006/main">
            <ns1:off x="2462998" y="1727298"/>
            <ns1:ext cx="2517229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svc : EnrollmentService</ns7:t>
            </ns7:r>
            <ns7:endParaRPr lang="zh-CN" sz="1770"/>
          </ns7:p>
        </p:txBody>
      </p:sp>
      <p:sp>
        <p:nvSpPr>
          <p:cNvPr id="21" name="UML completion-answer box 21"/>
          <p:cNvSpPr/>
          <p:nvPr/>
        </p:nvSpPr>
        <p:spPr>
          <ns1:xfrm xmlns:ns1="http://schemas.openxmlformats.org/drawingml/2006/main">
            <ns1:off x="5298785" y="1653136"/>
            <ns1:ext cx="3138390" cy="437779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2" name="UML completion-answer label 22"/>
          <p:cNvSpPr/>
          <p:nvPr/>
        </p:nvSpPr>
        <p:spPr>
          <ns1:xfrm xmlns:ns1="http://schemas.openxmlformats.org/drawingml/2006/main">
            <ns1:off x="5351035" y="1727298"/>
            <ns1:ext cx="3104680" cy="328109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770" dirty="0">
                <ns7:solidFill>
                  <ns7:srgbClr val="000000"/>
                </ns7:solidFill>
                <ns7:latin typeface="Noto Sans SC"/>
                <ns7:ea typeface="Noto Sans SC"/>
              </ns7:rPr>
              <ns7:t>repo : IEnrollmentRepository</ns7:t>
            </ns7:r>
            <ns7:endParaRPr lang="zh-CN" sz="1770"/>
          </ns7:p>
        </p:txBody>
      </p:sp>
      <p:sp>
        <p:nvSpPr>
          <p:cNvPr id="23" name="UML completion-answer arrow 23"/>
          <p:cNvSpPr/>
          <p:nvPr/>
        </p:nvSpPr>
        <p:spPr>
          <ns1:xfrm xmlns:ns1="http://schemas.openxmlformats.org/drawingml/2006/main">
            <ns1:off x="6733140" y="2579843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4" name="UML completion-answer divider 24"/>
          <p:cNvSpPr/>
          <p:nvPr/>
        </p:nvSpPr>
        <p:spPr>
          <ns1:xfrm xmlns:ns1="http://schemas.openxmlformats.org/drawingml/2006/main">
            <ns1:off x="3742400" y="2624790"/>
            <ns1:ext cx="3058160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92324" h="952" fill="none" stroke="1" extrusionOk="0">
                <ns2:moveTo>
                  <ns2:pt x="0" y="0"/>
                </ns2:moveTo>
                <ns2:lnTo>
                  <ns2:pt x="259232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5" name="UML completion-answer label 25"/>
          <p:cNvSpPr/>
          <p:nvPr/>
        </p:nvSpPr>
        <p:spPr>
          <ns1:xfrm xmlns:ns1="http://schemas.openxmlformats.org/drawingml/2006/main">
            <ns1:off x="4945146" y="2310254"/>
            <ns1:ext cx="786946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save(e)</ns7:t>
            </ns7:r>
            <ns7:endParaRPr lang="zh-CN" sz="1681"/>
          </ns7:p>
        </p:txBody>
      </p:sp>
      <p:sp>
        <p:nvSpPr>
          <p:cNvPr id="26" name="UML completion-answer arrow 26"/>
          <p:cNvSpPr/>
          <p:nvPr/>
        </p:nvSpPr>
        <p:spPr>
          <ns1:xfrm xmlns:ns1="http://schemas.openxmlformats.org/drawingml/2006/main">
            <ns1:off x="3753637" y="3046298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27" name="UML completion-answer divider 27"/>
          <p:cNvSpPr/>
          <p:nvPr/>
        </p:nvSpPr>
        <p:spPr>
          <ns1:xfrm xmlns:ns1="http://schemas.openxmlformats.org/drawingml/2006/main">
            <ns1:off x="3798583" y="3091245"/>
            <ns1:ext cx="3058160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92324" h="952" fill="none" stroke="1" extrusionOk="0">
                <ns2:moveTo>
                  <ns2:pt x="0" y="0"/>
                </ns2:moveTo>
                <ns2:lnTo>
                  <ns2:pt x="259232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  <ns4:prstDash val="dash"/>
          </ns4:ln>
        </p:spPr>
      </p:sp>
      <p:sp>
        <p:nvSpPr>
          <p:cNvPr id="28" name="UML completion-answer label 28"/>
          <p:cNvSpPr/>
          <p:nvPr/>
        </p:nvSpPr>
        <p:spPr>
          <ns1:xfrm xmlns:ns1="http://schemas.openxmlformats.org/drawingml/2006/main">
            <ns1:off x="5087761" y="2776709"/>
            <ns1:ext cx="501715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返回</ns7:t>
            </ns7:r>
            <ns7:endParaRPr lang="zh-CN" sz="1681"/>
          </ns7:p>
        </p:txBody>
      </p:sp>
      <p:sp>
        <p:nvSpPr>
          <p:cNvPr id="29" name="UML completion-answer arrow 29"/>
          <p:cNvSpPr/>
          <p:nvPr/>
        </p:nvSpPr>
        <p:spPr>
          <ns1:xfrm xmlns:ns1="http://schemas.openxmlformats.org/drawingml/2006/main">
            <ns1:off x="1398552" y="3512753"/>
            <ns1:ext cx="112366" cy="8989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237">
            <ns4:solidFill>
              <ns4:srgbClr val="1F2A44"/>
            </ns4:solidFill>
          </ns4:ln>
        </p:spPr>
      </p:sp>
      <p:sp>
        <p:nvSpPr>
          <p:cNvPr id="30" name="UML completion-answer divider 30"/>
          <p:cNvSpPr/>
          <p:nvPr/>
        </p:nvSpPr>
        <p:spPr>
          <ns1:xfrm xmlns:ns1="http://schemas.openxmlformats.org/drawingml/2006/main">
            <ns1:off x="1443499" y="3557699"/>
            <ns1:ext cx="2175298" cy="11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43945" h="952" fill="none" stroke="1" extrusionOk="0">
                <ns2:moveTo>
                  <ns2:pt x="0" y="0"/>
                </ns2:moveTo>
                <ns2:lnTo>
                  <ns2:pt x="184394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237">
            <ns4:solidFill>
              <ns4:srgbClr val="1F2A44"/>
            </ns4:solidFill>
            <ns4:prstDash val="dash"/>
          </ns4:ln>
        </p:spPr>
      </p:sp>
      <p:sp>
        <p:nvSpPr>
          <p:cNvPr id="31" name="UML completion-answer label 31"/>
          <p:cNvSpPr/>
          <p:nvPr/>
        </p:nvSpPr>
        <p:spPr>
          <ns1:xfrm xmlns:ns1="http://schemas.openxmlformats.org/drawingml/2006/main">
            <ns1:off x="1899267" y="3243164"/>
            <ns1:ext cx="1285672" cy="31170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2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81" dirty="0">
                <ns7:solidFill>
                  <ns7:srgbClr val="1F2A44"/>
                </ns7:solidFill>
                <ns7:latin typeface="Noto Sans SC"/>
                <ns7:ea typeface="Noto Sans SC"/>
              </ns7:rPr>
              <ns7:t>CONFIRMED</ns7:t>
            </ns7:r>
            <ns7:endParaRPr lang="zh-CN" sz="1681"/>
          </ns7:p>
        </p:txBody>
      </p:sp>
      <p:sp>
        <p:nvSpPr>
          <p:cNvPr id="7" name="content-437">
            <a:extLst xmlns:a="http://schemas.openxmlformats.org/drawingml/2006/main">
              <a:ext uri="{FF2B5EF4-FFF2-40B4-BE49-F238E27FC236}">
                <a16:creationId xmlns:a16="http://schemas.microsoft.com/office/drawing/2014/main" id="{61B3BC5D-7C69-4062-BF99-F1D1903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结果保存成功后再返回CONFIRMED；若保存失败，后续行为仍待定义。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7D98A-46B8-45B7-A894-ED92B4F57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764b5020e433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39">
            <a:extLst xmlns:a="http://schemas.openxmlformats.org/drawingml/2006/main">
              <a:ext uri="{FF2B5EF4-FFF2-40B4-BE49-F238E27FC236}">
                <a16:creationId xmlns:a16="http://schemas.microsoft.com/office/drawing/2014/main" id="{0A9DEC75-8BAF-42E6-91F2-5D95BA60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H2案例：课程作业提交规则</a:t>
            </a:r>
          </a:p>
        </p:txBody>
      </p:sp>
      <p:sp>
        <p:nvSpPr>
          <p:cNvPr id="2" name="frame-440">
            <a:extLst xmlns:a="http://schemas.openxmlformats.org/drawingml/2006/main">
              <a:ext uri="{FF2B5EF4-FFF2-40B4-BE49-F238E27FC236}">
                <a16:creationId xmlns:a16="http://schemas.microsoft.com/office/drawing/2014/main" id="{837A6D0C-5FA4-4FF6-B64C-8FF6703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41">
            <a:extLst xmlns:a="http://schemas.openxmlformats.org/drawingml/2006/main">
              <a:ext uri="{FF2B5EF4-FFF2-40B4-BE49-F238E27FC236}">
                <a16:creationId xmlns:a16="http://schemas.microsoft.com/office/drawing/2014/main" id="{416C6620-9B4C-48EB-B3EC-360F8EB6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E3B6679-EC9B-4EFB-8471-3A3C17DB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E263164-80DF-4133-A1DA-9917E549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51 / 82</a:t>
            </a:r>
          </a:p>
        </p:txBody>
      </p:sp>
      <p:sp>
        <p:nvSpPr>
          <p:cNvPr id="6" name="content-442">
            <a:extLst xmlns:a="http://schemas.openxmlformats.org/drawingml/2006/main">
              <a:ext uri="{FF2B5EF4-FFF2-40B4-BE49-F238E27FC236}">
                <a16:creationId xmlns:a16="http://schemas.microsoft.com/office/drawing/2014/main" id="{567EDD8F-133B-4DBD-B3F9-38C93B8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对象与术语</a:t>
            </a:r>
          </a:p>
        </p:txBody>
      </p:sp>
      <p:sp>
        <p:nvSpPr>
          <p:cNvPr id="7" name="content-443">
            <a:extLst xmlns:a="http://schemas.openxmlformats.org/drawingml/2006/main">
              <a:ext uri="{FF2B5EF4-FFF2-40B4-BE49-F238E27FC236}">
                <a16:creationId xmlns:a16="http://schemas.microsoft.com/office/drawing/2014/main" id="{47A7441D-E8EF-4ED0-A172-269C3ED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提交记录（Submission）属于一名学生和一个任务。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成功保存的记录称为当前提交。</a:t>
            </a:r>
          </a:p>
        </p:txBody>
      </p:sp>
      <p:sp>
        <p:nvSpPr>
          <p:cNvPr id="8" name="frame-444">
            <a:extLst xmlns:a="http://schemas.openxmlformats.org/drawingml/2006/main">
              <a:ext uri="{FF2B5EF4-FFF2-40B4-BE49-F238E27FC236}">
                <a16:creationId xmlns:a16="http://schemas.microsoft.com/office/drawing/2014/main" id="{22A390F8-E56A-4710-8638-0247EFB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45">
            <a:extLst xmlns:a="http://schemas.openxmlformats.org/drawingml/2006/main">
              <a:ext uri="{FF2B5EF4-FFF2-40B4-BE49-F238E27FC236}">
                <a16:creationId xmlns:a16="http://schemas.microsoft.com/office/drawing/2014/main" id="{46EA537D-B7C2-4D26-8532-4F69EA0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成功条件</a:t>
            </a:r>
          </a:p>
        </p:txBody>
      </p:sp>
      <p:sp>
        <p:nvSpPr>
          <p:cNvPr id="10" name="content-446">
            <a:extLst xmlns:a="http://schemas.openxmlformats.org/drawingml/2006/main">
              <a:ext uri="{FF2B5EF4-FFF2-40B4-BE49-F238E27FC236}">
                <a16:creationId xmlns:a16="http://schemas.microsoft.com/office/drawing/2014/main" id="{91731188-54F3-47F9-BB5B-9771F6B4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具有任务所属课程的有效选课关系；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任务已发布且窗口可用；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该学生对该任务尚无当前提交。</a:t>
            </a:r>
          </a:p>
        </p:txBody>
      </p:sp>
      <p:sp>
        <p:nvSpPr>
          <p:cNvPr id="11" name="frame-447">
            <a:extLst xmlns:a="http://schemas.openxmlformats.org/drawingml/2006/main">
              <a:ext uri="{FF2B5EF4-FFF2-40B4-BE49-F238E27FC236}">
                <a16:creationId xmlns:a16="http://schemas.microsoft.com/office/drawing/2014/main" id="{349094C3-CBE7-4F09-8A79-62A43EA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48">
            <a:extLst xmlns:a="http://schemas.openxmlformats.org/drawingml/2006/main">
              <a:ext uri="{FF2B5EF4-FFF2-40B4-BE49-F238E27FC236}">
                <a16:creationId xmlns:a16="http://schemas.microsoft.com/office/drawing/2014/main" id="{5B769DD1-DF3C-4EA5-BB90-67D0DFF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拒绝要求</a:t>
            </a:r>
          </a:p>
        </p:txBody>
      </p:sp>
      <p:sp>
        <p:nvSpPr>
          <p:cNvPr id="13" name="content-449">
            <a:extLst xmlns:a="http://schemas.openxmlformats.org/drawingml/2006/main">
              <a:ext uri="{FF2B5EF4-FFF2-40B4-BE49-F238E27FC236}">
                <a16:creationId xmlns:a16="http://schemas.microsoft.com/office/drawing/2014/main" id="{A7221151-A64E-44D2-B88C-C60F563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返回实际原因；不新增提交，不更改已有提交和评分。</a:t>
            </a:r>
          </a:p>
        </p:txBody>
      </p:sp>
      <p:sp>
        <p:nvSpPr>
          <p:cNvPr id="14" name="content-450">
            <a:extLst xmlns:a="http://schemas.openxmlformats.org/drawingml/2006/main">
              <a:ext uri="{FF2B5EF4-FFF2-40B4-BE49-F238E27FC236}">
                <a16:creationId xmlns:a16="http://schemas.microsoft.com/office/drawing/2014/main" id="{C4DFC001-7343-4F37-9675-5094475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依据H2 R2–R5；按单次请求、条件稳定分析（R7）。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C1A2D-AFD4-43DF-AA72-4C73F69A25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536f9cf134c7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51">
            <a:extLst xmlns:a="http://schemas.openxmlformats.org/drawingml/2006/main">
              <a:ext uri="{FF2B5EF4-FFF2-40B4-BE49-F238E27FC236}">
                <a16:creationId xmlns:a16="http://schemas.microsoft.com/office/drawing/2014/main" id="{0EE26C21-2A7D-4A37-8364-48594678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迁移练习：请求结束后留下什么？</a:t>
            </a:r>
          </a:p>
        </p:txBody>
      </p:sp>
      <p:sp>
        <p:nvSpPr>
          <p:cNvPr id="2" name="frame-452">
            <a:extLst xmlns:a="http://schemas.openxmlformats.org/drawingml/2006/main">
              <a:ext uri="{FF2B5EF4-FFF2-40B4-BE49-F238E27FC236}">
                <a16:creationId xmlns:a16="http://schemas.microsoft.com/office/drawing/2014/main" id="{23BDF947-E667-4B2B-B179-FCCA088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53">
            <a:extLst xmlns:a="http://schemas.openxmlformats.org/drawingml/2006/main">
              <a:ext uri="{FF2B5EF4-FFF2-40B4-BE49-F238E27FC236}">
                <a16:creationId xmlns:a16="http://schemas.microsoft.com/office/drawing/2014/main" id="{AA127C35-D540-481E-B154-58C2C7F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0C12452-5BFE-4F8E-9199-AD17A70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0E385A7-AF71-4D0C-BF3B-8166828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52 / 82</a:t>
            </a:r>
          </a:p>
        </p:txBody>
      </p:sp>
      <p:sp>
        <p:nvSpPr>
          <p:cNvPr id="6" name="content-454">
            <a:extLst xmlns:a="http://schemas.openxmlformats.org/drawingml/2006/main">
              <a:ext uri="{FF2B5EF4-FFF2-40B4-BE49-F238E27FC236}">
                <a16:creationId xmlns:a16="http://schemas.microsoft.com/office/drawing/2014/main" id="{8D6F806E-2E5B-4463-867C-AFED8575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情境A · 选课</a:t>
            </a:r>
          </a:p>
        </p:txBody>
      </p:sp>
      <p:sp>
        <p:nvSpPr>
          <p:cNvPr id="7" name="content-455">
            <a:extLst xmlns:a="http://schemas.openxmlformats.org/drawingml/2006/main">
              <a:ext uri="{FF2B5EF4-FFF2-40B4-BE49-F238E27FC236}">
                <a16:creationId xmlns:a16="http://schemas.microsoft.com/office/drawing/2014/main" id="{FA6ACC84-76C0-4F84-8EFC-68AB08B0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已有待处理选课记录E1；开课班余量为0。</a:t>
            </a:r>
          </a:p>
        </p:txBody>
      </p:sp>
      <p:sp>
        <p:nvSpPr>
          <p:cNvPr id="8" name="frame-456">
            <a:extLst xmlns:a="http://schemas.openxmlformats.org/drawingml/2006/main">
              <a:ext uri="{FF2B5EF4-FFF2-40B4-BE49-F238E27FC236}">
                <a16:creationId xmlns:a16="http://schemas.microsoft.com/office/drawing/2014/main" id="{4C502792-1F4B-4F0F-AD63-166512C0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57">
            <a:extLst xmlns:a="http://schemas.openxmlformats.org/drawingml/2006/main">
              <a:ext uri="{FF2B5EF4-FFF2-40B4-BE49-F238E27FC236}">
                <a16:creationId xmlns:a16="http://schemas.microsoft.com/office/drawing/2014/main" id="{2541FFD4-BFAA-4A55-8B34-116D100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情境B · H2</a:t>
            </a:r>
          </a:p>
        </p:txBody>
      </p:sp>
      <p:sp>
        <p:nvSpPr>
          <p:cNvPr id="10" name="content-458">
            <a:extLst xmlns:a="http://schemas.openxmlformats.org/drawingml/2006/main">
              <a:ext uri="{FF2B5EF4-FFF2-40B4-BE49-F238E27FC236}">
                <a16:creationId xmlns:a16="http://schemas.microsoft.com/office/drawing/2014/main" id="{7C5DA31E-A14A-48D9-A776-3E2CC1B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该学生对该任务尚无当前提交；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提交窗口关闭，其余条件满足。</a:t>
            </a:r>
          </a:p>
        </p:txBody>
      </p:sp>
      <p:sp>
        <p:nvSpPr>
          <p:cNvPr id="11" name="frame-459">
            <a:extLst xmlns:a="http://schemas.openxmlformats.org/drawingml/2006/main">
              <a:ext uri="{FF2B5EF4-FFF2-40B4-BE49-F238E27FC236}">
                <a16:creationId xmlns:a16="http://schemas.microsoft.com/office/drawing/2014/main" id="{06025550-14CC-416D-8360-750ABA82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60">
            <a:extLst xmlns:a="http://schemas.openxmlformats.org/drawingml/2006/main">
              <a:ext uri="{FF2B5EF4-FFF2-40B4-BE49-F238E27FC236}">
                <a16:creationId xmlns:a16="http://schemas.microsoft.com/office/drawing/2014/main" id="{0FD9C012-A3CD-4879-A72D-84AC310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情境C · H2</a:t>
            </a:r>
          </a:p>
        </p:txBody>
      </p:sp>
      <p:sp>
        <p:nvSpPr>
          <p:cNvPr id="13" name="content-461">
            <a:extLst xmlns:a="http://schemas.openxmlformats.org/drawingml/2006/main">
              <a:ext uri="{FF2B5EF4-FFF2-40B4-BE49-F238E27FC236}">
                <a16:creationId xmlns:a16="http://schemas.microsoft.com/office/drawing/2014/main" id="{384ED32A-9256-4E57-92D6-05F5D2D3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该学生对该任务已有当前提交S1；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再次请求提交，其余条件满足。</a:t>
            </a:r>
          </a:p>
        </p:txBody>
      </p:sp>
      <p:sp>
        <p:nvSpPr>
          <p:cNvPr id="14" name="content-462">
            <a:extLst xmlns:a="http://schemas.openxmlformats.org/drawingml/2006/main">
              <a:ext uri="{FF2B5EF4-FFF2-40B4-BE49-F238E27FC236}">
                <a16:creationId xmlns:a16="http://schemas.microsoft.com/office/drawing/2014/main" id="{8F6C899D-56AB-4135-8FF8-62B32CB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逐项写请求结果、是否新增及原记录变化；H2还需检查评分是否改变。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B1DA0-2EAA-40F9-9224-EB47E8E77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1ea8fac0c49e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62">
            <a:extLst xmlns:a="http://schemas.openxmlformats.org/drawingml/2006/main">
              <a:ext uri="{FF2B5EF4-FFF2-40B4-BE49-F238E27FC236}">
                <a16:creationId xmlns:a16="http://schemas.microsoft.com/office/drawing/2014/main" id="{B26B46B6-AA10-4483-8E5B-63B2754E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参考：三种请求的记录变化</a:t>
            </a:r>
          </a:p>
        </p:txBody>
      </p:sp>
      <p:sp>
        <p:nvSpPr>
          <p:cNvPr id="2" name="frame-463">
            <a:extLst xmlns:a="http://schemas.openxmlformats.org/drawingml/2006/main">
              <a:ext uri="{FF2B5EF4-FFF2-40B4-BE49-F238E27FC236}">
                <a16:creationId xmlns:a16="http://schemas.microsoft.com/office/drawing/2014/main" id="{1502D023-54A7-46EF-B953-D2172C98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64">
            <a:extLst xmlns:a="http://schemas.openxmlformats.org/drawingml/2006/main">
              <a:ext uri="{FF2B5EF4-FFF2-40B4-BE49-F238E27FC236}">
                <a16:creationId xmlns:a16="http://schemas.microsoft.com/office/drawing/2014/main" id="{18BEBD4B-3019-43C0-BEB8-742FB49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495FF87-1703-483C-B6E0-FFCEA5B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E52F0D5-C3C4-4C56-A159-05A311F8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53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1D7C7-80EC-4CAA-BB35-C7F0AE15300E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428875"/>
                <a:gridCol w="400050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情境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请求结果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请求结束后的记录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 选课无余量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原E1保留，状态变为已拒绝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 H2窗口关闭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拒绝：窗口不可用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不创建Submission；</a:t>
                      </a:r>
                    </a:p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该学生对该任务仍无当前提交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 H2重复提交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拒绝：已有当前提交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保留该学生对该任务的S1，</a:t>
                      </a:r>
                    </a:p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已有提交及评分均不变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465">
            <a:extLst xmlns:a="http://schemas.openxmlformats.org/drawingml/2006/main">
              <a:ext uri="{FF2B5EF4-FFF2-40B4-BE49-F238E27FC236}">
                <a16:creationId xmlns:a16="http://schemas.microsoft.com/office/drawing/2014/main" id="{01D51944-63C3-4576-80D3-66E2E21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请求被拒绝，不等于业务对象必须进入“已拒绝”状态。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AB947-CF0F-425E-BA70-A86151C41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a41fd5a024f8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66">
            <a:extLst xmlns:a="http://schemas.openxmlformats.org/drawingml/2006/main">
              <a:ext uri="{FF2B5EF4-FFF2-40B4-BE49-F238E27FC236}">
                <a16:creationId xmlns:a16="http://schemas.microsoft.com/office/drawing/2014/main" id="{AFADF92C-BD74-404D-AEC1-6E1E5BEA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H2活动视图：何时建立提交记录？</a:t>
            </a:r>
          </a:p>
        </p:txBody>
      </p:sp>
      <p:sp>
        <p:nvSpPr>
          <p:cNvPr id="2" name="frame-467">
            <a:extLst xmlns:a="http://schemas.openxmlformats.org/drawingml/2006/main">
              <a:ext uri="{FF2B5EF4-FFF2-40B4-BE49-F238E27FC236}">
                <a16:creationId xmlns:a16="http://schemas.microsoft.com/office/drawing/2014/main" id="{5920C949-A5A4-44F4-9D66-4159403C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68">
            <a:extLst xmlns:a="http://schemas.openxmlformats.org/drawingml/2006/main">
              <a:ext uri="{FF2B5EF4-FFF2-40B4-BE49-F238E27FC236}">
                <a16:creationId xmlns:a16="http://schemas.microsoft.com/office/drawing/2014/main" id="{900259A7-BBE3-459A-8F62-6A1FC8EE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35781F0-039F-4241-8B5A-E8128D6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6B7B504-9E16-440B-A6F3-EDCF8E9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54 / 82</a:t>
            </a:r>
          </a:p>
        </p:txBody>
      </p:sp>
      <p:sp>
        <p:nvSpPr>
          <p:cNvPr id="10" name="UML h2-request anchor 10"/>
          <p:cNvSpPr/>
          <p:nvPr/>
        </p:nvSpPr>
        <p:spPr>
          <ns1:xfrm xmlns:ns1="http://schemas.openxmlformats.org/drawingml/2006/main">
            <ns1:off x="3611328" y="1127630"/>
            <ns1:ext cx="159759" cy="159759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11" name="UML h2-request box 11"/>
          <p:cNvSpPr/>
          <p:nvPr/>
        </p:nvSpPr>
        <p:spPr>
          <ns1:xfrm xmlns:ns1="http://schemas.openxmlformats.org/drawingml/2006/main">
            <ns1:off x="2972292" y="1447148"/>
            <ns1:ext cx="1437833" cy="391090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12" name="UML h2-request label 12"/>
          <p:cNvSpPr/>
          <p:nvPr/>
        </p:nvSpPr>
        <p:spPr>
          <ns1:xfrm xmlns:ns1="http://schemas.openxmlformats.org/drawingml/2006/main">
            <ns1:off x="3049375" y="1539808"/>
            <ns1:ext cx="1333989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接收首次提交请求</ns7:t>
            </ns7:r>
            <ns7:endParaRPr lang="zh-CN" sz="1258"/>
          </ns7:p>
        </p:txBody>
      </p:sp>
      <p:sp>
        <p:nvSpPr>
          <p:cNvPr id="13" name="UML h2-request arrow 13"/>
          <p:cNvSpPr/>
          <p:nvPr/>
        </p:nvSpPr>
        <p:spPr>
          <ns1:xfrm xmlns:ns1="http://schemas.openxmlformats.org/drawingml/2006/main">
            <ns1:off x="3275834" y="2059888"/>
            <ns1:ext cx="830748" cy="42304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90600" h="504444" fill="norm" stroke="1" extrusionOk="0">
                <ns2:moveTo>
                  <ns2:pt x="495300" y="0"/>
                </ns2:moveTo>
                <ns2:lnTo>
                  <ns2:pt x="990600" y="252222"/>
                </ns2:lnTo>
                <ns2:lnTo>
                  <ns2:pt x="495300" y="504444"/>
                </ns2:lnTo>
                <ns2:lnTo>
                  <ns2:pt x="0" y="252222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14" name="UML h2-request label 14"/>
          <p:cNvSpPr/>
          <p:nvPr/>
        </p:nvSpPr>
        <p:spPr>
          <ns1:xfrm xmlns:ns1="http://schemas.openxmlformats.org/drawingml/2006/main">
            <ns1:off x="3343732" y="2154785"/>
            <ns1:ext cx="694952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1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提交判定</a:t>
            </a:r>
          </a:p>
        </p:txBody>
      </p:sp>
      <p:sp>
        <p:nvSpPr>
          <p:cNvPr id="15" name="UML h2-request label 15"/>
          <p:cNvSpPr/>
          <p:nvPr/>
        </p:nvSpPr>
        <p:spPr>
          <ns1:xfrm xmlns:ns1="http://schemas.openxmlformats.org/drawingml/2006/main">
            <ns1:off x="2600708" y="1959048"/>
            <ns1:ext cx="722655" cy="2099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132" dirty="0">
                <ns7:solidFill>
                  <ns7:srgbClr val="1F2A44"/>
                </ns7:solidFill>
                <ns7:latin typeface="Noto Sans SC"/>
                <ns7:ea typeface="Noto Sans SC"/>
              </ns7:rPr>
              <ns7:t>[全部满足]</ns7:t>
            </ns7:r>
            <ns7:endParaRPr lang="zh-CN" sz="1132"/>
          </ns7:p>
        </p:txBody>
      </p:sp>
      <p:sp>
        <p:nvSpPr>
          <p:cNvPr id="16" name="UML h2-request label 16"/>
          <p:cNvSpPr/>
          <p:nvPr/>
        </p:nvSpPr>
        <p:spPr>
          <ns1:xfrm xmlns:ns1="http://schemas.openxmlformats.org/drawingml/2006/main">
            <ns1:off x="4103786" y="1998988"/>
            <ns1:ext cx="1154004" cy="209924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132" dirty="0">
                <ns7:solidFill>
                  <ns7:srgbClr val="1F2A44"/>
                </ns7:solidFill>
                <ns7:latin typeface="Noto Sans SC"/>
                <ns7:ea typeface="Noto Sans SC"/>
              </ns7:rPr>
              <ns7:t>[至少一项不满足]</ns7:t>
            </ns7:r>
            <ns7:endParaRPr lang="zh-CN" sz="1132"/>
          </ns7:p>
        </p:txBody>
      </p:sp>
      <p:sp>
        <p:nvSpPr>
          <p:cNvPr id="17" name="UML h2-request box 17"/>
          <p:cNvSpPr/>
          <p:nvPr/>
        </p:nvSpPr>
        <p:spPr>
          <ns1:xfrm xmlns:ns1="http://schemas.openxmlformats.org/drawingml/2006/main">
            <ns1:off x="1880058" y="2562810"/>
            <ns1:ext cx="1829083" cy="391090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18" name="UML h2-request label 18"/>
          <p:cNvSpPr/>
          <p:nvPr/>
        </p:nvSpPr>
        <p:spPr>
          <ns1:xfrm xmlns:ns1="http://schemas.openxmlformats.org/drawingml/2006/main">
            <ns1:off x="1957142" y="2655470"/>
            <ns1:ext cx="1725239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创建并保存Submission</ns7:t>
            </ns7:r>
            <ns7:endParaRPr lang="zh-CN" sz="1258"/>
          </ns7:p>
        </p:txBody>
      </p:sp>
      <p:sp>
        <p:nvSpPr>
          <p:cNvPr id="19" name="UML h2-request box 19"/>
          <p:cNvSpPr/>
          <p:nvPr/>
        </p:nvSpPr>
        <p:spPr>
          <ns1:xfrm xmlns:ns1="http://schemas.openxmlformats.org/drawingml/2006/main">
            <ns1:off x="2395201" y="3233479"/>
            <ns1:ext cx="798796" cy="391090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20" name="UML h2-request label 20"/>
          <p:cNvSpPr/>
          <p:nvPr/>
        </p:nvSpPr>
        <p:spPr>
          <ns1:xfrm xmlns:ns1="http://schemas.openxmlformats.org/drawingml/2006/main">
            <ns1:off x="2472285" y="3326139"/>
            <ns1:ext cx="694952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反馈成功</ns7:t>
            </ns7:r>
            <ns7:endParaRPr lang="zh-CN" sz="1258"/>
          </ns7:p>
        </p:txBody>
      </p:sp>
      <p:sp>
        <p:nvSpPr>
          <p:cNvPr id="21" name="UML h2-request connection 21"/>
          <p:cNvSpPr/>
          <p:nvPr/>
        </p:nvSpPr>
        <p:spPr>
          <ns1:xfrm xmlns:ns1="http://schemas.openxmlformats.org/drawingml/2006/main">
            <ns1:off x="5306732" y="2562810"/>
            <ns1:ext cx="1925098" cy="54254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95525" h="646938" fill="norm" stroke="1" extrusionOk="0">
                <ns2:moveTo>
                  <ns2:pt x="190500" y="0"/>
                </ns2:moveTo>
                <ns2:lnTo>
                  <ns2:pt x="190500" y="285369"/>
                </ns2:lnTo>
                <ns2:lnTo>
                  <ns2:pt x="0" y="323469"/>
                </ns2:lnTo>
                <ns2:lnTo>
                  <ns2:pt x="190500" y="361569"/>
                </ns2:lnTo>
                <ns2:lnTo>
                  <ns2:pt x="190500" y="646938"/>
                </ns2:lnTo>
                <ns2:lnTo>
                  <ns2:pt x="190500" y="646938"/>
                </ns2:lnTo>
                <ns2:lnTo>
                  <ns2:pt x="2295525" y="646938"/>
                </ns2:lnTo>
                <ns2:lnTo>
                  <ns2:pt x="2295525" y="646938"/>
                </ns2:lnTo>
                <ns2:lnTo>
                  <ns2:pt x="2295525" y="95250"/>
                </ns2:lnTo>
                <ns2:lnTo>
                  <ns2:pt x="2200275" y="0"/>
                </ns2:lnTo>
                <ns2:lnTo>
                  <ns2:pt x="190500" y="0"/>
                </ns2:lnTo>
                <ns2:lnTo>
                  <ns2:pt x="190500" y="0"/>
                </ns2:lnTo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000000"/>
            </ns4:solidFill>
          </ns4:ln>
        </p:spPr>
      </p:sp>
      <p:sp>
        <p:nvSpPr>
          <p:cNvPr id="22" name="UML h2-request connection 22"/>
          <p:cNvSpPr/>
          <p:nvPr/>
        </p:nvSpPr>
        <p:spPr>
          <ns1:xfrm xmlns:ns1="http://schemas.openxmlformats.org/drawingml/2006/main">
            <ns1:off x="7151951" y="2562810"/>
            <ns1:ext cx="79880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rm" stroke="1" extrusionOk="0">
                <ns2:moveTo>
                  <ns2:pt x="0" y="0"/>
                </ns2:moveTo>
                <ns2:lnTo>
                  <ns2:pt x="0" y="95250"/>
                </ns2:lnTo>
                <ns2:lnTo>
                  <ns2:pt x="95250" y="95250"/>
                </ns2:lnTo>
                <ns2:lnTo>
                  <ns2:pt x="0" y="0"/>
                </ns2:lnTo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000000"/>
            </ns4:solidFill>
          </ns4:ln>
        </p:spPr>
      </p:sp>
      <p:sp>
        <p:nvSpPr>
          <p:cNvPr id="23" name="UML h2-request label 23"/>
          <p:cNvSpPr/>
          <p:nvPr/>
        </p:nvSpPr>
        <p:spPr>
          <ns1:xfrm xmlns:ns1="http://schemas.openxmlformats.org/drawingml/2006/main">
            <ns1:off x="5511624" y="2615531"/>
            <ns1:ext cx="854712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不新增提交</ns7:t>
            </ns7:r>
            <ns7:endParaRPr lang="zh-CN" sz="1258"/>
          </ns7:p>
        </p:txBody>
      </p:sp>
      <p:sp>
        <p:nvSpPr>
          <p:cNvPr id="24" name="UML h2-request label 24"/>
          <p:cNvSpPr/>
          <p:nvPr/>
        </p:nvSpPr>
        <p:spPr>
          <ns1:xfrm xmlns:ns1="http://schemas.openxmlformats.org/drawingml/2006/main">
            <ns1:off x="5511624" y="2846862"/>
            <ns1:ext cx="1653507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不更改已有提交和评分</ns7:t>
            </ns7:r>
            <ns7:endParaRPr lang="zh-CN" sz="1258"/>
          </ns7:p>
        </p:txBody>
      </p:sp>
      <p:sp>
        <p:nvSpPr>
          <p:cNvPr id="25" name="UML h2-request box 25"/>
          <p:cNvSpPr/>
          <p:nvPr/>
        </p:nvSpPr>
        <p:spPr>
          <ns1:xfrm xmlns:ns1="http://schemas.openxmlformats.org/drawingml/2006/main">
            <ns1:off x="3868900" y="2638536"/>
            <ns1:ext cx="1437833" cy="391090"/>
          </ns1:xfrm>
          <ns2:prstGeom xmlns:ns2="http://schemas.openxmlformats.org/drawingml/2006/main" prst="roundRect">
            <ns2:avLst>
              <ns2:gd name="adj" fmla="val 18382"/>
            </ns2:avLst>
          </ns2:pr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26" name="UML h2-request label 26"/>
          <p:cNvSpPr/>
          <p:nvPr/>
        </p:nvSpPr>
        <p:spPr>
          <ns1:xfrm xmlns:ns1="http://schemas.openxmlformats.org/drawingml/2006/main">
            <ns1:off x="3945984" y="2731196"/>
            <ns1:ext cx="1333989" cy="23324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7988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58" dirty="0">
                <ns7:solidFill>
                  <ns7:srgbClr val="000000"/>
                </ns7:solidFill>
                <ns7:latin typeface="Noto Sans SC"/>
                <ns7:ea typeface="Noto Sans SC"/>
              </ns7:rPr>
              <ns7:t>反馈实际拒绝原因</ns7:t>
            </ns7:r>
            <ns7:endParaRPr lang="zh-CN" sz="1258"/>
          </ns7:p>
        </p:txBody>
      </p:sp>
      <p:sp>
        <p:nvSpPr>
          <p:cNvPr id="27" name="UML h2-request arrow 27"/>
          <p:cNvSpPr/>
          <p:nvPr/>
        </p:nvSpPr>
        <p:spPr>
          <ns1:xfrm xmlns:ns1="http://schemas.openxmlformats.org/drawingml/2006/main">
            <ns1:off x="3595352" y="3672497"/>
            <ns1:ext cx="191711" cy="19171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8600" h="228600" fill="norm" stroke="1" extrusionOk="0">
                <ns2:moveTo>
                  <ns2:pt x="114300" y="0"/>
                </ns2:moveTo>
                <ns2:lnTo>
                  <ns2:pt x="228600" y="114300"/>
                </ns2:lnTo>
                <ns2:lnTo>
                  <ns2:pt x="114300" y="228600"/>
                </ns2:lnTo>
                <ns2:lnTo>
                  <ns2:pt x="0" y="114300"/>
                </ns2:lnTo>
                <ns2:lnTo>
                  <ns2:pt x="11430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28" name="UML h2-request anchor 28"/>
          <p:cNvSpPr/>
          <p:nvPr/>
        </p:nvSpPr>
        <p:spPr>
          <ns1:xfrm xmlns:ns1="http://schemas.openxmlformats.org/drawingml/2006/main">
            <ns1:off x="3603340" y="4023967"/>
            <ns1:ext cx="175735" cy="175735"/>
          </ns1:xfrm>
          <ns2:prstGeom xmlns:ns2="http://schemas.openxmlformats.org/drawingml/2006/main" prst="ellipse">
            <ns2:avLst/>
          </ns2:pr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29" name="UML h2-request anchor 29"/>
          <p:cNvSpPr/>
          <p:nvPr/>
        </p:nvSpPr>
        <p:spPr>
          <ns1:xfrm xmlns:ns1="http://schemas.openxmlformats.org/drawingml/2006/main">
            <ns1:off x="3643280" y="4063907"/>
            <ns1:ext cx="95856" cy="95856"/>
          </ns1:xfrm>
          <ns2:prstGeom xmlns:ns2="http://schemas.openxmlformats.org/drawingml/2006/main" prst="ellipse">
            <ns2:avLst/>
          </ns2:pr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0" name="UML h2-request divider 30"/>
          <p:cNvSpPr/>
          <p:nvPr/>
        </p:nvSpPr>
        <p:spPr>
          <ns1:xfrm xmlns:ns1="http://schemas.openxmlformats.org/drawingml/2006/main">
            <ns1:off x="3691208" y="1287389"/>
            <ns1:ext cx="952" cy="15975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1" name="UML h2-request arrow 31"/>
          <p:cNvSpPr/>
          <p:nvPr/>
        </p:nvSpPr>
        <p:spPr>
          <ns1:xfrm xmlns:ns1="http://schemas.openxmlformats.org/drawingml/2006/main">
            <ns1:off x="3659256" y="1367268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2" name="UML h2-request divider 32"/>
          <p:cNvSpPr/>
          <p:nvPr/>
        </p:nvSpPr>
        <p:spPr>
          <ns1:xfrm xmlns:ns1="http://schemas.openxmlformats.org/drawingml/2006/main">
            <ns1:off x="2794599" y="2953901"/>
            <ns1:ext cx="952" cy="27957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33375" fill="none" stroke="1" extrusionOk="0">
                <ns2:moveTo>
                  <ns2:pt x="0" y="0"/>
                </ns2:moveTo>
                <ns2:lnTo>
                  <ns2:pt x="0" y="33337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3" name="UML h2-request arrow 33"/>
          <p:cNvSpPr/>
          <p:nvPr/>
        </p:nvSpPr>
        <p:spPr>
          <ns1:xfrm xmlns:ns1="http://schemas.openxmlformats.org/drawingml/2006/main">
            <ns1:off x="2762648" y="3153600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4" name="UML h2-request divider 34"/>
          <p:cNvSpPr/>
          <p:nvPr/>
        </p:nvSpPr>
        <p:spPr>
          <ns1:xfrm xmlns:ns1="http://schemas.openxmlformats.org/drawingml/2006/main">
            <ns1:off x="2794599" y="2271409"/>
            <ns1:ext cx="4812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3834" h="952" fill="none" stroke="1" extrusionOk="0">
                <ns2:moveTo>
                  <ns2:pt x="573834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5" name="UML h2-request divider 35"/>
          <p:cNvSpPr/>
          <p:nvPr/>
        </p:nvSpPr>
        <p:spPr>
          <ns1:xfrm xmlns:ns1="http://schemas.openxmlformats.org/drawingml/2006/main">
            <ns1:off x="2794599" y="2271409"/>
            <ns1:ext cx="952" cy="29140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47472" fill="none" stroke="1" extrusionOk="0">
                <ns2:moveTo>
                  <ns2:pt x="0" y="0"/>
                </ns2:moveTo>
                <ns2:lnTo>
                  <ns2:pt x="0" y="347472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6" name="UML h2-request arrow 36"/>
          <p:cNvSpPr/>
          <p:nvPr/>
        </p:nvSpPr>
        <p:spPr>
          <ns1:xfrm xmlns:ns1="http://schemas.openxmlformats.org/drawingml/2006/main">
            <ns1:off x="2762648" y="2482931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7" name="UML h2-request divider 37"/>
          <p:cNvSpPr/>
          <p:nvPr/>
        </p:nvSpPr>
        <p:spPr>
          <ns1:xfrm xmlns:ns1="http://schemas.openxmlformats.org/drawingml/2006/main">
            <ns1:off x="4106582" y="2271409"/>
            <ns1:ext cx="48123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3834" h="952" fill="none" stroke="1" extrusionOk="0">
                <ns2:moveTo>
                  <ns2:pt x="0" y="0"/>
                </ns2:moveTo>
                <ns2:lnTo>
                  <ns2:pt x="57383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8" name="UML h2-request divider 38"/>
          <p:cNvSpPr/>
          <p:nvPr/>
        </p:nvSpPr>
        <p:spPr>
          <ns1:xfrm xmlns:ns1="http://schemas.openxmlformats.org/drawingml/2006/main">
            <ns1:off x="4587816" y="2271409"/>
            <ns1:ext cx="952" cy="36712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437769" fill="none" stroke="1" extrusionOk="0">
                <ns2:moveTo>
                  <ns2:pt x="0" y="0"/>
                </ns2:moveTo>
                <ns2:lnTo>
                  <ns2:pt x="0" y="437769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39" name="UML h2-request arrow 39"/>
          <p:cNvSpPr/>
          <p:nvPr/>
        </p:nvSpPr>
        <p:spPr>
          <ns1:xfrm xmlns:ns1="http://schemas.openxmlformats.org/drawingml/2006/main">
            <ns1:off x="4555864" y="2558656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0" name="UML h2-request divider 40"/>
          <p:cNvSpPr/>
          <p:nvPr/>
        </p:nvSpPr>
        <p:spPr>
          <ns1:xfrm xmlns:ns1="http://schemas.openxmlformats.org/drawingml/2006/main">
            <ns1:off x="2794599" y="3624570"/>
            <ns1:ext cx="952" cy="14378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71450" fill="none" stroke="1" extrusionOk="0">
                <ns2:moveTo>
                  <ns2:pt x="0" y="0"/>
                </ns2:moveTo>
                <ns2:lnTo>
                  <ns2:pt x="0" y="1714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1" name="UML h2-request divider 41"/>
          <p:cNvSpPr/>
          <p:nvPr/>
        </p:nvSpPr>
        <p:spPr>
          <ns1:xfrm xmlns:ns1="http://schemas.openxmlformats.org/drawingml/2006/main">
            <ns1:off x="2794599" y="3768353"/>
            <ns1:ext cx="80075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4834" h="952" fill="none" stroke="1" extrusionOk="0">
                <ns2:moveTo>
                  <ns2:pt x="0" y="0"/>
                </ns2:moveTo>
                <ns2:lnTo>
                  <ns2:pt x="95483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2" name="UML h2-request arrow 42"/>
          <p:cNvSpPr/>
          <p:nvPr/>
        </p:nvSpPr>
        <p:spPr>
          <ns1:xfrm xmlns:ns1="http://schemas.openxmlformats.org/drawingml/2006/main">
            <ns1:off x="3515473" y="3736401"/>
            <ns1:ext cx="79880" cy="639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0" y="0"/>
                </ns2:moveTo>
                <ns2:lnTo>
                  <ns2:pt x="95250" y="38100"/>
                </ns2:lnTo>
                <ns2:lnTo>
                  <ns2:pt x="0" y="7620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3" name="UML h2-request divider 43"/>
          <p:cNvSpPr/>
          <p:nvPr/>
        </p:nvSpPr>
        <p:spPr>
          <ns1:xfrm xmlns:ns1="http://schemas.openxmlformats.org/drawingml/2006/main">
            <ns1:off x="4587816" y="3029626"/>
            <ns1:ext cx="952" cy="73872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880872" fill="none" stroke="1" extrusionOk="0">
                <ns2:moveTo>
                  <ns2:pt x="0" y="0"/>
                </ns2:moveTo>
                <ns2:lnTo>
                  <ns2:pt x="0" y="880872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4" name="UML h2-request divider 44"/>
          <p:cNvSpPr/>
          <p:nvPr/>
        </p:nvSpPr>
        <p:spPr>
          <ns1:xfrm xmlns:ns1="http://schemas.openxmlformats.org/drawingml/2006/main">
            <ns1:off x="3787063" y="3768353"/>
            <ns1:ext cx="80075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4834" h="952" fill="none" stroke="1" extrusionOk="0">
                <ns2:moveTo>
                  <ns2:pt x="954834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5" name="UML h2-request arrow 45"/>
          <p:cNvSpPr/>
          <p:nvPr/>
        </p:nvSpPr>
        <p:spPr>
          <ns1:xfrm xmlns:ns1="http://schemas.openxmlformats.org/drawingml/2006/main">
            <ns1:off x="3787063" y="3736401"/>
            <ns1:ext cx="79880" cy="6390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76200" fill="norm" stroke="1" extrusionOk="0">
                <ns2:moveTo>
                  <ns2:pt x="95250" y="0"/>
                </ns2:moveTo>
                <ns2:lnTo>
                  <ns2:pt x="0" y="38100"/>
                </ns2:lnTo>
                <ns2:lnTo>
                  <ns2:pt x="95250" y="76200"/>
                </ns2:lnTo>
                <ns2:lnTo>
                  <ns2:pt x="5715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6" name="UML h2-request divider 46"/>
          <p:cNvSpPr/>
          <p:nvPr/>
        </p:nvSpPr>
        <p:spPr>
          <ns1:xfrm xmlns:ns1="http://schemas.openxmlformats.org/drawingml/2006/main">
            <ns1:off x="3691208" y="1838238"/>
            <ns1:ext cx="952" cy="22165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64300" fill="none" stroke="1" extrusionOk="0">
                <ns2:moveTo>
                  <ns2:pt x="0" y="0"/>
                </ns2:moveTo>
                <ns2:lnTo>
                  <ns2:pt x="0" y="2643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7" name="UML h2-request arrow 47"/>
          <p:cNvSpPr/>
          <p:nvPr/>
        </p:nvSpPr>
        <p:spPr>
          <ns1:xfrm xmlns:ns1="http://schemas.openxmlformats.org/drawingml/2006/main">
            <ns1:off x="3659256" y="1980009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8" name="UML h2-request divider 48"/>
          <p:cNvSpPr/>
          <p:nvPr/>
        </p:nvSpPr>
        <p:spPr>
          <ns1:xfrm xmlns:ns1="http://schemas.openxmlformats.org/drawingml/2006/main">
            <ns1:off x="3691208" y="3864208"/>
            <ns1:ext cx="952" cy="15975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90500" fill="none" stroke="1" extrusionOk="0">
                <ns2:moveTo>
                  <ns2:pt x="0" y="0"/>
                </ns2:moveTo>
                <ns2:lnTo>
                  <ns2:pt x="0" y="190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49" name="UML h2-request arrow 49"/>
          <p:cNvSpPr/>
          <p:nvPr/>
        </p:nvSpPr>
        <p:spPr>
          <ns1:xfrm xmlns:ns1="http://schemas.openxmlformats.org/drawingml/2006/main">
            <ns1:off x="3659256" y="3944088"/>
            <ns1:ext cx="63904" cy="798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95250" fill="norm" stroke="1" extrusionOk="0">
                <ns2:moveTo>
                  <ns2:pt x="0" y="0"/>
                </ns2:moveTo>
                <ns2:lnTo>
                  <ns2:pt x="38100" y="95250"/>
                </ns2:lnTo>
                <ns2:lnTo>
                  <ns2:pt x="76200" y="0"/>
                </ns2:lnTo>
                <ns2:lnTo>
                  <ns2:pt x="38100" y="3810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7988">
            <ns4:solidFill>
              <ns4:srgbClr val="1F2A44"/>
            </ns4:solidFill>
          </ns4:ln>
        </p:spPr>
      </p:sp>
      <p:sp>
        <p:nvSpPr>
          <p:cNvPr id="7" name="content-469">
            <a:extLst xmlns:a="http://schemas.openxmlformats.org/drawingml/2006/main">
              <a:ext uri="{FF2B5EF4-FFF2-40B4-BE49-F238E27FC236}">
                <a16:creationId xmlns:a16="http://schemas.microsoft.com/office/drawing/2014/main" id="{5AD52844-09B0-4C3B-A143-9AA9CDA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概括请求流程；全部提交条件见H2 R3，拒绝后的不变要求见R4。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7BB67-760C-4596-A5C4-BBB1F8FC0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ef51dc8ef435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70">
            <a:extLst xmlns:a="http://schemas.openxmlformats.org/drawingml/2006/main">
              <a:ext uri="{FF2B5EF4-FFF2-40B4-BE49-F238E27FC236}">
                <a16:creationId xmlns:a16="http://schemas.microsoft.com/office/drawing/2014/main" id="{111E8687-5C58-467D-B165-D20BE87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H2独立判断：另一任务已有提交</a:t>
            </a:r>
          </a:p>
        </p:txBody>
      </p:sp>
      <p:sp>
        <p:nvSpPr>
          <p:cNvPr id="2" name="frame-471">
            <a:extLst xmlns:a="http://schemas.openxmlformats.org/drawingml/2006/main">
              <a:ext uri="{FF2B5EF4-FFF2-40B4-BE49-F238E27FC236}">
                <a16:creationId xmlns:a16="http://schemas.microsoft.com/office/drawing/2014/main" id="{4D49BBB8-5A47-488B-9FA5-8C28D28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72">
            <a:extLst xmlns:a="http://schemas.openxmlformats.org/drawingml/2006/main">
              <a:ext uri="{FF2B5EF4-FFF2-40B4-BE49-F238E27FC236}">
                <a16:creationId xmlns:a16="http://schemas.microsoft.com/office/drawing/2014/main" id="{A12E9B79-EC67-41D2-832D-E1EC6E1A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9DFE736-98BE-4F6D-A1F3-69951CC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9AAB6E3-94A4-4C32-B53B-AA049EC1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55 / 82</a:t>
            </a:r>
          </a:p>
        </p:txBody>
      </p:sp>
      <p:sp>
        <p:nvSpPr>
          <p:cNvPr id="6" name="content-473">
            <a:extLst xmlns:a="http://schemas.openxmlformats.org/drawingml/2006/main">
              <a:ext uri="{FF2B5EF4-FFF2-40B4-BE49-F238E27FC236}">
                <a16:creationId xmlns:a16="http://schemas.microsoft.com/office/drawing/2014/main" id="{AD1B689B-2E88-496F-926C-AC26A20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已有记录</a:t>
            </a:r>
          </a:p>
        </p:txBody>
      </p:sp>
      <p:sp>
        <p:nvSpPr>
          <p:cNvPr id="7" name="content-474">
            <a:extLst xmlns:a="http://schemas.openxmlformats.org/drawingml/2006/main">
              <a:ext uri="{FF2B5EF4-FFF2-40B4-BE49-F238E27FC236}">
                <a16:creationId xmlns:a16="http://schemas.microsoft.com/office/drawing/2014/main" id="{C699A77C-A752-4C33-AE52-D4D0812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学生S已对任务T1有一份当前提交。</a:t>
            </a:r>
          </a:p>
        </p:txBody>
      </p:sp>
      <p:sp>
        <p:nvSpPr>
          <p:cNvPr id="8" name="frame-475">
            <a:extLst xmlns:a="http://schemas.openxmlformats.org/drawingml/2006/main">
              <a:ext uri="{FF2B5EF4-FFF2-40B4-BE49-F238E27FC236}">
                <a16:creationId xmlns:a16="http://schemas.microsoft.com/office/drawing/2014/main" id="{4DC22338-E4EA-4054-85BE-E52E2A55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76">
            <a:extLst xmlns:a="http://schemas.openxmlformats.org/drawingml/2006/main">
              <a:ext uri="{FF2B5EF4-FFF2-40B4-BE49-F238E27FC236}">
                <a16:creationId xmlns:a16="http://schemas.microsoft.com/office/drawing/2014/main" id="{28B93022-6936-49F6-B99A-4BF2CCD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本次请求</a:t>
            </a:r>
          </a:p>
        </p:txBody>
      </p:sp>
      <p:sp>
        <p:nvSpPr>
          <p:cNvPr id="10" name="content-477">
            <a:extLst xmlns:a="http://schemas.openxmlformats.org/drawingml/2006/main">
              <a:ext uri="{FF2B5EF4-FFF2-40B4-BE49-F238E27FC236}">
                <a16:creationId xmlns:a16="http://schemas.microsoft.com/office/drawing/2014/main" id="{77012EAB-1463-411D-8D12-41F2BE82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S向T2提交；具有T2所属课程的有效选课关系，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T2已发布且窗口可用，S对T2尚无当前提交。</a:t>
            </a:r>
          </a:p>
        </p:txBody>
      </p:sp>
      <p:sp>
        <p:nvSpPr>
          <p:cNvPr id="11" name="frame-478">
            <a:extLst xmlns:a="http://schemas.openxmlformats.org/drawingml/2006/main">
              <a:ext uri="{FF2B5EF4-FFF2-40B4-BE49-F238E27FC236}">
                <a16:creationId xmlns:a16="http://schemas.microsoft.com/office/drawing/2014/main" id="{A12F0CF1-429E-41F5-98B6-1316125D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79">
            <a:extLst xmlns:a="http://schemas.openxmlformats.org/drawingml/2006/main">
              <a:ext uri="{FF2B5EF4-FFF2-40B4-BE49-F238E27FC236}">
                <a16:creationId xmlns:a16="http://schemas.microsoft.com/office/drawing/2014/main" id="{B4CB605D-BC88-4BF8-A5EA-820EDB4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判断任务</a:t>
            </a:r>
          </a:p>
        </p:txBody>
      </p:sp>
      <p:sp>
        <p:nvSpPr>
          <p:cNvPr id="13" name="content-480">
            <a:extLst xmlns:a="http://schemas.openxmlformats.org/drawingml/2006/main">
              <a:ext uri="{FF2B5EF4-FFF2-40B4-BE49-F238E27FC236}">
                <a16:creationId xmlns:a16="http://schemas.microsoft.com/office/drawing/2014/main" id="{F391CBF3-74C2-4AEB-A100-305BACF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本次请求能否成功？为哪个配对建立记录？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T1的记录是否影响T2的数量限制？引用规则说明。</a:t>
            </a:r>
          </a:p>
        </p:txBody>
      </p:sp>
      <p:sp>
        <p:nvSpPr>
          <p:cNvPr id="14" name="content-481">
            <a:extLst xmlns:a="http://schemas.openxmlformats.org/drawingml/2006/main">
              <a:ext uri="{FF2B5EF4-FFF2-40B4-BE49-F238E27FC236}">
                <a16:creationId xmlns:a16="http://schemas.microsoft.com/office/drawing/2014/main" id="{4B5C7A22-D66B-401A-B817-B42D79C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依据H2 R3、R5；读写等简化前提沿用R7。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54377-1D00-4B8C-BEA9-1F44DBB9A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d06ffd58c4c4a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82">
            <a:extLst xmlns:a="http://schemas.openxmlformats.org/drawingml/2006/main">
              <a:ext uri="{FF2B5EF4-FFF2-40B4-BE49-F238E27FC236}">
                <a16:creationId xmlns:a16="http://schemas.microsoft.com/office/drawing/2014/main" id="{E61D194E-E6EE-4439-ACE4-9C6D382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05 小结：换一个业务怎样建模</a:t>
            </a:r>
          </a:p>
        </p:txBody>
      </p:sp>
      <p:sp>
        <p:nvSpPr>
          <p:cNvPr id="2" name="frame-483">
            <a:extLst xmlns:a="http://schemas.openxmlformats.org/drawingml/2006/main">
              <a:ext uri="{FF2B5EF4-FFF2-40B4-BE49-F238E27FC236}">
                <a16:creationId xmlns:a16="http://schemas.microsoft.com/office/drawing/2014/main" id="{D092676A-7140-41E9-AC64-9DD61D6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84">
            <a:extLst xmlns:a="http://schemas.openxmlformats.org/drawingml/2006/main">
              <a:ext uri="{FF2B5EF4-FFF2-40B4-BE49-F238E27FC236}">
                <a16:creationId xmlns:a16="http://schemas.microsoft.com/office/drawing/2014/main" id="{0BD8F023-728F-47CB-9C83-0CD58E1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880150-655D-473C-8A05-5591933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D179293-11FC-4706-A6F9-300E1096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56 / 82</a:t>
            </a:r>
          </a:p>
        </p:txBody>
      </p:sp>
      <p:sp>
        <p:nvSpPr>
          <p:cNvPr id="6" name="content-485">
            <a:extLst xmlns:a="http://schemas.openxmlformats.org/drawingml/2006/main">
              <a:ext uri="{FF2B5EF4-FFF2-40B4-BE49-F238E27FC236}">
                <a16:creationId xmlns:a16="http://schemas.microsoft.com/office/drawing/2014/main" id="{A232E6CF-AF28-4DB7-94A9-44CB59E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沿用的分析方法</a:t>
            </a:r>
          </a:p>
        </p:txBody>
      </p:sp>
      <p:sp>
        <p:nvSpPr>
          <p:cNvPr id="7" name="content-486">
            <a:extLst xmlns:a="http://schemas.openxmlformats.org/drawingml/2006/main">
              <a:ext uri="{FF2B5EF4-FFF2-40B4-BE49-F238E27FC236}">
                <a16:creationId xmlns:a16="http://schemas.microsoft.com/office/drawing/2014/main" id="{293160B4-ACCE-4ECD-9511-698ED1B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先读业务规则，确定处理对象与完成条件，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再安排职责并检查实现。</a:t>
            </a:r>
          </a:p>
        </p:txBody>
      </p:sp>
      <p:sp>
        <p:nvSpPr>
          <p:cNvPr id="8" name="frame-487">
            <a:extLst xmlns:a="http://schemas.openxmlformats.org/drawingml/2006/main">
              <a:ext uri="{FF2B5EF4-FFF2-40B4-BE49-F238E27FC236}">
                <a16:creationId xmlns:a16="http://schemas.microsoft.com/office/drawing/2014/main" id="{EE0B739B-CDDE-4BC9-83E9-4EFA338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488">
            <a:extLst xmlns:a="http://schemas.openxmlformats.org/drawingml/2006/main">
              <a:ext uri="{FF2B5EF4-FFF2-40B4-BE49-F238E27FC236}">
                <a16:creationId xmlns:a16="http://schemas.microsoft.com/office/drawing/2014/main" id="{B17A7769-F113-44AD-B53B-AC3B8C3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重新确认的业务</a:t>
            </a:r>
          </a:p>
        </p:txBody>
      </p:sp>
      <p:sp>
        <p:nvSpPr>
          <p:cNvPr id="10" name="content-489">
            <a:extLst xmlns:a="http://schemas.openxmlformats.org/drawingml/2006/main">
              <a:ext uri="{FF2B5EF4-FFF2-40B4-BE49-F238E27FC236}">
                <a16:creationId xmlns:a16="http://schemas.microsoft.com/office/drawing/2014/main" id="{AAA96DF0-F00D-4C9A-A4F2-F892C84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记录何时创建、请求失败后能否改变已有记录，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都要依据新业务规则判断。</a:t>
            </a:r>
          </a:p>
        </p:txBody>
      </p:sp>
      <p:sp>
        <p:nvSpPr>
          <p:cNvPr id="11" name="frame-490">
            <a:extLst xmlns:a="http://schemas.openxmlformats.org/drawingml/2006/main">
              <a:ext uri="{FF2B5EF4-FFF2-40B4-BE49-F238E27FC236}">
                <a16:creationId xmlns:a16="http://schemas.microsoft.com/office/drawing/2014/main" id="{8A2B7320-06A7-42EB-8659-B6D05685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491">
            <a:extLst xmlns:a="http://schemas.openxmlformats.org/drawingml/2006/main">
              <a:ext uri="{FF2B5EF4-FFF2-40B4-BE49-F238E27FC236}">
                <a16:creationId xmlns:a16="http://schemas.microsoft.com/office/drawing/2014/main" id="{C15A37D5-3753-4A9C-B36A-3534BB5B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判断依据</a:t>
            </a:r>
          </a:p>
        </p:txBody>
      </p:sp>
      <p:sp>
        <p:nvSpPr>
          <p:cNvPr id="13" name="content-492">
            <a:extLst xmlns:a="http://schemas.openxmlformats.org/drawingml/2006/main">
              <a:ext uri="{FF2B5EF4-FFF2-40B4-BE49-F238E27FC236}">
                <a16:creationId xmlns:a16="http://schemas.microsoft.com/office/drawing/2014/main" id="{E1E01297-94AB-464A-AE86-0C7DD00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回到任务书核对预期结果。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模型、代码与测试一致，也可能同时误解需求。</a:t>
            </a:r>
          </a:p>
        </p:txBody>
      </p:sp>
      <p:sp>
        <p:nvSpPr>
          <p:cNvPr id="14" name="content-493">
            <a:extLst xmlns:a="http://schemas.openxmlformats.org/drawingml/2006/main">
              <a:ext uri="{FF2B5EF4-FFF2-40B4-BE49-F238E27FC236}">
                <a16:creationId xmlns:a16="http://schemas.microsoft.com/office/drawing/2014/main" id="{67F060B6-5B5E-49D1-9C69-062A988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选课拒绝改变已有记录；H2拒绝不新增、不改变已有提交。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2681B-EAE3-4B8C-A2F8-C5759510E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e643e61b94566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95">
            <a:extLst xmlns:a="http://schemas.openxmlformats.org/drawingml/2006/main">
              <a:ext uri="{FF2B5EF4-FFF2-40B4-BE49-F238E27FC236}">
                <a16:creationId xmlns:a16="http://schemas.microsoft.com/office/drawing/2014/main" id="{9CA00DEE-AFCF-4CC1-9155-6955E2E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归纳练习：说明一条模型联系</a:t>
            </a:r>
          </a:p>
        </p:txBody>
      </p:sp>
      <p:sp>
        <p:nvSpPr>
          <p:cNvPr id="2" name="frame-496">
            <a:extLst xmlns:a="http://schemas.openxmlformats.org/drawingml/2006/main">
              <a:ext uri="{FF2B5EF4-FFF2-40B4-BE49-F238E27FC236}">
                <a16:creationId xmlns:a16="http://schemas.microsoft.com/office/drawing/2014/main" id="{4CDC845D-A2F8-4B87-AC9F-0495F83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97">
            <a:extLst xmlns:a="http://schemas.openxmlformats.org/drawingml/2006/main">
              <a:ext uri="{FF2B5EF4-FFF2-40B4-BE49-F238E27FC236}">
                <a16:creationId xmlns:a16="http://schemas.microsoft.com/office/drawing/2014/main" id="{B159AC2F-40B5-444C-869C-E266D7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FB3E39C-0475-4C64-8634-4697D55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2288F1A-1573-4CC4-AF34-63328162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57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6390A-5721-4607-ABB2-0C6E14AA6262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143250"/>
                <a:gridCol w="2667000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模型之间的联系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前一步已经明确什么？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这一步还需确定什么？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业务用例 → 系统用例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系统用例 ↔ 领域模型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用例、领域 → 分析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 → 设计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 → 代码与测试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待填写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498">
            <a:extLst xmlns:a="http://schemas.openxmlformats.org/drawingml/2006/main">
              <a:ext uri="{FF2B5EF4-FFF2-40B4-BE49-F238E27FC236}">
                <a16:creationId xmlns:a16="http://schemas.microsoft.com/office/drawing/2014/main" id="{64E70E0A-EBA3-4CE3-B0BA-ED7BEA9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每人完成一行，并举一条仍须遵守的选课规则。箭头表示信息联系。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FFD72-75D7-4D8C-B1DA-76FF7A8C8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22f0c00f040f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499">
            <a:extLst xmlns:a="http://schemas.openxmlformats.org/drawingml/2006/main">
              <a:ext uri="{FF2B5EF4-FFF2-40B4-BE49-F238E27FC236}">
                <a16:creationId xmlns:a16="http://schemas.microsoft.com/office/drawing/2014/main" id="{E4D93824-1B99-4DA0-B018-DA710D6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五类模型之间的承接</a:t>
            </a:r>
          </a:p>
        </p:txBody>
      </p:sp>
      <p:sp>
        <p:nvSpPr>
          <p:cNvPr id="2" name="frame-500">
            <a:extLst xmlns:a="http://schemas.openxmlformats.org/drawingml/2006/main">
              <a:ext uri="{FF2B5EF4-FFF2-40B4-BE49-F238E27FC236}">
                <a16:creationId xmlns:a16="http://schemas.microsoft.com/office/drawing/2014/main" id="{69BAAB97-5145-4CEF-A461-7D2012D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01">
            <a:extLst xmlns:a="http://schemas.openxmlformats.org/drawingml/2006/main">
              <a:ext uri="{FF2B5EF4-FFF2-40B4-BE49-F238E27FC236}">
                <a16:creationId xmlns:a16="http://schemas.microsoft.com/office/drawing/2014/main" id="{6432019B-02B6-42BD-B190-4BFB07F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149BA10-0CBD-480B-847B-61F09C8A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13785DE-C38A-44B9-837D-32CCE403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58 / 82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4E10E-E02E-4802-BA1A-6116ACF6940A}"/>
              </a:ext>
            </a:extLst>
          </p:cNvPr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8191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667000"/>
                <a:gridCol w="2809875"/>
              </a:tblGrid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模型之间的联系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前一步已经明确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这一步还需确定</a:t>
                      </a:r>
                    </a:p>
                  </a:txBody>
                  <a:tcPr marL="95250" marR="95250" marT="57150" marB="57150" anchor="ctr">
                    <a:solidFill>
                      <a:srgbClr val="1F2A44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业务用例 → 系统用例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学生需要办理结果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软件负责哪部分，何时算完成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系统用例 ↔ 领域模型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按余量处理指定记录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状态与余量分别属于谁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用例、领域 → 分析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业务规则及信息归属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由哪些对象协作完成用例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 → 设计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协调处理、保留结果等职责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操作、参数、返回值与存取接口</a:t>
                      </a:r>
                    </a:p>
                  </a:txBody>
                  <a:tcPr marL="95250" marR="95250" marT="57150" marB="57150" anchor="ctr">
                    <a:solidFill>
                      <a:srgbClr val="F7F2E9"/>
                    </a:solidFill>
                  </a:tcPr>
                </a:tc>
              </a:tr>
              <a:tr h="520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 → 代码与测试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类、接口与交互约定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实现和检查如何满足原始需求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502">
            <a:extLst xmlns:a="http://schemas.openxmlformats.org/drawingml/2006/main">
              <a:ext uri="{FF2B5EF4-FFF2-40B4-BE49-F238E27FC236}">
                <a16:creationId xmlns:a16="http://schemas.microsoft.com/office/drawing/2014/main" id="{0D574405-82EA-4B34-92E9-2BC5B87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各模型逐步明确不同问题，也可往返修订；箭头仅表示信息联系。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30926-0152-42F1-8F69-F763B8468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9694af3ce4977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503">
            <a:extLst xmlns:a="http://schemas.openxmlformats.org/drawingml/2006/main">
              <a:ext uri="{FF2B5EF4-FFF2-40B4-BE49-F238E27FC236}">
                <a16:creationId xmlns:a16="http://schemas.microsoft.com/office/drawing/2014/main" id="{F3D7F222-FC8E-4247-9DA6-425FD2CF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课堂自检：规则与实现</a:t>
            </a:r>
          </a:p>
        </p:txBody>
      </p:sp>
      <p:sp>
        <p:nvSpPr>
          <p:cNvPr id="2" name="frame-504">
            <a:extLst xmlns:a="http://schemas.openxmlformats.org/drawingml/2006/main">
              <a:ext uri="{FF2B5EF4-FFF2-40B4-BE49-F238E27FC236}">
                <a16:creationId xmlns:a16="http://schemas.microsoft.com/office/drawing/2014/main" id="{39582D76-D79B-4ED1-B735-AA7B680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05">
            <a:extLst xmlns:a="http://schemas.openxmlformats.org/drawingml/2006/main">
              <a:ext uri="{FF2B5EF4-FFF2-40B4-BE49-F238E27FC236}">
                <a16:creationId xmlns:a16="http://schemas.microsoft.com/office/drawing/2014/main" id="{650CC91B-447A-4E22-85E3-716BE02E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9B2F226-F886-419A-BDD6-419040C3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A2B6033-0A20-4032-833A-C6DD0D1D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60 / 82</a:t>
            </a:r>
          </a:p>
        </p:txBody>
      </p:sp>
      <p:sp>
        <p:nvSpPr>
          <p:cNvPr id="6" name="content-506">
            <a:extLst xmlns:a="http://schemas.openxmlformats.org/drawingml/2006/main">
              <a:ext uri="{FF2B5EF4-FFF2-40B4-BE49-F238E27FC236}">
                <a16:creationId xmlns:a16="http://schemas.microsoft.com/office/drawing/2014/main" id="{EC38DC0F-2184-427E-8D11-66D357B8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必答</a:t>
            </a:r>
          </a:p>
        </p:txBody>
      </p:sp>
      <p:sp>
        <p:nvSpPr>
          <p:cNvPr id="7" name="content-507">
            <a:extLst xmlns:a="http://schemas.openxmlformats.org/drawingml/2006/main">
              <a:ext uri="{FF2B5EF4-FFF2-40B4-BE49-F238E27FC236}">
                <a16:creationId xmlns:a16="http://schemas.microsoft.com/office/drawing/2014/main" id="{4B484B27-13AF-46FB-B516-824D6C7C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余量为0；某实现返回REJECTED，却删除了原记录E1。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是否满足UC-01？引用约定并说明检查办法。</a:t>
            </a:r>
          </a:p>
        </p:txBody>
      </p:sp>
      <p:sp>
        <p:nvSpPr>
          <p:cNvPr id="8" name="frame-508">
            <a:extLst xmlns:a="http://schemas.openxmlformats.org/drawingml/2006/main">
              <a:ext uri="{FF2B5EF4-FFF2-40B4-BE49-F238E27FC236}">
                <a16:creationId xmlns:a16="http://schemas.microsoft.com/office/drawing/2014/main" id="{E2C8143E-3602-458E-BD0A-D8F5CF7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509">
            <a:extLst xmlns:a="http://schemas.openxmlformats.org/drawingml/2006/main">
              <a:ext uri="{FF2B5EF4-FFF2-40B4-BE49-F238E27FC236}">
                <a16:creationId xmlns:a16="http://schemas.microsoft.com/office/drawing/2014/main" id="{A20864BD-033F-44E6-9F98-231F7A30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选答A</a:t>
            </a:r>
          </a:p>
        </p:txBody>
      </p:sp>
      <p:sp>
        <p:nvSpPr>
          <p:cNvPr id="10" name="content-510">
            <a:extLst xmlns:a="http://schemas.openxmlformats.org/drawingml/2006/main">
              <a:ext uri="{FF2B5EF4-FFF2-40B4-BE49-F238E27FC236}">
                <a16:creationId xmlns:a16="http://schemas.microsoft.com/office/drawing/2014/main" id="{D3DE4A67-E254-424C-8114-F495C9A1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H2一次请求被拒绝，为什么不能据此推定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已有Submission进入“已拒绝”？引用规则说明。</a:t>
            </a:r>
          </a:p>
        </p:txBody>
      </p:sp>
      <p:sp>
        <p:nvSpPr>
          <p:cNvPr id="11" name="frame-511">
            <a:extLst xmlns:a="http://schemas.openxmlformats.org/drawingml/2006/main">
              <a:ext uri="{FF2B5EF4-FFF2-40B4-BE49-F238E27FC236}">
                <a16:creationId xmlns:a16="http://schemas.microsoft.com/office/drawing/2014/main" id="{B64672E1-1F6A-4353-9571-B7E2027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512">
            <a:extLst xmlns:a="http://schemas.openxmlformats.org/drawingml/2006/main">
              <a:ext uri="{FF2B5EF4-FFF2-40B4-BE49-F238E27FC236}">
                <a16:creationId xmlns:a16="http://schemas.microsoft.com/office/drawing/2014/main" id="{BD1A7C67-BB6B-4259-9054-5813AD9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选答B</a:t>
            </a:r>
          </a:p>
        </p:txBody>
      </p:sp>
      <p:sp>
        <p:nvSpPr>
          <p:cNvPr id="13" name="content-513">
            <a:extLst xmlns:a="http://schemas.openxmlformats.org/drawingml/2006/main">
              <a:ext uri="{FF2B5EF4-FFF2-40B4-BE49-F238E27FC236}">
                <a16:creationId xmlns:a16="http://schemas.microsoft.com/office/drawing/2014/main" id="{8F38688F-4B9E-46A5-9380-DA3D1BFA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两个入口共用处理服务有什么理由和代价？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说明这一判断所依据的情境。</a:t>
            </a:r>
          </a:p>
        </p:txBody>
      </p:sp>
      <p:sp>
        <p:nvSpPr>
          <p:cNvPr id="14" name="content-514">
            <a:extLst xmlns:a="http://schemas.openxmlformats.org/drawingml/2006/main">
              <a:ext uri="{FF2B5EF4-FFF2-40B4-BE49-F238E27FC236}">
                <a16:creationId xmlns:a16="http://schemas.microsoft.com/office/drawing/2014/main" id="{37564EE7-30AE-4100-8B41-07A3596E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完成必答，再任选一题。写出判断依据和检查办法。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3A15B-6D37-46A5-B2D8-7F47E9408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19f51247942d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287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514">
            <a:extLst xmlns:a="http://schemas.openxmlformats.org/drawingml/2006/main">
              <a:ext uri="{FF2B5EF4-FFF2-40B4-BE49-F238E27FC236}">
                <a16:creationId xmlns:a16="http://schemas.microsoft.com/office/drawing/2014/main" id="{D412A895-ED66-4CD8-891C-73735DF1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参考扩展：架构与综合图例</a:t>
            </a:r>
          </a:p>
        </p:txBody>
      </p:sp>
      <p:sp>
        <p:nvSpPr>
          <p:cNvPr id="2" name="frame-515">
            <a:extLst xmlns:a="http://schemas.openxmlformats.org/drawingml/2006/main">
              <a:ext uri="{FF2B5EF4-FFF2-40B4-BE49-F238E27FC236}">
                <a16:creationId xmlns:a16="http://schemas.microsoft.com/office/drawing/2014/main" id="{08DD17A3-0A4A-44D7-91F0-4A24777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16">
            <a:extLst xmlns:a="http://schemas.openxmlformats.org/drawingml/2006/main">
              <a:ext uri="{FF2B5EF4-FFF2-40B4-BE49-F238E27FC236}">
                <a16:creationId xmlns:a16="http://schemas.microsoft.com/office/drawing/2014/main" id="{7CCDF5A6-A822-429C-9BEE-7A766D4E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2307F24-3683-4A62-92AF-AD37FC24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014AE52-95C3-4C13-B5B8-4B9436FD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61 / 82</a:t>
            </a:r>
          </a:p>
        </p:txBody>
      </p:sp>
      <p:sp>
        <p:nvSpPr>
          <p:cNvPr id="6" name="content-517">
            <a:extLst xmlns:a="http://schemas.openxmlformats.org/drawingml/2006/main">
              <a:ext uri="{FF2B5EF4-FFF2-40B4-BE49-F238E27FC236}">
                <a16:creationId xmlns:a16="http://schemas.microsoft.com/office/drawing/2014/main" id="{ADE9C709-EE52-4DEF-8D8D-7F27634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P62–64</a:t>
            </a:r>
          </a:p>
        </p:txBody>
      </p:sp>
      <p:sp>
        <p:nvSpPr>
          <p:cNvPr id="7" name="content-518">
            <a:extLst xmlns:a="http://schemas.openxmlformats.org/drawingml/2006/main">
              <a:ext uri="{FF2B5EF4-FFF2-40B4-BE49-F238E27FC236}">
                <a16:creationId xmlns:a16="http://schemas.microsoft.com/office/drawing/2014/main" id="{A651693D-6F7B-475A-8AE0-9DD026AB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组件、制品、部署的候选方案；不等于课堂代码已实现。</a:t>
            </a:r>
          </a:p>
        </p:txBody>
      </p:sp>
      <p:sp>
        <p:nvSpPr>
          <p:cNvPr id="8" name="frame-519">
            <a:extLst xmlns:a="http://schemas.openxmlformats.org/drawingml/2006/main">
              <a:ext uri="{FF2B5EF4-FFF2-40B4-BE49-F238E27FC236}">
                <a16:creationId xmlns:a16="http://schemas.microsoft.com/office/drawing/2014/main" id="{0CD9FBEC-04E8-4679-93AB-C66F87C0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520">
            <a:extLst xmlns:a="http://schemas.openxmlformats.org/drawingml/2006/main">
              <a:ext uri="{FF2B5EF4-FFF2-40B4-BE49-F238E27FC236}">
                <a16:creationId xmlns:a16="http://schemas.microsoft.com/office/drawing/2014/main" id="{675EA881-4393-4794-A843-E7B46337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P65–81</a:t>
            </a:r>
          </a:p>
        </p:txBody>
      </p:sp>
      <p:sp>
        <p:nvSpPr>
          <p:cNvPr id="10" name="content-521">
            <a:extLst xmlns:a="http://schemas.openxmlformats.org/drawingml/2006/main">
              <a:ext uri="{FF2B5EF4-FFF2-40B4-BE49-F238E27FC236}">
                <a16:creationId xmlns:a16="http://schemas.microsoft.com/office/drawing/2014/main" id="{4669EE74-4541-4D9D-A2D6-277A8F51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架构与分层补充，及孙海英老师原稿综合图。</a:t>
            </a:r>
          </a:p>
        </p:txBody>
      </p:sp>
      <p:sp>
        <p:nvSpPr>
          <p:cNvPr id="11" name="frame-522">
            <a:extLst xmlns:a="http://schemas.openxmlformats.org/drawingml/2006/main">
              <a:ext uri="{FF2B5EF4-FFF2-40B4-BE49-F238E27FC236}">
                <a16:creationId xmlns:a16="http://schemas.microsoft.com/office/drawing/2014/main" id="{3D9B8C01-C8F5-46C7-B9C8-C935D8B5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523">
            <a:extLst xmlns:a="http://schemas.openxmlformats.org/drawingml/2006/main">
              <a:ext uri="{FF2B5EF4-FFF2-40B4-BE49-F238E27FC236}">
                <a16:creationId xmlns:a16="http://schemas.microsoft.com/office/drawing/2014/main" id="{95ACBF45-2AA2-4A5A-ADD7-CCC6315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阅读提示</a:t>
            </a:r>
          </a:p>
        </p:txBody>
      </p:sp>
      <p:sp>
        <p:nvSpPr>
          <p:cNvPr id="13" name="content-524">
            <a:extLst xmlns:a="http://schemas.openxmlformats.org/drawingml/2006/main">
              <a:ext uri="{FF2B5EF4-FFF2-40B4-BE49-F238E27FC236}">
                <a16:creationId xmlns:a16="http://schemas.microsoft.com/office/drawing/2014/main" id="{195737FB-1C23-4D28-947B-A034E45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按模型目的和来源语境理解；</a:t>
            </a:r>
          </a:p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连线未必表示UML规范关系。</a:t>
            </a:r>
          </a:p>
        </p:txBody>
      </p:sp>
      <p:sp>
        <p:nvSpPr>
          <p:cNvPr id="14" name="content-525">
            <a:extLst xmlns:a="http://schemas.openxmlformats.org/drawingml/2006/main">
              <a:ext uri="{FF2B5EF4-FFF2-40B4-BE49-F238E27FC236}">
                <a16:creationId xmlns:a16="http://schemas.microsoft.com/office/drawing/2014/main" id="{63ACB3AF-EB4E-4D36-9D5F-E6CEDEC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P1–60为课堂主线；以下材料用于后续设计学习和查阅。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8A1D7-8287-4B0A-BBA0-48FB18A6F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0769e01324ff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26">
            <a:extLst xmlns:a="http://schemas.openxmlformats.org/drawingml/2006/main">
              <a:ext uri="{FF2B5EF4-FFF2-40B4-BE49-F238E27FC236}">
                <a16:creationId xmlns:a16="http://schemas.microsoft.com/office/drawing/2014/main" id="{DB18E06E-4C40-4A7F-840B-7686EE30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案例：组件与接口</a:t>
            </a:r>
          </a:p>
        </p:txBody>
      </p:sp>
      <p:sp>
        <p:nvSpPr>
          <p:cNvPr id="2" name="frame-527">
            <a:extLst xmlns:a="http://schemas.openxmlformats.org/drawingml/2006/main">
              <a:ext uri="{FF2B5EF4-FFF2-40B4-BE49-F238E27FC236}">
                <a16:creationId xmlns:a16="http://schemas.microsoft.com/office/drawing/2014/main" id="{0BCBC3E6-F639-43E4-A5B3-F05DF7E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28">
            <a:extLst xmlns:a="http://schemas.openxmlformats.org/drawingml/2006/main">
              <a:ext uri="{FF2B5EF4-FFF2-40B4-BE49-F238E27FC236}">
                <a16:creationId xmlns:a16="http://schemas.microsoft.com/office/drawing/2014/main" id="{9CA67739-0364-4DFD-9A9E-2CE7CDE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4EE90DC-F529-44D3-A6BF-6AAC6B2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89BFEDD-173A-4572-809E-0746B325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62 / 82</a:t>
            </a:r>
          </a:p>
        </p:txBody>
      </p:sp>
      <p:sp>
        <p:nvSpPr>
          <p:cNvPr id="10" name="UML component box 10"/>
          <p:cNvSpPr/>
          <p:nvPr/>
        </p:nvSpPr>
        <p:spPr>
          <ns1:xfrm xmlns:ns1="http://schemas.openxmlformats.org/drawingml/2006/main">
            <ns1:off x="1735109" y="1408175"/>
            <ns1:ext cx="1395192" cy="685504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1" name="UML component box 11"/>
          <p:cNvSpPr/>
          <p:nvPr/>
        </p:nvSpPr>
        <p:spPr>
          <ns1:xfrm xmlns:ns1="http://schemas.openxmlformats.org/drawingml/2006/main">
            <ns1:off x="2897769" y="1466308"/>
            <ns1:ext cx="174399" cy="11626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2" name="UML component box 12"/>
          <p:cNvSpPr/>
          <p:nvPr/>
        </p:nvSpPr>
        <p:spPr>
          <ns1:xfrm xmlns:ns1="http://schemas.openxmlformats.org/drawingml/2006/main">
            <ns1:off x="2874516" y="1489561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3" name="UML component box 13"/>
          <p:cNvSpPr/>
          <p:nvPr/>
        </p:nvSpPr>
        <p:spPr>
          <ns1:xfrm xmlns:ns1="http://schemas.openxmlformats.org/drawingml/2006/main">
            <ns1:off x="2874516" y="1536067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4" name="UML component label 14"/>
          <p:cNvSpPr/>
          <p:nvPr/>
        </p:nvSpPr>
        <p:spPr>
          <ns1:xfrm xmlns:ns1="http://schemas.openxmlformats.org/drawingml/2006/main">
            <ns1:off x="1905439" y="1659309"/>
            <ns1:ext cx="1011514" cy="33949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31" dirty="0">
                <ns7:solidFill>
                  <ns7:srgbClr val="000000"/>
                </ns7:solidFill>
                <ns7:latin typeface="Noto Sans SC"/>
                <ns7:ea typeface="Noto Sans SC"/>
              </ns7:rPr>
              <ns7:t>选课前端</ns7:t>
            </ns7:r>
            <ns7:endParaRPr lang="zh-CN" sz="1831"/>
          </ns7:p>
        </p:txBody>
      </p:sp>
      <p:sp>
        <p:nvSpPr>
          <p:cNvPr id="15" name="UML component box 15"/>
          <p:cNvSpPr/>
          <p:nvPr/>
        </p:nvSpPr>
        <p:spPr>
          <ns1:xfrm xmlns:ns1="http://schemas.openxmlformats.org/drawingml/2006/main">
            <ns1:off x="1735109" y="2303423"/>
            <ns1:ext cx="1395192" cy="685504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6" name="UML component box 16"/>
          <p:cNvSpPr/>
          <p:nvPr/>
        </p:nvSpPr>
        <p:spPr>
          <ns1:xfrm xmlns:ns1="http://schemas.openxmlformats.org/drawingml/2006/main">
            <ns1:off x="2897769" y="2361556"/>
            <ns1:ext cx="174399" cy="11626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7" name="UML component box 17"/>
          <p:cNvSpPr/>
          <p:nvPr/>
        </p:nvSpPr>
        <p:spPr>
          <ns1:xfrm xmlns:ns1="http://schemas.openxmlformats.org/drawingml/2006/main">
            <ns1:off x="2874516" y="2384809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8" name="UML component box 18"/>
          <p:cNvSpPr/>
          <p:nvPr/>
        </p:nvSpPr>
        <p:spPr>
          <ns1:xfrm xmlns:ns1="http://schemas.openxmlformats.org/drawingml/2006/main">
            <ns1:off x="2874516" y="2431316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19" name="UML component label 19"/>
          <p:cNvSpPr/>
          <p:nvPr/>
        </p:nvSpPr>
        <p:spPr>
          <ns1:xfrm xmlns:ns1="http://schemas.openxmlformats.org/drawingml/2006/main">
            <ns1:off x="1905439" y="2554558"/>
            <ns1:ext cx="1011514" cy="33949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31" dirty="0">
                <ns7:solidFill>
                  <ns7:srgbClr val="000000"/>
                </ns7:solidFill>
                <ns7:latin typeface="Noto Sans SC"/>
                <ns7:ea typeface="Noto Sans SC"/>
              </ns7:rPr>
              <ns7:t>选课业务</ns7:t>
            </ns7:r>
            <ns7:endParaRPr lang="zh-CN" sz="1831"/>
          </ns7:p>
        </p:txBody>
      </p:sp>
      <p:sp>
        <p:nvSpPr>
          <p:cNvPr id="20" name="UML component box 20"/>
          <p:cNvSpPr/>
          <p:nvPr/>
        </p:nvSpPr>
        <p:spPr>
          <ns1:xfrm xmlns:ns1="http://schemas.openxmlformats.org/drawingml/2006/main">
            <ns1:off x="1735109" y="3198671"/>
            <ns1:ext cx="1395192" cy="685504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1" name="UML component box 21"/>
          <p:cNvSpPr/>
          <p:nvPr/>
        </p:nvSpPr>
        <p:spPr>
          <ns1:xfrm xmlns:ns1="http://schemas.openxmlformats.org/drawingml/2006/main">
            <ns1:off x="2897769" y="3256804"/>
            <ns1:ext cx="174399" cy="11626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2" name="UML component box 22"/>
          <p:cNvSpPr/>
          <p:nvPr/>
        </p:nvSpPr>
        <p:spPr>
          <ns1:xfrm xmlns:ns1="http://schemas.openxmlformats.org/drawingml/2006/main">
            <ns1:off x="2874516" y="3280057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3" name="UML component box 23"/>
          <p:cNvSpPr/>
          <p:nvPr/>
        </p:nvSpPr>
        <p:spPr>
          <ns1:xfrm xmlns:ns1="http://schemas.openxmlformats.org/drawingml/2006/main">
            <ns1:off x="2874516" y="3326564"/>
            <ns1:ext cx="46506" cy="23253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4" name="UML component label 24"/>
          <p:cNvSpPr/>
          <p:nvPr/>
        </p:nvSpPr>
        <p:spPr>
          <ns1:xfrm xmlns:ns1="http://schemas.openxmlformats.org/drawingml/2006/main">
            <ns1:off x="1905439" y="3449806"/>
            <ns1:ext cx="1011514" cy="33949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31" dirty="0">
                <ns7:solidFill>
                  <ns7:srgbClr val="000000"/>
                </ns7:solidFill>
                <ns7:latin typeface="Noto Sans SC"/>
                <ns7:ea typeface="Noto Sans SC"/>
              </ns7:rPr>
              <ns7:t>数据访问</ns7:t>
            </ns7:r>
            <ns7:endParaRPr lang="zh-CN" sz="1831"/>
          </ns7:p>
        </p:txBody>
      </p:sp>
      <p:sp>
        <p:nvSpPr>
          <p:cNvPr id="25" name="UML component box 25"/>
          <p:cNvSpPr/>
          <p:nvPr/>
        </p:nvSpPr>
        <p:spPr>
          <ns1:xfrm xmlns:ns1="http://schemas.openxmlformats.org/drawingml/2006/main">
            <ns1:off x="4013923" y="1245402"/>
            <ns1:ext cx="3331858" cy="114858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6" name="UML component label 26"/>
          <p:cNvSpPr/>
          <p:nvPr/>
        </p:nvSpPr>
        <p:spPr>
          <ns1:xfrm xmlns:ns1="http://schemas.openxmlformats.org/drawingml/2006/main">
            <ns1:off x="5114288" y="1288781"/>
            <ns1:ext cx="1192750" cy="28857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56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«interface»</ns7:t>
            </ns7:r>
            <ns7:endParaRPr lang="zh-CN" sz="1556"/>
          </ns7:p>
        </p:txBody>
      </p:sp>
      <p:sp>
        <p:nvSpPr>
          <p:cNvPr id="27" name="UML component label 27"/>
          <p:cNvSpPr/>
          <p:nvPr/>
        </p:nvSpPr>
        <p:spPr>
          <ns1:xfrm xmlns:ns1="http://schemas.openxmlformats.org/drawingml/2006/main">
            <ns1:off x="5047947" y="1560495"/>
            <ns1:ext cx="1328921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 i="1">
                <ns7:solidFill>
                  <ns7:srgbClr val="1F2A44"/>
                </ns7:solidFill>
                <ns7:latin typeface="Noto Sans SC"/>
                <ns7:ea typeface="Noto Sans SC"/>
              </ns7:rPr>
              <ns7:t>选课应用接口</ns7:t>
            </ns7:r>
            <ns7:endParaRPr lang="zh-CN" sz="1648"/>
          </ns7:p>
        </p:txBody>
      </p:sp>
      <p:sp>
        <p:nvSpPr>
          <p:cNvPr id="28" name="UML component divider 28"/>
          <p:cNvSpPr/>
          <p:nvPr/>
        </p:nvSpPr>
        <p:spPr>
          <ns1:xfrm xmlns:ns1="http://schemas.openxmlformats.org/drawingml/2006/main">
            <ns1:off x="4025550" y="1904921"/>
            <ns1:ext cx="3308605" cy="116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710548" h="952" fill="none" stroke="1" extrusionOk="0">
                <ns2:moveTo>
                  <ns2:pt x="0" y="0"/>
                </ns2:moveTo>
                <ns2:lnTo>
                  <ns2:pt x="271054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29" name="UML component divider 29"/>
          <p:cNvSpPr/>
          <p:nvPr/>
        </p:nvSpPr>
        <p:spPr>
          <ns1:xfrm xmlns:ns1="http://schemas.openxmlformats.org/drawingml/2006/main">
            <ns1:off x="4025550" y="1997934"/>
            <ns1:ext cx="3308605" cy="116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710548" h="952" fill="none" stroke="1" extrusionOk="0">
                <ns2:moveTo>
                  <ns2:pt x="0" y="0"/>
                </ns2:moveTo>
                <ns2:lnTo>
                  <ns2:pt x="271054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30" name="UML component label 30"/>
          <p:cNvSpPr/>
          <p:nvPr/>
        </p:nvSpPr>
        <p:spPr>
          <ns1:xfrm xmlns:ns1="http://schemas.openxmlformats.org/drawingml/2006/main">
            <ns1:off x="4079613" y="2061183"/>
            <ns1:ext cx="3265587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>
                <ns7:solidFill>
                  <ns7:srgbClr val="000000"/>
                </ns7:solidFill>
                <ns7:latin typeface="Noto Sans SC"/>
                <ns7:ea typeface="Noto Sans SC"/>
              </ns7:rPr>
              <ns7:t>+process(eId) : EnrollmentStatus</ns7:t>
            </ns7:r>
            <ns7:endParaRPr lang="zh-CN" sz="1648"/>
          </ns7:p>
        </p:txBody>
      </p:sp>
      <p:sp>
        <p:nvSpPr>
          <p:cNvPr id="31" name="UML component box 31"/>
          <p:cNvSpPr/>
          <p:nvPr/>
        </p:nvSpPr>
        <p:spPr>
          <ns1:xfrm xmlns:ns1="http://schemas.openxmlformats.org/drawingml/2006/main">
            <ns1:off x="4298775" y="2675474"/>
            <ns1:ext cx="2770782" cy="1451616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32" name="UML component label 32"/>
          <p:cNvSpPr/>
          <p:nvPr/>
        </p:nvSpPr>
        <p:spPr>
          <ns1:xfrm xmlns:ns1="http://schemas.openxmlformats.org/drawingml/2006/main">
            <ns1:off x="5118601" y="2718853"/>
            <ns1:ext cx="1192750" cy="28857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56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«interface»</ns7:t>
            </ns7:r>
            <ns7:endParaRPr lang="zh-CN" sz="1556"/>
          </ns7:p>
        </p:txBody>
      </p:sp>
      <p:sp>
        <p:nvSpPr>
          <p:cNvPr id="33" name="UML component label 33"/>
          <p:cNvSpPr/>
          <p:nvPr/>
        </p:nvSpPr>
        <p:spPr>
          <ns1:xfrm xmlns:ns1="http://schemas.openxmlformats.org/drawingml/2006/main">
            <ns1:off x="4573953" y="2990567"/>
            <ns1:ext cx="2285534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 i="1">
                <ns7:solidFill>
                  <ns7:srgbClr val="1F2A44"/>
                </ns7:solidFill>
                <ns7:latin typeface="Noto Sans SC"/>
                <ns7:ea typeface="Noto Sans SC"/>
              </ns7:rPr>
              <ns7:t>IEnrollmentRepository</ns7:t>
            </ns7:r>
            <ns7:endParaRPr lang="zh-CN" sz="1648"/>
          </ns7:p>
        </p:txBody>
      </p:sp>
      <p:sp>
        <p:nvSpPr>
          <p:cNvPr id="34" name="UML component divider 34"/>
          <p:cNvSpPr/>
          <p:nvPr/>
        </p:nvSpPr>
        <p:spPr>
          <ns1:xfrm xmlns:ns1="http://schemas.openxmlformats.org/drawingml/2006/main">
            <ns1:off x="4310401" y="3334993"/>
            <ns1:ext cx="2747529" cy="116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50891" h="952" fill="none" stroke="1" extrusionOk="0">
                <ns2:moveTo>
                  <ns2:pt x="0" y="0"/>
                </ns2:moveTo>
                <ns2:lnTo>
                  <ns2:pt x="225089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35" name="UML component divider 35"/>
          <p:cNvSpPr/>
          <p:nvPr/>
        </p:nvSpPr>
        <p:spPr>
          <ns1:xfrm xmlns:ns1="http://schemas.openxmlformats.org/drawingml/2006/main">
            <ns1:off x="4310401" y="3428006"/>
            <ns1:ext cx="2747529" cy="116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250891" h="952" fill="none" stroke="1" extrusionOk="0">
                <ns2:moveTo>
                  <ns2:pt x="0" y="0"/>
                </ns2:moveTo>
                <ns2:lnTo>
                  <ns2:pt x="225089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36" name="UML component label 36"/>
          <p:cNvSpPr/>
          <p:nvPr/>
        </p:nvSpPr>
        <p:spPr>
          <ns1:xfrm xmlns:ns1="http://schemas.openxmlformats.org/drawingml/2006/main">
            <ns1:off x="4364465" y="3491255"/>
            <ns1:ext cx="2704510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>
                <ns7:solidFill>
                  <ns7:srgbClr val="000000"/>
                </ns7:solidFill>
                <ns7:latin typeface="Noto Sans SC"/>
                <ns7:ea typeface="Noto Sans SC"/>
              </ns7:rPr>
              <ns7:t>+findById(eId) : Enrollment</ns7:t>
            </ns7:r>
            <ns7:endParaRPr lang="zh-CN" sz="1648"/>
          </ns7:p>
        </p:txBody>
      </p:sp>
      <p:sp>
        <p:nvSpPr>
          <p:cNvPr id="37" name="UML component label 37"/>
          <p:cNvSpPr/>
          <p:nvPr/>
        </p:nvSpPr>
        <p:spPr>
          <ns1:xfrm xmlns:ns1="http://schemas.openxmlformats.org/drawingml/2006/main">
            <ns1:off x="4364465" y="3794290"/>
            <ns1:ext cx="1462650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>
                <ns7:solidFill>
                  <ns7:srgbClr val="000000"/>
                </ns7:solidFill>
                <ns7:latin typeface="Noto Sans SC"/>
                <ns7:ea typeface="Noto Sans SC"/>
              </ns7:rPr>
              <ns7:t>+save(e) : void</ns7:t>
            </ns7:r>
            <ns7:endParaRPr lang="zh-CN" sz="1648"/>
          </ns7:p>
        </p:txBody>
      </p:sp>
      <p:sp>
        <p:nvSpPr>
          <p:cNvPr id="38" name="UML component arrow 38"/>
          <p:cNvSpPr/>
          <p:nvPr/>
        </p:nvSpPr>
        <p:spPr>
          <ns1:xfrm xmlns:ns1="http://schemas.openxmlformats.org/drawingml/2006/main">
            <ns1:off x="3906086" y="1736289"/>
            <ns1:ext cx="105616" cy="9299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6525" h="76181" fill="norm" stroke="1" extrusionOk="0">
                <ns2:moveTo>
                  <ns2:pt x="86525" y="39948"/>
                </ns2:moveTo>
                <ns2:lnTo>
                  <ns2:pt x="1648" y="0"/>
                </ns2:lnTo>
                <ns2:lnTo>
                  <ns2:pt x="38910" y="38919"/>
                </ns2:lnTo>
                <ns2:lnTo>
                  <ns2:pt x="0" y="76181"/>
                </ns2:lnTo>
                <ns2:lnTo>
                  <ns2:pt x="86525" y="39948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39" name="UML component connection 39"/>
          <p:cNvSpPr/>
          <p:nvPr/>
        </p:nvSpPr>
        <p:spPr>
          <ns1:xfrm xmlns:ns1="http://schemas.openxmlformats.org/drawingml/2006/main">
            <ns1:off x="3132510" y="1766041"/>
            <ns1:ext cx="821071" cy="1775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2656" h="14545" fill="none" stroke="1" extrusionOk="0">
                <ns2:moveTo>
                  <ns2:pt x="0" y="0"/>
                </ns2:moveTo>
                <ns2:cubicBezTo>
                  <ns2:pt x="213027" y="4601"/>
                  <ns2:pt x="418100" y="9039"/>
                  <ns2:pt x="672656" y="14545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  <ns4:prstDash val="dash"/>
          </ns4:ln>
        </p:spPr>
      </p:sp>
      <p:sp>
        <p:nvSpPr>
          <p:cNvPr id="40" name="UML component label 40"/>
          <p:cNvSpPr/>
          <p:nvPr/>
        </p:nvSpPr>
        <p:spPr>
          <ns1:xfrm xmlns:ns1="http://schemas.openxmlformats.org/drawingml/2006/main">
            <ns1:off x="3358764" y="1465610"/>
            <ns1:ext cx="491805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>
                <ns7:solidFill>
                  <ns7:srgbClr val="1F2A44"/>
                </ns7:solidFill>
                <ns7:latin typeface="Noto Sans SC"/>
                <ns7:ea typeface="Noto Sans SC"/>
              </ns7:rPr>
              <ns7:t>使用</ns7:t>
            </ns7:r>
            <ns7:endParaRPr lang="zh-CN" sz="1648"/>
          </ns7:p>
        </p:txBody>
      </p:sp>
      <p:sp>
        <p:nvSpPr>
          <p:cNvPr id="41" name="UML component arrow 41"/>
          <p:cNvSpPr/>
          <p:nvPr/>
        </p:nvSpPr>
        <p:spPr>
          <ns1:xfrm xmlns:ns1="http://schemas.openxmlformats.org/drawingml/2006/main">
            <ns1:off x="3791657" y="2229675"/>
            <ns1:ext cx="220045" cy="1351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80270" h="110738" fill="none" stroke="1" extrusionOk="0">
                <ns2:moveTo>
                  <ns2:pt x="180270" y="12868"/>
                </ns2:moveTo>
                <ns2:lnTo>
                  <ns2:pt x="0" y="0"/>
                </ns2:lnTo>
                <ns2:lnTo>
                  <ns2:pt x="28337" y="110738"/>
                </ns2:lnTo>
                <ns2:lnTo>
                  <ns2:pt x="180270" y="12868"/>
                </ns2:lnTo>
                <ns2:close/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42" name="UML component connection 42"/>
          <p:cNvSpPr/>
          <p:nvPr/>
        </p:nvSpPr>
        <p:spPr>
          <ns1:xfrm xmlns:ns1="http://schemas.openxmlformats.org/drawingml/2006/main">
            <ns1:off x="3132510" y="2297261"/>
            <ns1:ext cx="676447" cy="17307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54174" h="141789" fill="none" stroke="1" extrusionOk="0">
                <ns2:moveTo>
                  <ns2:pt x="0" y="141789"/>
                </ns2:moveTo>
                <ns2:cubicBezTo>
                  <ns2:pt x="213027" y="87287"/>
                  <ns2:pt x="299618" y="65132"/>
                  <ns2:pt x="554174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  <ns4:prstDash val="dash"/>
          </ns4:ln>
        </p:spPr>
      </p:sp>
      <p:sp>
        <p:nvSpPr>
          <p:cNvPr id="43" name="UML component arrow 43"/>
          <p:cNvSpPr/>
          <p:nvPr/>
        </p:nvSpPr>
        <p:spPr>
          <ns1:xfrm xmlns:ns1="http://schemas.openxmlformats.org/drawingml/2006/main">
            <ns1:off x="4183811" y="3011053"/>
            <ns1:ext cx="112487" cy="9057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2154" h="74200" fill="norm" stroke="1" extrusionOk="0">
                <ns2:moveTo>
                  <ns2:pt x="92154" y="56655"/>
                </ns2:moveTo>
                <ns2:lnTo>
                  <ns2:pt x="17383" y="0"/>
                </ns2:lnTo>
                <ns2:lnTo>
                  <ns2:pt x="45787" y="45787"/>
                </ns2:lnTo>
                <ns2:lnTo>
                  <ns2:pt x="0" y="74200"/>
                </ns2:lnTo>
                <ns2:lnTo>
                  <ns2:pt x="92154" y="5665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44" name="UML component connection 44"/>
          <p:cNvSpPr/>
          <p:nvPr/>
        </p:nvSpPr>
        <p:spPr>
          <ns1:xfrm xmlns:ns1="http://schemas.openxmlformats.org/drawingml/2006/main">
            <ns1:off x="3132510" y="2807599"/>
            <ns1:ext cx="1107190" cy="2593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07056" h="212465" fill="none" stroke="1" extrusionOk="0">
                <ns2:moveTo>
                  <ns2:pt x="0" y="0"/>
                </ns2:moveTo>
                <ns2:cubicBezTo>
                  <ns2:pt x="278216" y="65170"/>
                  <ns2:pt x="577739" y="135331"/>
                  <ns2:pt x="907056" y="212465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  <ns4:prstDash val="dash"/>
          </ns4:ln>
        </p:spPr>
      </p:sp>
      <p:sp>
        <p:nvSpPr>
          <p:cNvPr id="45" name="UML component label 45"/>
          <p:cNvSpPr/>
          <p:nvPr/>
        </p:nvSpPr>
        <p:spPr>
          <ns1:xfrm xmlns:ns1="http://schemas.openxmlformats.org/drawingml/2006/main">
            <ns1:off x="3358764" y="2570137"/>
            <ns1:ext cx="491805" cy="30554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162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648" dirty="0">
                <ns7:solidFill>
                  <ns7:srgbClr val="1F2A44"/>
                </ns7:solidFill>
                <ns7:latin typeface="Noto Sans SC"/>
                <ns7:ea typeface="Noto Sans SC"/>
              </ns7:rPr>
              <ns7:t>使用</ns7:t>
            </ns7:r>
            <ns7:endParaRPr lang="zh-CN" sz="1648"/>
          </ns7:p>
        </p:txBody>
      </p:sp>
      <p:sp>
        <p:nvSpPr>
          <p:cNvPr id="46" name="UML component arrow 46"/>
          <p:cNvSpPr/>
          <p:nvPr/>
        </p:nvSpPr>
        <p:spPr>
          <ns1:xfrm xmlns:ns1="http://schemas.openxmlformats.org/drawingml/2006/main">
            <ns1:off x="4084206" y="3400916"/>
            <ns1:ext cx="212092" cy="1393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3755" h="114195" fill="none" stroke="1" extrusionOk="0">
                <ns2:moveTo>
                  <ns2:pt x="173755" y="49692"/>
                </ns2:moveTo>
                <ns2:lnTo>
                  <ns2:pt x="0" y="0"/>
                </ns2:lnTo>
                <ns2:lnTo>
                  <ns2:pt x="4934" y="114195"/>
                </ns2:lnTo>
                <ns2:lnTo>
                  <ns2:pt x="173755" y="49692"/>
                </ns2:lnTo>
                <ns2:close/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</ns4:ln>
        </p:spPr>
      </p:sp>
      <p:sp>
        <p:nvSpPr>
          <p:cNvPr id="47" name="UML component connection 47"/>
          <p:cNvSpPr/>
          <p:nvPr/>
        </p:nvSpPr>
        <p:spPr>
          <ns1:xfrm xmlns:ns1="http://schemas.openxmlformats.org/drawingml/2006/main">
            <ns1:off x="3132510" y="3470617"/>
            <ns1:ext cx="954707" cy="4127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82136" h="33814" fill="none" stroke="1" extrusionOk="0">
                <ns2:moveTo>
                  <ns2:pt x="0" y="33814"/>
                </ns2:moveTo>
                <ns2:cubicBezTo>
                  <ns2:pt x="278216" y="21784"/>
                  <ns2:pt x="452818" y="14240"/>
                  <ns2:pt x="782136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1627">
            <ns4:solidFill>
              <ns4:srgbClr val="1F2A44"/>
            </ns4:solidFill>
            <ns4:prstDash val="dash"/>
          </ns4:ln>
        </p:spPr>
      </p:sp>
      <p:sp>
        <p:nvSpPr>
          <p:cNvPr id="7" name="content-529">
            <a:extLst xmlns:a="http://schemas.openxmlformats.org/drawingml/2006/main">
              <a:ext uri="{FF2B5EF4-FFF2-40B4-BE49-F238E27FC236}">
                <a16:creationId xmlns:a16="http://schemas.microsoft.com/office/drawing/2014/main" id="{68802E32-9782-4454-A350-130DED6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接口与职责的候选组织；不要求每个组件独立部署。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2433F-6E82-4E53-8E8D-4A0D7BEA48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6f6ed50f3443a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30">
            <a:extLst xmlns:a="http://schemas.openxmlformats.org/drawingml/2006/main">
              <a:ext uri="{FF2B5EF4-FFF2-40B4-BE49-F238E27FC236}">
                <a16:creationId xmlns:a16="http://schemas.microsoft.com/office/drawing/2014/main" id="{82975073-4CD0-48BB-8730-01FFBED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案例：组件与制品的对应</a:t>
            </a:r>
          </a:p>
        </p:txBody>
      </p:sp>
      <p:sp>
        <p:nvSpPr>
          <p:cNvPr id="2" name="frame-531">
            <a:extLst xmlns:a="http://schemas.openxmlformats.org/drawingml/2006/main">
              <a:ext uri="{FF2B5EF4-FFF2-40B4-BE49-F238E27FC236}">
                <a16:creationId xmlns:a16="http://schemas.microsoft.com/office/drawing/2014/main" id="{6F4D8C5A-486D-4E7C-B83A-1A8A580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32">
            <a:extLst xmlns:a="http://schemas.openxmlformats.org/drawingml/2006/main">
              <a:ext uri="{FF2B5EF4-FFF2-40B4-BE49-F238E27FC236}">
                <a16:creationId xmlns:a16="http://schemas.microsoft.com/office/drawing/2014/main" id="{0219C6EE-0675-45BB-87E6-571AE54E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A57AA89-0414-4755-B7AA-39A3F2A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02A55BC-72D0-44A4-81FF-7BA4F38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63 / 82</a:t>
            </a:r>
          </a:p>
        </p:txBody>
      </p:sp>
      <p:sp>
        <p:nvSpPr>
          <p:cNvPr id="10" name="UML manifestation box 10"/>
          <p:cNvSpPr/>
          <p:nvPr/>
        </p:nvSpPr>
        <p:spPr>
          <ns1:xfrm xmlns:ns1="http://schemas.openxmlformats.org/drawingml/2006/main">
            <ns1:off x="1614487" y="1549718"/>
            <ns1:ext cx="1671638" cy="66814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1" name="UML manifestation arrow 11"/>
          <p:cNvSpPr/>
          <p:nvPr/>
        </p:nvSpPr>
        <p:spPr>
          <ns1:xfrm xmlns:ns1="http://schemas.openxmlformats.org/drawingml/2006/main">
            <ns1:off x="3067526" y="1614011"/>
            <ns1:ext cx="154305" cy="18002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33350" fill="norm" stroke="1" extrusionOk="0">
                <ns2:moveTo>
                  <ns2:pt x="0" y="0"/>
                </ns2:moveTo>
                <ns2:lnTo>
                  <ns2:pt x="0" y="133350"/>
                </ns2:lnTo>
                <ns2:lnTo>
                  <ns2:pt x="114300" y="133350"/>
                </ns2:lnTo>
                <ns2:lnTo>
                  <ns2:pt x="114300" y="57150"/>
                </ns2:lnTo>
                <ns2:lnTo>
                  <ns2:pt x="57150" y="0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2" name="UML manifestation divider 12"/>
          <p:cNvSpPr/>
          <p:nvPr/>
        </p:nvSpPr>
        <p:spPr>
          <ns1:xfrm xmlns:ns1="http://schemas.openxmlformats.org/drawingml/2006/main">
            <ns1:off x="3144679" y="1614011"/>
            <ns1:ext cx="1286" cy="7715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150" fill="none" stroke="1" extrusionOk="0">
                <ns2:moveTo>
                  <ns2:pt x="0" y="0"/>
                </ns2:moveTo>
                <ns2:lnTo>
                  <ns2:pt x="0" y="571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3" name="UML manifestation divider 13"/>
          <p:cNvSpPr/>
          <p:nvPr/>
        </p:nvSpPr>
        <p:spPr>
          <ns1:xfrm xmlns:ns1="http://schemas.openxmlformats.org/drawingml/2006/main">
            <ns1:off x="3144679" y="1691164"/>
            <ns1:ext cx="77153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150" h="952" fill="none" stroke="1" extrusionOk="0">
                <ns2:moveTo>
                  <ns2:pt x="5715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4" name="UML manifestation label 14"/>
          <p:cNvSpPr/>
          <p:nvPr/>
        </p:nvSpPr>
        <p:spPr>
          <ns1:xfrm xmlns:ns1="http://schemas.openxmlformats.org/drawingml/2006/main">
            <ns1:off x="1738574" y="1737455"/>
            <ns1:ext cx="1375886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前端资源包</ns7:t>
            </ns7:r>
            <ns7:endParaRPr lang="zh-CN" sz="2025"/>
          </ns7:p>
        </p:txBody>
      </p:sp>
      <p:sp>
        <p:nvSpPr>
          <p:cNvPr id="15" name="UML manifestation box 15"/>
          <p:cNvSpPr/>
          <p:nvPr/>
        </p:nvSpPr>
        <p:spPr>
          <ns1:xfrm xmlns:ns1="http://schemas.openxmlformats.org/drawingml/2006/main">
            <ns1:off x="4340542" y="1549718"/>
            <ns1:ext cx="1671638" cy="668141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6" name="UML manifestation arrow 16"/>
          <p:cNvSpPr/>
          <p:nvPr/>
        </p:nvSpPr>
        <p:spPr>
          <ns1:xfrm xmlns:ns1="http://schemas.openxmlformats.org/drawingml/2006/main">
            <ns1:off x="5793581" y="1614011"/>
            <ns1:ext cx="154305" cy="18002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33350" fill="norm" stroke="1" extrusionOk="0">
                <ns2:moveTo>
                  <ns2:pt x="0" y="0"/>
                </ns2:moveTo>
                <ns2:lnTo>
                  <ns2:pt x="0" y="133350"/>
                </ns2:lnTo>
                <ns2:lnTo>
                  <ns2:pt x="114300" y="133350"/>
                </ns2:lnTo>
                <ns2:lnTo>
                  <ns2:pt x="114300" y="57150"/>
                </ns2:lnTo>
                <ns2:lnTo>
                  <ns2:pt x="57150" y="0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7" name="UML manifestation divider 17"/>
          <p:cNvSpPr/>
          <p:nvPr/>
        </p:nvSpPr>
        <p:spPr>
          <ns1:xfrm xmlns:ns1="http://schemas.openxmlformats.org/drawingml/2006/main">
            <ns1:off x="5870734" y="1614011"/>
            <ns1:ext cx="1286" cy="7715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150" fill="none" stroke="1" extrusionOk="0">
                <ns2:moveTo>
                  <ns2:pt x="0" y="0"/>
                </ns2:moveTo>
                <ns2:lnTo>
                  <ns2:pt x="0" y="571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8" name="UML manifestation divider 18"/>
          <p:cNvSpPr/>
          <p:nvPr/>
        </p:nvSpPr>
        <p:spPr>
          <ns1:xfrm xmlns:ns1="http://schemas.openxmlformats.org/drawingml/2006/main">
            <ns1:off x="5870734" y="1691164"/>
            <ns1:ext cx="77153" cy="128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150" h="952" fill="none" stroke="1" extrusionOk="0">
                <ns2:moveTo>
                  <ns2:pt x="5715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19" name="UML manifestation label 19"/>
          <p:cNvSpPr/>
          <p:nvPr/>
        </p:nvSpPr>
        <p:spPr>
          <ns1:xfrm xmlns:ns1="http://schemas.openxmlformats.org/drawingml/2006/main">
            <ns1:off x="4464629" y="1737455"/>
            <ns1:ext cx="1375886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选课应用包</ns7:t>
            </ns7:r>
            <ns7:endParaRPr lang="zh-CN" sz="2025"/>
          </ns7:p>
        </p:txBody>
      </p:sp>
      <p:sp>
        <p:nvSpPr>
          <p:cNvPr id="20" name="UML manifestation box 20"/>
          <p:cNvSpPr/>
          <p:nvPr/>
        </p:nvSpPr>
        <p:spPr>
          <ns1:xfrm xmlns:ns1="http://schemas.openxmlformats.org/drawingml/2006/main">
            <ns1:off x="1678781" y="3067050"/>
            <ns1:ext cx="1543050" cy="758152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1" name="UML manifestation box 21"/>
          <p:cNvSpPr/>
          <p:nvPr/>
        </p:nvSpPr>
        <p:spPr>
          <ns1:xfrm xmlns:ns1="http://schemas.openxmlformats.org/drawingml/2006/main">
            <ns1:off x="2964656" y="3131344"/>
            <ns1:ext cx="192881" cy="12858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2" name="UML manifestation box 22"/>
          <p:cNvSpPr/>
          <p:nvPr/>
        </p:nvSpPr>
        <p:spPr>
          <ns1:xfrm xmlns:ns1="http://schemas.openxmlformats.org/drawingml/2006/main">
            <ns1:off x="2938939" y="3157061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3" name="UML manifestation box 23"/>
          <p:cNvSpPr/>
          <p:nvPr/>
        </p:nvSpPr>
        <p:spPr>
          <ns1:xfrm xmlns:ns1="http://schemas.openxmlformats.org/drawingml/2006/main">
            <ns1:off x="2938939" y="3208496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4" name="UML manifestation label 24"/>
          <p:cNvSpPr/>
          <p:nvPr/>
        </p:nvSpPr>
        <p:spPr>
          <ns1:xfrm xmlns:ns1="http://schemas.openxmlformats.org/drawingml/2006/main">
            <ns1:off x="1867162" y="3344799"/>
            <ns1:ext cx="111871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选课前端</ns7:t>
            </ns7:r>
            <ns7:endParaRPr lang="zh-CN" sz="2025"/>
          </ns7:p>
        </p:txBody>
      </p:sp>
      <p:sp>
        <p:nvSpPr>
          <p:cNvPr id="25" name="UML manifestation box 25"/>
          <p:cNvSpPr/>
          <p:nvPr/>
        </p:nvSpPr>
        <p:spPr>
          <ns1:xfrm xmlns:ns1="http://schemas.openxmlformats.org/drawingml/2006/main">
            <ns1:off x="3929062" y="3067050"/>
            <ns1:ext cx="1543050" cy="758152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6" name="UML manifestation box 26"/>
          <p:cNvSpPr/>
          <p:nvPr/>
        </p:nvSpPr>
        <p:spPr>
          <ns1:xfrm xmlns:ns1="http://schemas.openxmlformats.org/drawingml/2006/main">
            <ns1:off x="5214938" y="3131344"/>
            <ns1:ext cx="192881" cy="12858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7" name="UML manifestation box 27"/>
          <p:cNvSpPr/>
          <p:nvPr/>
        </p:nvSpPr>
        <p:spPr>
          <ns1:xfrm xmlns:ns1="http://schemas.openxmlformats.org/drawingml/2006/main">
            <ns1:off x="5189220" y="3157061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8" name="UML manifestation box 28"/>
          <p:cNvSpPr/>
          <p:nvPr/>
        </p:nvSpPr>
        <p:spPr>
          <ns1:xfrm xmlns:ns1="http://schemas.openxmlformats.org/drawingml/2006/main">
            <ns1:off x="5189220" y="3208496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29" name="UML manifestation label 29"/>
          <p:cNvSpPr/>
          <p:nvPr/>
        </p:nvSpPr>
        <p:spPr>
          <ns1:xfrm xmlns:ns1="http://schemas.openxmlformats.org/drawingml/2006/main">
            <ns1:off x="4117443" y="3344799"/>
            <ns1:ext cx="111871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选课业务</ns7:t>
            </ns7:r>
            <ns7:endParaRPr lang="zh-CN" sz="2025"/>
          </ns7:p>
        </p:txBody>
      </p:sp>
      <p:sp>
        <p:nvSpPr>
          <p:cNvPr id="30" name="UML manifestation box 30"/>
          <p:cNvSpPr/>
          <p:nvPr/>
        </p:nvSpPr>
        <p:spPr>
          <ns1:xfrm xmlns:ns1="http://schemas.openxmlformats.org/drawingml/2006/main">
            <ns1:off x="5703570" y="3067050"/>
            <ns1:ext cx="1543050" cy="758152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1" name="UML manifestation box 31"/>
          <p:cNvSpPr/>
          <p:nvPr/>
        </p:nvSpPr>
        <p:spPr>
          <ns1:xfrm xmlns:ns1="http://schemas.openxmlformats.org/drawingml/2006/main">
            <ns1:off x="6989445" y="3131344"/>
            <ns1:ext cx="192881" cy="12858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2" name="UML manifestation box 32"/>
          <p:cNvSpPr/>
          <p:nvPr/>
        </p:nvSpPr>
        <p:spPr>
          <ns1:xfrm xmlns:ns1="http://schemas.openxmlformats.org/drawingml/2006/main">
            <ns1:off x="6963728" y="3157061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3" name="UML manifestation box 33"/>
          <p:cNvSpPr/>
          <p:nvPr/>
        </p:nvSpPr>
        <p:spPr>
          <ns1:xfrm xmlns:ns1="http://schemas.openxmlformats.org/drawingml/2006/main">
            <ns1:off x="6963728" y="3208496"/>
            <ns1:ext cx="51435" cy="25718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4" name="UML manifestation label 34"/>
          <p:cNvSpPr/>
          <p:nvPr/>
        </p:nvSpPr>
        <p:spPr>
          <ns1:xfrm xmlns:ns1="http://schemas.openxmlformats.org/drawingml/2006/main">
            <ns1:off x="5891951" y="3344799"/>
            <ns1:ext cx="1118711" cy="3754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2025" dirty="0">
                <ns7:solidFill>
                  <ns7:srgbClr val="000000"/>
                </ns7:solidFill>
                <ns7:latin typeface="Noto Sans SC"/>
                <ns7:ea typeface="Noto Sans SC"/>
              </ns7:rPr>
              <ns7:t>数据访问</ns7:t>
            </ns7:r>
            <ns7:endParaRPr lang="zh-CN" sz="2025"/>
          </ns7:p>
        </p:txBody>
      </p:sp>
      <p:sp>
        <p:nvSpPr>
          <p:cNvPr id="35" name="UML manifestation arrow 35"/>
          <p:cNvSpPr/>
          <p:nvPr/>
        </p:nvSpPr>
        <p:spPr>
          <ns1:xfrm xmlns:ns1="http://schemas.openxmlformats.org/drawingml/2006/main">
            <ns1:off x="2398871" y="2947476"/>
            <ns1:ext cx="102870" cy="11572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85725" fill="norm" stroke="1" extrusionOk="0">
                <ns2:moveTo>
                  <ns2:pt x="38100" y="85725"/>
                </ns2:moveTo>
                <ns2:lnTo>
                  <ns2:pt x="76200" y="0"/>
                </ns2:lnTo>
                <ns2:lnTo>
                  <ns2:pt x="38100" y="38100"/>
                </ns2:lnTo>
                <ns2:lnTo>
                  <ns2:pt x="0" y="0"/>
                </ns2:lnTo>
                <ns2:lnTo>
                  <ns2:pt x="38100" y="8572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6" name="UML manifestation connection 36"/>
          <p:cNvSpPr/>
          <p:nvPr/>
        </p:nvSpPr>
        <p:spPr>
          <ns1:xfrm xmlns:ns1="http://schemas.openxmlformats.org/drawingml/2006/main">
            <ns1:off x="2450306" y="2219028"/>
            <ns1:ext cx="1286" cy="77988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7691" fill="none" stroke="1" extrusionOk="0">
                <ns2:moveTo>
                  <ns2:pt x="0" y="0"/>
                </ns2:moveTo>
                <ns2:cubicBezTo>
                  <ns2:pt x="0" y="182528"/>
                  <ns2:pt x="0" y="386848"/>
                  <ns2:pt x="0" y="577691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  <ns4:prstDash val="dash"/>
          </ns4:ln>
        </p:spPr>
      </p:sp>
      <p:sp>
        <p:nvSpPr>
          <p:cNvPr id="37" name="UML manifestation label 37"/>
          <p:cNvSpPr/>
          <p:nvPr/>
        </p:nvSpPr>
        <p:spPr>
          <ns1:xfrm xmlns:ns1="http://schemas.openxmlformats.org/drawingml/2006/main">
            <ns1:off x="2471523" y="2494064"/>
            <ns1:ext cx="1251259" cy="3379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22" dirty="0">
                <ns7:solidFill>
                  <ns7:srgbClr val="1F2A44"/>
                </ns7:solidFill>
                <ns7:latin typeface="Noto Sans SC"/>
                <ns7:ea typeface="Noto Sans SC"/>
              </ns7:rPr>
              <ns7:t>«manifest»</ns7:t>
            </ns7:r>
            <ns7:endParaRPr lang="zh-CN" sz="1822"/>
          </ns7:p>
        </p:txBody>
      </p:sp>
      <p:sp>
        <p:nvSpPr>
          <p:cNvPr id="38" name="UML manifestation arrow 38"/>
          <p:cNvSpPr/>
          <p:nvPr/>
        </p:nvSpPr>
        <p:spPr>
          <ns1:xfrm xmlns:ns1="http://schemas.openxmlformats.org/drawingml/2006/main">
            <ns1:off x="4772725" y="2941857"/>
            <ns1:ext cx="99475" cy="12501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3685" h="92602" fill="norm" stroke="1" extrusionOk="0">
                <ns2:moveTo>
                  <ns2:pt x="15021" y="92602"/>
                </ns2:moveTo>
                <ns2:lnTo>
                  <ns2:pt x="73685" y="19402"/>
                </ns2:lnTo>
                <ns2:lnTo>
                  <ns2:pt x="27146" y="46549"/>
                </ns2:lnTo>
                <ns2:lnTo>
                  <ns2:pt x="0" y="0"/>
                </ns2:lnTo>
                <ns2:lnTo>
                  <ns2:pt x="15021" y="92602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39" name="UML manifestation connection 39"/>
          <p:cNvSpPr/>
          <p:nvPr/>
        </p:nvSpPr>
        <p:spPr>
          <ns1:xfrm xmlns:ns1="http://schemas.openxmlformats.org/drawingml/2006/main">
            <ns1:off x="4809373" y="2222693"/>
            <ns1:ext cx="240330" cy="78200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8022" h="579263" fill="none" stroke="1" extrusionOk="0">
                <ns2:moveTo>
                  <ns2:pt x="178022" y="0"/>
                </ns2:moveTo>
                <ns2:cubicBezTo>
                  <ns2:pt x="157772" y="54978"/>
                  <ns2:pt x="137150" y="113376"/>
                  <ns2:pt x="119444" y="168250"/>
                </ns2:cubicBezTo>
                <ns2:cubicBezTo>
                  <ns2:pt x="71114" y="318068"/>
                  <ns2:pt x="36262" y="441484"/>
                  <ns2:pt x="0" y="579263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  <ns4:prstDash val="dash"/>
          </ns4:ln>
        </p:spPr>
      </p:sp>
      <p:sp>
        <p:nvSpPr>
          <p:cNvPr id="40" name="UML manifestation label 40"/>
          <p:cNvSpPr/>
          <p:nvPr/>
        </p:nvSpPr>
        <p:spPr>
          <ns1:xfrm xmlns:ns1="http://schemas.openxmlformats.org/drawingml/2006/main">
            <ns1:off x="4991838" y="2494064"/>
            <ns1:ext cx="1251259" cy="3379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22" dirty="0">
                <ns7:solidFill>
                  <ns7:srgbClr val="1F2A44"/>
                </ns7:solidFill>
                <ns7:latin typeface="Noto Sans SC"/>
                <ns7:ea typeface="Noto Sans SC"/>
              </ns7:rPr>
              <ns7:t>«manifest»</ns7:t>
            </ns7:r>
            <ns7:endParaRPr lang="zh-CN" sz="1822"/>
          </ns7:p>
        </p:txBody>
      </p:sp>
      <p:sp>
        <p:nvSpPr>
          <p:cNvPr id="41" name="UML manifestation arrow 41"/>
          <p:cNvSpPr/>
          <p:nvPr/>
        </p:nvSpPr>
        <p:spPr>
          <ns1:xfrm xmlns:ns1="http://schemas.openxmlformats.org/drawingml/2006/main">
            <ns1:off x="6367750" y="2942282"/>
            <ns1:ext cx="101263" cy="12296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5009" h="91088" fill="norm" stroke="1" extrusionOk="0">
                <ns2:moveTo>
                  <ns2:pt x="52578" y="91088"/>
                </ns2:moveTo>
                <ns2:lnTo>
                  <ns2:pt x="75009" y="0"/>
                </ns2:lnTo>
                <ns2:lnTo>
                  <ns2:pt x="44206" y="44206"/>
                </ns2:lnTo>
                <ns2:lnTo>
                  <ns2:pt x="0" y="13402"/>
                </ns2:lnTo>
                <ns2:lnTo>
                  <ns2:pt x="52578" y="91088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12859">
            <ns4:solidFill>
              <ns4:srgbClr val="1F2A44"/>
            </ns4:solidFill>
          </ns4:ln>
        </p:spPr>
      </p:sp>
      <p:sp>
        <p:nvSpPr>
          <p:cNvPr id="42" name="UML manifestation connection 42"/>
          <p:cNvSpPr/>
          <p:nvPr/>
        </p:nvSpPr>
        <p:spPr>
          <ns1:xfrm xmlns:ns1="http://schemas.openxmlformats.org/drawingml/2006/main">
            <ns1:off x="5938795" y="2221446"/>
            <ns1:ext cx="488633" cy="78051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61950" h="578158" fill="none" stroke="1" extrusionOk="0">
                <ns2:moveTo>
                  <ns2:pt x="0" y="0"/>
                </ns2:moveTo>
                <ns2:cubicBezTo>
                  <ns2:pt x="70256" y="48063"/>
                  <ns2:pt x="135579" y="104203"/>
                  <ns2:pt x="187709" y="169174"/>
                </ns2:cubicBezTo>
                <ns2:cubicBezTo>
                  <ns2:pt x="291503" y="298533"/>
                  <ns2:pt x="335509" y="430187"/>
                  <ns2:pt x="361950" y="578158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12859">
            <ns4:solidFill>
              <ns4:srgbClr val="1F2A44"/>
            </ns4:solidFill>
            <ns4:prstDash val="dash"/>
          </ns4:ln>
        </p:spPr>
      </p:sp>
      <p:sp>
        <p:nvSpPr>
          <p:cNvPr id="43" name="UML manifestation label 43"/>
          <p:cNvSpPr/>
          <p:nvPr/>
        </p:nvSpPr>
        <p:spPr>
          <ns1:xfrm xmlns:ns1="http://schemas.openxmlformats.org/drawingml/2006/main">
            <ns1:off x="6393442" y="2494064"/>
            <ns1:ext cx="1251259" cy="337928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12859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822" dirty="0">
                <ns7:solidFill>
                  <ns7:srgbClr val="1F2A44"/>
                </ns7:solidFill>
                <ns7:latin typeface="Noto Sans SC"/>
                <ns7:ea typeface="Noto Sans SC"/>
              </ns7:rPr>
              <ns7:t>«manifest»</ns7:t>
            </ns7:r>
            <ns7:endParaRPr lang="zh-CN" sz="1822"/>
          </ns7:p>
        </p:txBody>
      </p:sp>
      <p:sp>
        <p:nvSpPr>
          <p:cNvPr id="7" name="content-533">
            <a:extLst xmlns:a="http://schemas.openxmlformats.org/drawingml/2006/main">
              <a:ext uri="{FF2B5EF4-FFF2-40B4-BE49-F238E27FC236}">
                <a16:creationId xmlns:a16="http://schemas.microsoft.com/office/drawing/2014/main" id="{8288AE74-ACCC-4997-9699-A566D32D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制品表达交付内容；此图是后续工程方案，课堂代码未实现这些包。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AA25B-91A6-4E4C-98A4-62A6FDFDC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2a3c8466c436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34">
            <a:extLst xmlns:a="http://schemas.openxmlformats.org/drawingml/2006/main">
              <a:ext uri="{FF2B5EF4-FFF2-40B4-BE49-F238E27FC236}">
                <a16:creationId xmlns:a16="http://schemas.microsoft.com/office/drawing/2014/main" id="{14A87312-6BB4-42B2-97F2-A46CC455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案例：部署模型</a:t>
            </a:r>
          </a:p>
        </p:txBody>
      </p:sp>
      <p:sp>
        <p:nvSpPr>
          <p:cNvPr id="2" name="frame-535">
            <a:extLst xmlns:a="http://schemas.openxmlformats.org/drawingml/2006/main">
              <a:ext uri="{FF2B5EF4-FFF2-40B4-BE49-F238E27FC236}">
                <a16:creationId xmlns:a16="http://schemas.microsoft.com/office/drawing/2014/main" id="{4CD35B5E-C0B3-485D-AA2D-CC3C341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36">
            <a:extLst xmlns:a="http://schemas.openxmlformats.org/drawingml/2006/main">
              <a:ext uri="{FF2B5EF4-FFF2-40B4-BE49-F238E27FC236}">
                <a16:creationId xmlns:a16="http://schemas.microsoft.com/office/drawing/2014/main" id="{096A5B15-6772-43C4-847C-6E0604A4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8C19511-0F30-40DA-8C17-46341B8C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C9AC008-AC22-49CB-AB15-36421313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64 / 82</a:t>
            </a:r>
          </a:p>
        </p:txBody>
      </p:sp>
      <p:sp>
        <p:nvSpPr>
          <p:cNvPr id="10" name="UML deployment arrow 10"/>
          <p:cNvSpPr/>
          <p:nvPr/>
        </p:nvSpPr>
        <p:spPr>
          <ns1:xfrm xmlns:ns1="http://schemas.openxmlformats.org/drawingml/2006/main">
            <ns1:off x="602683" y="2631380"/>
            <ns1:ext cx="2089465" cy="133752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990850" h="1914525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2990850" y="0"/>
                </ns2:lnTo>
                <ns2:lnTo>
                  <ns2:pt x="2990850" y="1819275"/>
                </ns2:lnTo>
                <ns2:lnTo>
                  <ns2:pt x="2895600" y="1914525"/>
                </ns2:lnTo>
                <ns2:lnTo>
                  <ns2:pt x="0" y="1914525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1" name="UML deployment divider 11"/>
          <p:cNvSpPr/>
          <p:nvPr/>
        </p:nvSpPr>
        <p:spPr>
          <ns1:xfrm xmlns:ns1="http://schemas.openxmlformats.org/drawingml/2006/main">
            <ns1:off x="2625604" y="2631380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2" name="UML deployment divider 12"/>
          <p:cNvSpPr/>
          <p:nvPr/>
        </p:nvSpPr>
        <p:spPr>
          <ns1:xfrm xmlns:ns1="http://schemas.openxmlformats.org/drawingml/2006/main">
            <ns1:off x="602683" y="2697923"/>
            <ns1:ext cx="202292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895600" h="952" fill="none" stroke="1" extrusionOk="0">
                <ns2:moveTo>
                  <ns2:pt x="0" y="0"/>
                </ns2:moveTo>
                <ns2:lnTo>
                  <ns2:pt x="289560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3" name="UML deployment divider 13"/>
          <p:cNvSpPr/>
          <p:nvPr/>
        </p:nvSpPr>
        <p:spPr>
          <ns1:xfrm xmlns:ns1="http://schemas.openxmlformats.org/drawingml/2006/main">
            <ns1:off x="2625604" y="2697923"/>
            <ns1:ext cx="952" cy="127098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819275" fill="none" stroke="1" extrusionOk="0">
                <ns2:moveTo>
                  <ns2:pt x="0" y="0"/>
                </ns2:moveTo>
                <ns2:lnTo>
                  <ns2:pt x="0" y="181927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4" name="UML deployment label 14"/>
          <p:cNvSpPr/>
          <p:nvPr/>
        </p:nvSpPr>
        <p:spPr>
          <ns1:xfrm xmlns:ns1="http://schemas.openxmlformats.org/drawingml/2006/main">
            <ns1:off x="1352827" y="2728533"/>
            <ns1:ext cx="577863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«device»</ns7:t>
            </ns7:r>
            <ns7:endParaRPr lang="zh-CN" sz="1048"/>
          </ns7:p>
        </p:txBody>
      </p:sp>
      <p:sp>
        <p:nvSpPr>
          <p:cNvPr id="15" name="UML deployment label 15"/>
          <p:cNvSpPr/>
          <p:nvPr/>
        </p:nvSpPr>
        <p:spPr>
          <ns1:xfrm xmlns:ns1="http://schemas.openxmlformats.org/drawingml/2006/main">
            <ns1:off x="1352295" y="2921243"/>
            <ns1:ext cx="578928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学生终端</ns7:t>
            </ns7:r>
            <ns7:endParaRPr lang="zh-CN" sz="1048"/>
          </ns7:p>
        </p:txBody>
      </p:sp>
      <p:sp>
        <p:nvSpPr>
          <p:cNvPr id="16" name="UML deployment arrow 16"/>
          <p:cNvSpPr/>
          <p:nvPr/>
        </p:nvSpPr>
        <p:spPr>
          <ns1:xfrm xmlns:ns1="http://schemas.openxmlformats.org/drawingml/2006/main">
            <ns1:off x="3197878" y="1293856"/>
            <ns1:ext cx="2315712" cy="259519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314700" h="3714750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3314700" y="0"/>
                </ns2:lnTo>
                <ns2:lnTo>
                  <ns2:pt x="3314700" y="3619500"/>
                </ns2:lnTo>
                <ns2:lnTo>
                  <ns2:pt x="3219450" y="3714750"/>
                </ns2:lnTo>
                <ns2:lnTo>
                  <ns2:pt x="0" y="3714750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7" name="UML deployment divider 17"/>
          <p:cNvSpPr/>
          <p:nvPr/>
        </p:nvSpPr>
        <p:spPr>
          <ns1:xfrm xmlns:ns1="http://schemas.openxmlformats.org/drawingml/2006/main">
            <ns1:off x="5447047" y="1293856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8" name="UML deployment divider 18"/>
          <p:cNvSpPr/>
          <p:nvPr/>
        </p:nvSpPr>
        <p:spPr>
          <ns1:xfrm xmlns:ns1="http://schemas.openxmlformats.org/drawingml/2006/main">
            <ns1:off x="3197878" y="1360400"/>
            <ns1:ext cx="2249169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219450" h="952" fill="none" stroke="1" extrusionOk="0">
                <ns2:moveTo>
                  <ns2:pt x="0" y="0"/>
                </ns2:moveTo>
                <ns2:lnTo>
                  <ns2:pt x="32194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19" name="UML deployment divider 19"/>
          <p:cNvSpPr/>
          <p:nvPr/>
        </p:nvSpPr>
        <p:spPr>
          <ns1:xfrm xmlns:ns1="http://schemas.openxmlformats.org/drawingml/2006/main">
            <ns1:off x="5447047" y="1360400"/>
            <ns1:ext cx="952" cy="25286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3619500" fill="none" stroke="1" extrusionOk="0">
                <ns2:moveTo>
                  <ns2:pt x="0" y="0"/>
                </ns2:moveTo>
                <ns2:lnTo>
                  <ns2:pt x="0" y="361950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0" name="UML deployment label 20"/>
          <p:cNvSpPr/>
          <p:nvPr/>
        </p:nvSpPr>
        <p:spPr>
          <ns1:xfrm xmlns:ns1="http://schemas.openxmlformats.org/drawingml/2006/main">
            <ns1:off x="4061146" y="1391010"/>
            <ns1:ext cx="577863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«device»</ns7:t>
            </ns7:r>
            <ns7:endParaRPr lang="zh-CN" sz="1048"/>
          </ns7:p>
        </p:txBody>
      </p:sp>
      <p:sp>
        <p:nvSpPr>
          <p:cNvPr id="21" name="UML deployment label 21"/>
          <p:cNvSpPr/>
          <p:nvPr/>
        </p:nvSpPr>
        <p:spPr>
          <ns1:xfrm xmlns:ns1="http://schemas.openxmlformats.org/drawingml/2006/main">
            <ns1:off x="3994070" y="1583720"/>
            <ns1:ext cx="71201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应用服务器</ns7:t>
            </ns7:r>
            <ns7:endParaRPr lang="zh-CN" sz="1048"/>
          </ns7:p>
        </p:txBody>
      </p:sp>
      <p:sp>
        <p:nvSpPr>
          <p:cNvPr id="22" name="UML deployment arrow 22"/>
          <p:cNvSpPr/>
          <p:nvPr/>
        </p:nvSpPr>
        <p:spPr>
          <ns1:xfrm xmlns:ns1="http://schemas.openxmlformats.org/drawingml/2006/main">
            <ns1:off x="3330964" y="1912711"/>
            <ns1:ext cx="2049539" cy="184325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933700" h="2638425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2933700" y="0"/>
                </ns2:lnTo>
                <ns2:lnTo>
                  <ns2:pt x="2933700" y="2543175"/>
                </ns2:lnTo>
                <ns2:lnTo>
                  <ns2:pt x="2838450" y="2638425"/>
                </ns2:lnTo>
                <ns2:lnTo>
                  <ns2:pt x="0" y="2638425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3" name="UML deployment divider 23"/>
          <p:cNvSpPr/>
          <p:nvPr/>
        </p:nvSpPr>
        <p:spPr>
          <ns1:xfrm xmlns:ns1="http://schemas.openxmlformats.org/drawingml/2006/main">
            <ns1:off x="5313960" y="1912711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4" name="UML deployment divider 24"/>
          <p:cNvSpPr/>
          <p:nvPr/>
        </p:nvSpPr>
        <p:spPr>
          <ns1:xfrm xmlns:ns1="http://schemas.openxmlformats.org/drawingml/2006/main">
            <ns1:off x="3330964" y="1979254"/>
            <ns1:ext cx="198299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838450" h="952" fill="none" stroke="1" extrusionOk="0">
                <ns2:moveTo>
                  <ns2:pt x="0" y="0"/>
                </ns2:moveTo>
                <ns2:lnTo>
                  <ns2:pt x="28384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5" name="UML deployment divider 25"/>
          <p:cNvSpPr/>
          <p:nvPr/>
        </p:nvSpPr>
        <p:spPr>
          <ns1:xfrm xmlns:ns1="http://schemas.openxmlformats.org/drawingml/2006/main">
            <ns1:off x="5313960" y="1979254"/>
            <ns1:ext cx="952" cy="177671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543175" fill="none" stroke="1" extrusionOk="0">
                <ns2:moveTo>
                  <ns2:pt x="0" y="0"/>
                </ns2:moveTo>
                <ns2:lnTo>
                  <ns2:pt x="0" y="254317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6" name="UML deployment label 26"/>
          <p:cNvSpPr/>
          <p:nvPr/>
        </p:nvSpPr>
        <p:spPr>
          <ns1:xfrm xmlns:ns1="http://schemas.openxmlformats.org/drawingml/2006/main">
            <ns1:off x="3553885" y="2009864"/>
            <ns1:ext cx="159238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«executionEnvironment»</ns7:t>
            </ns7:r>
            <ns7:endParaRPr lang="zh-CN" sz="1048"/>
          </ns7:p>
        </p:txBody>
      </p:sp>
      <p:sp>
        <p:nvSpPr>
          <p:cNvPr id="27" name="UML deployment label 27"/>
          <p:cNvSpPr/>
          <p:nvPr/>
        </p:nvSpPr>
        <p:spPr>
          <ns1:xfrm xmlns:ns1="http://schemas.openxmlformats.org/drawingml/2006/main">
            <ns1:off x="3724569" y="2202574"/>
            <ns1:ext cx="1251017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Web与应用运行环境</ns7:t>
            </ns7:r>
            <ns7:endParaRPr lang="zh-CN" sz="1048"/>
          </ns7:p>
        </p:txBody>
      </p:sp>
      <p:sp>
        <p:nvSpPr>
          <p:cNvPr id="28" name="UML deployment arrow 28"/>
          <p:cNvSpPr/>
          <p:nvPr/>
        </p:nvSpPr>
        <p:spPr>
          <ns1:xfrm xmlns:ns1="http://schemas.openxmlformats.org/drawingml/2006/main">
            <ns1:off x="6245568" y="1759661"/>
            <ns1:ext cx="2315712" cy="21293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314700" h="3048000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3314700" y="0"/>
                </ns2:lnTo>
                <ns2:lnTo>
                  <ns2:pt x="3314700" y="2952750"/>
                </ns2:lnTo>
                <ns2:lnTo>
                  <ns2:pt x="3219450" y="3048000"/>
                </ns2:lnTo>
                <ns2:lnTo>
                  <ns2:pt x="0" y="3048000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29" name="UML deployment divider 29"/>
          <p:cNvSpPr/>
          <p:nvPr/>
        </p:nvSpPr>
        <p:spPr>
          <ns1:xfrm xmlns:ns1="http://schemas.openxmlformats.org/drawingml/2006/main">
            <ns1:off x="8494737" y="1759661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0" name="UML deployment divider 30"/>
          <p:cNvSpPr/>
          <p:nvPr/>
        </p:nvSpPr>
        <p:spPr>
          <ns1:xfrm xmlns:ns1="http://schemas.openxmlformats.org/drawingml/2006/main">
            <ns1:off x="6245568" y="1826204"/>
            <ns1:ext cx="2249169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3219450" h="952" fill="none" stroke="1" extrusionOk="0">
                <ns2:moveTo>
                  <ns2:pt x="0" y="0"/>
                </ns2:moveTo>
                <ns2:lnTo>
                  <ns2:pt x="32194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1" name="UML deployment divider 31"/>
          <p:cNvSpPr/>
          <p:nvPr/>
        </p:nvSpPr>
        <p:spPr>
          <ns1:xfrm xmlns:ns1="http://schemas.openxmlformats.org/drawingml/2006/main">
            <ns1:off x="8494737" y="1826204"/>
            <ns1:ext cx="952" cy="206284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52750" fill="none" stroke="1" extrusionOk="0">
                <ns2:moveTo>
                  <ns2:pt x="0" y="0"/>
                </ns2:moveTo>
                <ns2:lnTo>
                  <ns2:pt x="0" y="29527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2" name="UML deployment label 32"/>
          <p:cNvSpPr/>
          <p:nvPr/>
        </p:nvSpPr>
        <p:spPr>
          <ns1:xfrm xmlns:ns1="http://schemas.openxmlformats.org/drawingml/2006/main">
            <ns1:off x="7108836" y="1856814"/>
            <ns1:ext cx="577863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«device»</ns7:t>
            </ns7:r>
            <ns7:endParaRPr lang="zh-CN" sz="1048"/>
          </ns7:p>
        </p:txBody>
      </p:sp>
      <p:sp>
        <p:nvSpPr>
          <p:cNvPr id="33" name="UML deployment label 33"/>
          <p:cNvSpPr/>
          <p:nvPr/>
        </p:nvSpPr>
        <p:spPr>
          <ns1:xfrm xmlns:ns1="http://schemas.openxmlformats.org/drawingml/2006/main">
            <ns1:off x="6975217" y="2049524"/>
            <ns1:ext cx="845102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数据库服务器</ns7:t>
            </ns7:r>
            <ns7:endParaRPr lang="zh-CN" sz="1048"/>
          </ns7:p>
        </p:txBody>
      </p:sp>
      <p:sp>
        <p:nvSpPr>
          <p:cNvPr id="34" name="UML deployment arrow 34"/>
          <p:cNvSpPr/>
          <p:nvPr/>
        </p:nvSpPr>
        <p:spPr>
          <ns1:xfrm xmlns:ns1="http://schemas.openxmlformats.org/drawingml/2006/main">
            <ns1:off x="6378655" y="2378515"/>
            <ns1:ext cx="2049539" cy="137745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933700" h="1971675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2933700" y="0"/>
                </ns2:lnTo>
                <ns2:lnTo>
                  <ns2:pt x="2933700" y="1876425"/>
                </ns2:lnTo>
                <ns2:lnTo>
                  <ns2:pt x="2838450" y="1971675"/>
                </ns2:lnTo>
                <ns2:lnTo>
                  <ns2:pt x="0" y="1971675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5" name="UML deployment divider 35"/>
          <p:cNvSpPr/>
          <p:nvPr/>
        </p:nvSpPr>
        <p:spPr>
          <ns1:xfrm xmlns:ns1="http://schemas.openxmlformats.org/drawingml/2006/main">
            <ns1:off x="8361650" y="2378515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6" name="UML deployment divider 36"/>
          <p:cNvSpPr/>
          <p:nvPr/>
        </p:nvSpPr>
        <p:spPr>
          <ns1:xfrm xmlns:ns1="http://schemas.openxmlformats.org/drawingml/2006/main">
            <ns1:off x="6378655" y="2445058"/>
            <ns1:ext cx="1982995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838450" h="952" fill="none" stroke="1" extrusionOk="0">
                <ns2:moveTo>
                  <ns2:pt x="0" y="0"/>
                </ns2:moveTo>
                <ns2:lnTo>
                  <ns2:pt x="28384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7" name="UML deployment divider 37"/>
          <p:cNvSpPr/>
          <p:nvPr/>
        </p:nvSpPr>
        <p:spPr>
          <ns1:xfrm xmlns:ns1="http://schemas.openxmlformats.org/drawingml/2006/main">
            <ns1:off x="8361650" y="2445058"/>
            <ns1:ext cx="952" cy="131090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1876425" fill="none" stroke="1" extrusionOk="0">
                <ns2:moveTo>
                  <ns2:pt x="0" y="0"/>
                </ns2:moveTo>
                <ns2:lnTo>
                  <ns2:pt x="0" y="1876425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38" name="UML deployment label 38"/>
          <p:cNvSpPr/>
          <p:nvPr/>
        </p:nvSpPr>
        <p:spPr>
          <ns1:xfrm xmlns:ns1="http://schemas.openxmlformats.org/drawingml/2006/main">
            <ns1:off x="6601576" y="2475668"/>
            <ns1:ext cx="159238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«executionEnvironment»</ns7:t>
            </ns7:r>
            <ns7:endParaRPr lang="zh-CN" sz="1048"/>
          </ns7:p>
        </p:txBody>
      </p:sp>
      <p:sp>
        <p:nvSpPr>
          <p:cNvPr id="39" name="UML deployment label 39"/>
          <p:cNvSpPr/>
          <p:nvPr/>
        </p:nvSpPr>
        <p:spPr>
          <ns1:xfrm xmlns:ns1="http://schemas.openxmlformats.org/drawingml/2006/main">
            <ns1:off x="6775587" y="2668378"/>
            <ns1:ext cx="1244363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关系数据库管理系统</ns7:t>
            </ns7:r>
            <ns7:endParaRPr lang="zh-CN" sz="1048"/>
          </ns7:p>
        </p:txBody>
      </p:sp>
      <p:sp>
        <p:nvSpPr>
          <p:cNvPr id="40" name="UML deployment arrow 40"/>
          <p:cNvSpPr/>
          <p:nvPr/>
        </p:nvSpPr>
        <p:spPr>
          <ns1:xfrm xmlns:ns1="http://schemas.openxmlformats.org/drawingml/2006/main">
            <ns1:off x="735769" y="3250234"/>
            <ns1:ext cx="1825287" cy="58505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612708" h="837438" fill="norm" stroke="1" extrusionOk="0">
                <ns2:moveTo>
                  <ns2:pt x="0" y="95250"/>
                </ns2:moveTo>
                <ns2:lnTo>
                  <ns2:pt x="95250" y="0"/>
                </ns2:lnTo>
                <ns2:lnTo>
                  <ns2:pt x="2612708" y="0"/>
                </ns2:lnTo>
                <ns2:lnTo>
                  <ns2:pt x="2612708" y="742188"/>
                </ns2:lnTo>
                <ns2:lnTo>
                  <ns2:pt x="2517458" y="837438"/>
                </ns2:lnTo>
                <ns2:lnTo>
                  <ns2:pt x="0" y="837438"/>
                </ns2:lnTo>
                <ns2:lnTo>
                  <ns2:pt x="0" y="9525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41" name="UML deployment divider 41"/>
          <p:cNvSpPr/>
          <p:nvPr/>
        </p:nvSpPr>
        <p:spPr>
          <ns1:xfrm xmlns:ns1="http://schemas.openxmlformats.org/drawingml/2006/main">
            <ns1:off x="2494513" y="3250234"/>
            <ns1:ext cx="66543" cy="66543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50" h="95250" fill="none" stroke="1" extrusionOk="0">
                <ns2:moveTo>
                  <ns2:pt x="0" y="95250"/>
                </ns2:moveTo>
                <ns2:lnTo>
                  <ns2:pt x="9525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42" name="UML deployment divider 42"/>
          <p:cNvSpPr/>
          <p:nvPr/>
        </p:nvSpPr>
        <p:spPr>
          <ns1:xfrm xmlns:ns1="http://schemas.openxmlformats.org/drawingml/2006/main">
            <ns1:off x="735769" y="3316778"/>
            <ns1:ext cx="1758744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2517458" h="952" fill="none" stroke="1" extrusionOk="0">
                <ns2:moveTo>
                  <ns2:pt x="0" y="0"/>
                </ns2:moveTo>
                <ns2:lnTo>
                  <ns2:pt x="2517458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43" name="UML deployment divider 43"/>
          <p:cNvSpPr/>
          <p:nvPr/>
        </p:nvSpPr>
        <p:spPr>
          <ns1:xfrm xmlns:ns1="http://schemas.openxmlformats.org/drawingml/2006/main">
            <ns1:off x="2494513" y="3316778"/>
            <ns1:ext cx="952" cy="51850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742188" fill="none" stroke="1" extrusionOk="0">
                <ns2:moveTo>
                  <ns2:pt x="0" y="0"/>
                </ns2:moveTo>
                <ns2:lnTo>
                  <ns2:pt x="0" y="742188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44" name="UML deployment label 44"/>
          <p:cNvSpPr/>
          <p:nvPr/>
        </p:nvSpPr>
        <p:spPr>
          <ns1:xfrm xmlns:ns1="http://schemas.openxmlformats.org/drawingml/2006/main">
            <ns1:off x="839910" y="3393968"/>
            <ns1:ext cx="159238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 i="1">
                <ns7:solidFill>
                  <ns7:srgbClr val="000000"/>
                </ns7:solidFill>
                <ns7:latin typeface="Noto Sans SC"/>
                <ns7:ea typeface="Noto Sans SC"/>
              </ns7:rPr>
              <ns7:t>«executionEnvironment»</ns7:t>
            </ns7:r>
            <ns7:endParaRPr lang="zh-CN" sz="1048"/>
          </ns7:p>
        </p:txBody>
      </p:sp>
      <p:sp>
        <p:nvSpPr>
          <p:cNvPr id="45" name="UML deployment label 45"/>
          <p:cNvSpPr/>
          <p:nvPr/>
        </p:nvSpPr>
        <p:spPr>
          <ns1:xfrm xmlns:ns1="http://schemas.openxmlformats.org/drawingml/2006/main">
            <ns1:off x="1413182" y="3586678"/>
            <ns1:ext cx="179667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浏</ns7:t>
            </ns7:r>
            <ns7:endParaRPr lang="zh-CN" sz="1048"/>
          </ns7:p>
        </p:txBody>
      </p:sp>
      <p:sp>
        <p:nvSpPr>
          <p:cNvPr id="46" name="UML deployment label 46"/>
          <p:cNvSpPr/>
          <p:nvPr/>
        </p:nvSpPr>
        <p:spPr>
          <ns1:xfrm xmlns:ns1="http://schemas.openxmlformats.org/drawingml/2006/main">
            <ns1:off x="1546269" y="3586678"/>
            <ns1:ext cx="179667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览</ns7:t>
            </ns7:r>
            <ns7:endParaRPr lang="zh-CN" sz="1048"/>
          </ns7:p>
        </p:txBody>
      </p:sp>
      <p:sp>
        <p:nvSpPr>
          <p:cNvPr id="47" name="UML deployment label 47"/>
          <p:cNvSpPr/>
          <p:nvPr/>
        </p:nvSpPr>
        <p:spPr>
          <ns1:xfrm xmlns:ns1="http://schemas.openxmlformats.org/drawingml/2006/main">
            <ns1:off x="1679356" y="3586678"/>
            <ns1:ext cx="179667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器</ns7:t>
            </ns7:r>
            <ns7:endParaRPr lang="zh-CN" sz="1048"/>
          </ns7:p>
        </p:txBody>
      </p:sp>
      <p:sp>
        <p:nvSpPr>
          <p:cNvPr id="48" name="UML deployment box 48"/>
          <p:cNvSpPr/>
          <p:nvPr/>
        </p:nvSpPr>
        <p:spPr>
          <ns1:xfrm xmlns:ns1="http://schemas.openxmlformats.org/drawingml/2006/main">
            <ns1:off x="3923201" y="2531565"/>
            <ns1:ext cx="865065" cy="34576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49" name="UML deployment arrow 49"/>
          <p:cNvSpPr/>
          <p:nvPr/>
        </p:nvSpPr>
        <p:spPr>
          <ns1:xfrm xmlns:ns1="http://schemas.openxmlformats.org/drawingml/2006/main">
            <ns1:off x="4675142" y="2564836"/>
            <ns1:ext cx="79852" cy="9316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33350" fill="norm" stroke="1" extrusionOk="0">
                <ns2:moveTo>
                  <ns2:pt x="0" y="0"/>
                </ns2:moveTo>
                <ns2:lnTo>
                  <ns2:pt x="0" y="133350"/>
                </ns2:lnTo>
                <ns2:lnTo>
                  <ns2:pt x="114300" y="133350"/>
                </ns2:lnTo>
                <ns2:lnTo>
                  <ns2:pt x="114300" y="57150"/>
                </ns2:lnTo>
                <ns2:lnTo>
                  <ns2:pt x="57150" y="0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0" name="UML deployment divider 50"/>
          <p:cNvSpPr/>
          <p:nvPr/>
        </p:nvSpPr>
        <p:spPr>
          <ns1:xfrm xmlns:ns1="http://schemas.openxmlformats.org/drawingml/2006/main">
            <ns1:off x="4715068" y="2564836"/>
            <ns1:ext cx="952" cy="3992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150" fill="none" stroke="1" extrusionOk="0">
                <ns2:moveTo>
                  <ns2:pt x="0" y="0"/>
                </ns2:moveTo>
                <ns2:lnTo>
                  <ns2:pt x="0" y="571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1" name="UML deployment divider 51"/>
          <p:cNvSpPr/>
          <p:nvPr/>
        </p:nvSpPr>
        <p:spPr>
          <ns1:xfrm xmlns:ns1="http://schemas.openxmlformats.org/drawingml/2006/main">
            <ns1:off x="4715068" y="2604763"/>
            <ns1:ext cx="3992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150" h="952" fill="none" stroke="1" extrusionOk="0">
                <ns2:moveTo>
                  <ns2:pt x="5715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2" name="UML deployment label 52"/>
          <p:cNvSpPr/>
          <p:nvPr/>
        </p:nvSpPr>
        <p:spPr>
          <ns1:xfrm xmlns:ns1="http://schemas.openxmlformats.org/drawingml/2006/main">
            <ns1:off x="3987416" y="2628718"/>
            <ns1:ext cx="71201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前端资源包</ns7:t>
            </ns7:r>
            <ns7:endParaRPr lang="zh-CN" sz="1048"/>
          </ns7:p>
        </p:txBody>
      </p:sp>
      <p:sp>
        <p:nvSpPr>
          <p:cNvPr id="53" name="UML deployment box 53"/>
          <p:cNvSpPr/>
          <p:nvPr/>
        </p:nvSpPr>
        <p:spPr>
          <ns1:xfrm xmlns:ns1="http://schemas.openxmlformats.org/drawingml/2006/main">
            <ns1:off x="3923201" y="2997369"/>
            <ns1:ext cx="865065" cy="34576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4" name="UML deployment arrow 54"/>
          <p:cNvSpPr/>
          <p:nvPr/>
        </p:nvSpPr>
        <p:spPr>
          <ns1:xfrm xmlns:ns1="http://schemas.openxmlformats.org/drawingml/2006/main">
            <ns1:off x="4675142" y="3030641"/>
            <ns1:ext cx="79852" cy="9316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33350" fill="norm" stroke="1" extrusionOk="0">
                <ns2:moveTo>
                  <ns2:pt x="0" y="0"/>
                </ns2:moveTo>
                <ns2:lnTo>
                  <ns2:pt x="0" y="133350"/>
                </ns2:lnTo>
                <ns2:lnTo>
                  <ns2:pt x="114300" y="133350"/>
                </ns2:lnTo>
                <ns2:lnTo>
                  <ns2:pt x="114300" y="57150"/>
                </ns2:lnTo>
                <ns2:lnTo>
                  <ns2:pt x="57150" y="0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5" name="UML deployment divider 55"/>
          <p:cNvSpPr/>
          <p:nvPr/>
        </p:nvSpPr>
        <p:spPr>
          <ns1:xfrm xmlns:ns1="http://schemas.openxmlformats.org/drawingml/2006/main">
            <ns1:off x="4715068" y="3030641"/>
            <ns1:ext cx="952" cy="3992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150" fill="none" stroke="1" extrusionOk="0">
                <ns2:moveTo>
                  <ns2:pt x="0" y="0"/>
                </ns2:moveTo>
                <ns2:lnTo>
                  <ns2:pt x="0" y="571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6" name="UML deployment divider 56"/>
          <p:cNvSpPr/>
          <p:nvPr/>
        </p:nvSpPr>
        <p:spPr>
          <ns1:xfrm xmlns:ns1="http://schemas.openxmlformats.org/drawingml/2006/main">
            <ns1:off x="4715068" y="3070567"/>
            <ns1:ext cx="3992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150" h="952" fill="none" stroke="1" extrusionOk="0">
                <ns2:moveTo>
                  <ns2:pt x="5715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7" name="UML deployment label 57"/>
          <p:cNvSpPr/>
          <p:nvPr/>
        </p:nvSpPr>
        <p:spPr>
          <ns1:xfrm xmlns:ns1="http://schemas.openxmlformats.org/drawingml/2006/main">
            <ns1:off x="3987416" y="3094522"/>
            <ns1:ext cx="712015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选课应用包</ns7:t>
            </ns7:r>
            <ns7:endParaRPr lang="zh-CN" sz="1048"/>
          </ns7:p>
        </p:txBody>
      </p:sp>
      <p:sp>
        <p:nvSpPr>
          <p:cNvPr id="58" name="UML deployment box 58"/>
          <p:cNvSpPr/>
          <p:nvPr/>
        </p:nvSpPr>
        <p:spPr>
          <ns1:xfrm xmlns:ns1="http://schemas.openxmlformats.org/drawingml/2006/main">
            <ns1:off x="6837805" y="2997369"/>
            <ns1:ext cx="1131239" cy="345760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59" name="UML deployment arrow 59"/>
          <p:cNvSpPr/>
          <p:nvPr/>
        </p:nvSpPr>
        <p:spPr>
          <ns1:xfrm xmlns:ns1="http://schemas.openxmlformats.org/drawingml/2006/main">
            <ns1:off x="7855920" y="3030641"/>
            <ns1:ext cx="79852" cy="9316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" h="133350" fill="norm" stroke="1" extrusionOk="0">
                <ns2:moveTo>
                  <ns2:pt x="0" y="0"/>
                </ns2:moveTo>
                <ns2:lnTo>
                  <ns2:pt x="0" y="133350"/>
                </ns2:lnTo>
                <ns2:lnTo>
                  <ns2:pt x="114300" y="133350"/>
                </ns2:lnTo>
                <ns2:lnTo>
                  <ns2:pt x="114300" y="57150"/>
                </ns2:lnTo>
                <ns2:lnTo>
                  <ns2:pt x="57150" y="0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60" name="UML deployment divider 60"/>
          <p:cNvSpPr/>
          <p:nvPr/>
        </p:nvSpPr>
        <p:spPr>
          <ns1:xfrm xmlns:ns1="http://schemas.openxmlformats.org/drawingml/2006/main">
            <ns1:off x="7895846" y="3030641"/>
            <ns1:ext cx="952" cy="3992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57150" fill="none" stroke="1" extrusionOk="0">
                <ns2:moveTo>
                  <ns2:pt x="0" y="0"/>
                </ns2:moveTo>
                <ns2:lnTo>
                  <ns2:pt x="0" y="5715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61" name="UML deployment divider 61"/>
          <p:cNvSpPr/>
          <p:nvPr/>
        </p:nvSpPr>
        <p:spPr>
          <ns1:xfrm xmlns:ns1="http://schemas.openxmlformats.org/drawingml/2006/main">
            <ns1:off x="7895846" y="3070567"/>
            <ns1:ext cx="3992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7150" h="952" fill="none" stroke="1" extrusionOk="0">
                <ns2:moveTo>
                  <ns2:pt x="57150" y="0"/>
                </ns2:moveTo>
                <ns2:lnTo>
                  <ns2:pt x="0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62" name="UML deployment label 62"/>
          <p:cNvSpPr/>
          <p:nvPr/>
        </p:nvSpPr>
        <p:spPr>
          <ns1:xfrm xmlns:ns1="http://schemas.openxmlformats.org/drawingml/2006/main">
            <ns1:off x="6902019" y="3094522"/>
            <ns1:ext cx="978189" cy="194307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048" dirty="0">
                <ns7:solidFill>
                  <ns7:srgbClr val="000000"/>
                </ns7:solidFill>
                <ns7:latin typeface="Noto Sans SC"/>
                <ns7:ea typeface="Noto Sans SC"/>
              </ns7:rPr>
              <ns7:t>选课数据库定义</ns7:t>
            </ns7:r>
            <ns7:endParaRPr lang="zh-CN" sz="1048"/>
          </ns7:p>
        </p:txBody>
      </p:sp>
      <p:sp>
        <p:nvSpPr>
          <p:cNvPr id="63" name="UML deployment connection 63"/>
          <p:cNvSpPr/>
          <p:nvPr/>
        </p:nvSpPr>
        <p:spPr>
          <ns1:xfrm xmlns:ns1="http://schemas.openxmlformats.org/drawingml/2006/main">
            <ns1:off x="2560844" y="3543025"/>
            <ns1:ext cx="76288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91984" h="952" fill="none" stroke="1" extrusionOk="0">
                <ns2:moveTo>
                  <ns2:pt x="0" y="0"/>
                </ns2:moveTo>
                <ns2:cubicBezTo>
                  <ns2:pt x="243973" y="0"/>
                  <ns2:pt x="503072" y="0"/>
                  <ns2:pt x="759143" y="0"/>
                </ns2:cubicBezTo>
                <ns2:cubicBezTo>
                  <ns2:pt x="823170" y="0"/>
                  <ns2:pt x="886997" y="0"/>
                  <ns2:pt x="950347" y="0"/>
                </ns2:cubicBezTo>
                <ns2:cubicBezTo>
                  <ns2:pt x="982028" y="0"/>
                  <ns2:pt x="1013593" y="0"/>
                  <ns2:pt x="1044997" y="0"/>
                </ns2:cubicBezTo>
                <ns2:cubicBezTo>
                  <ns2:pt x="1060694" y="0"/>
                  <ns2:pt x="1076363" y="0"/>
                  <ns2:pt x="1091984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64" name="UML deployment label 64"/>
          <p:cNvSpPr/>
          <p:nvPr/>
        </p:nvSpPr>
        <p:spPr>
          <ns1:xfrm xmlns:ns1="http://schemas.openxmlformats.org/drawingml/2006/main">
            <ns1:off x="2756362" y="3366286"/>
            <ns1:ext cx="419823" cy="1748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43" dirty="0">
                <ns7:solidFill>
                  <ns7:srgbClr val="1F2A44"/>
                </ns7:solidFill>
                <ns7:latin typeface="Noto Sans SC"/>
                <ns7:ea typeface="Noto Sans SC"/>
              </ns7:rPr>
              <ns7:t>HTTPS</ns7:t>
            </ns7:r>
            <ns7:endParaRPr lang="zh-CN" sz="943"/>
          </ns7:p>
        </p:txBody>
      </p:sp>
      <p:sp>
        <p:nvSpPr>
          <p:cNvPr id="65" name="UML deployment connection 65"/>
          <p:cNvSpPr/>
          <p:nvPr/>
        </p:nvSpPr>
        <p:spPr>
          <ns1:xfrm xmlns:ns1="http://schemas.openxmlformats.org/drawingml/2006/main">
            <ns1:off x="5388109" y="3543025"/>
            <ns1:ext cx="990506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417806" h="952" fill="none" stroke="1" extrusionOk="0">
                <ns2:moveTo>
                  <ns2:pt x="0" y="0"/>
                </ns2:moveTo>
                <ns2:cubicBezTo>
                  <ns2:pt x="6877" y="0"/>
                  <ns2:pt x="13764" y="0"/>
                  <ns2:pt x="20660" y="0"/>
                </ns2:cubicBezTo>
                <ns2:cubicBezTo>
                  <ns2:pt x="241373" y="0"/>
                  <ns2:pt x="472573" y="0"/>
                  <ns2:pt x="703764" y="0"/>
                </ns2:cubicBezTo>
                <ns2:cubicBezTo>
                  <ns2:pt x="934955" y="0"/>
                  <ns2:pt x="1166136" y="0"/>
                  <ns2:pt x="1386840" y="0"/>
                </ns2:cubicBezTo>
                <ns2:cubicBezTo>
                  <ns2:pt x="1393736" y="0"/>
                  <ns2:pt x="1400623" y="0"/>
                  <ns2:pt x="1407500" y="0"/>
                </ns2:cubicBezTo>
                <ns2:cubicBezTo>
                  <ns2:pt x="1410938" y="0"/>
                  <ns2:pt x="1414377" y="0"/>
                  <ns2:pt x="1417806" y="0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6654">
            <ns4:solidFill>
              <ns4:srgbClr val="1F2A44"/>
            </ns4:solidFill>
          </ns4:ln>
        </p:spPr>
      </p:sp>
      <p:sp>
        <p:nvSpPr>
          <p:cNvPr id="66" name="UML deployment label 66"/>
          <p:cNvSpPr/>
          <p:nvPr/>
        </p:nvSpPr>
        <p:spPr>
          <ns1:xfrm xmlns:ns1="http://schemas.openxmlformats.org/drawingml/2006/main">
            <ns1:off x="5577804" y="3366286"/>
            <ns1:ext cx="640814" cy="174876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6654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943" dirty="0">
                <ns7:solidFill>
                  <ns7:srgbClr val="1F2A44"/>
                </ns7:solidFill>
                <ns7:latin typeface="Noto Sans SC"/>
                <ns7:ea typeface="Noto Sans SC"/>
              </ns7:rPr>
              <ns7:t>数据库协议</ns7:t>
            </ns7:r>
            <ns7:endParaRPr lang="zh-CN" sz="943"/>
          </ns7:p>
        </p:txBody>
      </p:sp>
      <p:sp>
        <p:nvSpPr>
          <p:cNvPr id="7" name="content-537">
            <a:extLst xmlns:a="http://schemas.openxmlformats.org/drawingml/2006/main">
              <a:ext uri="{FF2B5EF4-FFF2-40B4-BE49-F238E27FC236}">
                <a16:creationId xmlns:a16="http://schemas.microsoft.com/office/drawing/2014/main" id="{15A6EB89-8E5D-43E7-983A-7A4767B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数据库部署的候选方案；课堂Java演示使用内存，不验证此拓扑。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3253-534B-4EEC-AC10-3D5B3DBB0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36eec97864151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538">
            <a:extLst xmlns:a="http://schemas.openxmlformats.org/drawingml/2006/main">
              <a:ext uri="{FF2B5EF4-FFF2-40B4-BE49-F238E27FC236}">
                <a16:creationId xmlns:a16="http://schemas.microsoft.com/office/drawing/2014/main" id="{00717D57-2AE3-4837-BA85-F710221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架构选择与框架选择</a:t>
            </a:r>
          </a:p>
        </p:txBody>
      </p:sp>
      <p:sp>
        <p:nvSpPr>
          <p:cNvPr id="2" name="frame-539">
            <a:extLst xmlns:a="http://schemas.openxmlformats.org/drawingml/2006/main">
              <a:ext uri="{FF2B5EF4-FFF2-40B4-BE49-F238E27FC236}">
                <a16:creationId xmlns:a16="http://schemas.microsoft.com/office/drawing/2014/main" id="{91F1DFA6-749A-411B-BB08-BA54CD4A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40">
            <a:extLst xmlns:a="http://schemas.openxmlformats.org/drawingml/2006/main">
              <a:ext uri="{FF2B5EF4-FFF2-40B4-BE49-F238E27FC236}">
                <a16:creationId xmlns:a16="http://schemas.microsoft.com/office/drawing/2014/main" id="{DDC5F025-8223-4D67-8C7B-63AB9600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CFEBC21-943B-4CEF-8035-D27AF0F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28EB1E1-CBA2-40AA-A442-74EA7E40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65 / 82</a:t>
            </a:r>
          </a:p>
        </p:txBody>
      </p:sp>
      <p:sp>
        <p:nvSpPr>
          <p:cNvPr id="6" name="content-541">
            <a:extLst xmlns:a="http://schemas.openxmlformats.org/drawingml/2006/main">
              <a:ext uri="{FF2B5EF4-FFF2-40B4-BE49-F238E27FC236}">
                <a16:creationId xmlns:a16="http://schemas.microsoft.com/office/drawing/2014/main" id="{BF8E471B-F446-48DE-BE1E-71CD3ED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架构选择</a:t>
            </a:r>
          </a:p>
        </p:txBody>
      </p:sp>
      <p:sp>
        <p:nvSpPr>
          <p:cNvPr id="7" name="content-542">
            <a:extLst xmlns:a="http://schemas.openxmlformats.org/drawingml/2006/main">
              <a:ext uri="{FF2B5EF4-FFF2-40B4-BE49-F238E27FC236}">
                <a16:creationId xmlns:a16="http://schemas.microsoft.com/office/drawing/2014/main" id="{9D07B505-088D-4EAF-AD72-DD91D10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说明职责怎样组织，模块之间怎样依赖和通信。</a:t>
            </a:r>
          </a:p>
        </p:txBody>
      </p:sp>
      <p:sp>
        <p:nvSpPr>
          <p:cNvPr id="8" name="frame-543">
            <a:extLst xmlns:a="http://schemas.openxmlformats.org/drawingml/2006/main">
              <a:ext uri="{FF2B5EF4-FFF2-40B4-BE49-F238E27FC236}">
                <a16:creationId xmlns:a16="http://schemas.microsoft.com/office/drawing/2014/main" id="{2A06F8E5-469F-49AC-A88C-E325A38B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544">
            <a:extLst xmlns:a="http://schemas.openxmlformats.org/drawingml/2006/main">
              <a:ext uri="{FF2B5EF4-FFF2-40B4-BE49-F238E27FC236}">
                <a16:creationId xmlns:a16="http://schemas.microsoft.com/office/drawing/2014/main" id="{44B296F4-EE6B-4C67-B62F-1726639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框架选择</a:t>
            </a:r>
          </a:p>
        </p:txBody>
      </p:sp>
      <p:sp>
        <p:nvSpPr>
          <p:cNvPr id="10" name="content-545">
            <a:extLst xmlns:a="http://schemas.openxmlformats.org/drawingml/2006/main">
              <a:ext uri="{FF2B5EF4-FFF2-40B4-BE49-F238E27FC236}">
                <a16:creationId xmlns:a16="http://schemas.microsoft.com/office/drawing/2014/main" id="{095A9139-36D8-456C-B481-C10A05AC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选择支持实现的编程模型、类库和扩展机制。</a:t>
            </a:r>
          </a:p>
        </p:txBody>
      </p:sp>
      <p:sp>
        <p:nvSpPr>
          <p:cNvPr id="11" name="frame-546">
            <a:extLst xmlns:a="http://schemas.openxmlformats.org/drawingml/2006/main">
              <a:ext uri="{FF2B5EF4-FFF2-40B4-BE49-F238E27FC236}">
                <a16:creationId xmlns:a16="http://schemas.microsoft.com/office/drawing/2014/main" id="{8C7EC60A-C3DF-4A82-B6A2-B107F671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547">
            <a:extLst xmlns:a="http://schemas.openxmlformats.org/drawingml/2006/main">
              <a:ext uri="{FF2B5EF4-FFF2-40B4-BE49-F238E27FC236}">
                <a16:creationId xmlns:a16="http://schemas.microsoft.com/office/drawing/2014/main" id="{059589A8-65A4-4E95-889B-2B1567D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本例安排</a:t>
            </a:r>
          </a:p>
        </p:txBody>
      </p:sp>
      <p:sp>
        <p:nvSpPr>
          <p:cNvPr id="13" name="content-548">
            <a:extLst xmlns:a="http://schemas.openxmlformats.org/drawingml/2006/main">
              <a:ext uri="{FF2B5EF4-FFF2-40B4-BE49-F238E27FC236}">
                <a16:creationId xmlns:a16="http://schemas.microsoft.com/office/drawing/2014/main" id="{9B4EDCFA-1E8D-40E2-B1E4-962939B2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以简单分层说明职责组织，具体框架与产品尚未选定。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E4B9-3598-4792-B6A7-7C9C1D303C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ea2f28ded445b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549">
            <a:extLst xmlns:a="http://schemas.openxmlformats.org/drawingml/2006/main">
              <a:ext uri="{FF2B5EF4-FFF2-40B4-BE49-F238E27FC236}">
                <a16:creationId xmlns:a16="http://schemas.microsoft.com/office/drawing/2014/main" id="{FF89DC03-DB2A-4E41-A694-52D3C63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业务模块的组织</a:t>
            </a:r>
          </a:p>
        </p:txBody>
      </p:sp>
      <p:sp>
        <p:nvSpPr>
          <p:cNvPr id="2" name="frame-550">
            <a:extLst xmlns:a="http://schemas.openxmlformats.org/drawingml/2006/main">
              <a:ext uri="{FF2B5EF4-FFF2-40B4-BE49-F238E27FC236}">
                <a16:creationId xmlns:a16="http://schemas.microsoft.com/office/drawing/2014/main" id="{6A69CD63-689C-4FE2-A3AC-5AC11C65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51">
            <a:extLst xmlns:a="http://schemas.openxmlformats.org/drawingml/2006/main">
              <a:ext uri="{FF2B5EF4-FFF2-40B4-BE49-F238E27FC236}">
                <a16:creationId xmlns:a16="http://schemas.microsoft.com/office/drawing/2014/main" id="{19EA092C-CACF-4C1B-8674-043C2AC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C3F53AB-50DE-4929-86F4-7F6E974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AFCA612-839C-4CA8-AF49-5550E83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66 / 82</a:t>
            </a:r>
          </a:p>
        </p:txBody>
      </p:sp>
      <p:sp>
        <p:nvSpPr>
          <p:cNvPr id="6" name="content-552">
            <a:extLst xmlns:a="http://schemas.openxmlformats.org/drawingml/2006/main">
              <a:ext uri="{FF2B5EF4-FFF2-40B4-BE49-F238E27FC236}">
                <a16:creationId xmlns:a16="http://schemas.microsoft.com/office/drawing/2014/main" id="{240F3F64-686F-4FF0-8BB7-7C6AFF6A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学籍信息</a:t>
            </a:r>
          </a:p>
        </p:txBody>
      </p:sp>
      <p:sp>
        <p:nvSpPr>
          <p:cNvPr id="7" name="content-553">
            <a:extLst xmlns:a="http://schemas.openxmlformats.org/drawingml/2006/main">
              <a:ext uri="{FF2B5EF4-FFF2-40B4-BE49-F238E27FC236}">
                <a16:creationId xmlns:a16="http://schemas.microsoft.com/office/drawing/2014/main" id="{F00B003E-8D16-4E84-ABA1-17490B4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2763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组织学生相关的业务信息。</a:t>
            </a:r>
          </a:p>
        </p:txBody>
      </p:sp>
      <p:sp>
        <p:nvSpPr>
          <p:cNvPr id="8" name="frame-554">
            <a:extLst xmlns:a="http://schemas.openxmlformats.org/drawingml/2006/main">
              <a:ext uri="{FF2B5EF4-FFF2-40B4-BE49-F238E27FC236}">
                <a16:creationId xmlns:a16="http://schemas.microsoft.com/office/drawing/2014/main" id="{3EE8D2EB-48ED-4FF9-BA23-8497A6E3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555">
            <a:extLst xmlns:a="http://schemas.openxmlformats.org/drawingml/2006/main">
              <a:ext uri="{FF2B5EF4-FFF2-40B4-BE49-F238E27FC236}">
                <a16:creationId xmlns:a16="http://schemas.microsoft.com/office/drawing/2014/main" id="{AF4FBDD2-F2D0-4507-8025-1FB9161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开课安排</a:t>
            </a:r>
          </a:p>
        </p:txBody>
      </p:sp>
      <p:sp>
        <p:nvSpPr>
          <p:cNvPr id="10" name="content-556">
            <a:extLst xmlns:a="http://schemas.openxmlformats.org/drawingml/2006/main">
              <a:ext uri="{FF2B5EF4-FFF2-40B4-BE49-F238E27FC236}">
                <a16:creationId xmlns:a16="http://schemas.microsoft.com/office/drawing/2014/main" id="{BF4D7FE5-15DF-4AFA-9941-46E7F069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组织开课班及余量信息。</a:t>
            </a:r>
          </a:p>
        </p:txBody>
      </p:sp>
      <p:sp>
        <p:nvSpPr>
          <p:cNvPr id="11" name="frame-557">
            <a:extLst xmlns:a="http://schemas.openxmlformats.org/drawingml/2006/main">
              <a:ext uri="{FF2B5EF4-FFF2-40B4-BE49-F238E27FC236}">
                <a16:creationId xmlns:a16="http://schemas.microsoft.com/office/drawing/2014/main" id="{8111959B-CC7C-4999-9916-2760A33E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558">
            <a:extLst xmlns:a="http://schemas.openxmlformats.org/drawingml/2006/main">
              <a:ext uri="{FF2B5EF4-FFF2-40B4-BE49-F238E27FC236}">
                <a16:creationId xmlns:a16="http://schemas.microsoft.com/office/drawing/2014/main" id="{3C9A1100-A60F-454A-B7EC-DACE52F8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571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选课办理</a:t>
            </a:r>
          </a:p>
        </p:txBody>
      </p:sp>
      <p:sp>
        <p:nvSpPr>
          <p:cNvPr id="13" name="content-559">
            <a:extLst xmlns:a="http://schemas.openxmlformats.org/drawingml/2006/main">
              <a:ext uri="{FF2B5EF4-FFF2-40B4-BE49-F238E27FC236}">
                <a16:creationId xmlns:a16="http://schemas.microsoft.com/office/drawing/2014/main" id="{8818FDE7-3CAF-41DC-9EF1-C8E8C09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6200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使用学生和开课班信息，处理选课记录。</a:t>
            </a:r>
          </a:p>
        </p:txBody>
      </p:sp>
      <p:sp>
        <p:nvSpPr>
          <p:cNvPr id="14" name="content-560">
            <a:extLst xmlns:a="http://schemas.openxmlformats.org/drawingml/2006/main">
              <a:ext uri="{FF2B5EF4-FFF2-40B4-BE49-F238E27FC236}">
                <a16:creationId xmlns:a16="http://schemas.microsoft.com/office/drawing/2014/main" id="{1884B356-1236-4302-88A4-54421955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业务模块帮助组织知识，不直接规定部门或服务器。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628DD-B3AA-48E8-BEEB-3D6DCA256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2cd847d0942e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61">
            <a:extLst xmlns:a="http://schemas.openxmlformats.org/drawingml/2006/main">
              <a:ext uri="{FF2B5EF4-FFF2-40B4-BE49-F238E27FC236}">
                <a16:creationId xmlns:a16="http://schemas.microsoft.com/office/drawing/2014/main" id="{6C91E222-B5D7-4F8F-9BA1-68DDCC3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案例：业务模块与领域概念</a:t>
            </a:r>
          </a:p>
        </p:txBody>
      </p:sp>
      <p:sp>
        <p:nvSpPr>
          <p:cNvPr id="2" name="frame-562">
            <a:extLst xmlns:a="http://schemas.openxmlformats.org/drawingml/2006/main">
              <a:ext uri="{FF2B5EF4-FFF2-40B4-BE49-F238E27FC236}">
                <a16:creationId xmlns:a16="http://schemas.microsoft.com/office/drawing/2014/main" id="{F9F15502-490C-448E-B458-100CAB9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63">
            <a:extLst xmlns:a="http://schemas.openxmlformats.org/drawingml/2006/main">
              <a:ext uri="{FF2B5EF4-FFF2-40B4-BE49-F238E27FC236}">
                <a16:creationId xmlns:a16="http://schemas.microsoft.com/office/drawing/2014/main" id="{3592DCC1-74B9-4E0D-BEA6-35B8AD55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8160607-0280-4DE4-B1C2-D08EDE19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A31B079-0B60-4AF8-86AA-9C9FE647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67 / 82</a:t>
            </a:r>
          </a:p>
        </p:txBody>
      </p:sp>
      <p:sp>
        <p:nvSpPr>
          <p:cNvPr id="10" name="UML business-packages arrow 10"/>
          <p:cNvSpPr/>
          <p:nvPr/>
        </p:nvSpPr>
        <p:spPr>
          <ns1:xfrm xmlns:ns1="http://schemas.openxmlformats.org/drawingml/2006/main">
            <ns1:off x="5330582" y="1125332"/>
            <ns1:ext cx="905126" cy="142234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00125" h="1571625" fill="norm" stroke="1" extrusionOk="0">
                <ns2:moveTo>
                  <ns2:pt x="0" y="0"/>
                </ns2:moveTo>
                <ns2:lnTo>
                  <ns2:pt x="819150" y="0"/>
                </ns2:lnTo>
                <ns2:lnTo>
                  <ns2:pt x="885825" y="332994"/>
                </ns2:lnTo>
                <ns2:lnTo>
                  <ns2:pt x="1000125" y="332994"/>
                </ns2:lnTo>
                <ns2:lnTo>
                  <ns2:pt x="1000125" y="1571625"/>
                </ns2:lnTo>
                <ns2:lnTo>
                  <ns2:pt x="0" y="1571625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1" name="UML business-packages divider 11"/>
          <p:cNvSpPr/>
          <p:nvPr/>
        </p:nvSpPr>
        <p:spPr>
          <ns1:xfrm xmlns:ns1="http://schemas.openxmlformats.org/drawingml/2006/main">
            <ns1:off x="5330582" y="1426696"/>
            <ns1:ext cx="80168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85825" h="952" fill="none" stroke="1" extrusionOk="0">
                <ns2:moveTo>
                  <ns2:pt x="0" y="0"/>
                </ns2:moveTo>
                <ns2:lnTo>
                  <ns2:pt x="8858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2" name="UML business-packages label 12"/>
          <p:cNvSpPr/>
          <p:nvPr/>
        </p:nvSpPr>
        <p:spPr>
          <ns1:xfrm xmlns:ns1="http://schemas.openxmlformats.org/drawingml/2006/main">
            <ns1:off x="5362046" y="1156365"/>
            <ns1:ext cx="749962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学籍信息</ns7:t>
            </ns7:r>
            <ns7:endParaRPr lang="zh-CN" sz="1358"/>
          </ns7:p>
        </p:txBody>
      </p:sp>
      <p:sp>
        <p:nvSpPr>
          <p:cNvPr id="13" name="UML business-packages arrow 13"/>
          <p:cNvSpPr/>
          <p:nvPr/>
        </p:nvSpPr>
        <p:spPr>
          <ns1:xfrm xmlns:ns1="http://schemas.openxmlformats.org/drawingml/2006/main">
            <ns1:off x="2675545" y="2547674"/>
            <ns1:ext cx="1137873" cy="142234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57300" h="1571625" fill="norm" stroke="1" extrusionOk="0">
                <ns2:moveTo>
                  <ns2:pt x="0" y="0"/>
                </ns2:moveTo>
                <ns2:lnTo>
                  <ns2:pt x="819150" y="0"/>
                </ns2:lnTo>
                <ns2:lnTo>
                  <ns2:pt x="885825" y="332994"/>
                </ns2:lnTo>
                <ns2:lnTo>
                  <ns2:pt x="1257300" y="332994"/>
                </ns2:lnTo>
                <ns2:lnTo>
                  <ns2:pt x="1257300" y="1571625"/>
                </ns2:lnTo>
                <ns2:lnTo>
                  <ns2:pt x="0" y="1571625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4" name="UML business-packages divider 14"/>
          <p:cNvSpPr/>
          <p:nvPr/>
        </p:nvSpPr>
        <p:spPr>
          <ns1:xfrm xmlns:ns1="http://schemas.openxmlformats.org/drawingml/2006/main">
            <ns1:off x="2675545" y="2849038"/>
            <ns1:ext cx="80168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85825" h="952" fill="none" stroke="1" extrusionOk="0">
                <ns2:moveTo>
                  <ns2:pt x="0" y="0"/>
                </ns2:moveTo>
                <ns2:lnTo>
                  <ns2:pt x="8858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5" name="UML business-packages label 15"/>
          <p:cNvSpPr/>
          <p:nvPr/>
        </p:nvSpPr>
        <p:spPr>
          <ns1:xfrm xmlns:ns1="http://schemas.openxmlformats.org/drawingml/2006/main">
            <ns1:off x="2707009" y="2578707"/>
            <ns1:ext cx="749962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选课办理</ns7:t>
            </ns7:r>
            <ns7:endParaRPr lang="zh-CN" sz="1358"/>
          </ns7:p>
        </p:txBody>
      </p:sp>
      <p:sp>
        <p:nvSpPr>
          <p:cNvPr id="16" name="UML business-packages arrow 16"/>
          <p:cNvSpPr/>
          <p:nvPr/>
        </p:nvSpPr>
        <p:spPr>
          <ns1:xfrm xmlns:ns1="http://schemas.openxmlformats.org/drawingml/2006/main">
            <ns1:off x="5071975" y="2685598"/>
            <ns1:ext cx="1422341" cy="142234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571625" h="1571625" fill="norm" stroke="1" extrusionOk="0">
                <ns2:moveTo>
                  <ns2:pt x="0" y="0"/>
                </ns2:moveTo>
                <ns2:lnTo>
                  <ns2:pt x="819150" y="0"/>
                </ns2:lnTo>
                <ns2:lnTo>
                  <ns2:pt x="885825" y="332994"/>
                </ns2:lnTo>
                <ns2:lnTo>
                  <ns2:pt x="1571625" y="332994"/>
                </ns2:lnTo>
                <ns2:lnTo>
                  <ns2:pt x="1571625" y="1571625"/>
                </ns2:lnTo>
                <ns2:lnTo>
                  <ns2:pt x="0" y="1571625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7" name="UML business-packages divider 17"/>
          <p:cNvSpPr/>
          <p:nvPr/>
        </p:nvSpPr>
        <p:spPr>
          <ns1:xfrm xmlns:ns1="http://schemas.openxmlformats.org/drawingml/2006/main">
            <ns1:off x="5071975" y="2986962"/>
            <ns1:ext cx="801683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85825" h="952" fill="none" stroke="1" extrusionOk="0">
                <ns2:moveTo>
                  <ns2:pt x="0" y="0"/>
                </ns2:moveTo>
                <ns2:lnTo>
                  <ns2:pt x="8858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18" name="UML business-packages label 18"/>
          <p:cNvSpPr/>
          <p:nvPr/>
        </p:nvSpPr>
        <p:spPr>
          <ns1:xfrm xmlns:ns1="http://schemas.openxmlformats.org/drawingml/2006/main">
            <ns1:off x="5103438" y="2716631"/>
            <ns1:ext cx="749962" cy="251711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358" dirty="0">
                <ns7:solidFill>
                  <ns7:srgbClr val="000000"/>
                </ns7:solidFill>
                <ns7:latin typeface="Noto Sans SC"/>
                <ns7:ea typeface="Noto Sans SC"/>
              </ns7:rPr>
              <ns7:t>开课安排</ns7:t>
            </ns7:r>
            <ns7:endParaRPr lang="zh-CN" sz="1358"/>
          </ns7:p>
        </p:txBody>
      </p:sp>
      <p:sp>
        <p:nvSpPr>
          <p:cNvPr id="19" name="UML business-packages box 19"/>
          <p:cNvSpPr/>
          <p:nvPr/>
        </p:nvSpPr>
        <p:spPr>
          <ns1:xfrm xmlns:ns1="http://schemas.openxmlformats.org/drawingml/2006/main">
            <ns1:off x="5468506" y="1599446"/>
            <ns1:ext cx="632192" cy="44880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0" name="UML business-packages label 20"/>
          <p:cNvSpPr/>
          <p:nvPr/>
        </p:nvSpPr>
        <p:spPr>
          <ns1:xfrm xmlns:ns1="http://schemas.openxmlformats.org/drawingml/2006/main">
            <ns1:off x="5491350" y="1654960"/>
            <ns1:ext cx="634778" cy="22654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22" dirty="0">
                <ns7:solidFill>
                  <ns7:srgbClr val="1F2A44"/>
                </ns7:solidFill>
                <ns7:latin typeface="Noto Sans SC"/>
                <ns7:ea typeface="Noto Sans SC"/>
              </ns7:rPr>
              <ns7:t>Student</ns7:t>
            </ns7:r>
            <ns7:endParaRPr lang="zh-CN" sz="1222"/>
          </ns7:p>
        </p:txBody>
      </p:sp>
      <p:sp>
        <p:nvSpPr>
          <p:cNvPr id="21" name="UML business-packages divider 21"/>
          <p:cNvSpPr/>
          <p:nvPr/>
        </p:nvSpPr>
        <p:spPr>
          <ns1:xfrm xmlns:ns1="http://schemas.openxmlformats.org/drawingml/2006/main">
            <ns1:off x="5477126" y="1910327"/>
            <ns1:ext cx="61495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2" name="UML business-packages divider 22"/>
          <p:cNvSpPr/>
          <p:nvPr/>
        </p:nvSpPr>
        <p:spPr>
          <ns1:xfrm xmlns:ns1="http://schemas.openxmlformats.org/drawingml/2006/main">
            <ns1:off x="5477126" y="1979289"/>
            <ns1:ext cx="61495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79494" h="952" fill="none" stroke="1" extrusionOk="0">
                <ns2:moveTo>
                  <ns2:pt x="0" y="0"/>
                </ns2:moveTo>
                <ns2:lnTo>
                  <ns2:pt x="6794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3" name="UML business-packages box 23"/>
          <p:cNvSpPr/>
          <p:nvPr/>
        </p:nvSpPr>
        <p:spPr>
          <ns1:xfrm xmlns:ns1="http://schemas.openxmlformats.org/drawingml/2006/main">
            <ns1:off x="2813469" y="3021787"/>
            <ns1:ext cx="862922" cy="44880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4" name="UML business-packages label 24"/>
          <p:cNvSpPr/>
          <p:nvPr/>
        </p:nvSpPr>
        <p:spPr>
          <ns1:xfrm xmlns:ns1="http://schemas.openxmlformats.org/drawingml/2006/main">
            <ns1:off x="2836313" y="3077302"/>
            <ns1:ext cx="865508" cy="22654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22" dirty="0">
                <ns7:solidFill>
                  <ns7:srgbClr val="1F2A44"/>
                </ns7:solidFill>
                <ns7:latin typeface="Noto Sans SC"/>
                <ns7:ea typeface="Noto Sans SC"/>
              </ns7:rPr>
              <ns7:t>Enrollment</ns7:t>
            </ns7:r>
            <ns7:endParaRPr lang="zh-CN" sz="1222"/>
          </ns7:p>
        </p:txBody>
      </p:sp>
      <p:sp>
        <p:nvSpPr>
          <p:cNvPr id="25" name="UML business-packages divider 25"/>
          <p:cNvSpPr/>
          <p:nvPr/>
        </p:nvSpPr>
        <p:spPr>
          <ns1:xfrm xmlns:ns1="http://schemas.openxmlformats.org/drawingml/2006/main">
            <ns1:off x="2822089" y="3332668"/>
            <ns1:ext cx="84568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6" name="UML business-packages divider 26"/>
          <p:cNvSpPr/>
          <p:nvPr/>
        </p:nvSpPr>
        <p:spPr>
          <ns1:xfrm xmlns:ns1="http://schemas.openxmlformats.org/drawingml/2006/main">
            <ns1:off x="2822089" y="3401630"/>
            <ns1:ext cx="845681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4441" h="952" fill="none" stroke="1" extrusionOk="0">
                <ns2:moveTo>
                  <ns2:pt x="0" y="0"/>
                </ns2:moveTo>
                <ns2:lnTo>
                  <ns2:pt x="934441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7" name="UML business-packages box 27"/>
          <p:cNvSpPr/>
          <p:nvPr/>
        </p:nvSpPr>
        <p:spPr>
          <ns1:xfrm xmlns:ns1="http://schemas.openxmlformats.org/drawingml/2006/main">
            <ns1:off x="5209899" y="3159711"/>
            <ns1:ext cx="1144700" cy="448805"/>
          </ns1:xfrm>
          <ns2:prstGeom xmlns:ns2="http://schemas.openxmlformats.org/drawingml/2006/main" prst="rect">
            <ns2:avLst/>
          </ns2:prstGeom>
          <ns3:solidFill xmlns:ns3="http://schemas.openxmlformats.org/drawingml/2006/main">
            <ns3:srgbClr val="FFFFFF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28" name="UML business-packages label 28"/>
          <p:cNvSpPr/>
          <p:nvPr/>
        </p:nvSpPr>
        <p:spPr>
          <ns1:xfrm xmlns:ns1="http://schemas.openxmlformats.org/drawingml/2006/main">
            <ns1:off x="5232742" y="3215226"/>
            <ns1:ext cx="1147286" cy="22654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22" dirty="0">
                <ns7:solidFill>
                  <ns7:srgbClr val="1F2A44"/>
                </ns7:solidFill>
                <ns7:latin typeface="Noto Sans SC"/>
                <ns7:ea typeface="Noto Sans SC"/>
              </ns7:rPr>
              <ns7:t>CourseOffering</ns7:t>
            </ns7:r>
            <ns7:endParaRPr lang="zh-CN" sz="1222"/>
          </ns7:p>
        </p:txBody>
      </p:sp>
      <p:sp>
        <p:nvSpPr>
          <p:cNvPr id="29" name="UML business-packages divider 29"/>
          <p:cNvSpPr/>
          <p:nvPr/>
        </p:nvSpPr>
        <p:spPr>
          <ns1:xfrm xmlns:ns1="http://schemas.openxmlformats.org/drawingml/2006/main">
            <ns1:off x="5218519" y="3470592"/>
            <ns1:ext cx="1127460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45794" h="952" fill="none" stroke="1" extrusionOk="0">
                <ns2:moveTo>
                  <ns2:pt x="0" y="0"/>
                </ns2:moveTo>
                <ns2:lnTo>
                  <ns2:pt x="12457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0" name="UML business-packages divider 30"/>
          <p:cNvSpPr/>
          <p:nvPr/>
        </p:nvSpPr>
        <p:spPr>
          <ns1:xfrm xmlns:ns1="http://schemas.openxmlformats.org/drawingml/2006/main">
            <ns1:off x="5218519" y="3539554"/>
            <ns1:ext cx="1127460" cy="9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245794" h="952" fill="none" stroke="1" extrusionOk="0">
                <ns2:moveTo>
                  <ns2:pt x="0" y="0"/>
                </ns2:moveTo>
                <ns2:lnTo>
                  <ns2:pt x="1245794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1" name="UML business-packages arrow 31"/>
          <p:cNvSpPr/>
          <p:nvPr/>
        </p:nvSpPr>
        <p:spPr>
          <ns1:xfrm xmlns:ns1="http://schemas.openxmlformats.org/drawingml/2006/main">
            <ns1:off x="5244966" y="2512313"/>
            <ns1:ext cx="84806" cy="6565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707" h="72542" fill="norm" stroke="1" extrusionOk="0">
                <ns2:moveTo>
                  <ns2:pt x="93707" y="0"/>
                </ns2:moveTo>
                <ns2:lnTo>
                  <ns2:pt x="0" y="4458"/>
                </ns2:lnTo>
                <ns2:lnTo>
                  <ns2:pt x="51159" y="21384"/>
                </ns2:lnTo>
                <ns2:lnTo>
                  <ns2:pt x="34223" y="72542"/>
                </ns2:lnTo>
                <ns2:lnTo>
                  <ns2:pt x="93707" y="0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2" name="UML business-packages connection 32"/>
          <p:cNvSpPr/>
          <p:nvPr/>
        </p:nvSpPr>
        <p:spPr>
          <ns1:xfrm xmlns:ns1="http://schemas.openxmlformats.org/drawingml/2006/main">
            <ns1:off x="3813418" y="2516106"/>
            <ns1:ext cx="1508811" cy="1031516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667170" h="1139781" fill="none" stroke="1" extrusionOk="0">
                <ns2:moveTo>
                  <ns2:pt x="0" y="1139781"/>
                </ns2:moveTo>
                <ns2:cubicBezTo>
                  <ns2:pt x="42691" y="1111920"/>
                  <ns2:pt x="37995" y="1087803"/>
                  <ns2:pt x="76200" y="1054056"/>
                </ns2:cubicBezTo>
                <ns2:cubicBezTo>
                  <ns2:pt x="607762" y="584511"/>
                  <ns2:pt x="778554" y="507473"/>
                  <ns2:pt x="1390650" y="149181"/>
                </ns2:cubicBezTo>
                <ns2:cubicBezTo>
                  <ns2:pt x="1453486" y="112395"/>
                  <ns2:pt x="1520380" y="75876"/>
                  <ns2:pt x="1587532" y="40843"/>
                </ns2:cubicBezTo>
                <ns2:cubicBezTo>
                  <ns2:pt x="1604324" y="32080"/>
                  <ns2:pt x="1621126" y="23412"/>
                  <ns2:pt x="1637890" y="14859"/>
                </ns2:cubicBezTo>
                <ns2:cubicBezTo>
                  <ns2:pt x="1646272" y="10582"/>
                  <ns2:pt x="1654635" y="6334"/>
                  <ns2:pt x="1662989" y="2115"/>
                </ns2:cubicBezTo>
                <ns2:cubicBezTo>
                  <ns2:pt x="1667170" y="0"/>
                  <ns2:pt x="1628785" y="19288"/>
                  <ns2:pt x="1632956" y="17193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  <ns4:prstDash val="dash"/>
          </ns4:ln>
        </p:spPr>
      </p:sp>
      <p:sp>
        <p:nvSpPr>
          <p:cNvPr id="33" name="UML business-packages label 33"/>
          <p:cNvSpPr/>
          <p:nvPr/>
        </p:nvSpPr>
        <p:spPr>
          <ns1:xfrm xmlns:ns1="http://schemas.openxmlformats.org/drawingml/2006/main">
            <ns1:off x="3974186" y="2482505"/>
            <ns1:ext cx="985295" cy="22654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22" dirty="0">
                <ns7:solidFill>
                  <ns7:srgbClr val="1F2A44"/>
                </ns7:solidFill>
                <ns7:latin typeface="Noto Sans SC"/>
                <ns7:ea typeface="Noto Sans SC"/>
              </ns7:rPr>
              <ns7:t>使用学生信息</ns7:t>
            </ns7:r>
            <ns7:endParaRPr lang="zh-CN" sz="1222"/>
          </ns7:p>
        </p:txBody>
      </p:sp>
      <p:sp>
        <p:nvSpPr>
          <p:cNvPr id="34" name="UML business-packages arrow 34"/>
          <p:cNvSpPr/>
          <p:nvPr/>
        </p:nvSpPr>
        <p:spPr>
          <ns1:xfrm xmlns:ns1="http://schemas.openxmlformats.org/drawingml/2006/main">
            <ns1:off x="4987220" y="3789179"/>
            <ns1:ext cx="79349" cy="68859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87678" h="76086" fill="norm" stroke="1" extrusionOk="0">
                <ns2:moveTo>
                  <ns2:pt x="87678" y="42729"/>
                </ns2:moveTo>
                <ns2:lnTo>
                  <ns2:pt x="4162" y="0"/>
                </ns2:lnTo>
                <ns2:lnTo>
                  <ns2:pt x="40129" y="40129"/>
                </ns2:lnTo>
                <ns2:lnTo>
                  <ns2:pt x="0" y="76086"/>
                </ns2:lnTo>
                <ns2:lnTo>
                  <ns2:pt x="87678" y="42729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8620">
            <ns4:solidFill>
              <ns4:srgbClr val="1F2A44"/>
            </ns4:solidFill>
          </ns4:ln>
        </p:spPr>
      </p:sp>
      <p:sp>
        <p:nvSpPr>
          <p:cNvPr id="35" name="UML business-packages connection 35"/>
          <p:cNvSpPr/>
          <p:nvPr/>
        </p:nvSpPr>
        <p:spPr>
          <ns1:xfrm xmlns:ns1="http://schemas.openxmlformats.org/drawingml/2006/main">
            <ns1:off x="3818125" y="3759552"/>
            <ns1:ext cx="1244807" cy="6810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375458" h="75248" fill="none" stroke="1" extrusionOk="0">
                <ns2:moveTo>
                  <ns2:pt x="0" y="0"/>
                </ns2:moveTo>
                <ns2:cubicBezTo>
                  <ns2:pt x="3753" y="210"/>
                  <ns2:pt x="7525" y="419"/>
                  <ns2:pt x="11306" y="619"/>
                </ns2:cubicBezTo>
                <ns2:cubicBezTo>
                  <ns2:pt x="26422" y="1448"/>
                  <ns2:pt x="41710" y="2286"/>
                  <ns2:pt x="57160" y="3134"/>
                </ns2:cubicBezTo>
                <ns2:cubicBezTo>
                  <ns2:pt x="88059" y="4820"/>
                  <ns2:pt x="119596" y="6544"/>
                  <ns2:pt x="151676" y="8296"/>
                </ns2:cubicBezTo>
                <ns2:cubicBezTo>
                  <ns2:pt x="215846" y="11811"/>
                  <ns2:pt x="282197" y="15440"/>
                  <ns2:pt x="350015" y="19145"/>
                </ns2:cubicBezTo>
                <ns2:cubicBezTo>
                  <ns2:pt x="485642" y="26565"/>
                  <ns2:pt x="627107" y="34309"/>
                  <ns2:pt x="768582" y="42043"/>
                </ns2:cubicBezTo>
                <ns2:cubicBezTo>
                  <ns2:pt x="910047" y="49787"/>
                  <ns2:pt x="1051522" y="57521"/>
                  <ns2:pt x="1187158" y="64941"/>
                </ns2:cubicBezTo>
                <ns2:cubicBezTo>
                  <ns2:pt x="1221067" y="66799"/>
                  <ns2:pt x="1254604" y="68628"/>
                  <ns2:pt x="1287694" y="70437"/>
                </ns2:cubicBezTo>
                <ns2:cubicBezTo>
                  <ns2:pt x="1304239" y="71352"/>
                  <ns2:pt x="1320670" y="72247"/>
                  <ns2:pt x="1336977" y="73142"/>
                </ns2:cubicBezTo>
                <ns2:cubicBezTo>
                  <ns2:pt x="1345130" y="73581"/>
                  <ns2:pt x="1353255" y="74028"/>
                  <ns2:pt x="1361342" y="74466"/>
                </ns2:cubicBezTo>
                <ns2:cubicBezTo>
                  <ns2:pt x="1365380" y="74695"/>
                  <ns2:pt x="1369419" y="74914"/>
                  <ns2:pt x="1373448" y="75133"/>
                </ns2:cubicBezTo>
                <ns2:cubicBezTo>
                  <ns2:pt x="1375458" y="75248"/>
                  <ns2:pt x="1329919" y="72752"/>
                  <ns2:pt x="1331928" y="72866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8620">
            <ns4:solidFill>
              <ns4:srgbClr val="1F2A44"/>
            </ns4:solidFill>
            <ns4:prstDash val="dash"/>
          </ns4:ln>
        </p:spPr>
      </p:sp>
      <p:sp>
        <p:nvSpPr>
          <p:cNvPr id="36" name="UML business-packages label 36"/>
          <p:cNvSpPr/>
          <p:nvPr/>
        </p:nvSpPr>
        <p:spPr>
          <ns1:xfrm xmlns:ns1="http://schemas.openxmlformats.org/drawingml/2006/main">
            <ns1:off x="3896603" y="3534175"/>
            <ns1:ext cx="1140459" cy="226540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8620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222" dirty="0">
                <ns7:solidFill>
                  <ns7:srgbClr val="1F2A44"/>
                </ns7:solidFill>
                <ns7:latin typeface="Noto Sans SC"/>
                <ns7:ea typeface="Noto Sans SC"/>
              </ns7:rPr>
              <ns7:t>使用开课班信息</ns7:t>
            </ns7:r>
            <ns7:endParaRPr lang="zh-CN" sz="1222"/>
          </ns7:p>
        </p:txBody>
      </p:sp>
      <p:sp>
        <p:nvSpPr>
          <p:cNvPr id="7" name="content-564">
            <a:extLst xmlns:a="http://schemas.openxmlformats.org/drawingml/2006/main">
              <a:ext uri="{FF2B5EF4-FFF2-40B4-BE49-F238E27FC236}">
                <a16:creationId xmlns:a16="http://schemas.microsoft.com/office/drawing/2014/main" id="{E8E0D899-EC82-439C-B2B4-02AB147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业务包组织当前涉及的概念；依赖表示使用关系。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73FE-8BF8-47DA-BB7D-162764117F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07be6422548e1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565">
            <a:extLst xmlns:a="http://schemas.openxmlformats.org/drawingml/2006/main">
              <a:ext uri="{FF2B5EF4-FFF2-40B4-BE49-F238E27FC236}">
                <a16:creationId xmlns:a16="http://schemas.microsoft.com/office/drawing/2014/main" id="{516D5890-E5E8-4477-B605-A8390A6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案例：分层的软件结构</a:t>
            </a:r>
          </a:p>
        </p:txBody>
      </p:sp>
      <p:sp>
        <p:nvSpPr>
          <p:cNvPr id="2" name="frame-566">
            <a:extLst xmlns:a="http://schemas.openxmlformats.org/drawingml/2006/main">
              <a:ext uri="{FF2B5EF4-FFF2-40B4-BE49-F238E27FC236}">
                <a16:creationId xmlns:a16="http://schemas.microsoft.com/office/drawing/2014/main" id="{6A3873A8-E763-4628-89FA-F0DE027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67">
            <a:extLst xmlns:a="http://schemas.openxmlformats.org/drawingml/2006/main">
              <a:ext uri="{FF2B5EF4-FFF2-40B4-BE49-F238E27FC236}">
                <a16:creationId xmlns:a16="http://schemas.microsoft.com/office/drawing/2014/main" id="{8030849C-5627-4920-A34C-1467C88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11909F9-3459-479B-AA14-D7B8F87A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2F90B23-E973-4C11-850F-1F8E176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68 / 82</a:t>
            </a:r>
          </a:p>
        </p:txBody>
      </p:sp>
      <p:sp>
        <p:nvSpPr>
          <p:cNvPr id="16" name="UML software-packages arrow 16"/>
          <p:cNvSpPr/>
          <p:nvPr/>
        </p:nvSpPr>
        <p:spPr>
          <ns1:xfrm xmlns:ns1="http://schemas.openxmlformats.org/drawingml/2006/main">
            <ns1:off x="2538623" y="1230636"/>
            <ns1:ext cx="770991" cy="75094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0" h="742188" fill="norm" stroke="1" extrusionOk="0">
                <ns2:moveTo>
                  <ns2:pt x="0" y="0"/>
                </ns2:moveTo>
                <ns2:lnTo>
                  <ns2:pt x="628650" y="0"/>
                </ns2:lnTo>
                <ns2:lnTo>
                  <ns2:pt x="695325" y="332994"/>
                </ns2:lnTo>
                <ns2:lnTo>
                  <ns2:pt x="762000" y="332994"/>
                </ns2:lnTo>
                <ns2:lnTo>
                  <ns2:pt x="762000" y="742188"/>
                </ns2:lnTo>
                <ns2:lnTo>
                  <ns2:pt x="0" y="742188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17" name="UML software-packages divider 17"/>
          <p:cNvSpPr/>
          <p:nvPr/>
        </p:nvSpPr>
        <p:spPr>
          <ns1:xfrm xmlns:ns1="http://schemas.openxmlformats.org/drawingml/2006/main">
            <ns1:off x="2538623" y="1567559"/>
            <ns1:ext cx="703529" cy="9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95325" h="952" fill="none" stroke="1" extrusionOk="0">
                <ns2:moveTo>
                  <ns2:pt x="0" y="0"/>
                </ns2:moveTo>
                <ns2:lnTo>
                  <ns2:pt x="6953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18" name="UML software-packages label 18"/>
          <p:cNvSpPr/>
          <p:nvPr/>
        </p:nvSpPr>
        <p:spPr>
          <ns1:xfrm xmlns:ns1="http://schemas.openxmlformats.org/drawingml/2006/main">
            <ns1:off x="2573800" y="1265330"/>
            <ns1:ext cx="645705" cy="28141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6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18" dirty="0">
                <ns7:solidFill>
                  <ns7:srgbClr val="000000"/>
                </ns7:solidFill>
                <ns7:latin typeface="Noto Sans SC"/>
                <ns7:ea typeface="Noto Sans SC"/>
              </ns7:rPr>
              <ns7:t>表示层</ns7:t>
            </ns7:r>
            <ns7:endParaRPr lang="zh-CN" sz="1518"/>
          </ns7:p>
        </p:txBody>
      </p:sp>
      <p:sp>
        <p:nvSpPr>
          <p:cNvPr id="19" name="UML software-packages arrow 19"/>
          <p:cNvSpPr/>
          <p:nvPr/>
        </p:nvSpPr>
        <p:spPr>
          <ns1:xfrm xmlns:ns1="http://schemas.openxmlformats.org/drawingml/2006/main">
            <ns1:off x="2538623" y="2329298"/>
            <ns1:ext cx="770991" cy="75094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0" h="742188" fill="norm" stroke="1" extrusionOk="0">
                <ns2:moveTo>
                  <ns2:pt x="0" y="0"/>
                </ns2:moveTo>
                <ns2:lnTo>
                  <ns2:pt x="628650" y="0"/>
                </ns2:lnTo>
                <ns2:lnTo>
                  <ns2:pt x="695325" y="332994"/>
                </ns2:lnTo>
                <ns2:lnTo>
                  <ns2:pt x="762000" y="332994"/>
                </ns2:lnTo>
                <ns2:lnTo>
                  <ns2:pt x="762000" y="742188"/>
                </ns2:lnTo>
                <ns2:lnTo>
                  <ns2:pt x="0" y="742188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0" name="UML software-packages divider 20"/>
          <p:cNvSpPr/>
          <p:nvPr/>
        </p:nvSpPr>
        <p:spPr>
          <ns1:xfrm xmlns:ns1="http://schemas.openxmlformats.org/drawingml/2006/main">
            <ns1:off x="2538623" y="2666221"/>
            <ns1:ext cx="703529" cy="9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95325" h="952" fill="none" stroke="1" extrusionOk="0">
                <ns2:moveTo>
                  <ns2:pt x="0" y="0"/>
                </ns2:moveTo>
                <ns2:lnTo>
                  <ns2:pt x="6953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1" name="UML software-packages label 21"/>
          <p:cNvSpPr/>
          <p:nvPr/>
        </p:nvSpPr>
        <p:spPr>
          <ns1:xfrm xmlns:ns1="http://schemas.openxmlformats.org/drawingml/2006/main">
            <ns1:off x="2573800" y="2363993"/>
            <ns1:ext cx="645705" cy="28141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6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18" dirty="0">
                <ns7:solidFill>
                  <ns7:srgbClr val="000000"/>
                </ns7:solidFill>
                <ns7:latin typeface="Noto Sans SC"/>
                <ns7:ea typeface="Noto Sans SC"/>
              </ns7:rPr>
              <ns7:t>业务层</ns7:t>
            </ns7:r>
            <ns7:endParaRPr lang="zh-CN" sz="1518"/>
          </ns7:p>
        </p:txBody>
      </p:sp>
      <p:sp>
        <p:nvSpPr>
          <p:cNvPr id="22" name="UML software-packages arrow 22"/>
          <p:cNvSpPr/>
          <p:nvPr/>
        </p:nvSpPr>
        <p:spPr>
          <ns1:xfrm xmlns:ns1="http://schemas.openxmlformats.org/drawingml/2006/main">
            <ns1:off x="2345875" y="3427960"/>
            <ns1:ext cx="1156487" cy="75094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43000" h="742188" fill="norm" stroke="1" extrusionOk="0">
                <ns2:moveTo>
                  <ns2:pt x="0" y="0"/>
                </ns2:moveTo>
                <ns2:lnTo>
                  <ns2:pt x="1009650" y="0"/>
                </ns2:lnTo>
                <ns2:lnTo>
                  <ns2:pt x="1076325" y="332994"/>
                </ns2:lnTo>
                <ns2:lnTo>
                  <ns2:pt x="1143000" y="332994"/>
                </ns2:lnTo>
                <ns2:lnTo>
                  <ns2:pt x="1143000" y="742188"/>
                </ns2:lnTo>
                <ns2:lnTo>
                  <ns2:pt x="0" y="742188"/>
                </ns2:lnTo>
                <ns2:lnTo>
                  <ns2:pt x="0" y="0"/>
                </ns2:lnTo>
                <ns2:close/>
              </ns2:path>
            </ns2:pathLst>
          </ns2:custGeom>
          <ns3:solidFill xmlns:ns3="http://schemas.openxmlformats.org/drawingml/2006/main">
            <ns3:srgbClr val="FFFFFF"/>
          </ns3:solidFill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3" name="UML software-packages divider 23"/>
          <p:cNvSpPr/>
          <p:nvPr/>
        </p:nvSpPr>
        <p:spPr>
          <ns1:xfrm xmlns:ns1="http://schemas.openxmlformats.org/drawingml/2006/main">
            <ns1:off x="2345875" y="3764884"/>
            <ns1:ext cx="1089025" cy="96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076325" h="952" fill="none" stroke="1" extrusionOk="0">
                <ns2:moveTo>
                  <ns2:pt x="0" y="0"/>
                </ns2:moveTo>
                <ns2:lnTo>
                  <ns2:pt x="1076325" y="0"/>
                </ns2:lnTo>
              </ns2:path>
            </ns2:pathLst>
          </ns2:custGeom>
          <ns3:noFill xmlns:ns3="http://schemas.openxmlformats.org/drawingml/2006/main"/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4" name="UML software-packages label 24"/>
          <p:cNvSpPr/>
          <p:nvPr/>
        </p:nvSpPr>
        <p:spPr>
          <ns1:xfrm xmlns:ns1="http://schemas.openxmlformats.org/drawingml/2006/main">
            <ns1:off x="2381052" y="3462655"/>
            <ns1:ext cx="1031201" cy="281412"/>
          </ns1:xfrm>
          <ns2:prstGeom xmlns:ns2="http://schemas.openxmlformats.org/drawingml/2006/main" prst="rect">
            <ns2:avLst/>
          </ns2:prstGeom>
          <ns3:noFill xmlns:ns3="http://schemas.openxmlformats.org/drawingml/2006/main"/>
          <ns4:ln xmlns:ns4="http://schemas.openxmlformats.org/drawingml/2006/main" w="9637">
            <ns4:noFill/>
          </ns4:ln>
        </p:spPr>
        <p:txBody>
          <ns5:bodyPr xmlns:ns5="http://schemas.openxmlformats.org/drawingml/2006/main" wrap="none" lIns="0" rIns="0" tIns="0" bIns="0" anchor="t">
            <ns5:noAutofit/>
          </ns5:bodyPr>
          <ns6:lstStyle xmlns:ns6="http://schemas.openxmlformats.org/drawingml/2006/main"/>
          <ns7:p xmlns:ns7="http://schemas.openxmlformats.org/drawingml/2006/main">
            <ns7:pPr>
              <ns7:lnSpc>
                <ns7:spcPct val="100000"/>
              </ns7:lnSpc>
            </ns7:pPr>
            <ns7:r>
              <ns7:rPr lang="zh-CN" sz="1518" dirty="0">
                <ns7:solidFill>
                  <ns7:srgbClr val="000000"/>
                </ns7:solidFill>
                <ns7:latin typeface="Noto Sans SC"/>
                <ns7:ea typeface="Noto Sans SC"/>
              </ns7:rPr>
              <ns7:t>数据访问层</ns7:t>
            </ns7:r>
            <ns7:endParaRPr lang="zh-CN" sz="1518"/>
          </ns7:p>
        </p:txBody>
      </p:sp>
      <p:sp>
        <p:nvSpPr>
          <p:cNvPr id="25" name="UML software-packages arrow 25"/>
          <p:cNvSpPr/>
          <p:nvPr/>
        </p:nvSpPr>
        <p:spPr>
          <ns1:xfrm xmlns:ns1="http://schemas.openxmlformats.org/drawingml/2006/main">
            <ns1:off x="2885569" y="2242003"/>
            <ns1:ext cx="77099" cy="8673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85725" fill="norm" stroke="1" extrusionOk="0">
                <ns2:moveTo>
                  <ns2:pt x="38100" y="85725"/>
                </ns2:moveTo>
                <ns2:lnTo>
                  <ns2:pt x="76200" y="0"/>
                </ns2:lnTo>
                <ns2:lnTo>
                  <ns2:pt x="38100" y="38100"/>
                </ns2:lnTo>
                <ns2:lnTo>
                  <ns2:pt x="0" y="0"/>
                </ns2:lnTo>
                <ns2:lnTo>
                  <ns2:pt x="38100" y="8572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6" name="UML software-packages connection 26"/>
          <p:cNvSpPr/>
          <p:nvPr/>
        </p:nvSpPr>
        <p:spPr>
          <ns1:xfrm xmlns:ns1="http://schemas.openxmlformats.org/drawingml/2006/main">
            <ns1:off x="2924119" y="1984578"/>
            <ns1:ext cx="964" cy="29597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2522" fill="none" stroke="1" extrusionOk="0">
                <ns2:moveTo>
                  <ns2:pt x="0" y="0"/>
                </ns2:moveTo>
                <ns2:cubicBezTo>
                  <ns2:pt x="0" y="109852"/>
                  <ns2:pt x="0" y="182766"/>
                  <ns2:pt x="0" y="292522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637">
            <ns4:solidFill>
              <ns4:srgbClr val="1F2A44"/>
            </ns4:solidFill>
            <ns4:prstDash val="dash"/>
          </ns4:ln>
        </p:spPr>
      </p:sp>
      <p:sp>
        <p:nvSpPr>
          <p:cNvPr id="27" name="UML software-packages arrow 27"/>
          <p:cNvSpPr/>
          <p:nvPr/>
        </p:nvSpPr>
        <p:spPr>
          <ns1:xfrm xmlns:ns1="http://schemas.openxmlformats.org/drawingml/2006/main">
            <ns1:off x="2885569" y="3340665"/>
            <ns1:ext cx="77099" cy="8673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76200" h="85725" fill="norm" stroke="1" extrusionOk="0">
                <ns2:moveTo>
                  <ns2:pt x="38100" y="85725"/>
                </ns2:moveTo>
                <ns2:lnTo>
                  <ns2:pt x="76200" y="0"/>
                </ns2:lnTo>
                <ns2:lnTo>
                  <ns2:pt x="38100" y="38100"/>
                </ns2:lnTo>
                <ns2:lnTo>
                  <ns2:pt x="0" y="0"/>
                </ns2:lnTo>
                <ns2:lnTo>
                  <ns2:pt x="38100" y="85725"/>
                </ns2:lnTo>
                <ns2:close/>
              </ns2:path>
            </ns2:pathLst>
          </ns2:custGeom>
          <ns3:solidFill xmlns:ns3="http://schemas.openxmlformats.org/drawingml/2006/main">
            <ns3:srgbClr val="1F2A44"/>
          </ns3:solidFill>
          <ns4:ln xmlns:ns4="http://schemas.openxmlformats.org/drawingml/2006/main" w="9637">
            <ns4:solidFill>
              <ns4:srgbClr val="1F2A44"/>
            </ns4:solidFill>
          </ns4:ln>
        </p:spPr>
      </p:sp>
      <p:sp>
        <p:nvSpPr>
          <p:cNvPr id="28" name="UML software-packages connection 28"/>
          <p:cNvSpPr/>
          <p:nvPr/>
        </p:nvSpPr>
        <p:spPr>
          <ns1:xfrm xmlns:ns1="http://schemas.openxmlformats.org/drawingml/2006/main">
            <ns1:off x="2924119" y="3083241"/>
            <ns1:ext cx="964" cy="295974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52" h="292522" fill="none" stroke="1" extrusionOk="0">
                <ns2:moveTo>
                  <ns2:pt x="0" y="0"/>
                </ns2:moveTo>
                <ns2:cubicBezTo>
                  <ns2:pt x="0" y="109852"/>
                  <ns2:pt x="0" y="182766"/>
                  <ns2:pt x="0" y="292522"/>
                </ns2:cubicBezTo>
              </ns2:path>
            </ns2:pathLst>
          </ns2:custGeom>
          <ns3:noFill xmlns:ns3="http://schemas.openxmlformats.org/drawingml/2006/main"/>
          <ns4:ln xmlns:ns4="http://schemas.openxmlformats.org/drawingml/2006/main" w="9637">
            <ns4:solidFill>
              <ns4:srgbClr val="1F2A44"/>
            </ns4:solidFill>
            <ns4:prstDash val="dash"/>
          </ns4:ln>
        </p:spPr>
      </p:sp>
      <p:sp>
        <p:nvSpPr>
          <p:cNvPr id="7" name="content-568">
            <a:extLst xmlns:a="http://schemas.openxmlformats.org/drawingml/2006/main">
              <a:ext uri="{FF2B5EF4-FFF2-40B4-BE49-F238E27FC236}">
                <a16:creationId xmlns:a16="http://schemas.microsoft.com/office/drawing/2014/main" id="{7AB976D5-A6FD-484F-9F38-77F5FFAF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数据库访问的候选分层方案；Sql实现未包含在课堂Java演示中。</a:t>
            </a:r>
          </a:p>
        </p:txBody>
      </p:sp>
      <p:sp>
        <p:nvSpPr>
          <p:cNvPr id="8" name="content-569">
            <a:extLst xmlns:a="http://schemas.openxmlformats.org/drawingml/2006/main">
              <a:ext uri="{FF2B5EF4-FFF2-40B4-BE49-F238E27FC236}">
                <a16:creationId xmlns:a16="http://schemas.microsoft.com/office/drawing/2014/main" id="{74B2248E-8219-49BE-BE21-9FA2DBFE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表示层</a:t>
            </a:r>
          </a:p>
        </p:txBody>
      </p:sp>
      <p:sp>
        <p:nvSpPr>
          <p:cNvPr id="9" name="content-570">
            <a:extLst xmlns:a="http://schemas.openxmlformats.org/drawingml/2006/main">
              <a:ext uri="{FF2B5EF4-FFF2-40B4-BE49-F238E27FC236}">
                <a16:creationId xmlns:a16="http://schemas.microsoft.com/office/drawing/2014/main" id="{1FEA2743-31BB-4F3C-9009-E594C110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选课界面</a:t>
            </a:r>
          </a:p>
        </p:txBody>
      </p:sp>
      <p:sp>
        <p:nvSpPr>
          <p:cNvPr id="10" name="content-571">
            <a:extLst xmlns:a="http://schemas.openxmlformats.org/drawingml/2006/main">
              <a:ext uri="{FF2B5EF4-FFF2-40B4-BE49-F238E27FC236}">
                <a16:creationId xmlns:a16="http://schemas.microsoft.com/office/drawing/2014/main" id="{9A191282-E496-46F0-8B3C-5AD81E4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业务层</a:t>
            </a:r>
          </a:p>
        </p:txBody>
      </p:sp>
      <p:sp>
        <p:nvSpPr>
          <p:cNvPr id="11" name="content-572">
            <a:extLst xmlns:a="http://schemas.openxmlformats.org/drawingml/2006/main">
              <a:ext uri="{FF2B5EF4-FFF2-40B4-BE49-F238E27FC236}">
                <a16:creationId xmlns:a16="http://schemas.microsoft.com/office/drawing/2014/main" id="{EBA29570-F51B-4B11-81B5-1F8CA4AC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EnrollmentService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Enrollment、CourseOffering</a:t>
            </a:r>
          </a:p>
        </p:txBody>
      </p:sp>
      <p:sp>
        <p:nvSpPr>
          <p:cNvPr id="12" name="content-573">
            <a:extLst xmlns:a="http://schemas.openxmlformats.org/drawingml/2006/main">
              <a:ext uri="{FF2B5EF4-FFF2-40B4-BE49-F238E27FC236}">
                <a16:creationId xmlns:a16="http://schemas.microsoft.com/office/drawing/2014/main" id="{1314B6DF-181D-433A-9223-181F870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数据访问层</a:t>
            </a:r>
          </a:p>
        </p:txBody>
      </p:sp>
      <p:sp>
        <p:nvSpPr>
          <p:cNvPr id="13" name="content-574">
            <a:extLst xmlns:a="http://schemas.openxmlformats.org/drawingml/2006/main">
              <a:ext uri="{FF2B5EF4-FFF2-40B4-BE49-F238E27FC236}">
                <a16:creationId xmlns:a16="http://schemas.microsoft.com/office/drawing/2014/main" id="{476182CD-0BCA-401B-BBD7-07394BB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IEnrollmentRepository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SqlEnrollmentRepository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69A3C-778D-418E-AEBD-B1413E2A3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c7b3a02674711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75">
            <a:extLst xmlns:a="http://schemas.openxmlformats.org/drawingml/2006/main">
              <a:ext uri="{FF2B5EF4-FFF2-40B4-BE49-F238E27FC236}">
                <a16:creationId xmlns:a16="http://schemas.microsoft.com/office/drawing/2014/main" id="{6EEE8FAF-8D0E-4EF8-AAF5-65D5AE3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业务用例与业务实现（原稿）</a:t>
            </a:r>
          </a:p>
        </p:txBody>
      </p:sp>
      <p:sp>
        <p:nvSpPr>
          <p:cNvPr id="2" name="frame-576">
            <a:extLst xmlns:a="http://schemas.openxmlformats.org/drawingml/2006/main">
              <a:ext uri="{FF2B5EF4-FFF2-40B4-BE49-F238E27FC236}">
                <a16:creationId xmlns:a16="http://schemas.microsoft.com/office/drawing/2014/main" id="{823314B3-5853-4353-895C-A08393B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77">
            <a:extLst xmlns:a="http://schemas.openxmlformats.org/drawingml/2006/main">
              <a:ext uri="{FF2B5EF4-FFF2-40B4-BE49-F238E27FC236}">
                <a16:creationId xmlns:a16="http://schemas.microsoft.com/office/drawing/2014/main" id="{D2F7D073-A604-4DB7-8580-C6D26ED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965E6FB-38CB-4A89-A601-C48436A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39FFA3D-43EF-4E29-877A-E5B609A2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69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C7F7-84B3-4926-8FDC-5610E3447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8901a8a24482b"/>
          <a:stretch xmlns:a="http://schemas.openxmlformats.org/drawingml/2006/main"/>
        </p:blipFill>
        <p:spPr>
          <a:xfrm xmlns:a="http://schemas.openxmlformats.org/drawingml/2006/main">
            <a:off x="2961982" y="1047750"/>
            <a:ext cx="3220035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78">
            <a:extLst xmlns:a="http://schemas.openxmlformats.org/drawingml/2006/main">
              <a:ext uri="{FF2B5EF4-FFF2-40B4-BE49-F238E27FC236}">
                <a16:creationId xmlns:a16="http://schemas.microsoft.com/office/drawing/2014/main" id="{D4683167-9D1F-4054-A731-5A24D24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原稿综合图：业务用例描述目标，业务对象与用例实现另行展开。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80449-87E2-4B61-AFBE-130DA6540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44e83e6a24288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79">
            <a:extLst xmlns:a="http://schemas.openxmlformats.org/drawingml/2006/main">
              <a:ext uri="{FF2B5EF4-FFF2-40B4-BE49-F238E27FC236}">
                <a16:creationId xmlns:a16="http://schemas.microsoft.com/office/drawing/2014/main" id="{9C93FB5F-6196-4E48-953C-523085C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概念用例与后续分析</a:t>
            </a:r>
          </a:p>
        </p:txBody>
      </p:sp>
      <p:sp>
        <p:nvSpPr>
          <p:cNvPr id="2" name="frame-580">
            <a:extLst xmlns:a="http://schemas.openxmlformats.org/drawingml/2006/main">
              <a:ext uri="{FF2B5EF4-FFF2-40B4-BE49-F238E27FC236}">
                <a16:creationId xmlns:a16="http://schemas.microsoft.com/office/drawing/2014/main" id="{FCD4405A-E6C8-4362-9986-BE823435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81">
            <a:extLst xmlns:a="http://schemas.openxmlformats.org/drawingml/2006/main">
              <a:ext uri="{FF2B5EF4-FFF2-40B4-BE49-F238E27FC236}">
                <a16:creationId xmlns:a16="http://schemas.microsoft.com/office/drawing/2014/main" id="{D326CA16-E99C-4197-ADAA-80C5168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53EC7BC-51DE-413E-ABC9-499A22F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18B3176-CD76-4A6D-A639-FBE9341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70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7FBA5-B49A-4BC4-8F18-B9F5A18E5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ec7e2b06c42cf"/>
          <a:stretch xmlns:a="http://schemas.openxmlformats.org/drawingml/2006/main"/>
        </p:blipFill>
        <p:spPr>
          <a:xfrm xmlns:a="http://schemas.openxmlformats.org/drawingml/2006/main">
            <a:off x="3047049" y="1047750"/>
            <a:ext cx="3049902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82">
            <a:extLst xmlns:a="http://schemas.openxmlformats.org/drawingml/2006/main">
              <a:ext uri="{FF2B5EF4-FFF2-40B4-BE49-F238E27FC236}">
                <a16:creationId xmlns:a16="http://schemas.microsoft.com/office/drawing/2014/main" id="{1897A77A-8251-45B0-82F6-98F6A3EC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原图“扩展”箭头勿作规范示例：UML extend 指向被扩展用例。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EC956-1781-4453-AFBC-3550AB14FD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bc9ade0bb424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83">
            <a:extLst xmlns:a="http://schemas.openxmlformats.org/drawingml/2006/main">
              <a:ext uri="{FF2B5EF4-FFF2-40B4-BE49-F238E27FC236}">
                <a16:creationId xmlns:a16="http://schemas.microsoft.com/office/drawing/2014/main" id="{044FB61B-97D4-45F0-9079-5FF2E9C4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系统用例与分析模型（原稿）</a:t>
            </a:r>
          </a:p>
        </p:txBody>
      </p:sp>
      <p:sp>
        <p:nvSpPr>
          <p:cNvPr id="2" name="frame-584">
            <a:extLst xmlns:a="http://schemas.openxmlformats.org/drawingml/2006/main">
              <a:ext uri="{FF2B5EF4-FFF2-40B4-BE49-F238E27FC236}">
                <a16:creationId xmlns:a16="http://schemas.microsoft.com/office/drawing/2014/main" id="{233A276F-E381-4283-9E14-1E68586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85">
            <a:extLst xmlns:a="http://schemas.openxmlformats.org/drawingml/2006/main">
              <a:ext uri="{FF2B5EF4-FFF2-40B4-BE49-F238E27FC236}">
                <a16:creationId xmlns:a16="http://schemas.microsoft.com/office/drawing/2014/main" id="{D89A769A-2DC4-4D68-904F-A69B7199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5DBB971-8648-4141-B6FA-B3EFEDE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8ACD4D6-30D1-45FC-A061-FAB747A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71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0FA81-7211-40E5-995F-F13554E0A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c2e6f4cdd4315"/>
          <a:stretch xmlns:a="http://schemas.openxmlformats.org/drawingml/2006/main"/>
        </p:blipFill>
        <p:spPr>
          <a:xfrm xmlns:a="http://schemas.openxmlformats.org/drawingml/2006/main">
            <a:off x="2887940" y="1047750"/>
            <a:ext cx="336812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86">
            <a:extLst xmlns:a="http://schemas.openxmlformats.org/drawingml/2006/main">
              <a:ext uri="{FF2B5EF4-FFF2-40B4-BE49-F238E27FC236}">
                <a16:creationId xmlns:a16="http://schemas.microsoft.com/office/drawing/2014/main" id="{D1062730-1491-46AC-A3D1-DF24C62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原稿综合图：系统用例描述对外行为，用例实现说明内部协作。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24C4-2933-454C-89C9-ECED7B61E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2f2f6b76c4ab7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87">
            <a:extLst xmlns:a="http://schemas.openxmlformats.org/drawingml/2006/main">
              <a:ext uri="{FF2B5EF4-FFF2-40B4-BE49-F238E27FC236}">
                <a16:creationId xmlns:a16="http://schemas.microsoft.com/office/drawing/2014/main" id="{D0A1B9D2-4AEB-4396-9B90-02750A1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用例分析与领域分析</a:t>
            </a:r>
          </a:p>
        </p:txBody>
      </p:sp>
      <p:sp>
        <p:nvSpPr>
          <p:cNvPr id="2" name="frame-588">
            <a:extLst xmlns:a="http://schemas.openxmlformats.org/drawingml/2006/main">
              <a:ext uri="{FF2B5EF4-FFF2-40B4-BE49-F238E27FC236}">
                <a16:creationId xmlns:a16="http://schemas.microsoft.com/office/drawing/2014/main" id="{BD615A3E-5681-4F94-B0AC-24A6C2C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89">
            <a:extLst xmlns:a="http://schemas.openxmlformats.org/drawingml/2006/main">
              <a:ext uri="{FF2B5EF4-FFF2-40B4-BE49-F238E27FC236}">
                <a16:creationId xmlns:a16="http://schemas.microsoft.com/office/drawing/2014/main" id="{96E50C77-612F-4A11-82B9-86F4BB3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15E4D73-700B-4496-A0D5-9BF3A76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A230379-D5CA-4F4F-AE3E-8DF5A79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72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56B3B-9611-42BD-A7E8-5D28F8747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4013b04664f1c"/>
          <a:stretch xmlns:a="http://schemas.openxmlformats.org/drawingml/2006/main"/>
        </p:blipFill>
        <p:spPr>
          <a:xfrm xmlns:a="http://schemas.openxmlformats.org/drawingml/2006/main">
            <a:off x="1120311" y="1047750"/>
            <a:ext cx="6903377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90">
            <a:extLst xmlns:a="http://schemas.openxmlformats.org/drawingml/2006/main">
              <a:ext uri="{FF2B5EF4-FFF2-40B4-BE49-F238E27FC236}">
                <a16:creationId xmlns:a16="http://schemas.microsoft.com/office/drawing/2014/main" id="{17E3F430-216C-49D4-90FA-0A6481A7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本章领域模型描述业务概念。原图“透明盒”不能直接解释为代码结构。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9AA9F-5A84-4C56-BAF9-1E065E261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13fcd608345fd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91">
            <a:extLst xmlns:a="http://schemas.openxmlformats.org/drawingml/2006/main">
              <a:ext uri="{FF2B5EF4-FFF2-40B4-BE49-F238E27FC236}">
                <a16:creationId xmlns:a16="http://schemas.microsoft.com/office/drawing/2014/main" id="{5164C5ED-9E21-45A5-B404-5A27CDC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领域模型的推导</a:t>
            </a:r>
          </a:p>
        </p:txBody>
      </p:sp>
      <p:sp>
        <p:nvSpPr>
          <p:cNvPr id="2" name="frame-592">
            <a:extLst xmlns:a="http://schemas.openxmlformats.org/drawingml/2006/main">
              <a:ext uri="{FF2B5EF4-FFF2-40B4-BE49-F238E27FC236}">
                <a16:creationId xmlns:a16="http://schemas.microsoft.com/office/drawing/2014/main" id="{F75591FD-C82E-45B9-BC65-BECCA78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93">
            <a:extLst xmlns:a="http://schemas.openxmlformats.org/drawingml/2006/main">
              <a:ext uri="{FF2B5EF4-FFF2-40B4-BE49-F238E27FC236}">
                <a16:creationId xmlns:a16="http://schemas.microsoft.com/office/drawing/2014/main" id="{8E543F96-51EE-4A35-BF3A-FB5E7F3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3BCB489-BE5E-4AFE-B9A9-2D50F5A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DA98A6A-0B83-4F50-97A8-6C0E672B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73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CC1E2-B910-46DC-A7F5-43FB655CB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cb88105674745"/>
          <a:stretch xmlns:a="http://schemas.openxmlformats.org/drawingml/2006/main"/>
        </p:blipFill>
        <p:spPr>
          <a:xfrm xmlns:a="http://schemas.openxmlformats.org/drawingml/2006/main">
            <a:off x="2414975" y="1047750"/>
            <a:ext cx="4314051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94">
            <a:extLst xmlns:a="http://schemas.openxmlformats.org/drawingml/2006/main">
              <a:ext uri="{FF2B5EF4-FFF2-40B4-BE49-F238E27FC236}">
                <a16:creationId xmlns:a16="http://schemas.microsoft.com/office/drawing/2014/main" id="{19DFAEC9-4939-4F5A-90E6-6D3A005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原稿采用较宽的领域建模范围。本章领域模型聚焦业务概念及关系。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EC086-FFEB-4843-812B-B9CBE681E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cde50ef0b421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95">
            <a:extLst xmlns:a="http://schemas.openxmlformats.org/drawingml/2006/main">
              <a:ext uri="{FF2B5EF4-FFF2-40B4-BE49-F238E27FC236}">
                <a16:creationId xmlns:a16="http://schemas.microsoft.com/office/drawing/2014/main" id="{0F16F0BC-0984-41AB-BB68-39CD9FB2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分析模型与设计模型（原稿）</a:t>
            </a:r>
          </a:p>
        </p:txBody>
      </p:sp>
      <p:sp>
        <p:nvSpPr>
          <p:cNvPr id="2" name="frame-596">
            <a:extLst xmlns:a="http://schemas.openxmlformats.org/drawingml/2006/main">
              <a:ext uri="{FF2B5EF4-FFF2-40B4-BE49-F238E27FC236}">
                <a16:creationId xmlns:a16="http://schemas.microsoft.com/office/drawing/2014/main" id="{0635C203-5E58-4AC4-A3EB-7653687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597">
            <a:extLst xmlns:a="http://schemas.openxmlformats.org/drawingml/2006/main">
              <a:ext uri="{FF2B5EF4-FFF2-40B4-BE49-F238E27FC236}">
                <a16:creationId xmlns:a16="http://schemas.microsoft.com/office/drawing/2014/main" id="{A93941D4-E16E-4150-B3CD-AD76273C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1A95C88-E2DB-4F0A-A85C-54483F7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47874A0-49B8-438E-BED9-65C48FEF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74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0AD63-C6E9-4BD4-B97B-C151B1B84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6ac0c03ff4273"/>
          <a:stretch xmlns:a="http://schemas.openxmlformats.org/drawingml/2006/main"/>
        </p:blipFill>
        <p:spPr>
          <a:xfrm xmlns:a="http://schemas.openxmlformats.org/drawingml/2006/main">
            <a:off x="2393455" y="1047750"/>
            <a:ext cx="4357091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598">
            <a:extLst xmlns:a="http://schemas.openxmlformats.org/drawingml/2006/main">
              <a:ext uri="{FF2B5EF4-FFF2-40B4-BE49-F238E27FC236}">
                <a16:creationId xmlns:a16="http://schemas.microsoft.com/office/drawing/2014/main" id="{1798210D-6B4F-4BC4-B31B-25D5B4D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原稿综合图：分析关注职责与协作，组件与部署在设计中进一步确定。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9018-C882-486A-9977-B3BB3B500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0c1839def47f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599">
            <a:extLst xmlns:a="http://schemas.openxmlformats.org/drawingml/2006/main">
              <a:ext uri="{FF2B5EF4-FFF2-40B4-BE49-F238E27FC236}">
                <a16:creationId xmlns:a16="http://schemas.microsoft.com/office/drawing/2014/main" id="{67717B0C-A65C-4795-BF46-93D03CB3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网上购物：分析交互</a:t>
            </a:r>
          </a:p>
        </p:txBody>
      </p:sp>
      <p:sp>
        <p:nvSpPr>
          <p:cNvPr id="2" name="frame-600">
            <a:extLst xmlns:a="http://schemas.openxmlformats.org/drawingml/2006/main">
              <a:ext uri="{FF2B5EF4-FFF2-40B4-BE49-F238E27FC236}">
                <a16:creationId xmlns:a16="http://schemas.microsoft.com/office/drawing/2014/main" id="{A94C2031-F70A-41AA-B5C7-09EB90D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01">
            <a:extLst xmlns:a="http://schemas.openxmlformats.org/drawingml/2006/main">
              <a:ext uri="{FF2B5EF4-FFF2-40B4-BE49-F238E27FC236}">
                <a16:creationId xmlns:a16="http://schemas.microsoft.com/office/drawing/2014/main" id="{235ABE6D-76CE-44F0-9D1C-182C3F9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964683E-08EE-40B4-A027-364E6FB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A395A4C-58EE-4693-AE97-E7075A3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75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0AA1-0FC4-49BB-8F37-03F355CD01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282b9d5cf4611"/>
          <a:stretch xmlns:a="http://schemas.openxmlformats.org/drawingml/2006/main"/>
        </p:blipFill>
        <p:spPr>
          <a:xfrm xmlns:a="http://schemas.openxmlformats.org/drawingml/2006/main">
            <a:off x="3030857" y="1047750"/>
            <a:ext cx="3082286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02">
            <a:extLst xmlns:a="http://schemas.openxmlformats.org/drawingml/2006/main">
              <a:ext uri="{FF2B5EF4-FFF2-40B4-BE49-F238E27FC236}">
                <a16:creationId xmlns:a16="http://schemas.microsoft.com/office/drawing/2014/main" id="{81941057-1490-468D-8C1B-22C95FFE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原稿图例省略认证分支条件。成功与失败的后续行为需分别说明。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3C524-64CD-40DC-AB7A-FF5CEBAB25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1de4906c24396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03">
            <a:extLst xmlns:a="http://schemas.openxmlformats.org/drawingml/2006/main">
              <a:ext uri="{FF2B5EF4-FFF2-40B4-BE49-F238E27FC236}">
                <a16:creationId xmlns:a16="http://schemas.microsoft.com/office/drawing/2014/main" id="{A5301770-D2AC-453A-AAFA-D9C350BA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网上购物：分析类</a:t>
            </a:r>
          </a:p>
        </p:txBody>
      </p:sp>
      <p:sp>
        <p:nvSpPr>
          <p:cNvPr id="2" name="frame-604">
            <a:extLst xmlns:a="http://schemas.openxmlformats.org/drawingml/2006/main">
              <a:ext uri="{FF2B5EF4-FFF2-40B4-BE49-F238E27FC236}">
                <a16:creationId xmlns:a16="http://schemas.microsoft.com/office/drawing/2014/main" id="{B6E5BC91-08B1-4819-B643-0492BAD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05">
            <a:extLst xmlns:a="http://schemas.openxmlformats.org/drawingml/2006/main">
              <a:ext uri="{FF2B5EF4-FFF2-40B4-BE49-F238E27FC236}">
                <a16:creationId xmlns:a16="http://schemas.microsoft.com/office/drawing/2014/main" id="{EE9D0542-E606-42BD-BF5F-2D79DCFF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DB918F3-16B3-4217-A905-600FAF9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B59B113-9F22-4A9E-AD99-4D10EC2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76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EDE7-ECBB-41BF-BCBB-A466B4EF1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e3aa0ffab4981"/>
          <a:stretch xmlns:a="http://schemas.openxmlformats.org/drawingml/2006/main"/>
        </p:blipFill>
        <p:spPr>
          <a:xfrm xmlns:a="http://schemas.openxmlformats.org/drawingml/2006/main">
            <a:off x="1302756" y="1047750"/>
            <a:ext cx="6538488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06">
            <a:extLst xmlns:a="http://schemas.openxmlformats.org/drawingml/2006/main">
              <a:ext uri="{FF2B5EF4-FFF2-40B4-BE49-F238E27FC236}">
                <a16:creationId xmlns:a16="http://schemas.microsoft.com/office/drawing/2014/main" id="{0EBAA9B1-CD70-4AA3-AEA8-7434FB3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原稿图例：按职责辨认边界、控制与实体，多重性需结合业务确认。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2DFF-58C2-41B2-94CB-2C9D56053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7f0c74db0414e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07">
            <a:extLst xmlns:a="http://schemas.openxmlformats.org/drawingml/2006/main">
              <a:ext uri="{FF2B5EF4-FFF2-40B4-BE49-F238E27FC236}">
                <a16:creationId xmlns:a16="http://schemas.microsoft.com/office/drawing/2014/main" id="{958134C9-E298-4861-85F2-B4CD944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业务架构示例</a:t>
            </a:r>
          </a:p>
        </p:txBody>
      </p:sp>
      <p:sp>
        <p:nvSpPr>
          <p:cNvPr id="2" name="frame-608">
            <a:extLst xmlns:a="http://schemas.openxmlformats.org/drawingml/2006/main">
              <a:ext uri="{FF2B5EF4-FFF2-40B4-BE49-F238E27FC236}">
                <a16:creationId xmlns:a16="http://schemas.microsoft.com/office/drawing/2014/main" id="{5585723E-A251-4C55-B716-63DF72F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09">
            <a:extLst xmlns:a="http://schemas.openxmlformats.org/drawingml/2006/main">
              <a:ext uri="{FF2B5EF4-FFF2-40B4-BE49-F238E27FC236}">
                <a16:creationId xmlns:a16="http://schemas.microsoft.com/office/drawing/2014/main" id="{7411E860-A4F3-41BE-B05C-51D2898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170A97A-9091-4631-B92D-41DD343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CF918B5-80B3-4CB3-BAEC-268D6DE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77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ABFCE-42F9-45BB-8275-91DF45753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45c1a28e846ee"/>
          <a:stretch xmlns:a="http://schemas.openxmlformats.org/drawingml/2006/main"/>
        </p:blipFill>
        <p:spPr>
          <a:xfrm xmlns:a="http://schemas.openxmlformats.org/drawingml/2006/main">
            <a:off x="2159567" y="1047750"/>
            <a:ext cx="4824866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10">
            <a:extLst xmlns:a="http://schemas.openxmlformats.org/drawingml/2006/main">
              <a:ext uri="{FF2B5EF4-FFF2-40B4-BE49-F238E27FC236}">
                <a16:creationId xmlns:a16="http://schemas.microsoft.com/office/drawing/2014/main" id="{4805E2CD-F771-4207-A33D-829BE43D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原稿图例展示业务协作与参与方，组织和模块不直接对应部署节点。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14055-8598-435E-83E1-5FDA37BE9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634395bc44bc1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11">
            <a:extLst xmlns:a="http://schemas.openxmlformats.org/drawingml/2006/main">
              <a:ext uri="{FF2B5EF4-FFF2-40B4-BE49-F238E27FC236}">
                <a16:creationId xmlns:a16="http://schemas.microsoft.com/office/drawing/2014/main" id="{1F2B3741-3877-4045-909D-29B8BD11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业务架构与业务模型</a:t>
            </a:r>
          </a:p>
        </p:txBody>
      </p:sp>
      <p:sp>
        <p:nvSpPr>
          <p:cNvPr id="2" name="frame-612">
            <a:extLst xmlns:a="http://schemas.openxmlformats.org/drawingml/2006/main">
              <a:ext uri="{FF2B5EF4-FFF2-40B4-BE49-F238E27FC236}">
                <a16:creationId xmlns:a16="http://schemas.microsoft.com/office/drawing/2014/main" id="{F7C287B7-4720-438A-8B20-968A7F58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13">
            <a:extLst xmlns:a="http://schemas.openxmlformats.org/drawingml/2006/main">
              <a:ext uri="{FF2B5EF4-FFF2-40B4-BE49-F238E27FC236}">
                <a16:creationId xmlns:a16="http://schemas.microsoft.com/office/drawing/2014/main" id="{87390A98-6225-4D03-81C4-7BA44232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61E8BC1-4356-4B09-903B-91246FD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805BA77-A8E5-4A32-A5D4-BAC7D0C4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78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1692B-85CC-4620-882E-A54A1F9FC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641d2b1f64322"/>
          <a:stretch xmlns:a="http://schemas.openxmlformats.org/drawingml/2006/main"/>
        </p:blipFill>
        <p:spPr>
          <a:xfrm xmlns:a="http://schemas.openxmlformats.org/drawingml/2006/main">
            <a:off x="1236828" y="1047750"/>
            <a:ext cx="6670343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14">
            <a:extLst xmlns:a="http://schemas.openxmlformats.org/drawingml/2006/main">
              <a:ext uri="{FF2B5EF4-FFF2-40B4-BE49-F238E27FC236}">
                <a16:creationId xmlns:a16="http://schemas.microsoft.com/office/drawing/2014/main" id="{46D6A2A2-728D-4936-B735-CCBC7AF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原稿中的“推导”“指导”表示建模依据与约束，不表示运行时调用。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11B6D-9467-440D-BD2B-25B717954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fb8f69d0c49a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15">
            <a:extLst xmlns:a="http://schemas.openxmlformats.org/drawingml/2006/main">
              <a:ext uri="{FF2B5EF4-FFF2-40B4-BE49-F238E27FC236}">
                <a16:creationId xmlns:a16="http://schemas.microsoft.com/office/drawing/2014/main" id="{BDBC8001-0F6F-4AC5-BFDB-C8602C0F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软件架构的广度与深度</a:t>
            </a:r>
          </a:p>
        </p:txBody>
      </p:sp>
      <p:sp>
        <p:nvSpPr>
          <p:cNvPr id="2" name="frame-616">
            <a:extLst xmlns:a="http://schemas.openxmlformats.org/drawingml/2006/main">
              <a:ext uri="{FF2B5EF4-FFF2-40B4-BE49-F238E27FC236}">
                <a16:creationId xmlns:a16="http://schemas.microsoft.com/office/drawing/2014/main" id="{B924AFC2-B713-4CEA-943A-79328F2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17">
            <a:extLst xmlns:a="http://schemas.openxmlformats.org/drawingml/2006/main">
              <a:ext uri="{FF2B5EF4-FFF2-40B4-BE49-F238E27FC236}">
                <a16:creationId xmlns:a16="http://schemas.microsoft.com/office/drawing/2014/main" id="{390A52F4-A47F-4595-80CE-4E490BE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3681D7F-E5FE-440E-9B1A-00553A65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AC71261-6A75-4634-BC49-C851B2D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79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C5F2-6B13-418C-A6D5-F476D16A6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15dd316a4e31"/>
          <a:stretch xmlns:a="http://schemas.openxmlformats.org/drawingml/2006/main"/>
        </p:blipFill>
        <p:spPr>
          <a:xfrm xmlns:a="http://schemas.openxmlformats.org/drawingml/2006/main">
            <a:off x="476250" y="1267579"/>
            <a:ext cx="8191500" cy="2846467"/>
          </a:xfrm>
          <a:prstGeom xmlns:a="http://schemas.openxmlformats.org/drawingml/2006/main" prst="rect">
            <a:avLst/>
          </a:prstGeom>
        </p:spPr>
      </p:pic>
      <p:sp>
        <p:nvSpPr>
          <p:cNvPr id="7" name="content-618">
            <a:extLst xmlns:a="http://schemas.openxmlformats.org/drawingml/2006/main">
              <a:ext uri="{FF2B5EF4-FFF2-40B4-BE49-F238E27FC236}">
                <a16:creationId xmlns:a16="http://schemas.microsoft.com/office/drawing/2014/main" id="{B21DADF2-D000-4A14-888B-E76B2CCB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原稿三维外框用于层次示意。层与节点须按各自建模含义区分。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CCA61-6764-425E-9D0A-C4AF12C7AE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f2d54e5674202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19">
            <a:extLst xmlns:a="http://schemas.openxmlformats.org/drawingml/2006/main">
              <a:ext uri="{FF2B5EF4-FFF2-40B4-BE49-F238E27FC236}">
                <a16:creationId xmlns:a16="http://schemas.microsoft.com/office/drawing/2014/main" id="{2653BCB0-08B4-4F9A-954A-67C4039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设计模型的输入</a:t>
            </a:r>
          </a:p>
        </p:txBody>
      </p:sp>
      <p:sp>
        <p:nvSpPr>
          <p:cNvPr id="2" name="frame-620">
            <a:extLst xmlns:a="http://schemas.openxmlformats.org/drawingml/2006/main">
              <a:ext uri="{FF2B5EF4-FFF2-40B4-BE49-F238E27FC236}">
                <a16:creationId xmlns:a16="http://schemas.microsoft.com/office/drawing/2014/main" id="{F55D972F-E2EF-463E-A3E2-FC832FF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21">
            <a:extLst xmlns:a="http://schemas.openxmlformats.org/drawingml/2006/main">
              <a:ext uri="{FF2B5EF4-FFF2-40B4-BE49-F238E27FC236}">
                <a16:creationId xmlns:a16="http://schemas.microsoft.com/office/drawing/2014/main" id="{4410AF0B-634A-4759-AF04-E08A677D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15D42B8-A71E-4715-90A9-B49FCD70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AD0998D-A3A8-420E-AEB5-35EABB2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80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BEC67-A82A-48FC-8CC6-02B3561AD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0d4abc5a42cb"/>
          <a:stretch xmlns:a="http://schemas.openxmlformats.org/drawingml/2006/main"/>
        </p:blipFill>
        <p:spPr>
          <a:xfrm xmlns:a="http://schemas.openxmlformats.org/drawingml/2006/main">
            <a:off x="2431040" y="1047750"/>
            <a:ext cx="428192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22">
            <a:extLst xmlns:a="http://schemas.openxmlformats.org/drawingml/2006/main">
              <a:ext uri="{FF2B5EF4-FFF2-40B4-BE49-F238E27FC236}">
                <a16:creationId xmlns:a16="http://schemas.microsoft.com/office/drawing/2014/main" id="{5A3A07A3-2B0D-4444-BA3A-55B41A49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原稿图例：需求、架构与技术环境共同约束设计，并随迭代更新。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0087-8C8D-4ABE-A131-C0C13C6C1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63247b0c84056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623">
            <a:extLst xmlns:a="http://schemas.openxmlformats.org/drawingml/2006/main">
              <a:ext uri="{FF2B5EF4-FFF2-40B4-BE49-F238E27FC236}">
                <a16:creationId xmlns:a16="http://schemas.microsoft.com/office/drawing/2014/main" id="{11D30F51-368D-4741-8E3E-4E5B567C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设计模型的内容</a:t>
            </a:r>
          </a:p>
        </p:txBody>
      </p:sp>
      <p:sp>
        <p:nvSpPr>
          <p:cNvPr id="2" name="frame-624">
            <a:extLst xmlns:a="http://schemas.openxmlformats.org/drawingml/2006/main">
              <a:ext uri="{FF2B5EF4-FFF2-40B4-BE49-F238E27FC236}">
                <a16:creationId xmlns:a16="http://schemas.microsoft.com/office/drawing/2014/main" id="{CB128265-DFD1-433C-AFFF-71130EF4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25">
            <a:extLst xmlns:a="http://schemas.openxmlformats.org/drawingml/2006/main">
              <a:ext uri="{FF2B5EF4-FFF2-40B4-BE49-F238E27FC236}">
                <a16:creationId xmlns:a16="http://schemas.microsoft.com/office/drawing/2014/main" id="{5353C3B1-123C-4D26-912B-68613D71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39CAE6F-3611-4545-B402-D390BF9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E0E50C5-C7D8-4847-9DAD-8EE18FC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81 / 82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BBC10-5129-4819-95A5-480D2A4E4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328663e6244cc"/>
          <a:stretch xmlns:a="http://schemas.openxmlformats.org/drawingml/2006/main"/>
        </p:blipFill>
        <p:spPr>
          <a:xfrm xmlns:a="http://schemas.openxmlformats.org/drawingml/2006/main">
            <a:off x="2139178" y="1047750"/>
            <a:ext cx="4865644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content-626">
            <a:extLst xmlns:a="http://schemas.openxmlformats.org/drawingml/2006/main">
              <a:ext uri="{FF2B5EF4-FFF2-40B4-BE49-F238E27FC236}">
                <a16:creationId xmlns:a16="http://schemas.microsoft.com/office/drawing/2014/main" id="{B2B08F4F-25A2-4CAB-ABB7-3B3AB9A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原稿图例：按问题选择设计视图，检查结构、行为与部署是否一致。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0BED5-C58F-42A7-B946-DBB43686E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d13af1e34eb7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627">
            <a:extLst xmlns:a="http://schemas.openxmlformats.org/drawingml/2006/main">
              <a:ext uri="{FF2B5EF4-FFF2-40B4-BE49-F238E27FC236}">
                <a16:creationId xmlns:a16="http://schemas.microsoft.com/office/drawing/2014/main" id="{C15D516C-3C2C-4D16-AAAB-4FDC874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参考资料 / References</a:t>
            </a:r>
          </a:p>
        </p:txBody>
      </p:sp>
      <p:sp>
        <p:nvSpPr>
          <p:cNvPr id="2" name="frame-628">
            <a:extLst xmlns:a="http://schemas.openxmlformats.org/drawingml/2006/main">
              <a:ext uri="{FF2B5EF4-FFF2-40B4-BE49-F238E27FC236}">
                <a16:creationId xmlns:a16="http://schemas.microsoft.com/office/drawing/2014/main" id="{B4612C16-15B0-476B-9142-DA39960D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629">
            <a:extLst xmlns:a="http://schemas.openxmlformats.org/drawingml/2006/main">
              <a:ext uri="{FF2B5EF4-FFF2-40B4-BE49-F238E27FC236}">
                <a16:creationId xmlns:a16="http://schemas.microsoft.com/office/drawing/2014/main" id="{56310BBE-28CF-40FC-84E6-7BD2F56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A606C5E-5F47-4729-8FCC-50E8C4A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参考扩展与资料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A2597EC-7A4D-421B-8D2E-0C2BEB97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82 / 82</a:t>
            </a:r>
          </a:p>
        </p:txBody>
      </p:sp>
      <p:sp>
        <p:nvSpPr>
          <p:cNvPr id="6" name="content-630">
            <a:extLst xmlns:a="http://schemas.openxmlformats.org/drawingml/2006/main">
              <a:ext uri="{FF2B5EF4-FFF2-40B4-BE49-F238E27FC236}">
                <a16:creationId xmlns:a16="http://schemas.microsoft.com/office/drawing/2014/main" id="{95FA9C1C-8D16-4226-B391-2CFC4A4B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课程资料</a:t>
            </a:r>
          </a:p>
        </p:txBody>
      </p:sp>
      <p:sp>
        <p:nvSpPr>
          <p:cNvPr id="7" name="content-631">
            <a:extLst xmlns:a="http://schemas.openxmlformats.org/drawingml/2006/main">
              <a:ext uri="{FF2B5EF4-FFF2-40B4-BE49-F238E27FC236}">
                <a16:creationId xmlns:a16="http://schemas.microsoft.com/office/drawing/2014/main" id="{F39035F3-F23F-497D-A0CF-31197AE8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18110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孙海英老师：《软件工程实践》Ch3 UML核心模型。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苏亭老师：软件工程课程教学资料（共同参考）。</a:t>
            </a:r>
          </a:p>
        </p:txBody>
      </p:sp>
      <p:sp>
        <p:nvSpPr>
          <p:cNvPr id="8" name="frame-632">
            <a:extLst xmlns:a="http://schemas.openxmlformats.org/drawingml/2006/main">
              <a:ext uri="{FF2B5EF4-FFF2-40B4-BE49-F238E27FC236}">
                <a16:creationId xmlns:a16="http://schemas.microsoft.com/office/drawing/2014/main" id="{EFE7C281-24C9-4721-8389-32728681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9" name="content-633">
            <a:extLst xmlns:a="http://schemas.openxmlformats.org/drawingml/2006/main">
              <a:ext uri="{FF2B5EF4-FFF2-40B4-BE49-F238E27FC236}">
                <a16:creationId xmlns:a16="http://schemas.microsoft.com/office/drawing/2014/main" id="{86EC146C-E6F1-4D1B-8502-52B4DCEA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规范与方法</a:t>
            </a:r>
          </a:p>
        </p:txBody>
      </p:sp>
      <p:sp>
        <p:nvSpPr>
          <p:cNvPr id="10" name="content-634">
            <a:extLst xmlns:a="http://schemas.openxmlformats.org/drawingml/2006/main">
              <a:ext uri="{FF2B5EF4-FFF2-40B4-BE49-F238E27FC236}">
                <a16:creationId xmlns:a16="http://schemas.microsoft.com/office/drawing/2014/main" id="{56DC3074-A71D-4C49-8BBD-0D87FD27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OMG UML 2.5.1；IBM Rational / RUP文档。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Larman《Applying UML and Patterns》；Fowler。</a:t>
            </a:r>
          </a:p>
        </p:txBody>
      </p:sp>
      <p:sp>
        <p:nvSpPr>
          <p:cNvPr id="11" name="frame-635">
            <a:extLst xmlns:a="http://schemas.openxmlformats.org/drawingml/2006/main">
              <a:ext uri="{FF2B5EF4-FFF2-40B4-BE49-F238E27FC236}">
                <a16:creationId xmlns:a16="http://schemas.microsoft.com/office/drawing/2014/main" id="{09A09AF4-D80C-4F67-9FD8-7407763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2" name="content-636">
            <a:extLst xmlns:a="http://schemas.openxmlformats.org/drawingml/2006/main">
              <a:ext uri="{FF2B5EF4-FFF2-40B4-BE49-F238E27FC236}">
                <a16:creationId xmlns:a16="http://schemas.microsoft.com/office/drawing/2014/main" id="{63CDDF27-C1B7-49A1-86DD-F80AC5D8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教学扩展</a:t>
            </a:r>
          </a:p>
        </p:txBody>
      </p:sp>
      <p:sp>
        <p:nvSpPr>
          <p:cNvPr id="13" name="content-637">
            <a:extLst xmlns:a="http://schemas.openxmlformats.org/drawingml/2006/main">
              <a:ext uri="{FF2B5EF4-FFF2-40B4-BE49-F238E27FC236}">
                <a16:creationId xmlns:a16="http://schemas.microsoft.com/office/drawing/2014/main" id="{C3F75165-5F0F-419B-B16E-F6125CB9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38450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选课案例、设计比较、代码测试为本项目教学扩展。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H2辨析依据学生任务书v1.4的既有规则。</a:t>
            </a:r>
          </a:p>
        </p:txBody>
      </p:sp>
      <p:sp>
        <p:nvSpPr>
          <p:cNvPr id="14" name="frame-638">
            <a:extLst xmlns:a="http://schemas.openxmlformats.org/drawingml/2006/main">
              <a:ext uri="{FF2B5EF4-FFF2-40B4-BE49-F238E27FC236}">
                <a16:creationId xmlns:a16="http://schemas.microsoft.com/office/drawing/2014/main" id="{E53A963B-D06E-4EB0-9395-4D279D9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8191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15" name="content-639">
            <a:extLst xmlns:a="http://schemas.openxmlformats.org/drawingml/2006/main">
              <a:ext uri="{FF2B5EF4-FFF2-40B4-BE49-F238E27FC236}">
                <a16:creationId xmlns:a16="http://schemas.microsoft.com/office/drawing/2014/main" id="{1B64C045-E043-45C7-9FE4-DBD894E4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571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使用说明</a:t>
            </a:r>
          </a:p>
        </p:txBody>
      </p:sp>
      <p:sp>
        <p:nvSpPr>
          <p:cNvPr id="16" name="content-640">
            <a:extLst xmlns:a="http://schemas.openxmlformats.org/drawingml/2006/main">
              <a:ext uri="{FF2B5EF4-FFF2-40B4-BE49-F238E27FC236}">
                <a16:creationId xmlns:a16="http://schemas.microsoft.com/office/drawing/2014/main" id="{81CA8B52-FE9F-4AF7-95C1-BBDD427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67125"/>
            <a:ext cx="6200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选课图例用PlantUML，模型联系另附Mermaid图源。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原稿图保留来源。A1、A2、A3为教学假设，定义出处见Notes。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6AC47-3B91-4468-A1C6-4B9EB9585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5dd7c113a4cf5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14">
            <a:extLst xmlns:a="http://schemas.openxmlformats.org/drawingml/2006/main">
              <a:ext uri="{FF2B5EF4-FFF2-40B4-BE49-F238E27FC236}">
                <a16:creationId xmlns:a16="http://schemas.microsoft.com/office/drawing/2014/main" id="{2E716A88-4F75-4C95-A885-4BB3833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软件开发中的模型联系</a:t>
            </a:r>
          </a:p>
        </p:txBody>
      </p:sp>
      <p:sp>
        <p:nvSpPr>
          <p:cNvPr id="2" name="frame-415">
            <a:extLst xmlns:a="http://schemas.openxmlformats.org/drawingml/2006/main">
              <a:ext uri="{FF2B5EF4-FFF2-40B4-BE49-F238E27FC236}">
                <a16:creationId xmlns:a16="http://schemas.microsoft.com/office/drawing/2014/main" id="{23C2B39F-B1A1-458A-AD94-CAC25F4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16">
            <a:extLst xmlns:a="http://schemas.openxmlformats.org/drawingml/2006/main">
              <a:ext uri="{FF2B5EF4-FFF2-40B4-BE49-F238E27FC236}">
                <a16:creationId xmlns:a16="http://schemas.microsoft.com/office/drawing/2014/main" id="{3D01B796-0666-4854-B70A-B50E963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1450376-AF07-49FF-8A52-8728E18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04 设计与实现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D6971C9-CA63-4A38-8B39-0620E33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47 / 82</a:t>
            </a:r>
          </a:p>
        </p:txBody>
      </p:sp>
      <p:sp>
        <p:nvSpPr>
          <p:cNvPr id="14" name="content-425">
            <a:extLst xmlns:a="http://schemas.openxmlformats.org/drawingml/2006/main">
              <a:ext uri="{FF2B5EF4-FFF2-40B4-BE49-F238E27FC236}">
                <a16:creationId xmlns:a16="http://schemas.microsoft.com/office/drawing/2014/main" id="{AC5BD61A-46D0-4F68-AE0F-AB84B96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箭头表示信息联系，可往返修订。验收预期应依据需求确定。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D34AE-A3CE-4C67-95DE-177806F2F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7d49dec6442d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  <p:sp>
        <p:nvSpPr>
          <p:cNvPr id="101" name="body-node-B">
            <a:extLst xmlns:a="http://schemas.openxmlformats.org/drawingml/2006/main">
              <a:ext uri="{FF2B5EF4-FFF2-40B4-BE49-F238E27FC236}">
                <a16:creationId xmlns:a16="http://schemas.microsoft.com/office/drawing/2014/main" id="{1FF1EA39-785E-4A2E-A6EE-26E4BD52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90625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业务用例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业务目标与范围</a:t>
            </a:r>
          </a:p>
        </p:txBody>
      </p:sp>
      <p:sp>
        <p:nvSpPr>
          <p:cNvPr id="102" name="body-node-U">
            <a:extLst xmlns:a="http://schemas.openxmlformats.org/drawingml/2006/main">
              <a:ext uri="{FF2B5EF4-FFF2-40B4-BE49-F238E27FC236}">
                <a16:creationId xmlns:a16="http://schemas.microsoft.com/office/drawing/2014/main" id="{B592D898-9DD7-4096-AE8F-44E08F8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系统用例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责任与完成条件</a:t>
            </a:r>
          </a:p>
        </p:txBody>
      </p:sp>
      <p:sp>
        <p:nvSpPr>
          <p:cNvPr id="103" name="body-node-D">
            <a:extLst xmlns:a="http://schemas.openxmlformats.org/drawingml/2006/main">
              <a:ext uri="{FF2B5EF4-FFF2-40B4-BE49-F238E27FC236}">
                <a16:creationId xmlns:a16="http://schemas.microsoft.com/office/drawing/2014/main" id="{06E0E33C-9D95-40F4-B217-869E5CE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81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领域模型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概念、关系与约束</a:t>
            </a:r>
          </a:p>
        </p:txBody>
      </p:sp>
      <p:sp>
        <p:nvSpPr>
          <p:cNvPr id="104" name="body-node-A">
            <a:extLst xmlns:a="http://schemas.openxmlformats.org/drawingml/2006/main">
              <a:ext uri="{FF2B5EF4-FFF2-40B4-BE49-F238E27FC236}">
                <a16:creationId xmlns:a16="http://schemas.microsoft.com/office/drawing/2014/main" id="{7E435783-EBCD-446F-9824-936759C6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分析模型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内部职责与协作</a:t>
            </a:r>
          </a:p>
        </p:txBody>
      </p:sp>
      <p:sp>
        <p:nvSpPr>
          <p:cNvPr id="105" name="body-node-S">
            <a:extLst xmlns:a="http://schemas.openxmlformats.org/drawingml/2006/main">
              <a:ext uri="{FF2B5EF4-FFF2-40B4-BE49-F238E27FC236}">
                <a16:creationId xmlns:a16="http://schemas.microsoft.com/office/drawing/2014/main" id="{4775D41E-BC53-4DB9-87D0-A00AC00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147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设计模型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结构、操作与接口</a:t>
            </a:r>
          </a:p>
        </p:txBody>
      </p:sp>
      <p:sp>
        <p:nvSpPr>
          <p:cNvPr id="106" name="body-node-I">
            <a:extLst xmlns:a="http://schemas.openxmlformats.org/drawingml/2006/main">
              <a:ext uri="{FF2B5EF4-FFF2-40B4-BE49-F238E27FC236}">
                <a16:creationId xmlns:a16="http://schemas.microsoft.com/office/drawing/2014/main" id="{5479C76A-C34D-4F3E-80EA-7E00EB7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代码实现与集成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落实设计约定</a:t>
            </a:r>
          </a:p>
        </p:txBody>
      </p:sp>
      <p:sp>
        <p:nvSpPr>
          <p:cNvPr id="107" name="body-node-T">
            <a:extLst xmlns:a="http://schemas.openxmlformats.org/drawingml/2006/main">
              <a:ext uri="{FF2B5EF4-FFF2-40B4-BE49-F238E27FC236}">
                <a16:creationId xmlns:a16="http://schemas.microsoft.com/office/drawing/2014/main" id="{2A9A0828-8665-49FC-8FAE-C3B4040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C46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验收检查</a:t>
            </a:r>
          </a:p>
          <a:p xmlns:a="http://schemas.openxmlformats.org/drawingml/2006/main">
            <a:pPr algn="ctr">
              <a:def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对照需求验证实现</a:t>
            </a:r>
          </a:p>
        </p:txBody>
      </p:sp>
      <p:cxnSp>
        <p:nvCxnSpPr>
          <p:cNvPr id="108" name="body-edge-1">
            <a:extLst xmlns:a="http://schemas.openxmlformats.org/drawingml/2006/main">
              <a:ext uri="{FF2B5EF4-FFF2-40B4-BE49-F238E27FC236}">
                <a16:creationId xmlns:a16="http://schemas.microsoft.com/office/drawing/2014/main" id="{79B96D79-F60D-48D4-9FA9-C99D7A2648C2}"/>
              </a:ext>
            </a:extLst>
          </p:cNvPr>
          <p:cNvCxnSpPr/>
          <p:nvPr/>
        </p:nvCxnSpPr>
        <p:spPr>
          <a:xfrm xmlns:a="http://schemas.openxmlformats.org/drawingml/2006/main">
            <a:off x="1357313" y="18002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09" name="body-edge-2">
            <a:extLst xmlns:a="http://schemas.openxmlformats.org/drawingml/2006/main">
              <a:ext uri="{FF2B5EF4-FFF2-40B4-BE49-F238E27FC236}">
                <a16:creationId xmlns:a16="http://schemas.microsoft.com/office/drawing/2014/main" id="{5D21C29B-ECA4-42BA-83BD-3A38206F9199}"/>
              </a:ext>
            </a:extLst>
          </p:cNvPr>
          <p:cNvCxnSpPr/>
          <p:nvPr/>
        </p:nvCxnSpPr>
        <p:spPr>
          <a:xfrm xmlns:a="http://schemas.openxmlformats.org/drawingml/2006/main">
            <a:off x="2238375" y="2686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headEnd type="triangle" w="sm" len="sm"/>
            <a:tailEnd type="triangle" w="sm" len="sm"/>
          </a:ln>
        </p:spPr>
      </p:cxnSp>
      <p:cxnSp>
        <p:nvCxnSpPr>
          <p:cNvPr id="110" name="body-edge-3">
            <a:extLst xmlns:a="http://schemas.openxmlformats.org/drawingml/2006/main">
              <a:ext uri="{FF2B5EF4-FFF2-40B4-BE49-F238E27FC236}">
                <a16:creationId xmlns:a16="http://schemas.microsoft.com/office/drawing/2014/main" id="{2424A8EA-F496-41F4-A8E0-7B7E582AD1A3}"/>
              </a:ext>
            </a:extLst>
          </p:cNvPr>
          <p:cNvCxnSpPr/>
          <p:nvPr/>
        </p:nvCxnSpPr>
        <p:spPr>
          <a:xfrm xmlns:a="http://schemas.openxmlformats.org/drawingml/2006/main">
            <a:off x="1357313" y="29908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11" name="body-edge-4">
            <a:extLst xmlns:a="http://schemas.openxmlformats.org/drawingml/2006/main">
              <a:ext uri="{FF2B5EF4-FFF2-40B4-BE49-F238E27FC236}">
                <a16:creationId xmlns:a16="http://schemas.microsoft.com/office/drawing/2014/main" id="{56A44871-B32C-4275-B89E-1F0CF37BAC47}"/>
              </a:ext>
            </a:extLst>
          </p:cNvPr>
          <p:cNvCxnSpPr/>
          <p:nvPr/>
        </p:nvCxnSpPr>
        <p:spPr>
          <a:xfrm xmlns:a="http://schemas.openxmlformats.org/drawingml/2006/main">
            <a:off x="3500438" y="29908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</a:ln>
        </p:spPr>
      </p:cxnSp>
      <p:cxnSp>
        <p:nvCxnSpPr>
          <p:cNvPr id="112" name="body-edge-5">
            <a:extLst xmlns:a="http://schemas.openxmlformats.org/drawingml/2006/main">
              <a:ext uri="{FF2B5EF4-FFF2-40B4-BE49-F238E27FC236}">
                <a16:creationId xmlns:a16="http://schemas.microsoft.com/office/drawing/2014/main" id="{2D48C72A-8790-4307-B197-6D0E86C3D038}"/>
              </a:ext>
            </a:extLst>
          </p:cNvPr>
          <p:cNvCxnSpPr/>
          <p:nvPr/>
        </p:nvCxnSpPr>
        <p:spPr>
          <a:xfrm xmlns:a="http://schemas.openxmlformats.org/drawingml/2006/main">
            <a:off x="2143125" y="3352800"/>
            <a:ext cx="1357313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</a:ln>
        </p:spPr>
      </p:cxnSp>
      <p:cxnSp>
        <p:nvCxnSpPr>
          <p:cNvPr id="113" name="body-edge-6">
            <a:extLst xmlns:a="http://schemas.openxmlformats.org/drawingml/2006/main">
              <a:ext uri="{FF2B5EF4-FFF2-40B4-BE49-F238E27FC236}">
                <a16:creationId xmlns:a16="http://schemas.microsoft.com/office/drawing/2014/main" id="{62421327-B01F-4CF2-9263-31A32DEECEBC}"/>
              </a:ext>
            </a:extLst>
          </p:cNvPr>
          <p:cNvCxnSpPr/>
          <p:nvPr/>
        </p:nvCxnSpPr>
        <p:spPr>
          <a:xfrm xmlns:a="http://schemas.openxmlformats.org/drawingml/2006/main">
            <a:off x="2143125" y="33528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14" name="body-edge-7">
            <a:extLst xmlns:a="http://schemas.openxmlformats.org/drawingml/2006/main">
              <a:ext uri="{FF2B5EF4-FFF2-40B4-BE49-F238E27FC236}">
                <a16:creationId xmlns:a16="http://schemas.microsoft.com/office/drawing/2014/main" id="{36A2449C-298A-47BD-979C-9B5565F0238F}"/>
              </a:ext>
            </a:extLst>
          </p:cNvPr>
          <p:cNvCxnSpPr/>
          <p:nvPr/>
        </p:nvCxnSpPr>
        <p:spPr>
          <a:xfrm xmlns:a="http://schemas.openxmlformats.org/drawingml/2006/main">
            <a:off x="2238375" y="40195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15" name="body-edge-8">
            <a:extLst xmlns:a="http://schemas.openxmlformats.org/drawingml/2006/main">
              <a:ext uri="{FF2B5EF4-FFF2-40B4-BE49-F238E27FC236}">
                <a16:creationId xmlns:a16="http://schemas.microsoft.com/office/drawing/2014/main" id="{8A819ACA-6032-42D0-ADC1-AFB54E030D69}"/>
              </a:ext>
            </a:extLst>
          </p:cNvPr>
          <p:cNvCxnSpPr/>
          <p:nvPr/>
        </p:nvCxnSpPr>
        <p:spPr>
          <a:xfrm xmlns:a="http://schemas.openxmlformats.org/drawingml/2006/main">
            <a:off x="4381500" y="40195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16" name="body-edge-9">
            <a:extLst xmlns:a="http://schemas.openxmlformats.org/drawingml/2006/main">
              <a:ext uri="{FF2B5EF4-FFF2-40B4-BE49-F238E27FC236}">
                <a16:creationId xmlns:a16="http://schemas.microsoft.com/office/drawing/2014/main" id="{E483994C-CD77-4D49-8675-CA6BFD971810}"/>
              </a:ext>
            </a:extLst>
          </p:cNvPr>
          <p:cNvCxnSpPr/>
          <p:nvPr/>
        </p:nvCxnSpPr>
        <p:spPr>
          <a:xfrm xmlns:a="http://schemas.openxmlformats.org/drawingml/2006/main">
            <a:off x="2047875" y="20669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</a:ln>
        </p:spPr>
      </p:cxnSp>
      <p:cxnSp>
        <p:nvCxnSpPr>
          <p:cNvPr id="117" name="body-edge-10">
            <a:extLst xmlns:a="http://schemas.openxmlformats.org/drawingml/2006/main">
              <a:ext uri="{FF2B5EF4-FFF2-40B4-BE49-F238E27FC236}">
                <a16:creationId xmlns:a16="http://schemas.microsoft.com/office/drawing/2014/main" id="{E9E83AA0-7361-40AD-BF9F-A4EAA268FEEA}"/>
              </a:ext>
            </a:extLst>
          </p:cNvPr>
          <p:cNvCxnSpPr/>
          <p:nvPr/>
        </p:nvCxnSpPr>
        <p:spPr>
          <a:xfrm xmlns:a="http://schemas.openxmlformats.org/drawingml/2006/main">
            <a:off x="2047875" y="2066925"/>
            <a:ext cx="5738813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</a:ln>
        </p:spPr>
      </p:cxnSp>
      <p:cxnSp>
        <p:nvCxnSpPr>
          <p:cNvPr id="118" name="body-edge-11">
            <a:extLst xmlns:a="http://schemas.openxmlformats.org/drawingml/2006/main">
              <a:ext uri="{FF2B5EF4-FFF2-40B4-BE49-F238E27FC236}">
                <a16:creationId xmlns:a16="http://schemas.microsoft.com/office/drawing/2014/main" id="{1C2B45D7-7B8B-47C8-8CE5-44FFA5EE750D}"/>
              </a:ext>
            </a:extLst>
          </p:cNvPr>
          <p:cNvCxnSpPr/>
          <p:nvPr/>
        </p:nvCxnSpPr>
        <p:spPr>
          <a:xfrm xmlns:a="http://schemas.openxmlformats.org/drawingml/2006/main">
            <a:off x="7786688" y="20669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tailEnd type="triangle" w="sm" len="sm"/>
          </a:ln>
        </p:spPr>
      </p:cxnSp>
      <p:cxnSp>
        <p:nvCxnSpPr>
          <p:cNvPr id="119" name="body-edge-12">
            <a:extLst xmlns:a="http://schemas.openxmlformats.org/drawingml/2006/main">
              <a:ext uri="{FF2B5EF4-FFF2-40B4-BE49-F238E27FC236}">
                <a16:creationId xmlns:a16="http://schemas.microsoft.com/office/drawing/2014/main" id="{97099D91-584A-4DC5-9E58-FA3492A7F6E8}"/>
              </a:ext>
            </a:extLst>
          </p:cNvPr>
          <p:cNvCxnSpPr/>
          <p:nvPr/>
        </p:nvCxnSpPr>
        <p:spPr>
          <a:xfrm xmlns:a="http://schemas.openxmlformats.org/drawingml/2006/main">
            <a:off x="6524625" y="4019550"/>
            <a:ext cx="1262063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</a:ln>
        </p:spPr>
      </p:cxnSp>
      <p:cxnSp>
        <p:nvCxnSpPr>
          <p:cNvPr id="120" name="body-edge-13">
            <a:extLst xmlns:a="http://schemas.openxmlformats.org/drawingml/2006/main">
              <a:ext uri="{FF2B5EF4-FFF2-40B4-BE49-F238E27FC236}">
                <a16:creationId xmlns:a16="http://schemas.microsoft.com/office/drawing/2014/main" id="{7E7651BF-5548-479E-8B54-9222CDF55CAD}"/>
              </a:ext>
            </a:extLst>
          </p:cNvPr>
          <p:cNvCxnSpPr/>
          <p:nvPr/>
        </p:nvCxnSpPr>
        <p:spPr>
          <a:xfrm xmlns:a="http://schemas.openxmlformats.org/drawingml/2006/main">
            <a:off x="7786688" y="299085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02C46"/>
            </a:solidFill>
            <a:headEnd type="triangle" w="sm" len="sm"/>
          </a:ln>
        </p:spPr>
      </p:cxnSp>
      <p:sp>
        <p:nvSpPr>
          <p:cNvPr id="121" name="body-label-U-T">
            <a:extLst xmlns:a="http://schemas.openxmlformats.org/drawingml/2006/main">
              <a:ext uri="{FF2B5EF4-FFF2-40B4-BE49-F238E27FC236}">
                <a16:creationId xmlns:a16="http://schemas.microsoft.com/office/drawing/2014/main" id="{83DE340B-CB2F-447C-AEF3-899C206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提供验收场景与预期</a:t>
            </a:r>
          </a:p>
        </p:txBody>
      </p:sp>
      <p:sp>
        <p:nvSpPr>
          <p:cNvPr id="122" name="body-label-I-T">
            <a:extLst xmlns:a="http://schemas.openxmlformats.org/drawingml/2006/main">
              <a:ext uri="{FF2B5EF4-FFF2-40B4-BE49-F238E27FC236}">
                <a16:creationId xmlns:a16="http://schemas.microsoft.com/office/drawing/2014/main" id="{A7FAAA62-54A1-4B86-A122-43A08BCA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提供可检验的实现</a:t>
            </a:r>
          </a:p>
        </p:txBody>
      </p:sp>
    </p:spTree>
    <p:extLst>
      <p:ext uri="{BB962C8B-B14F-4D97-AF65-F5344CB8AC3E}">
        <p14:creationId xmlns:p14="http://schemas.microsoft.com/office/powerpoint/2010/main" val="42839752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414">
            <a:extLst xmlns:a="http://schemas.openxmlformats.org/drawingml/2006/main">
              <a:ext uri="{FF2B5EF4-FFF2-40B4-BE49-F238E27FC236}">
                <a16:creationId xmlns:a16="http://schemas.microsoft.com/office/drawing/2014/main" id="{2E716A88-4F75-4C95-A885-4BB3833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项目中的建模选择</a:t>
            </a:r>
          </a:p>
        </p:txBody>
      </p:sp>
      <p:sp>
        <p:nvSpPr>
          <p:cNvPr id="2" name="frame-415">
            <a:extLst xmlns:a="http://schemas.openxmlformats.org/drawingml/2006/main">
              <a:ext uri="{FF2B5EF4-FFF2-40B4-BE49-F238E27FC236}">
                <a16:creationId xmlns:a16="http://schemas.microsoft.com/office/drawing/2014/main" id="{23C2B39F-B1A1-458A-AD94-CAC25F4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4875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3" name="frame-416">
            <a:extLst xmlns:a="http://schemas.openxmlformats.org/drawingml/2006/main">
              <a:ext uri="{FF2B5EF4-FFF2-40B4-BE49-F238E27FC236}">
                <a16:creationId xmlns:a16="http://schemas.microsoft.com/office/drawing/2014/main" id="{3D01B796-0666-4854-B70A-B50E963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</a:ln>
        </p:spPr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1450376-AF07-49FF-8A52-8728E18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628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 · 05 一致性检验与迁移</a:t>
            </a:r>
          </a:p>
        </p:txBody>
      </p:sp>
      <p:sp>
        <p:nvSpPr>
          <p:cNvPr id="5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D6971C9-CA63-4A38-8B39-0620E33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Ch3  59 / 82</a:t>
            </a:r>
          </a:p>
        </p:txBody>
      </p:sp>
      <p:sp>
        <p:nvSpPr>
          <p:cNvPr id="14" name="content-425">
            <a:extLst xmlns:a="http://schemas.openxmlformats.org/drawingml/2006/main">
              <a:ext uri="{FF2B5EF4-FFF2-40B4-BE49-F238E27FC236}">
                <a16:creationId xmlns:a16="http://schemas.microsoft.com/office/drawing/2014/main" id="{AC5BD61A-46D0-4F68-AE0F-AB84B96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根据问题保留必要的信息，不要求项目分别维护五份模型文档。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D34AE-A3CE-4C67-95DE-177806F2F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7d49dec6442d9"/>
          <a:stretch xmlns:a="http://schemas.openxmlformats.org/drawingml/2006/main"/>
        </p:blipFill>
        <p:spPr>
          <a:xfrm xmlns:a="http://schemas.openxmlformats.org/drawingml/2006/main">
            <a:off x="7496175" y="347601"/>
            <a:ext cx="1171575" cy="21919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F4299C-09DE-4D64-A9D4-A6747A5FF842}"/>
              </a:ext>
            </a:extLst>
          </p:cNvPr>
          <p:cNvGraphicFramePr/>
          <p:nvPr/>
        </p:nvGraphicFramePr>
        <p:xfrm>
          <a:off xmlns:a="http://schemas.openxmlformats.org/drawingml/2006/main" x="476250" y="1133475"/>
          <a:ext xmlns:a="http://schemas.openxmlformats.org/drawingml/2006/main" cx="81915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428750"/>
                <a:gridCol w="3619500"/>
              </a:tblGrid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项目中的困难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T w="9525">
                      <a:solidFill>
                        <a:srgbClr val="1A1A1A"/>
                      </a:solidFill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202C4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优先讨论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T w="9525">
                      <a:solidFill>
                        <a:srgbClr val="1A1A1A"/>
                      </a:solidFill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202C4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需要明确的内容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T w="9525">
                      <a:solidFill>
                        <a:srgbClr val="1A1A1A"/>
                      </a:solidFill>
                    </a:lnT>
                    <a:lnB w="9525">
                      <a:solidFill>
                        <a:srgbClr val="1A1A1A"/>
                      </a:solidFill>
                    </a:lnB>
                    <a:solidFill>
                      <a:srgbClr val="202C46"/>
                    </a:solidFill>
                  </a:tcPr>
                </a:tc>
              </a:tr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各方对项目目标理解不同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业务用例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服务对象、业务目标与范围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功能名称相同，完成条件不清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系统用例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软件责任、场景与完成条件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</a:tr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术语混用，信息归属不清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领域模型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业务概念、关系与约束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用例明确，内部职责分工不清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职责承担者及其协作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7F2E9"/>
                    </a:solidFill>
                  </a:tcPr>
                </a:tc>
              </a:tr>
              <a:tr h="5222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多人开发，接口与调用约定不一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A1A1A"/>
                      </a:solidFill>
                    </a:lnL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操作、参数、返回值与调用次序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A1A1A"/>
                      </a:solidFill>
                    </a:lnR>
                    <a:lnB w="9525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975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82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2026-10-13T06:20:20.9040000Z</dcterms:created>
  <dcterms:modified xsi:type="dcterms:W3CDTF">2026-10-13T06:20:20.9040000Z</dcterms:modified>
</coreProperties>
</file>