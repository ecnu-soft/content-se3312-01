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7" r:id="rId2"/>
    <p:sldId id="561" r:id="rId3"/>
    <p:sldId id="533" r:id="rId4"/>
    <p:sldId id="540" r:id="rId5"/>
    <p:sldId id="543" r:id="rId6"/>
    <p:sldId id="550" r:id="rId7"/>
    <p:sldId id="549" r:id="rId8"/>
    <p:sldId id="546" r:id="rId9"/>
    <p:sldId id="547" r:id="rId10"/>
    <p:sldId id="548" r:id="rId11"/>
    <p:sldId id="544" r:id="rId12"/>
    <p:sldId id="545" r:id="rId13"/>
    <p:sldId id="536" r:id="rId14"/>
    <p:sldId id="537" r:id="rId15"/>
    <p:sldId id="541" r:id="rId16"/>
    <p:sldId id="538" r:id="rId17"/>
    <p:sldId id="551" r:id="rId18"/>
    <p:sldId id="542" r:id="rId19"/>
    <p:sldId id="552" r:id="rId20"/>
    <p:sldId id="556" r:id="rId21"/>
    <p:sldId id="554" r:id="rId22"/>
    <p:sldId id="505" r:id="rId23"/>
    <p:sldId id="507" r:id="rId24"/>
    <p:sldId id="506" r:id="rId25"/>
    <p:sldId id="504" r:id="rId26"/>
    <p:sldId id="534" r:id="rId27"/>
    <p:sldId id="557" r:id="rId28"/>
    <p:sldId id="558" r:id="rId29"/>
    <p:sldId id="559" r:id="rId30"/>
    <p:sldId id="560" r:id="rId31"/>
    <p:sldId id="530" r:id="rId32"/>
    <p:sldId id="268" r:id="rId33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2808" autoAdjust="0"/>
  </p:normalViewPr>
  <p:slideViewPr>
    <p:cSldViewPr snapToGrid="0">
      <p:cViewPr varScale="1">
        <p:scale>
          <a:sx n="139" d="100"/>
          <a:sy n="139" d="100"/>
        </p:scale>
        <p:origin x="14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4E54B-D346-4E21-8304-5E21A385E5E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0D449-86F4-4423-B0CF-057524BCB9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29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本讲围绕一个问题展开：怎样把使用者的目标表达成可以讨论、可以验证的软件需求？用例图给出系统范围、参与角色与目标的概览，用例规约补足具体场景和结果。</a:t>
            </a:r>
          </a:p>
          <a:p>
            <a:r>
              <a:t>贯穿案例：图书馆借阅。先问“读者希望得到什么”，再讨论系统支持什么，最后才考虑内部由哪些对象实现。学完后应能识别参与者、区分用例与操作步骤，并写出一条基本流程和一条异常流程。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回顾 Ch2.1。先让学生解释 UML 是一种建模语言，再说出构造块、规则和公共机制。类图关注结构，用例图从外部角色目标描述系统行为，顺序图关注交互次序，活动图关注流程。</a:t>
            </a:r>
          </a:p>
          <a:p>
            <a:r>
              <a:t>案例：围绕“借阅图书”，用例图回答读者能获得什么服务，类图描述读者、图书和借阅记录之间的结构，顺序图解释借阅请求如何完成。它们是同一模型的不同视图。</a:t>
            </a:r>
          </a:p>
          <a:p>
            <a:r>
              <a:t>回顾问题参考回答：图上的符号和连线提供概览，借阅资格、超限处理、登记成功的结果等细节需要规约、其他图和验证共同说明。</a:t>
            </a:r>
          </a:p>
          <a:p>
            <a:r>
              <a:t>来源：Ch2.1-UML基础-UML的概念模型-通用样式版-v2.pptx。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本讲先讲用例、参与者、系统边界和关系，再讨论业务用例图、概念用例图和系统用例图。大纲中的类图及其他图将在后续章节展开。</a:t>
            </a:r>
          </a:p>
          <a:p>
            <a:r>
              <a:t>案例导入：同样是“借书”，读者关注能否借到书，馆员关注登记和归还处理，开发者关注系统具体提供哪些服务。让学生先分别说出角色和目标，暂时不画内部调用关系。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阅读顺序是：先指出矩形边界的名称，再找边界外的参与者，最后读椭圆里的目标。连线说明角色参与哪些用例，不规定操作先后。</a:t>
            </a:r>
          </a:p>
          <a:p>
            <a:r>
              <a:t>案例：把本页 Student Administration 换成图书借阅系统。读者参与“查询图书”“续借图书”，馆员参与“办理借阅”。“点击确认”只是某条流程中的一步。</a:t>
            </a:r>
          </a:p>
          <a:p>
            <a:r>
              <a:t>提问：数据库是否要画成参与者？参考回答：先确定边界。系统内部数据库属于实现细节，独立外部系统且确有交互时才考虑外部角色。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包含关系用于抽取共享行为，箭头从基础用例指向被包含用例。扩展关系把补充行为接入基础用例的扩展点，箭头从扩展用例指向基础用例。泛化表示更具体的用例继承和特化一般用例的行为。</a:t>
            </a:r>
          </a:p>
          <a:p>
            <a:r>
              <a:t>案例：假设“办理借阅”和“续借图书”都执行“检查借阅资格”，可以用 include 复用该行为。假设借阅完成后可选择打印凭条，可将“打印凭条”在相应扩展点上扩展“办理借阅”，不打印仍能完成借阅。</a:t>
            </a:r>
          </a:p>
          <a:p>
            <a:r>
              <a:t>讲解限定：原页“一个时间仅有一个扩展用例有效”不能当作 UML 的通用规则。是否互斥由扩展条件和业务约束决定，应在规约中明确。也不要把泛化只理解成程序操作的继承。</a:t>
            </a:r>
          </a:p>
          <a:p>
            <a:r>
              <a:t>语义参考：OMG UML 2.5.1，18.1.3.2–18.1.3.3、9.9.7。https://www.omg.org/spec/UML/2.5.1/PDF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先让学生比较两张图表达的信息。上图显式声明选课、修改成绩复用了鉴权行为，下图把鉴权单独列为参与者关联的用例，没有表达这两个用例与鉴权之间的包含关系，因此两图提供的信息不同。</a:t>
            </a:r>
          </a:p>
          <a:p>
            <a:r>
              <a:t>案例：用户主动进入“登录”页面，与选课时系统发现登录过期后要求重新认证，可以是两种场景。应在用例规约里写清触发条件和交互过程。</a:t>
            </a:r>
          </a:p>
          <a:p>
            <a:r>
              <a:t>讲解限定：仅凭用例图，不能推出操作界面一定不同，也不能断言鉴权一定由系统自动触发。原页的结论需要上述场景假设支持。include 表示行为复用，不是界面设计符号。</a:t>
            </a:r>
          </a:p>
          <a:p>
            <a:r>
              <a:t>语义参考：OMG UML 2.5.1，18.1.3.3。https://www.omg.org/spec/UML/2.5.1/PDF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边界表示当前研究的主体和需求范围。画边界之前先用一句话说清“我们在做哪个系统”。跨越边界的交互可能通过界面、接口、消息或设备完成。</a:t>
            </a:r>
          </a:p>
          <a:p>
            <a:r>
              <a:t>案例：若边界是 ATM，银行后台系统在外部，是支持取款的参与者。若边界扩大到整套银行服务，原来的后台模块可能位于边界内部。模型变化来自研究范围变化。</a:t>
            </a:r>
          </a:p>
          <a:p>
            <a:r>
              <a:t>讲解限定：原页“边界将演化成操作界面”可以作为界面需求的线索，不能理解成边界只对应 GUI。图上的关联也不自动规定谁先发起操作。</a:t>
            </a:r>
          </a:p>
          <a:p>
            <a:r>
              <a:t>提问：银行后台是不是参与者？先说边界，再给答案。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参与者描述角色。参与者泛化表示更具体的角色可以承担一般角色的参与能力，空心三角指向一般角色。继承关系应依据角色能力，而非直接照抄组织上下级。</a:t>
            </a:r>
          </a:p>
          <a:p>
            <a:r>
              <a:t>案例：普通读者可以查询图书，研究生读者继承这一能力，并可申请馆际互借。原页中 A 是具体角色，因此可参与 X 和继承来的 Y，B 只有图上关联的 Y。</a:t>
            </a:r>
          </a:p>
          <a:p>
            <a:r>
              <a:t>抽象参与者用于提取共同角色特征。多重继承需要检查不同角色约束是否冲突。一个人也可以在不同情境中扮演不同角色。</a:t>
            </a:r>
          </a:p>
          <a:p>
            <a:r>
              <a:t>语义参考：OMG UML 2.5.1，18.1.3.1、18.2.1。https://www.omg.org/spec/UML/2.5.1/PDF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先分别口述两张图：左图明确列出 Professor 和 Assistant 与查询用例的关联，右图通过抽象的一般角色 Research Associate 表达共同参与能力，再由具体角色继承。</a:t>
            </a:r>
          </a:p>
          <a:p>
            <a:r>
              <a:t>讨论问题：若新增另一个拥有同样查询能力的角色，哪种表达更容易维护？右图可以通过泛化复用共同能力，但也引入了一个需要业务认可的角色分类。</a:t>
            </a:r>
          </a:p>
          <a:p>
            <a:r>
              <a:t>两图是否在业务上等价，需要查看参与规则、角色约束与用例规约。不要仅根据线条数量判断 AND 或 OR。下一页继续讨论这一限制。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本页可以用来辨别图形信息与业务约束。讲解时先说明：原页把左图读成 AND、右图读成 OR，这不是仅凭 UML 关联线就能得出的普遍结论。</a:t>
            </a:r>
          </a:p>
          <a:p>
            <a:r>
              <a:t>案例一：教授和助教都能独立查询学生信息。案例二：助教提出查询申请，教授批准后系统才显示敏感字段。两种业务都可能出现多个关联角色，实际协作方式必须写在规约中，必要时用活动图或顺序图表达。</a:t>
            </a:r>
          </a:p>
          <a:p>
            <a:r>
              <a:t>提问：怎样表达“两人必须同时授权”？参考回答：明确角色数量、授权条件和流程约束，不能只多画一条关联线。</a:t>
            </a:r>
          </a:p>
          <a:p>
            <a:r>
              <a:t>语义参考：OMG UML 2.5.1，18.1.3.1 明确多参与者如何参与取决于具体情境。https://www.omg.org/spec/UML/2.5.1/PDF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把本页当成读图词典。System 表示研究主体，Use case 表示主体提供的一项有意义的行为，Actor 表示与主体交互的角色。</a:t>
            </a:r>
          </a:p>
          <a:p>
            <a:r>
              <a:t>案例：矩形写“图书借阅系统”，椭圆写“续借图书”，小人写“读者”。“张三”是扮演读者的具体实例，不宜作为角色名称；“数据库表”则是内部设计对象。</a:t>
            </a:r>
          </a:p>
          <a:p>
            <a:r>
              <a:t>请学生用这三个符号描述“学生提交作业”，再检查是否把教师、学生等角色放在边界外，以及用例名是否表达了一个目标。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逐行比较线型和箭头方向。Association 是参与者与用例之间的关联。Generalization 的空心三角指向一般角色或一般用例。extend 从扩展用例指向基础用例，include 从基础用例指向被包含用例。</a:t>
            </a:r>
          </a:p>
          <a:p>
            <a:r>
              <a:t>案例：用“续借图书”包含“检查借阅资格”帮助记住 include 的方向。用“打印凭条”扩展“办理借阅”帮助记住 extend 的方向。</a:t>
            </a:r>
          </a:p>
          <a:p>
            <a:r>
              <a:t>提问：先做 A 再做 B，是否画 include？参考回答：不够。先后顺序应写入规约或行为图，include 要表达真正共享并被纳入的行为。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用例图符号少，但识别边界、目标和角色需要需求分析。沿右图讲清：同一业务需要在需求获取、需求分析、系统设计中逐步落实，并通过模型和验证保持对应关系。</a:t>
            </a:r>
          </a:p>
          <a:p>
            <a:r>
              <a:t>案例：读者希望“借到一本书”。需求层记录借阅资格、可借状态和借阅结果，设计层再分配给借阅服务、馆藏管理等职责。测试应检查借阅记录建立和库存状态更新等可观察结果。</a:t>
            </a:r>
          </a:p>
          <a:p>
            <a:r>
              <a:t>课堂提问：画出椭圆以后，还有哪些问题没回答？引导学生说出前置条件、正常流程、异常流程和完成后的状态。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一个用例描述一类有共同目标的交互，可以包含多种具体场景。一次实际执行是一个用例实例。规约把前置条件、场景中的交互和后置条件连接起来。</a:t>
            </a:r>
          </a:p>
          <a:p>
            <a:r>
              <a:t>案例：“办理借阅”的成功场景是资格有效、图书可借、登记成功；异常场景可以是达到借阅上限或图书已被借走。这些都围绕同一个借阅目标，不必为每个异常另画一个独立用例。</a:t>
            </a:r>
          </a:p>
          <a:p>
            <a:r>
              <a:t>可观察结果：读者获得借阅确认，系统建立借阅记录并更新图书状态。请学生说出一个失败场景以及失败后应保持不变的数据。</a:t>
            </a:r>
          </a:p>
          <a:p>
            <a:r>
              <a:t>原稿讲解：在计算机世界里，我们使用用例这个模型元素，记录人类的愿望，实现愿望的方式和过程以及结果。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练习采用“主体边界为 ATM、粒度为客户目标级”的假设。先请学生判断，再要求用“目标是否完整、结果有何价值”说明理由。</a:t>
            </a:r>
          </a:p>
          <a:p>
            <a:r>
              <a:t>参考讨论：取钱、存钱、挂失卡片、交纳费用通常可作为候选用例，但挂失是否属于该 ATM 的服务范围还要确认。插入卡片、输入密码、选择服务通常是流程步骤。支持跨行业务更像范围或业务能力要求，应落实到跨行取款等具体目标。</a:t>
            </a:r>
          </a:p>
          <a:p>
            <a:r>
              <a:t>警示诈骗通常是安全提示要求；三次错误吞卡通常属于认证失败的异常处理和安全规则。它们仍是需要记录和验证的需求。</a:t>
            </a:r>
          </a:p>
          <a:p>
            <a:r>
              <a:t>追问：若讨论的是 ATM 维护子系统，“收回卡片”能否成为维护角色的目标？答案会随边界和粒度变化。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本页三项特征适合帮助学生检查用户目标级用例。独立性强调目标相对完整，价值性强调有可观察的结果，被动性提醒我们从外部需求和触发情境出发。</a:t>
            </a:r>
          </a:p>
          <a:p>
            <a:r>
              <a:t>案例：读者执行“续借图书”后得到新的应还日期，目标和结果都清楚；“读取借阅记录”只完成内部的一步，通常不足以作为读者目标级用例。</a:t>
            </a:r>
          </a:p>
          <a:p>
            <a:r>
              <a:t>讲解限定：这些是识别用户目标级用例的教学准则，不是所有 UML 用例的形式约束。被包含用例、扩展用例未必独立实现完整用户目标，也不必为每个用例单独画一个发起者。</a:t>
            </a:r>
          </a:p>
          <a:p>
            <a:r>
              <a:t>语义参考：OMG UML 2.5.1，18.1.3。https://www.omg.org/spec/UML/2.5.1/PDF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把这四个问题用作访谈提纲：期待什么、准备做什么、为什么做、完成后得到什么。重点是从动作追问到目标和结果。</a:t>
            </a:r>
          </a:p>
          <a:p>
            <a:r>
              <a:t>案例：读者说“我想点一下续借按钮”。追问为什么，得到“我还没读完，希望延长归还日期”；再问什么时候算成功，得到“能看到新的应还日期，并知道是否续借成功”。由此识别“续借图书”，而不是“点击按钮”。</a:t>
            </a:r>
          </a:p>
          <a:p>
            <a:r>
              <a:t>请学生两人一组访谈“申请会议室”或“提交作业”，用一句话写角色、目标、结果，再列出一个失败条件。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用例从参与者目标组织需求，内部功能则可以作为实现该目标的构件。两者观察层次不同，不能靠动宾短语形式直接判断。</a:t>
            </a:r>
          </a:p>
          <a:p>
            <a:r>
              <a:t>沿用原例：用户要得到打印资料，进纸、成像和出纸是完成目标的内部功能。“进纸”也会被复印使用，因此共享内部功能不等于共享用户目标。</a:t>
            </a:r>
          </a:p>
          <a:p>
            <a:r>
              <a:t>追问：在设备维修模式中，维修人员主动执行“测试进纸”，是否可能成为一个用例？如果它对该角色形成独立目标，就可以。判断离不开角色、边界和粒度。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承接上一页，进一步讨论同一功能在不同用例中的复用。功能复用是实现分析的重要线索，但用例仍要保留业务上下文。</a:t>
            </a:r>
          </a:p>
          <a:p>
            <a:r>
              <a:t>案例：“检查借阅资格”可能服务于“借阅图书”和“续借图书”，两种用例的目标、前置条件和成功结果各不相同。识别共同行为后，再判断是否值得抽取为 include。</a:t>
            </a:r>
          </a:p>
          <a:p>
            <a:r>
              <a:t>讲解限定：原页“功能没有上下文”用于强调功能可复用。工程实现仍有输入约束、权限和状态条件，不能理解成任何功能都能无条件复用。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右图把“出具证明”作为使用者目标，登录、输入资料、发送资料和退出等步骤放到规约或设计中，适合用户目标级总览。左图把交互步骤都画成 include，容易把用例图变成操作分解图。</a:t>
            </a:r>
          </a:p>
          <a:p>
            <a:r>
              <a:t>案例：学生申请在读证明，目标是获得有效证明。身份已确认可作为前置条件，填写信息与下载证明可作为流程步骤，校验失败进入异常流程。</a:t>
            </a:r>
          </a:p>
          <a:p>
            <a:r>
              <a:t>讲解限定：左图不一定是语法无效，问题主要在粒度和表达目的。登录在身份管理系统中可以是独立目标，不能脱离边界一概删除。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按表格从上到下讲解，重点是角色、目标、前置条件、后置条件、基本流程和扩展流程之间的对应关系。复杂或高风险用例需要较完整规约，简单用例可以简写，粒度以能讨论和验证为准。</a:t>
            </a:r>
          </a:p>
          <a:p>
            <a:r>
              <a:t>案例规约：UC-01 续借图书。主要参与者为读者，目标是延长归还日期。前置条件：读者已通过身份验证，存在本人有效借阅记录。基本流程：读者选择借阅记录并提交续借请求；系统检查续借规则；系统更新应还日期并返回确认。成功后置条件：该记录的新应还日期已保存。失败后置条件：原应还日期不变，并给出原因。</a:t>
            </a:r>
          </a:p>
          <a:p>
            <a:r>
              <a:t>扩展流程：超过续借次数或图书已有预约时，系统拒绝续借并显示原因。具体次数和日期算法应来自确认的业务规则。</a:t>
            </a:r>
          </a:p>
          <a:p>
            <a:r>
              <a:t>可验证点：成功时日期按规则变化，拒绝时记录不变。规约中的扩展流程是文本场景，不自动等同于图中的 extend 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Actor 关注角色与交互，而不是具体的人名。它可以由人、外部硬件或另一个系统承担。同一个实体可以扮演多个角色。</a:t>
            </a:r>
          </a:p>
          <a:p>
            <a:r>
              <a:t>案例：同一个人在图书馆可以是“读者”，在值班时也可以是“馆员”；两个不同学生都可以扮演“读者”。独立的统一身份认证平台则是非人类参与者。</a:t>
            </a:r>
          </a:p>
          <a:p>
            <a:r>
              <a:t>先说清系统边界，再列角色。不能因为某角色只是响应系统请求，就把它排除；支持型参与者同样可能需要建模。</a:t>
            </a:r>
          </a:p>
          <a:p>
            <a:r>
              <a:t>原稿讲解：参与者（Actor）在建模中处于核心地位。</a:t>
            </a:r>
          </a:p>
          <a:p>
            <a:r>
              <a:t>语义参考：OMG UML 2.5.1，18.1.3.1。https://www.omg.org/spec/UML/2.5.1/PDF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这道题的关键是先确定研究主体。以“银行开户业务”为边界，小王扮演外部客户，经理和柜员可以作为内部业务工作人员。以“银行开户软件”为边界，直接操作软件的柜员通常是参与者。</a:t>
            </a:r>
          </a:p>
          <a:p>
            <a:r>
              <a:t>若客户不直接与柜面软件交互，他可能是利益相关者，而不一定是该软件用例的直接参与者。若软件包括客户自助填表终端，客户又可能成为直接参与者。</a:t>
            </a:r>
          </a:p>
          <a:p>
            <a:r>
              <a:t>讲解限定：原页答案依赖银行业务这一边界。不要把“经理、柜员没有主动发出动作”作为普遍排除依据。判断标准是相对于所选主体的交互角色。</a:t>
            </a:r>
          </a:p>
          <a:p>
            <a:r>
              <a:t>课堂做法：请学生分别画两条边界，再解释为何参与者集合不同。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识别参与者时，从所有跨边界交互入手，兼顾发起请求和提供支持的角色。人、组织角色、外部系统和设备都可以进入候选清单。</a:t>
            </a:r>
          </a:p>
          <a:p>
            <a:r>
              <a:t>案例：在 ATM 边界外，客户提出取款请求，银行后台检查账户信息。后台响应请求，也是在扮演参与者。若现金分配装置属于 ATM 内部，则一般作为内部部件处理。</a:t>
            </a:r>
          </a:p>
          <a:p>
            <a:r>
              <a:t>提问：邮件服务是不是参与者？参考回答：独立外部邮件服务且与系统交换消息时可以，系统内部的发信模块则通常不画成外部角色。</a:t>
            </a:r>
          </a:p>
          <a:p>
            <a:r>
              <a:t>语义参考：OMG UML 2.5.1，18.1.3.1。https://www.omg.org/spec/UML/2.5.1/PDF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例要区分时间触发事件与外部调度服务。若独立调度平台在每天固定时间调用报表系统，该平台可作为参与者。若计时器是系统内部组件，则应在规约里写“到达每日统计时间”，不必为了找到参与者而把内部计时器画到外部。</a:t>
            </a:r>
          </a:p>
          <a:p>
            <a:r>
              <a:t>第二例可拆开讨论：“界面友好”是需要具体化的可用性质量要求，“每个页面显示操作提示”也包含可观察的界面行为要求。</a:t>
            </a:r>
          </a:p>
          <a:p>
            <a:r>
              <a:t>案例：把“友好”落实为新用户完成查询任务的成功率或步骤要求；把操作提示落实为具体页面和触发条件。指标值由需求确认，不在这里臆定。</a:t>
            </a:r>
          </a:p>
          <a:p>
            <a:r>
              <a:t>讲解限定：找不到主动发起者不能单独证明需求不是功能性需求，仍需分析系统行为、事件和质量约束。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前半部分已回答如何识别用例和参与者，接下来将同一业务放在不同建模层次下观察。仍沿用借阅图书，避免换案例造成概念负担。</a:t>
            </a:r>
          </a:p>
          <a:p>
            <a:r>
              <a:t>请学生先回答：到馆里人工借一本书与通过软件登记借阅，讨论的是同一范围吗？前者包含组织活动，后者聚焦软件提供的服务。后续几页说明它们怎样衔接。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业务用例图描述组织向外部角色提供的业务服务。业务范围可能包含人工、制度和多个信息系统，所以通常大于单个软件范围。</a:t>
            </a:r>
          </a:p>
          <a:p>
            <a:r>
              <a:t>案例：读者的业务目标是“借阅图书”，馆内的找书、人工核验和系统登记都可能参与实现。分析后再决定哪些活动交给软件支持，哪些继续由人工完成。</a:t>
            </a:r>
          </a:p>
          <a:p>
            <a:r>
              <a:t>本页左图按业务主角归纳服务，右图从业务整体安排角色与服务。图中的特殊符号来自所采用的业务建模约定或 UML 扩展，应说明约定，避免当成另一套通用 UML 核心语法。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业务用例实现关注业务目标如何由人员、组织或系统协作完成。同一个业务用例可以有不同的实现方式。</a:t>
            </a:r>
          </a:p>
          <a:p>
            <a:r>
              <a:t>案例：“借阅图书”可以通过网上预约后到馆取书，也可以直接到馆借阅。两种方式的参与者协作和活动顺序不同，但都服务于获得图书的业务目标。</a:t>
            </a:r>
          </a:p>
          <a:p>
            <a:r>
              <a:t>请学生口述一次到馆借阅的流程，再用活动图描述步骤，或用顺序图描述读者、馆员和系统之间的消息。不要仅凭本页实现关系符号推断先后顺序。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本课件用“概念用例图”作为从业务目标到系统服务之间的分析视图，用来讨论关键业务概念与行为。它是可选的中间表达，不是所有项目都必须交付的标准图种。</a:t>
            </a:r>
          </a:p>
          <a:p>
            <a:r>
              <a:t>案例：在“借阅图书”业务中识别借出、归还、资格检查、费用处理等概念，再确认各自的目标、规则和责任。不能因为图上出现一个椭圆，就直接判定它是一项最终软件功能。</a:t>
            </a:r>
          </a:p>
          <a:p>
            <a:r>
              <a:t>提醒：原图把多项业务行为组织在一起，是教学分析表达。具体 include、extend 是否成立，还要结合场景和扩展条件核对。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系统用例图列出软件向外部角色提供哪些服务，实现图再说明服务如何由内部职责协作完成。这里的“系统用例就是开发范围”着重强调功能范围；性能、安全、可用性等要求仍需单独补充。</a:t>
            </a:r>
          </a:p>
          <a:p>
            <a:r>
              <a:t>案例：馆员使用“办理借阅手续”，系统检查资格和图书状态、建立借阅记录、返回应还日期。实现时可由借阅服务、读者信息服务和馆藏服务协作，具体划分留到设计阶段。</a:t>
            </a:r>
          </a:p>
          <a:p>
            <a:r>
              <a:t>提问：如何确认开发和测试没有漏项？把系统用例编号、规约、实现职责和测试场景建立对应关系，既检查成功路径，也检查失败后状态。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用五个问题回收本讲：研究哪个系统？谁与它交互？角色希望完成什么目标？怎样描述正常与异常场景？成功或失败后应看到什么结果？</a:t>
            </a:r>
          </a:p>
          <a:p>
            <a:r>
              <a:t>请学生用“续借图书”快速回答，并说明一个角色、一条成功流程和一条拒绝规则。再让学生解释 include 和 extend 的箭头方向。</a:t>
            </a:r>
          </a:p>
          <a:p>
            <a:r>
              <a:t>讲解限定：本页“独立性、价值性、被动性”沿用用户目标级识别准则。参与者还包括支持型角色，主动发起不是参与者的必要条件。业务用例、概念用例和系统用例的层次应服从当前建模目的。</a:t>
            </a:r>
          </a:p>
          <a:p>
            <a:r>
              <a:t>下一讲转向类图：把本讲的业务概念、职责和关系进一步组织成结构模型。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本讲主体内容与图示来源于孙海英老师《软件工程实践》课程 Ch2.2-UML基础-用例图.pptx。上一讲回顾来源于本项目 Ch2.1 重制课件。</a:t>
            </a:r>
          </a:p>
          <a:p>
            <a:r>
              <a:t>苏亭老师的软件工程课程资料为本课程的共同教学参考，包括 Introduction、Software Development Lifecycle。此处区分课程参考与本讲图示的直接来源。</a:t>
            </a:r>
          </a:p>
          <a:p>
            <a:r>
              <a:t>授课案例中的规则均作为教学假设使用，真实项目应与业务方确认。关于角色、用例关系和多参与者语义的讲解补充参照 OMG UML 2.5.1 第 18 章。</a:t>
            </a:r>
          </a:p>
          <a:p>
            <a:r>
              <a:t>https://www.omg.org/spec/UML/2.5.1/PDF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40908-4285-1B75-20D3-0AC0877CDA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9505BB6-74C6-FDC7-2590-9C4750A9A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F1BE73-D5B9-0A16-8BC3-80AEC60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5CA4-F8B9-463C-A337-8431B29307B5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838FE-7CB3-4BFC-414B-99FDF3F1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FF8ABF-F9F7-19D5-44CE-95C863DB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569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4B483B-FC2E-ABD9-BF22-1D41341F6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0933"/>
            <a:ext cx="10515600" cy="46360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CAAF27E6-0DE1-5C7C-D7F6-31AD0F53C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13CDDD80-6AF5-1769-4FC8-3F287C5C6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C0C45-8306-4019-8B11-4AC3BFD5B435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E2484B68-FBFF-8907-42D5-89F614D6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D68F0886-BA36-1CA6-5F50-F8F80D1EB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160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E545A1-EB48-1157-8D2E-30B891CD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DB67ABD-BFBE-5B23-B1EA-D8AE76AC8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9F526C-9D86-D0BA-124E-315B0B9E4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9ACE-4D67-4365-91A0-0B2F6DEE33AA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2EF0FB-124B-2B81-E497-DCD55B36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B9D2EB-929F-F66E-BEDF-8784E7C94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93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2E61E-D508-D0EA-1A21-FA2DC5CA7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F987DA-B2C6-EB6F-F0C6-EA921FE3ED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B26CEE-022E-6A65-68B3-B146A3081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6F93CF-8979-5A50-CB52-A5FF2519F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4C3B4-5945-40D6-B204-548D6DE14641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039D27-BE1B-27F1-EA6F-46FAFAB4F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60ED8A-F1EE-1CDD-C857-BB31C794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65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0339E-83F4-F80D-51E7-B106FB5C4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C37695-0EFB-85E8-6B5E-0FDB69CF0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DCEF15-2648-FA25-EED9-3564DF2B7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448B2C-FA09-FBB8-5C08-2763B7BCF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B20275-3497-A3CD-0963-7538655ED3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3B66E9-DCEE-8B7D-2C3B-C22EC2BB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2A373-77FA-47D7-8ABD-B27D00F169AD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7BF35F1-D089-727D-7CB5-D5378AF1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8D0445-D247-9AAE-B1CB-810D6FED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491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4B732-94AB-2623-1FF9-BAFD4443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4DBB1-E1DE-DE50-93EE-87ABD307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D4D12-F9D1-47C0-9A12-B89DD9EAF26D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99A1763-A926-3BE3-33FE-74FD0D0B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2C6324-BDAB-9E21-63A5-AACD08A89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BC6FDF5-9CC6-FC40-050D-E14EDC3E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B639C-DBB3-4F4F-8304-7D6466F4EFE2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16F6D5-F55F-4A72-40BD-3970B289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3F0A0E-A3A9-70BD-BDF9-13CF498E4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06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30012E-ADC7-9D92-567C-558DCC9D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5141A8-5A16-918F-81B9-47D010047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1DBCA2-A0CA-9735-5BDD-B4597AFE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878B7C-7EFF-6206-11A6-7B5D5E40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041A1-B167-41A6-9889-73F79C3F5F15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A032A1-C9E7-2522-172F-7703C036A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E07FC2-0676-EFC1-71EF-C5D71AAD7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915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BE532-3D9A-8E0E-36EF-769FC16C7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9439108-341E-15AD-3C05-BC37EBA0A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B6512C-31CD-287C-786E-9CBCA1324D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AD0D75-8C2E-F7FB-0872-9297CDBBD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90D0D-5821-44D4-8C9A-063584D38F54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0C1226-4A61-C1B2-FEFD-3A263768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F211A6-F7FC-1F6F-A07A-A72977A4C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71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5B244E-9D3C-2583-7649-5FE25B92F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D41C52-9AD2-7E2C-9448-6BDCA8437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A685AE-B28C-799C-1BCC-F0DC70D6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7C4A7-9CFF-464C-8A57-5B1B1EB511D9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4676C9-6CF3-3D64-33A4-67346DA6F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BF006-E318-77DA-CB34-8126091A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954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4B2587C-85C2-CA07-7331-72A8D8720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71BD9F-261A-5FCA-7D20-125A83B2C4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D696B5-CB50-EA69-CB68-7BE57342F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AACFC-E357-47F2-9D79-E7497BD9B806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D12E4F-3F17-BCE5-29A7-6CBE06CA1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4FF14C-B06D-2465-A9A0-7EDE3717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958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A0B8A2C-13FC-5906-5453-569C23615F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AD579-F2D5-44F8-A7DA-506DEC8CA700}" type="datetime1">
              <a:rPr lang="zh-CN" altLang="en-US"/>
              <a:pPr>
                <a:defRPr/>
              </a:pPr>
              <a:t>2026/9/23</a:t>
            </a:fld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0915749-7DBC-F641-50A9-C74C8CF6DB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 dirty="0"/>
              <a:t>软件工程实践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0ECDB55-C2BD-185F-D6EF-206BDDA7AE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0A7BA8-5B4C-403E-B673-717C52DCBA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469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ECCA320-3E79-1D7E-11BC-C38B149F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0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7F01-961D-92C0-2325-03B42C185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2767"/>
            <a:ext cx="10515600" cy="47841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9B729C-10DB-7DF5-1F30-DE5F5EAA3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B205E-D944-4F18-9033-9CEC3C356EA2}" type="datetime1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D7D31-F95F-6AAF-CE9E-88BC053FCF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zh-CN" altLang="en-US"/>
              <a:t>软件工程实践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697D41-037E-10EA-5732-3031BEA13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CBB36-6B10-4A46-AD7A-8806ECE730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605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17.T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2.T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6.TI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" name="frame-1">
            <a:extLst>
              <a:ext uri="{FF2B5EF4-FFF2-40B4-BE49-F238E27FC236}">
                <a16:creationId xmlns:a16="http://schemas.microsoft.com/office/drawing/2014/main" id="{215942D2-3FF3-49B3-8EC8-534F35FA8C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124200" cy="5143500"/>
          </a:xfrm>
          <a:prstGeom prst="rect">
            <a:avLst/>
          </a:prstGeom>
          <a:solidFill>
            <a:srgbClr val="1F2A44"/>
          </a:solidFill>
          <a:ln w="0">
            <a:noFill/>
          </a:ln>
        </p:spPr>
      </p:sp>
      <p:sp>
        <p:nvSpPr>
          <p:cNvPr id="10001" name="frame-2">
            <a:extLst>
              <a:ext uri="{FF2B5EF4-FFF2-40B4-BE49-F238E27FC236}">
                <a16:creationId xmlns:a16="http://schemas.microsoft.com/office/drawing/2014/main" id="{956B084E-480B-49BD-A8B0-67974D4B16A6}"/>
              </a:ext>
            </a:extLst>
          </p:cNvPr>
          <p:cNvSpPr>
            <a:spLocks noGrp="1"/>
          </p:cNvSpPr>
          <p:nvPr/>
        </p:nvSpPr>
        <p:spPr>
          <a:xfrm>
            <a:off x="419100" y="447675"/>
            <a:ext cx="2381250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2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FACULTY OF IT</a:t>
            </a:r>
          </a:p>
        </p:txBody>
      </p:sp>
      <p:sp>
        <p:nvSpPr>
          <p:cNvPr id="10002" name="frame-3">
            <a:extLst>
              <a:ext uri="{FF2B5EF4-FFF2-40B4-BE49-F238E27FC236}">
                <a16:creationId xmlns:a16="http://schemas.microsoft.com/office/drawing/2014/main" id="{D4A61C2C-0470-486A-B020-3C26631ED4D6}"/>
              </a:ext>
            </a:extLst>
          </p:cNvPr>
          <p:cNvSpPr>
            <a:spLocks noGrp="1"/>
          </p:cNvSpPr>
          <p:nvPr/>
        </p:nvSpPr>
        <p:spPr>
          <a:xfrm>
            <a:off x="419100" y="723900"/>
            <a:ext cx="25336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SOFTWARE ENGINEERING</a:t>
            </a:r>
          </a:p>
        </p:txBody>
      </p:sp>
      <p:sp>
        <p:nvSpPr>
          <p:cNvPr id="10003" name="frame-4">
            <a:extLst>
              <a:ext uri="{FF2B5EF4-FFF2-40B4-BE49-F238E27FC236}">
                <a16:creationId xmlns:a16="http://schemas.microsoft.com/office/drawing/2014/main" id="{0F3AC062-CECB-4A9E-9170-B4D85CA4E04D}"/>
              </a:ext>
            </a:extLst>
          </p:cNvPr>
          <p:cNvSpPr>
            <a:spLocks noGrp="1"/>
          </p:cNvSpPr>
          <p:nvPr/>
        </p:nvSpPr>
        <p:spPr>
          <a:xfrm>
            <a:off x="419100" y="24288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UML FOUNDATIONS</a:t>
            </a:r>
          </a:p>
        </p:txBody>
      </p:sp>
      <p:sp>
        <p:nvSpPr>
          <p:cNvPr id="10004" name="frame-5">
            <a:extLst>
              <a:ext uri="{FF2B5EF4-FFF2-40B4-BE49-F238E27FC236}">
                <a16:creationId xmlns:a16="http://schemas.microsoft.com/office/drawing/2014/main" id="{5423C7E4-3E52-4EE0-B170-3E53E5DF097E}"/>
              </a:ext>
            </a:extLst>
          </p:cNvPr>
          <p:cNvSpPr>
            <a:spLocks noGrp="1"/>
          </p:cNvSpPr>
          <p:nvPr/>
        </p:nvSpPr>
        <p:spPr>
          <a:xfrm>
            <a:off x="419100" y="2705100"/>
            <a:ext cx="2524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7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USE CASE DIAGRAMS</a:t>
            </a:r>
          </a:p>
        </p:txBody>
      </p:sp>
      <p:sp>
        <p:nvSpPr>
          <p:cNvPr id="10005" name="frame-6">
            <a:extLst>
              <a:ext uri="{FF2B5EF4-FFF2-40B4-BE49-F238E27FC236}">
                <a16:creationId xmlns:a16="http://schemas.microsoft.com/office/drawing/2014/main" id="{91AA7D49-A5A5-4BD2-B61D-CD59857509D3}"/>
              </a:ext>
            </a:extLst>
          </p:cNvPr>
          <p:cNvSpPr>
            <a:spLocks noGrp="1"/>
          </p:cNvSpPr>
          <p:nvPr/>
        </p:nvSpPr>
        <p:spPr>
          <a:xfrm>
            <a:off x="419100" y="4543425"/>
            <a:ext cx="261937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00" b="0">
                <a:solidFill>
                  <a:srgbClr val="B9C1D0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B9C1D0"/>
                </a:solidFill>
                <a:latin typeface="Noto Sans SC"/>
                <a:ea typeface="Noto Sans SC"/>
                <a:cs typeface="Noto Sans SC"/>
              </a:rPr>
              <a:t>华东师范大学 · 2026 秋季课程</a:t>
            </a:r>
          </a:p>
        </p:txBody>
      </p:sp>
      <p:sp>
        <p:nvSpPr>
          <p:cNvPr id="10006" name="frame-7">
            <a:extLst>
              <a:ext uri="{FF2B5EF4-FFF2-40B4-BE49-F238E27FC236}">
                <a16:creationId xmlns:a16="http://schemas.microsoft.com/office/drawing/2014/main" id="{163C1B43-EFF5-49CF-B061-A27DD4DA5988}"/>
              </a:ext>
            </a:extLst>
          </p:cNvPr>
          <p:cNvSpPr>
            <a:spLocks noGrp="1"/>
          </p:cNvSpPr>
          <p:nvPr/>
        </p:nvSpPr>
        <p:spPr>
          <a:xfrm>
            <a:off x="3762375" y="1200150"/>
            <a:ext cx="48577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7" name="frame-8">
            <a:extLst>
              <a:ext uri="{FF2B5EF4-FFF2-40B4-BE49-F238E27FC236}">
                <a16:creationId xmlns:a16="http://schemas.microsoft.com/office/drawing/2014/main" id="{EE433978-E2FA-479C-9227-595D07547483}"/>
              </a:ext>
            </a:extLst>
          </p:cNvPr>
          <p:cNvSpPr>
            <a:spLocks noGrp="1"/>
          </p:cNvSpPr>
          <p:nvPr/>
        </p:nvSpPr>
        <p:spPr>
          <a:xfrm>
            <a:off x="3762375" y="1895475"/>
            <a:ext cx="47625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4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3450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UML 基础</a:t>
            </a:r>
          </a:p>
        </p:txBody>
      </p:sp>
      <p:sp>
        <p:nvSpPr>
          <p:cNvPr id="10008" name="frame-9">
            <a:extLst>
              <a:ext uri="{FF2B5EF4-FFF2-40B4-BE49-F238E27FC236}">
                <a16:creationId xmlns:a16="http://schemas.microsoft.com/office/drawing/2014/main" id="{FE0DFB32-EC10-4AC8-B5FE-6AE1F3609663}"/>
              </a:ext>
            </a:extLst>
          </p:cNvPr>
          <p:cNvSpPr>
            <a:spLocks noGrp="1"/>
          </p:cNvSpPr>
          <p:nvPr/>
        </p:nvSpPr>
        <p:spPr>
          <a:xfrm>
            <a:off x="3762375" y="2667000"/>
            <a:ext cx="4762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700" b="1">
                <a:solidFill>
                  <a:srgbClr val="A41F35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700" b="1">
                <a:solidFill>
                  <a:srgbClr val="A41F35"/>
                </a:solidFill>
                <a:latin typeface="Noto Serif SC Bold"/>
                <a:ea typeface="Noto Serif SC Bold"/>
                <a:cs typeface="Noto Serif SC Bold"/>
              </a:rPr>
              <a:t>用例图</a:t>
            </a:r>
          </a:p>
        </p:txBody>
      </p:sp>
      <p:sp>
        <p:nvSpPr>
          <p:cNvPr id="10009" name="frame-10">
            <a:extLst>
              <a:ext uri="{FF2B5EF4-FFF2-40B4-BE49-F238E27FC236}">
                <a16:creationId xmlns:a16="http://schemas.microsoft.com/office/drawing/2014/main" id="{A07F8899-387A-488A-B8EE-2A6E9618A9E3}"/>
              </a:ext>
            </a:extLst>
          </p:cNvPr>
          <p:cNvSpPr>
            <a:spLocks noGrp="1"/>
          </p:cNvSpPr>
          <p:nvPr/>
        </p:nvSpPr>
        <p:spPr>
          <a:xfrm>
            <a:off x="3762375" y="3705225"/>
            <a:ext cx="442912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肖宇</a:t>
            </a:r>
          </a:p>
        </p:txBody>
      </p:sp>
      <p:sp>
        <p:nvSpPr>
          <p:cNvPr id="10010" name="frame-11">
            <a:extLst>
              <a:ext uri="{FF2B5EF4-FFF2-40B4-BE49-F238E27FC236}">
                <a16:creationId xmlns:a16="http://schemas.microsoft.com/office/drawing/2014/main" id="{BC24F965-62CD-473D-8EC0-41B02915CD12}"/>
              </a:ext>
            </a:extLst>
          </p:cNvPr>
          <p:cNvSpPr>
            <a:spLocks noGrp="1"/>
          </p:cNvSpPr>
          <p:nvPr/>
        </p:nvSpPr>
        <p:spPr>
          <a:xfrm>
            <a:off x="3762375" y="4095750"/>
            <a:ext cx="4953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yxiao@sei.ecnu.edu.cn  ·  理科楼 B209</a:t>
            </a:r>
          </a:p>
        </p:txBody>
      </p:sp>
      <p:sp>
        <p:nvSpPr>
          <p:cNvPr id="10011" name="frame-12">
            <a:extLst>
              <a:ext uri="{FF2B5EF4-FFF2-40B4-BE49-F238E27FC236}">
                <a16:creationId xmlns:a16="http://schemas.microsoft.com/office/drawing/2014/main" id="{19F0ADFE-1C04-4303-959A-3B5E50B78FA8}"/>
              </a:ext>
            </a:extLst>
          </p:cNvPr>
          <p:cNvSpPr>
            <a:spLocks noGrp="1"/>
          </p:cNvSpPr>
          <p:nvPr/>
        </p:nvSpPr>
        <p:spPr>
          <a:xfrm>
            <a:off x="3762375" y="4391025"/>
            <a:ext cx="47148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邮件或微信预约答疑时间</a:t>
            </a:r>
          </a:p>
        </p:txBody>
      </p:sp>
      <p:sp>
        <p:nvSpPr>
          <p:cNvPr id="10012" name="frame-13">
            <a:extLst>
              <a:ext uri="{FF2B5EF4-FFF2-40B4-BE49-F238E27FC236}">
                <a16:creationId xmlns:a16="http://schemas.microsoft.com/office/drawing/2014/main" id="{32268076-03F9-4563-ABCE-012FA8F985A4}"/>
              </a:ext>
            </a:extLst>
          </p:cNvPr>
          <p:cNvSpPr>
            <a:spLocks noGrp="1"/>
          </p:cNvSpPr>
          <p:nvPr/>
        </p:nvSpPr>
        <p:spPr>
          <a:xfrm>
            <a:off x="7781925" y="4819650"/>
            <a:ext cx="85725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</a:t>
            </a:r>
          </a:p>
        </p:txBody>
      </p:sp>
      <p:pic>
        <p:nvPicPr>
          <p:cNvPr id="10013" name="Picture 100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28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5797">
        <p:fade/>
      </p:transition>
    </mc:Choice>
    <mc:Fallback xmlns="">
      <p:transition spd="med" advTm="7579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0D5AD-F14D-3E06-E034-F61B30B0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" name="frame-174">
            <a:extLst>
              <a:ext uri="{FF2B5EF4-FFF2-40B4-BE49-F238E27FC236}">
                <a16:creationId xmlns:a16="http://schemas.microsoft.com/office/drawing/2014/main" id="{80944C69-34D7-4132-8B32-F0305C760DBA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上节回顾：UML 的概念模型</a:t>
            </a:r>
          </a:p>
        </p:txBody>
      </p:sp>
      <p:sp>
        <p:nvSpPr>
          <p:cNvPr id="10001" name="frame-175">
            <a:extLst>
              <a:ext uri="{FF2B5EF4-FFF2-40B4-BE49-F238E27FC236}">
                <a16:creationId xmlns:a16="http://schemas.microsoft.com/office/drawing/2014/main" id="{397C44EF-70DF-47AB-820C-AA791874070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76">
            <a:extLst>
              <a:ext uri="{FF2B5EF4-FFF2-40B4-BE49-F238E27FC236}">
                <a16:creationId xmlns:a16="http://schemas.microsoft.com/office/drawing/2014/main" id="{E5326A96-39D0-4921-B286-1FC8E9D1864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77">
            <a:extLst>
              <a:ext uri="{FF2B5EF4-FFF2-40B4-BE49-F238E27FC236}">
                <a16:creationId xmlns:a16="http://schemas.microsoft.com/office/drawing/2014/main" id="{7D73617E-D8E1-454B-BC8E-B699F108CC4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78">
            <a:extLst>
              <a:ext uri="{FF2B5EF4-FFF2-40B4-BE49-F238E27FC236}">
                <a16:creationId xmlns:a16="http://schemas.microsoft.com/office/drawing/2014/main" id="{7C6D1829-D09B-45AB-B4E8-6414BE4D74E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02 / 32</a:t>
            </a:r>
          </a:p>
        </p:txBody>
      </p:sp>
      <p:sp>
        <p:nvSpPr>
          <p:cNvPr id="10005" name="frame-179">
            <a:extLst>
              <a:ext uri="{FF2B5EF4-FFF2-40B4-BE49-F238E27FC236}">
                <a16:creationId xmlns:a16="http://schemas.microsoft.com/office/drawing/2014/main" id="{6D84F3D6-86E2-488E-A098-978375A77DF6}"/>
              </a:ext>
            </a:extLst>
          </p:cNvPr>
          <p:cNvSpPr>
            <a:spLocks noGrp="1"/>
          </p:cNvSpPr>
          <p:nvPr/>
        </p:nvSpPr>
        <p:spPr>
          <a:xfrm>
            <a:off x="495300" y="1133475"/>
            <a:ext cx="187642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UML 是什么</a:t>
            </a:r>
          </a:p>
        </p:txBody>
      </p:sp>
      <p:sp>
        <p:nvSpPr>
          <p:cNvPr id="10006" name="frame-180">
            <a:extLst>
              <a:ext uri="{FF2B5EF4-FFF2-40B4-BE49-F238E27FC236}">
                <a16:creationId xmlns:a16="http://schemas.microsoft.com/office/drawing/2014/main" id="{ACE228FE-F222-4C04-93B9-C0DFA4FCC0F7}"/>
              </a:ext>
            </a:extLst>
          </p:cNvPr>
          <p:cNvSpPr>
            <a:spLocks noGrp="1"/>
          </p:cNvSpPr>
          <p:nvPr/>
        </p:nvSpPr>
        <p:spPr>
          <a:xfrm>
            <a:off x="2476500" y="1133475"/>
            <a:ext cx="6143625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用于表达、讨论和记录模型的图形化建模语言。</a:t>
            </a:r>
          </a:p>
          <a:p>
            <a:pPr algn="l">
              <a:def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关注符号的语法、语义及模型之间的一致性。</a:t>
            </a:r>
          </a:p>
        </p:txBody>
      </p:sp>
      <p:sp>
        <p:nvSpPr>
          <p:cNvPr id="10007" name="frame-181">
            <a:extLst>
              <a:ext uri="{FF2B5EF4-FFF2-40B4-BE49-F238E27FC236}">
                <a16:creationId xmlns:a16="http://schemas.microsoft.com/office/drawing/2014/main" id="{2FF2B584-6B67-44E9-B0B4-01EF283E9435}"/>
              </a:ext>
            </a:extLst>
          </p:cNvPr>
          <p:cNvSpPr>
            <a:spLocks noGrp="1"/>
          </p:cNvSpPr>
          <p:nvPr/>
        </p:nvSpPr>
        <p:spPr>
          <a:xfrm>
            <a:off x="476250" y="17907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8" name="frame-182">
            <a:extLst>
              <a:ext uri="{FF2B5EF4-FFF2-40B4-BE49-F238E27FC236}">
                <a16:creationId xmlns:a16="http://schemas.microsoft.com/office/drawing/2014/main" id="{00A93F8F-EFF9-413B-A1F4-5C2A820795A6}"/>
              </a:ext>
            </a:extLst>
          </p:cNvPr>
          <p:cNvSpPr>
            <a:spLocks noGrp="1"/>
          </p:cNvSpPr>
          <p:nvPr/>
        </p:nvSpPr>
        <p:spPr>
          <a:xfrm>
            <a:off x="495300" y="1857375"/>
            <a:ext cx="187642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概念模型</a:t>
            </a:r>
          </a:p>
        </p:txBody>
      </p:sp>
      <p:sp>
        <p:nvSpPr>
          <p:cNvPr id="10009" name="frame-183">
            <a:extLst>
              <a:ext uri="{FF2B5EF4-FFF2-40B4-BE49-F238E27FC236}">
                <a16:creationId xmlns:a16="http://schemas.microsoft.com/office/drawing/2014/main" id="{6104EC31-2173-4977-83B2-93BE94D90BDA}"/>
              </a:ext>
            </a:extLst>
          </p:cNvPr>
          <p:cNvSpPr>
            <a:spLocks noGrp="1"/>
          </p:cNvSpPr>
          <p:nvPr/>
        </p:nvSpPr>
        <p:spPr>
          <a:xfrm>
            <a:off x="2476500" y="1857375"/>
            <a:ext cx="6143625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构造块、规则和公共机制。</a:t>
            </a:r>
          </a:p>
          <a:p>
            <a:pPr algn="l">
              <a:def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构造块包括事物、关系和图。</a:t>
            </a:r>
          </a:p>
        </p:txBody>
      </p:sp>
      <p:sp>
        <p:nvSpPr>
          <p:cNvPr id="10010" name="frame-184">
            <a:extLst>
              <a:ext uri="{FF2B5EF4-FFF2-40B4-BE49-F238E27FC236}">
                <a16:creationId xmlns:a16="http://schemas.microsoft.com/office/drawing/2014/main" id="{8BF01ABA-7D9F-444B-8FCA-520136D05F47}"/>
              </a:ext>
            </a:extLst>
          </p:cNvPr>
          <p:cNvSpPr>
            <a:spLocks noGrp="1"/>
          </p:cNvSpPr>
          <p:nvPr/>
        </p:nvSpPr>
        <p:spPr>
          <a:xfrm>
            <a:off x="476250" y="25146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11" name="frame-185">
            <a:extLst>
              <a:ext uri="{FF2B5EF4-FFF2-40B4-BE49-F238E27FC236}">
                <a16:creationId xmlns:a16="http://schemas.microsoft.com/office/drawing/2014/main" id="{3511A877-E0C4-4581-8217-F385F0E848C0}"/>
              </a:ext>
            </a:extLst>
          </p:cNvPr>
          <p:cNvSpPr>
            <a:spLocks noGrp="1"/>
          </p:cNvSpPr>
          <p:nvPr/>
        </p:nvSpPr>
        <p:spPr>
          <a:xfrm>
            <a:off x="495300" y="2581275"/>
            <a:ext cx="187642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图与模型</a:t>
            </a:r>
          </a:p>
        </p:txBody>
      </p:sp>
      <p:sp>
        <p:nvSpPr>
          <p:cNvPr id="10012" name="frame-186">
            <a:extLst>
              <a:ext uri="{FF2B5EF4-FFF2-40B4-BE49-F238E27FC236}">
                <a16:creationId xmlns:a16="http://schemas.microsoft.com/office/drawing/2014/main" id="{E319D901-D987-4797-89FA-36E511CF77A2}"/>
              </a:ext>
            </a:extLst>
          </p:cNvPr>
          <p:cNvSpPr>
            <a:spLocks noGrp="1"/>
          </p:cNvSpPr>
          <p:nvPr/>
        </p:nvSpPr>
        <p:spPr>
          <a:xfrm>
            <a:off x="2476500" y="2581275"/>
            <a:ext cx="6143625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图表达模型的某个视角。</a:t>
            </a:r>
          </a:p>
          <a:p>
            <a:pPr algn="l">
              <a:def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类图看结构，顺序图看交互，活动图看流程。</a:t>
            </a:r>
          </a:p>
        </p:txBody>
      </p:sp>
      <p:sp>
        <p:nvSpPr>
          <p:cNvPr id="10013" name="frame-187">
            <a:extLst>
              <a:ext uri="{FF2B5EF4-FFF2-40B4-BE49-F238E27FC236}">
                <a16:creationId xmlns:a16="http://schemas.microsoft.com/office/drawing/2014/main" id="{B99F1B3F-5D73-4282-82BE-EDB02F64DD47}"/>
              </a:ext>
            </a:extLst>
          </p:cNvPr>
          <p:cNvSpPr>
            <a:spLocks noGrp="1"/>
          </p:cNvSpPr>
          <p:nvPr/>
        </p:nvSpPr>
        <p:spPr>
          <a:xfrm>
            <a:off x="476250" y="3238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14" name="frame-188">
            <a:extLst>
              <a:ext uri="{FF2B5EF4-FFF2-40B4-BE49-F238E27FC236}">
                <a16:creationId xmlns:a16="http://schemas.microsoft.com/office/drawing/2014/main" id="{B426B2BD-AFE2-41AB-BC2E-A070493A2F27}"/>
              </a:ext>
            </a:extLst>
          </p:cNvPr>
          <p:cNvSpPr>
            <a:spLocks noGrp="1"/>
          </p:cNvSpPr>
          <p:nvPr/>
        </p:nvSpPr>
        <p:spPr>
          <a:xfrm>
            <a:off x="495300" y="3305175"/>
            <a:ext cx="1876425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本节承接</a:t>
            </a:r>
          </a:p>
        </p:txBody>
      </p:sp>
      <p:sp>
        <p:nvSpPr>
          <p:cNvPr id="10015" name="frame-189">
            <a:extLst>
              <a:ext uri="{FF2B5EF4-FFF2-40B4-BE49-F238E27FC236}">
                <a16:creationId xmlns:a16="http://schemas.microsoft.com/office/drawing/2014/main" id="{1A85AB0F-6DC7-4B96-B6B5-A5575A504E68}"/>
              </a:ext>
            </a:extLst>
          </p:cNvPr>
          <p:cNvSpPr>
            <a:spLocks noGrp="1"/>
          </p:cNvSpPr>
          <p:nvPr/>
        </p:nvSpPr>
        <p:spPr>
          <a:xfrm>
            <a:off x="2476500" y="3305175"/>
            <a:ext cx="6143625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用例图关注参与者的目标与系统范围。</a:t>
            </a:r>
          </a:p>
          <a:p>
            <a:pPr algn="l">
              <a:def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613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继续追问：谁使用系统，系统为他提供什么服务？</a:t>
            </a:r>
          </a:p>
        </p:txBody>
      </p:sp>
      <p:sp>
        <p:nvSpPr>
          <p:cNvPr id="10016" name="frame-190">
            <a:extLst>
              <a:ext uri="{FF2B5EF4-FFF2-40B4-BE49-F238E27FC236}">
                <a16:creationId xmlns:a16="http://schemas.microsoft.com/office/drawing/2014/main" id="{4E418319-01EF-4533-A30E-4773B26E13DF}"/>
              </a:ext>
            </a:extLst>
          </p:cNvPr>
          <p:cNvSpPr>
            <a:spLocks noGrp="1"/>
          </p:cNvSpPr>
          <p:nvPr/>
        </p:nvSpPr>
        <p:spPr>
          <a:xfrm>
            <a:off x="495300" y="4257675"/>
            <a:ext cx="81438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一起回顾：一张“借阅图书”用例图，能否说明所有借阅规则？</a:t>
            </a:r>
          </a:p>
        </p:txBody>
      </p:sp>
      <p:pic>
        <p:nvPicPr>
          <p:cNvPr id="10017" name="Picture 100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38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00D5AD-F14D-3E06-E034-F61B30B05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9405D4D-C846-92CF-49AD-2DB595AE2FC6}"/>
              </a:ext>
            </a:extLst>
          </p:cNvPr>
          <p:cNvSpPr>
            <a:spLocks noGrp="1"/>
          </p:cNvSpPr>
          <p:nvPr/>
        </p:nvSpPr>
        <p:spPr>
          <a:xfrm>
            <a:off x="575088" y="1076325"/>
            <a:ext cx="7993823" cy="3524250"/>
          </a:xfrm>
        </p:spPr>
        <p:txBody>
          <a:bodyPr lIns="69512" tIns="34756" rIns="69512" bIns="34756">
            <a:noAutofit/>
          </a:bodyPr>
          <a:lstStyle/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的概念结构</a:t>
            </a:r>
            <a:r>
              <a:rPr lang="en-US" altLang="zh-CN" sz="1969" kern="1200" baseline="300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[1]</a:t>
            </a: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构造块、规则和公共机制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9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9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的用例图</a:t>
            </a:r>
            <a:r>
              <a:rPr lang="en-US" altLang="zh-CN" sz="1969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*</a:t>
            </a: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用例图基础</a:t>
            </a:r>
            <a:r>
              <a:rPr lang="en-US" altLang="zh-CN" sz="168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:</a:t>
            </a:r>
            <a:r>
              <a:rPr lang="zh-CN" altLang="en-US" sz="168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用例图概要、用例、参与者</a:t>
            </a:r>
            <a:endParaRPr lang="en-US" altLang="zh-CN" sz="168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业务用例图、概念用例图、系统用例图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的类图</a:t>
            </a:r>
            <a:r>
              <a:rPr lang="en-US" altLang="zh-CN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*</a:t>
            </a: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类图基础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概念层类图、说明层类图、实现层类图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的其它图</a:t>
            </a:r>
            <a:endParaRPr lang="en-US" altLang="zh-CN" sz="1969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包图、活动图、顺序图、状态图、协作图、部署图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68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68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96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96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96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7B8FC020-8BEC-A456-77F8-E116A6E8233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8660" y="3131463"/>
            <a:ext cx="1210251" cy="1141030"/>
          </a:xfrm>
          <a:prstGeom prst="rect">
            <a:avLst/>
          </a:prstGeom>
        </p:spPr>
      </p:pic>
      <p:sp>
        <p:nvSpPr>
          <p:cNvPr id="10000" name="frame-14">
            <a:extLst>
              <a:ext uri="{FF2B5EF4-FFF2-40B4-BE49-F238E27FC236}">
                <a16:creationId xmlns:a16="http://schemas.microsoft.com/office/drawing/2014/main" id="{2629F9A9-E2CA-418D-86B9-3D5DAFE851B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课程大纲</a:t>
            </a:r>
          </a:p>
        </p:txBody>
      </p:sp>
      <p:sp>
        <p:nvSpPr>
          <p:cNvPr id="10001" name="frame-15">
            <a:extLst>
              <a:ext uri="{FF2B5EF4-FFF2-40B4-BE49-F238E27FC236}">
                <a16:creationId xmlns:a16="http://schemas.microsoft.com/office/drawing/2014/main" id="{17B734A9-8838-47FC-838B-77BAFFFB74B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6">
            <a:extLst>
              <a:ext uri="{FF2B5EF4-FFF2-40B4-BE49-F238E27FC236}">
                <a16:creationId xmlns:a16="http://schemas.microsoft.com/office/drawing/2014/main" id="{78DCD800-898E-4CBB-B561-1A301EA1226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7">
            <a:extLst>
              <a:ext uri="{FF2B5EF4-FFF2-40B4-BE49-F238E27FC236}">
                <a16:creationId xmlns:a16="http://schemas.microsoft.com/office/drawing/2014/main" id="{19BE23E9-47A2-4CFB-93AC-1A4E337517F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8">
            <a:extLst>
              <a:ext uri="{FF2B5EF4-FFF2-40B4-BE49-F238E27FC236}">
                <a16:creationId xmlns:a16="http://schemas.microsoft.com/office/drawing/2014/main" id="{2C9537A6-C542-472E-9B0A-F8E4A52BBE8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03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638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9B4190-21E2-BC89-5262-AE6E914B8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">
            <a:extLst>
              <a:ext uri="{FF2B5EF4-FFF2-40B4-BE49-F238E27FC236}">
                <a16:creationId xmlns:a16="http://schemas.microsoft.com/office/drawing/2014/main" id="{81E428C6-171B-9CE8-8DC9-BE10A8586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476" y="2583280"/>
            <a:ext cx="3355202" cy="20172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34DEA10-7114-D238-9C49-4B4EDCC5D7C6}"/>
              </a:ext>
            </a:extLst>
          </p:cNvPr>
          <p:cNvSpPr>
            <a:spLocks noGrp="1"/>
          </p:cNvSpPr>
          <p:nvPr/>
        </p:nvSpPr>
        <p:spPr>
          <a:xfrm>
            <a:off x="602838" y="1076325"/>
            <a:ext cx="7938324" cy="1865476"/>
          </a:xfrm>
        </p:spPr>
        <p:txBody>
          <a:bodyPr lIns="69029" tIns="34514" rIns="69029" bIns="34514">
            <a:noAutofit/>
          </a:bodyPr>
          <a:lstStyle/>
          <a:p>
            <a:pPr marL="172572" indent="-172572" algn="l" defTabSz="690289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11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1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用例图展现了一组</a:t>
            </a:r>
            <a:r>
              <a:rPr lang="zh-CN" altLang="en-US" sz="2114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用例</a:t>
            </a:r>
            <a:r>
              <a:rPr lang="zh-CN" altLang="en-US" sz="211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lang="zh-CN" altLang="en-US" sz="2114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参与者</a:t>
            </a:r>
            <a:r>
              <a:rPr lang="zh-CN" altLang="en-US" sz="211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以及它们之间的</a:t>
            </a:r>
            <a:r>
              <a:rPr lang="zh-CN" altLang="en-US" sz="2114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关系</a:t>
            </a:r>
            <a:endParaRPr lang="en-US" altLang="zh-CN" sz="2114" kern="1200" dirty="0">
              <a:solidFill>
                <a:schemeClr val="tx2">
                  <a:lumMod val="75000"/>
                  <a:lumOff val="2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733432" lvl="1" indent="-388288" algn="l" defTabSz="690289" rtl="0" eaLnBrk="1" latinLnBrk="0" hangingPunct="1">
              <a:lnSpc>
                <a:spcPct val="130000"/>
              </a:lnSpc>
              <a:spcBef>
                <a:spcPts val="0"/>
              </a:spcBef>
              <a:buChar char="•"/>
              <a:defRPr sz="181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81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System: </a:t>
            </a:r>
            <a:r>
              <a:rPr lang="zh-CN" altLang="en-US" sz="181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这个系统是什么？</a:t>
            </a:r>
            <a:endParaRPr lang="en-US" altLang="zh-CN" sz="1812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733432" lvl="1" indent="-388288" algn="l" defTabSz="690289" rtl="0" eaLnBrk="1" latinLnBrk="0" hangingPunct="1">
              <a:lnSpc>
                <a:spcPct val="130000"/>
              </a:lnSpc>
              <a:spcBef>
                <a:spcPts val="0"/>
              </a:spcBef>
              <a:buChar char="•"/>
              <a:defRPr sz="181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81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Actor: </a:t>
            </a:r>
            <a:r>
              <a:rPr lang="zh-CN" altLang="en-US" sz="181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谁使用这个系统？</a:t>
            </a:r>
            <a:endParaRPr lang="en-US" altLang="zh-CN" sz="1812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733432" lvl="1" indent="-388288" algn="l" defTabSz="690289" rtl="0" eaLnBrk="1" latinLnBrk="0" hangingPunct="1">
              <a:lnSpc>
                <a:spcPct val="130000"/>
              </a:lnSpc>
              <a:spcBef>
                <a:spcPts val="0"/>
              </a:spcBef>
              <a:buChar char="•"/>
              <a:defRPr sz="181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81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Use cases: </a:t>
            </a:r>
            <a:r>
              <a:rPr lang="zh-CN" altLang="en-US" sz="1812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系统使用者能做什么？</a:t>
            </a:r>
            <a:endParaRPr lang="en-US" altLang="de-DE" sz="1812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2572" indent="-172572" algn="l" defTabSz="690289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11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211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对话气泡: 椭圆形 26">
            <a:extLst>
              <a:ext uri="{FF2B5EF4-FFF2-40B4-BE49-F238E27FC236}">
                <a16:creationId xmlns:a16="http://schemas.microsoft.com/office/drawing/2014/main" id="{B158FC5E-9057-B855-5C8E-21994AE11F80}"/>
              </a:ext>
            </a:extLst>
          </p:cNvPr>
          <p:cNvSpPr/>
          <p:nvPr/>
        </p:nvSpPr>
        <p:spPr>
          <a:xfrm>
            <a:off x="3779012" y="2861805"/>
            <a:ext cx="881347" cy="475349"/>
          </a:xfrm>
          <a:prstGeom prst="wedgeEllipseCallout">
            <a:avLst>
              <a:gd name="adj1" fmla="val 151525"/>
              <a:gd name="adj2" fmla="val 793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029" tIns="34514" rIns="69029" bIns="34514" rtlCol="0" anchor="ctr">
            <a:noAutofit/>
          </a:bodyPr>
          <a:lstStyle/>
          <a:p>
            <a:pPr marL="0" algn="ctr" defTabSz="690289" rtl="0" eaLnBrk="1" latinLnBrk="0" hangingPunct="1">
              <a:defRPr sz="135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</a:t>
            </a:r>
          </a:p>
        </p:txBody>
      </p:sp>
      <p:sp>
        <p:nvSpPr>
          <p:cNvPr id="8" name="对话气泡: 椭圆形 7">
            <a:extLst>
              <a:ext uri="{FF2B5EF4-FFF2-40B4-BE49-F238E27FC236}">
                <a16:creationId xmlns:a16="http://schemas.microsoft.com/office/drawing/2014/main" id="{656A505C-DF2E-3BB6-4D69-CF2ED44DD717}"/>
              </a:ext>
            </a:extLst>
          </p:cNvPr>
          <p:cNvSpPr/>
          <p:nvPr/>
        </p:nvSpPr>
        <p:spPr>
          <a:xfrm>
            <a:off x="7450791" y="2428022"/>
            <a:ext cx="990707" cy="475349"/>
          </a:xfrm>
          <a:prstGeom prst="wedgeEllipseCallout">
            <a:avLst>
              <a:gd name="adj1" fmla="val -18167"/>
              <a:gd name="adj2" fmla="val 134386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029" tIns="34514" rIns="69029" bIns="34514" rtlCol="0" anchor="ctr">
            <a:noAutofit/>
          </a:bodyPr>
          <a:lstStyle/>
          <a:p>
            <a:pPr marL="0" algn="ctr" defTabSz="690289" rtl="0" eaLnBrk="1" latinLnBrk="0" hangingPunct="1">
              <a:defRPr sz="135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</a:t>
            </a:r>
          </a:p>
        </p:txBody>
      </p:sp>
      <p:sp>
        <p:nvSpPr>
          <p:cNvPr id="9" name="对话气泡: 椭圆形 8">
            <a:extLst>
              <a:ext uri="{FF2B5EF4-FFF2-40B4-BE49-F238E27FC236}">
                <a16:creationId xmlns:a16="http://schemas.microsoft.com/office/drawing/2014/main" id="{EB0DE73A-9F99-A447-46D5-32CDBC09DF4B}"/>
              </a:ext>
            </a:extLst>
          </p:cNvPr>
          <p:cNvSpPr/>
          <p:nvPr/>
        </p:nvSpPr>
        <p:spPr>
          <a:xfrm>
            <a:off x="7259475" y="4102037"/>
            <a:ext cx="990707" cy="475349"/>
          </a:xfrm>
          <a:prstGeom prst="wedgeEllipseCallout">
            <a:avLst>
              <a:gd name="adj1" fmla="val -56920"/>
              <a:gd name="adj2" fmla="val -104652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9029" tIns="34514" rIns="69029" bIns="34514" rtlCol="0" anchor="ctr">
            <a:noAutofit/>
          </a:bodyPr>
          <a:lstStyle/>
          <a:p>
            <a:pPr marL="0" algn="ctr" defTabSz="690289" rtl="0" eaLnBrk="1" latinLnBrk="0" hangingPunct="1">
              <a:defRPr sz="135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关系</a:t>
            </a:r>
          </a:p>
        </p:txBody>
      </p:sp>
      <p:sp>
        <p:nvSpPr>
          <p:cNvPr id="10000" name="frame-19">
            <a:extLst>
              <a:ext uri="{FF2B5EF4-FFF2-40B4-BE49-F238E27FC236}">
                <a16:creationId xmlns:a16="http://schemas.microsoft.com/office/drawing/2014/main" id="{38FA8E74-97C9-4DD3-B7A9-A811B498E73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用例图概要</a:t>
            </a:r>
          </a:p>
        </p:txBody>
      </p:sp>
      <p:sp>
        <p:nvSpPr>
          <p:cNvPr id="10001" name="frame-20">
            <a:extLst>
              <a:ext uri="{FF2B5EF4-FFF2-40B4-BE49-F238E27FC236}">
                <a16:creationId xmlns:a16="http://schemas.microsoft.com/office/drawing/2014/main" id="{5CCEE3E8-ECC0-4B9B-B931-62C7FA29D87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1">
            <a:extLst>
              <a:ext uri="{FF2B5EF4-FFF2-40B4-BE49-F238E27FC236}">
                <a16:creationId xmlns:a16="http://schemas.microsoft.com/office/drawing/2014/main" id="{B0DDD8A5-70E5-4C11-B711-8B8EB31FA08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2">
            <a:extLst>
              <a:ext uri="{FF2B5EF4-FFF2-40B4-BE49-F238E27FC236}">
                <a16:creationId xmlns:a16="http://schemas.microsoft.com/office/drawing/2014/main" id="{8BB54C0D-7D87-4B18-BCB1-B918FC35D40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23">
            <a:extLst>
              <a:ext uri="{FF2B5EF4-FFF2-40B4-BE49-F238E27FC236}">
                <a16:creationId xmlns:a16="http://schemas.microsoft.com/office/drawing/2014/main" id="{41EA97E2-75AA-4EF4-BA4E-4EB768237E8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04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6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6F92F-E86A-BA1E-9456-9B266C9C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E81EC98-D735-3CE4-DBFA-2C0BB54650F9}"/>
              </a:ext>
            </a:extLst>
          </p:cNvPr>
          <p:cNvSpPr>
            <a:spLocks noGrp="1"/>
          </p:cNvSpPr>
          <p:nvPr/>
        </p:nvSpPr>
        <p:spPr>
          <a:xfrm>
            <a:off x="476250" y="1121703"/>
            <a:ext cx="3684270" cy="3417558"/>
          </a:xfrm>
        </p:spPr>
        <p:txBody>
          <a:bodyPr lIns="65691" tIns="32846" rIns="65691" bIns="32846">
            <a:noAutofit/>
          </a:bodyPr>
          <a:lstStyle/>
          <a:p>
            <a:pPr marL="164228" indent="-164228" algn="l" defTabSz="656912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53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包含：一个用例</a:t>
            </a:r>
            <a:r>
              <a:rPr lang="en-US" altLang="zh-CN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被包含用例</a:t>
            </a:r>
            <a:r>
              <a:rPr lang="en-US" altLang="zh-CN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的行为会整合到另一个用例</a:t>
            </a:r>
            <a:r>
              <a:rPr lang="en-US" altLang="zh-CN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基础用例</a:t>
            </a:r>
            <a:r>
              <a:rPr lang="en-US" altLang="zh-CN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的行为中</a:t>
            </a:r>
            <a:endParaRPr lang="en-US" altLang="zh-CN" sz="131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92684" lvl="1" indent="-164228" algn="l" defTabSz="656912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31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基础用例缺少被包含用例，用例的流程不完整</a:t>
            </a:r>
            <a:endParaRPr lang="en-US" altLang="zh-CN" sz="131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4228" indent="-164228" algn="l" defTabSz="656912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53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扩展：一个用例</a:t>
            </a:r>
            <a:r>
              <a:rPr lang="en-US" altLang="zh-CN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扩展用例</a:t>
            </a:r>
            <a:r>
              <a:rPr lang="en-US" altLang="zh-CN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的行为</a:t>
            </a:r>
            <a:r>
              <a:rPr lang="zh-CN" altLang="en-US" sz="1319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可能</a:t>
            </a: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会整合到另一个用例</a:t>
            </a:r>
            <a:r>
              <a:rPr lang="en-US" altLang="zh-CN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基础用例</a:t>
            </a:r>
            <a:r>
              <a:rPr lang="en-US" altLang="zh-CN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的行为中，但不一定必须如此</a:t>
            </a:r>
            <a:endParaRPr lang="en-US" altLang="zh-CN" sz="131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92684" lvl="1" indent="-164228" algn="l" defTabSz="656912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31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基础用例缺少扩展用例，用例的流程依旧完整</a:t>
            </a:r>
            <a:endParaRPr lang="en-US" altLang="zh-CN" sz="131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92684" lvl="1" indent="-164228" algn="l" defTabSz="656912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31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如有多个扩展用例，则一个时间仅有一个扩展用例有效</a:t>
            </a:r>
            <a:endParaRPr lang="en-US" altLang="zh-CN" sz="131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4228" indent="-164228" algn="l" defTabSz="656912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53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泛化：一个用例继承了另一个用例所有的操作</a:t>
            </a:r>
            <a:endParaRPr lang="en-US" altLang="zh-CN" sz="131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4228" indent="-164228" algn="l" defTabSz="656912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53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09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0EADA86-326F-BE3B-46ED-AEB49D8C9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193" y="1076325"/>
            <a:ext cx="4469558" cy="2733675"/>
          </a:xfrm>
          <a:prstGeom prst="rect">
            <a:avLst/>
          </a:prstGeom>
        </p:spPr>
      </p:pic>
      <p:sp>
        <p:nvSpPr>
          <p:cNvPr id="10000" name="frame-24">
            <a:extLst>
              <a:ext uri="{FF2B5EF4-FFF2-40B4-BE49-F238E27FC236}">
                <a16:creationId xmlns:a16="http://schemas.microsoft.com/office/drawing/2014/main" id="{037DF8F8-60D1-44BB-B08B-39F7892C254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用例图概要：用例之间的关系</a:t>
            </a:r>
          </a:p>
        </p:txBody>
      </p:sp>
      <p:sp>
        <p:nvSpPr>
          <p:cNvPr id="10001" name="frame-25">
            <a:extLst>
              <a:ext uri="{FF2B5EF4-FFF2-40B4-BE49-F238E27FC236}">
                <a16:creationId xmlns:a16="http://schemas.microsoft.com/office/drawing/2014/main" id="{5EA8CD52-2DE1-418F-8758-23411FB1879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26">
            <a:extLst>
              <a:ext uri="{FF2B5EF4-FFF2-40B4-BE49-F238E27FC236}">
                <a16:creationId xmlns:a16="http://schemas.microsoft.com/office/drawing/2014/main" id="{160C9C59-1AEB-4A0B-8BEC-64CB31202C1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27">
            <a:extLst>
              <a:ext uri="{FF2B5EF4-FFF2-40B4-BE49-F238E27FC236}">
                <a16:creationId xmlns:a16="http://schemas.microsoft.com/office/drawing/2014/main" id="{1890A868-1D4E-4F36-B1CA-FBD270A7A6C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28">
            <a:extLst>
              <a:ext uri="{FF2B5EF4-FFF2-40B4-BE49-F238E27FC236}">
                <a16:creationId xmlns:a16="http://schemas.microsoft.com/office/drawing/2014/main" id="{F4444D4C-1D67-46BB-B75E-DFE337C8D98F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05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7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592F0-8A23-DEF8-606C-F3C18DA71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581BCD54-9899-0B22-B82F-0ACA87D4C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83" y="2635626"/>
            <a:ext cx="2352404" cy="196494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DD4DDBC-EFAF-1503-D2E8-7F146F23F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88" y="1076325"/>
            <a:ext cx="4342230" cy="140483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1B1790B-124C-2BCC-895F-8CC61641C647}"/>
              </a:ext>
            </a:extLst>
          </p:cNvPr>
          <p:cNvSpPr txBox="1"/>
          <p:nvPr/>
        </p:nvSpPr>
        <p:spPr>
          <a:xfrm>
            <a:off x="4210665" y="3261742"/>
            <a:ext cx="563803" cy="603625"/>
          </a:xfrm>
          <a:prstGeom prst="rect">
            <a:avLst/>
          </a:prstGeom>
          <a:noFill/>
        </p:spPr>
        <p:txBody>
          <a:bodyPr wrap="none" lIns="66421" tIns="33210" rIns="66421" bIns="33210" rtlCol="0">
            <a:noAutofit/>
          </a:bodyPr>
          <a:lstStyle/>
          <a:p>
            <a:pPr marL="0" algn="l" defTabSz="664208" rtl="0" eaLnBrk="1" latinLnBrk="0" hangingPunct="1">
              <a:defRPr sz="130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3487" b="1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=?</a:t>
            </a:r>
            <a:endParaRPr lang="zh-CN" altLang="en-US" sz="3487" b="1" kern="1200" dirty="0">
              <a:solidFill>
                <a:srgbClr val="A41F3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6" name="爆炸形: 8 pt  15">
            <a:extLst>
              <a:ext uri="{FF2B5EF4-FFF2-40B4-BE49-F238E27FC236}">
                <a16:creationId xmlns:a16="http://schemas.microsoft.com/office/drawing/2014/main" id="{BF2896E7-6D02-AA4F-81AE-6C05222D5B56}"/>
              </a:ext>
            </a:extLst>
          </p:cNvPr>
          <p:cNvSpPr/>
          <p:nvPr/>
        </p:nvSpPr>
        <p:spPr>
          <a:xfrm>
            <a:off x="4991794" y="1694508"/>
            <a:ext cx="3638219" cy="2026209"/>
          </a:xfrm>
          <a:prstGeom prst="irregularSeal1">
            <a:avLst/>
          </a:prstGeom>
          <a:noFill/>
          <a:ln w="276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421" tIns="33210" rIns="66421" bIns="33210" rtlCol="0" anchor="ctr">
            <a:noAutofit/>
          </a:bodyPr>
          <a:lstStyle/>
          <a:p>
            <a:pPr marL="0" algn="ctr" defTabSz="664208" rtl="0" eaLnBrk="1" latinLnBrk="0" hangingPunct="1">
              <a:defRPr sz="130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0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不一样。鉴权的操作界面不同，下面的系统鉴权由</a:t>
            </a:r>
            <a:r>
              <a:rPr lang="en-US" altLang="zh-CN" sz="130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actor</a:t>
            </a:r>
            <a:r>
              <a:rPr lang="zh-CN" altLang="en-US" sz="130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触发，上面的系统鉴权由系统自动触发</a:t>
            </a:r>
          </a:p>
        </p:txBody>
      </p:sp>
      <p:sp>
        <p:nvSpPr>
          <p:cNvPr id="10000" name="frame-29">
            <a:extLst>
              <a:ext uri="{FF2B5EF4-FFF2-40B4-BE49-F238E27FC236}">
                <a16:creationId xmlns:a16="http://schemas.microsoft.com/office/drawing/2014/main" id="{A2F37004-66A9-48DF-956E-3C536A174F9A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用例图概要：用例之间的关系</a:t>
            </a:r>
          </a:p>
        </p:txBody>
      </p:sp>
      <p:sp>
        <p:nvSpPr>
          <p:cNvPr id="10001" name="frame-30">
            <a:extLst>
              <a:ext uri="{FF2B5EF4-FFF2-40B4-BE49-F238E27FC236}">
                <a16:creationId xmlns:a16="http://schemas.microsoft.com/office/drawing/2014/main" id="{877CAF55-E460-48A0-82FE-25F8841D6C6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31">
            <a:extLst>
              <a:ext uri="{FF2B5EF4-FFF2-40B4-BE49-F238E27FC236}">
                <a16:creationId xmlns:a16="http://schemas.microsoft.com/office/drawing/2014/main" id="{C241AC76-D810-450F-A801-59F1A846015D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32">
            <a:extLst>
              <a:ext uri="{FF2B5EF4-FFF2-40B4-BE49-F238E27FC236}">
                <a16:creationId xmlns:a16="http://schemas.microsoft.com/office/drawing/2014/main" id="{160C414B-6840-4041-BD53-FD16D33F7B4F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33">
            <a:extLst>
              <a:ext uri="{FF2B5EF4-FFF2-40B4-BE49-F238E27FC236}">
                <a16:creationId xmlns:a16="http://schemas.microsoft.com/office/drawing/2014/main" id="{59FB9B7B-FD50-441F-BF75-24800FCCE15F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06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09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541F12-19B2-DC9D-A839-76EA13365528}"/>
              </a:ext>
            </a:extLst>
          </p:cNvPr>
          <p:cNvSpPr>
            <a:spLocks noGrp="1"/>
          </p:cNvSpPr>
          <p:nvPr/>
        </p:nvSpPr>
        <p:spPr>
          <a:xfrm>
            <a:off x="804394" y="1079886"/>
            <a:ext cx="7571584" cy="3338097"/>
          </a:xfrm>
        </p:spPr>
        <p:txBody>
          <a:bodyPr lIns="65840" tIns="32920" rIns="65840" bIns="32920">
            <a:noAutofit/>
          </a:bodyPr>
          <a:lstStyle/>
          <a:p>
            <a:pPr marL="164600" indent="-164600" algn="l" defTabSz="658399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0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系统边界界定了收集需求的范围</a:t>
            </a:r>
            <a:endParaRPr lang="en-US" altLang="zh-CN" sz="172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4600" indent="-164600" algn="l" defTabSz="658399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0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边界代表了系统内外之间需要有交互</a:t>
            </a:r>
            <a:endParaRPr lang="en-US" altLang="zh-CN" sz="172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4600" indent="-164600" algn="l" defTabSz="658399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0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边界将演化成是系统的操作界面</a:t>
            </a:r>
            <a:endParaRPr lang="en-US" altLang="zh-CN" sz="172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93799" lvl="1" indent="-164600" algn="l" defTabSz="658399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72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44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A67442-8525-DBA7-5173-89C60B23E3C6}"/>
              </a:ext>
            </a:extLst>
          </p:cNvPr>
          <p:cNvSpPr/>
          <p:nvPr/>
        </p:nvSpPr>
        <p:spPr>
          <a:xfrm>
            <a:off x="6622099" y="1076325"/>
            <a:ext cx="1472150" cy="1242819"/>
          </a:xfrm>
          <a:prstGeom prst="rect">
            <a:avLst/>
          </a:prstGeom>
          <a:noFill/>
          <a:ln w="36578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840" tIns="32920" rIns="65840" bIns="32920" rtlCol="0" anchor="ctr">
            <a:noAutofit/>
          </a:bodyPr>
          <a:lstStyle/>
          <a:p>
            <a:pPr marL="0" algn="ctr" defTabSz="658399" rtl="0" eaLnBrk="1" latinLnBrk="0" hangingPunct="1">
              <a:defRPr sz="129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296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E19B032-1F17-7070-47BC-6DBFE20B5764}"/>
              </a:ext>
            </a:extLst>
          </p:cNvPr>
          <p:cNvSpPr txBox="1"/>
          <p:nvPr/>
        </p:nvSpPr>
        <p:spPr>
          <a:xfrm>
            <a:off x="7117745" y="1568273"/>
            <a:ext cx="684291" cy="332414"/>
          </a:xfrm>
          <a:prstGeom prst="rect">
            <a:avLst/>
          </a:prstGeom>
          <a:noFill/>
        </p:spPr>
        <p:txBody>
          <a:bodyPr wrap="square" lIns="65840" tIns="32920" rIns="65840" bIns="32920" rtlCol="0">
            <a:noAutofit/>
          </a:bodyPr>
          <a:lstStyle/>
          <a:p>
            <a:pPr marL="0" algn="l" defTabSz="658399" rtl="0" eaLnBrk="1" latinLnBrk="0" hangingPunct="1">
              <a:defRPr sz="129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边界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CE9C68-B616-E769-6C2C-818894F27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148" y="2652812"/>
            <a:ext cx="2331828" cy="1947763"/>
          </a:xfrm>
          <a:prstGeom prst="rect">
            <a:avLst/>
          </a:prstGeom>
        </p:spPr>
      </p:pic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6CFE885-891A-378B-84F3-3D25931DA23F}"/>
              </a:ext>
            </a:extLst>
          </p:cNvPr>
          <p:cNvCxnSpPr>
            <a:cxnSpLocks/>
          </p:cNvCxnSpPr>
          <p:nvPr/>
        </p:nvCxnSpPr>
        <p:spPr>
          <a:xfrm>
            <a:off x="6599904" y="2685332"/>
            <a:ext cx="0" cy="1849434"/>
          </a:xfrm>
          <a:prstGeom prst="line">
            <a:avLst/>
          </a:prstGeom>
          <a:ln w="45722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8842A2DD-606A-5C9F-7E51-9584769F33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22" y="2834521"/>
            <a:ext cx="4304251" cy="1392552"/>
          </a:xfrm>
          <a:prstGeom prst="rect">
            <a:avLst/>
          </a:prstGeom>
        </p:spPr>
      </p:pic>
      <p:sp>
        <p:nvSpPr>
          <p:cNvPr id="14" name="椭圆 13">
            <a:extLst>
              <a:ext uri="{FF2B5EF4-FFF2-40B4-BE49-F238E27FC236}">
                <a16:creationId xmlns:a16="http://schemas.microsoft.com/office/drawing/2014/main" id="{E0CCD6C1-C9C7-8C71-C24E-E92AC98572A0}"/>
              </a:ext>
            </a:extLst>
          </p:cNvPr>
          <p:cNvSpPr/>
          <p:nvPr/>
        </p:nvSpPr>
        <p:spPr>
          <a:xfrm>
            <a:off x="2727189" y="3229065"/>
            <a:ext cx="336597" cy="773064"/>
          </a:xfrm>
          <a:prstGeom prst="ellipse">
            <a:avLst/>
          </a:prstGeom>
          <a:noFill/>
          <a:ln w="27433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840" tIns="32920" rIns="65840" bIns="32920" rtlCol="0" anchor="ctr">
            <a:noAutofit/>
          </a:bodyPr>
          <a:lstStyle/>
          <a:p>
            <a:pPr marL="0" algn="ctr" defTabSz="658399" rtl="0" eaLnBrk="1" latinLnBrk="0" hangingPunct="1">
              <a:defRPr sz="129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296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65FE4A0-8D99-4763-A421-D10A967F4318}"/>
              </a:ext>
            </a:extLst>
          </p:cNvPr>
          <p:cNvSpPr txBox="1"/>
          <p:nvPr/>
        </p:nvSpPr>
        <p:spPr>
          <a:xfrm>
            <a:off x="3041593" y="3794992"/>
            <a:ext cx="964001" cy="265931"/>
          </a:xfrm>
          <a:prstGeom prst="rect">
            <a:avLst/>
          </a:prstGeom>
          <a:noFill/>
        </p:spPr>
        <p:txBody>
          <a:bodyPr wrap="none" lIns="65840" tIns="32920" rIns="65840" bIns="32920" rtlCol="0">
            <a:noAutofit/>
          </a:bodyPr>
          <a:lstStyle/>
          <a:p>
            <a:pPr marL="0" algn="l" defTabSz="658399" rtl="0" eaLnBrk="1" latinLnBrk="0" hangingPunct="1">
              <a:defRPr sz="129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9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系统内触发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02402B5-0F43-87EC-F2DB-5565DB8F18D3}"/>
              </a:ext>
            </a:extLst>
          </p:cNvPr>
          <p:cNvSpPr txBox="1"/>
          <p:nvPr/>
        </p:nvSpPr>
        <p:spPr>
          <a:xfrm>
            <a:off x="5259680" y="4108164"/>
            <a:ext cx="1347622" cy="465380"/>
          </a:xfrm>
          <a:prstGeom prst="rect">
            <a:avLst/>
          </a:prstGeom>
          <a:noFill/>
        </p:spPr>
        <p:txBody>
          <a:bodyPr wrap="square" lIns="65840" tIns="32920" rIns="65840" bIns="32920" rtlCol="0">
            <a:noAutofit/>
          </a:bodyPr>
          <a:lstStyle/>
          <a:p>
            <a:pPr marL="0" algn="l" defTabSz="658399" rtl="0" eaLnBrk="1" latinLnBrk="0" hangingPunct="1">
              <a:defRPr sz="129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9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系统边界上通过参与者操作触发</a:t>
            </a:r>
          </a:p>
        </p:txBody>
      </p:sp>
      <p:sp>
        <p:nvSpPr>
          <p:cNvPr id="10000" name="frame-34">
            <a:extLst>
              <a:ext uri="{FF2B5EF4-FFF2-40B4-BE49-F238E27FC236}">
                <a16:creationId xmlns:a16="http://schemas.microsoft.com/office/drawing/2014/main" id="{ADBD9D0A-A85D-4290-9392-0E1C848FEA1D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用例图概要：系统边界</a:t>
            </a:r>
          </a:p>
        </p:txBody>
      </p:sp>
      <p:sp>
        <p:nvSpPr>
          <p:cNvPr id="10001" name="frame-35">
            <a:extLst>
              <a:ext uri="{FF2B5EF4-FFF2-40B4-BE49-F238E27FC236}">
                <a16:creationId xmlns:a16="http://schemas.microsoft.com/office/drawing/2014/main" id="{08FFE92B-C274-492F-8F2D-DCA89F5F878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36">
            <a:extLst>
              <a:ext uri="{FF2B5EF4-FFF2-40B4-BE49-F238E27FC236}">
                <a16:creationId xmlns:a16="http://schemas.microsoft.com/office/drawing/2014/main" id="{7E2046D4-F232-4EFE-ACB3-C00A9E59FB7C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37">
            <a:extLst>
              <a:ext uri="{FF2B5EF4-FFF2-40B4-BE49-F238E27FC236}">
                <a16:creationId xmlns:a16="http://schemas.microsoft.com/office/drawing/2014/main" id="{55F0EF99-C49F-4D63-B8E1-939C1D5F973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38">
            <a:extLst>
              <a:ext uri="{FF2B5EF4-FFF2-40B4-BE49-F238E27FC236}">
                <a16:creationId xmlns:a16="http://schemas.microsoft.com/office/drawing/2014/main" id="{122C2459-21D6-49BD-8C39-E1F6B5B90B7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07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15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7643F8D-BFC3-B36D-9AFE-F17EE63B03DB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7498548" cy="3305897"/>
          </a:xfrm>
        </p:spPr>
        <p:txBody>
          <a:bodyPr lIns="65205" tIns="32602" rIns="65205" bIns="32602">
            <a:noAutofit/>
          </a:bodyPr>
          <a:lstStyle/>
          <a:p>
            <a:pPr marL="163012" indent="-163012" algn="l" defTabSz="652048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99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参与者之间可能存在泛化</a:t>
            </a:r>
            <a:r>
              <a:rPr lang="en-US" altLang="zh-CN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(Generalization)</a:t>
            </a:r>
            <a:r>
              <a:rPr lang="zh-CN" altLang="en-US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关系</a:t>
            </a:r>
            <a:endParaRPr lang="en-US" altLang="zh-CN" sz="171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3012" indent="-163012" algn="l" defTabSz="652048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99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de-DE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Actor A </a:t>
            </a:r>
            <a:r>
              <a:rPr lang="zh-CN" altLang="en-US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继承自</a:t>
            </a:r>
            <a:r>
              <a:rPr lang="en-US" altLang="de-DE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actor B</a:t>
            </a:r>
            <a:endParaRPr lang="en-US" altLang="de-DE" sz="2282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326024" lvl="2" indent="-163012" algn="l" defTabSz="652048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2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de-DE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 </a:t>
            </a:r>
            <a:r>
              <a:rPr lang="zh-CN" altLang="en-US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能够使用</a:t>
            </a:r>
            <a:r>
              <a:rPr lang="en-US" altLang="de-DE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X</a:t>
            </a:r>
            <a:r>
              <a:rPr lang="zh-CN" altLang="en-US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和</a:t>
            </a:r>
            <a:r>
              <a:rPr lang="en-US" altLang="de-DE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Y</a:t>
            </a:r>
          </a:p>
          <a:p>
            <a:pPr marL="326024" lvl="2" indent="-163012" algn="l" defTabSz="652048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2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de-DE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B </a:t>
            </a:r>
            <a:r>
              <a:rPr lang="zh-CN" altLang="en-US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只能使用</a:t>
            </a:r>
            <a:r>
              <a:rPr lang="en-US" altLang="de-DE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Y</a:t>
            </a:r>
          </a:p>
          <a:p>
            <a:pPr marL="326024" lvl="2" indent="-163012" algn="l" defTabSz="652048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2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Actor</a:t>
            </a:r>
            <a:r>
              <a:rPr lang="zh-CN" altLang="en-US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支持多重继承</a:t>
            </a:r>
            <a:endParaRPr lang="en-US" altLang="zh-CN" sz="171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326024" lvl="2" indent="-163012" algn="l" defTabSz="652048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2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支持抽象</a:t>
            </a:r>
            <a:r>
              <a:rPr lang="en-US" altLang="zh-CN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Actor</a:t>
            </a:r>
            <a:endParaRPr lang="en-US" altLang="de-DE" sz="171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3012" indent="-163012" algn="l" defTabSz="652048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99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Actor</a:t>
            </a:r>
            <a:r>
              <a:rPr lang="zh-CN" altLang="en-US" sz="17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是类的一个变体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F3A8D3D6-EB99-462D-9D11-2C103037B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956" y="2273416"/>
            <a:ext cx="1428750" cy="283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65205" tIns="32602" rIns="65205" bIns="32602">
            <a:noAutofit/>
          </a:bodyPr>
          <a:lstStyle/>
          <a:p>
            <a:pPr marL="0" algn="l" defTabSz="652048" rtl="0" eaLnBrk="1" latinLnBrk="0" hangingPunct="1">
              <a:defRPr sz="1275"/>
            </a:pPr>
            <a:r>
              <a:rPr lang="de-DE" altLang="de-DE" sz="1275" i="1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Super-</a:t>
            </a:r>
            <a:r>
              <a:rPr lang="de-DE" altLang="de-DE" sz="1275" i="1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actor</a:t>
            </a:r>
            <a:r>
              <a:rPr lang="de-DE" altLang="de-DE" sz="1275" i="1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 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458336F7-84E1-A3C6-0432-3944CE380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956" y="2645854"/>
            <a:ext cx="1275794" cy="287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65205" tIns="32602" rIns="65205" bIns="32602">
            <a:noAutofit/>
          </a:bodyPr>
          <a:lstStyle/>
          <a:p>
            <a:pPr marL="0" algn="l" defTabSz="652048" rtl="0" eaLnBrk="1" latinLnBrk="0" hangingPunct="1">
              <a:defRPr sz="1284"/>
            </a:pPr>
            <a:r>
              <a:rPr lang="de-DE" altLang="de-DE" sz="1284" i="1" dirty="0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Sub-</a:t>
            </a:r>
            <a:r>
              <a:rPr lang="de-DE" altLang="de-DE" sz="1284" i="1" dirty="0" err="1">
                <a:solidFill>
                  <a:srgbClr val="FE8400"/>
                </a:solidFill>
                <a:latin typeface="Noto Sans SC"/>
                <a:ea typeface="Noto Sans SC"/>
                <a:cs typeface="Noto Sans SC"/>
              </a:rPr>
              <a:t>actor</a:t>
            </a:r>
            <a:endParaRPr lang="de-DE" altLang="de-DE" sz="1284" i="1" dirty="0">
              <a:solidFill>
                <a:srgbClr val="FE840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Line 11">
            <a:extLst>
              <a:ext uri="{FF2B5EF4-FFF2-40B4-BE49-F238E27FC236}">
                <a16:creationId xmlns:a16="http://schemas.microsoft.com/office/drawing/2014/main" id="{AD666EF2-134A-7F30-5477-790D8AFD34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9320" y="2859806"/>
            <a:ext cx="155087" cy="103015"/>
          </a:xfrm>
          <a:prstGeom prst="line">
            <a:avLst/>
          </a:prstGeom>
          <a:noFill/>
          <a:ln w="9056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5205" tIns="32602" rIns="65205" bIns="32602" anchor="ctr">
            <a:noAutofit/>
          </a:bodyPr>
          <a:lstStyle/>
          <a:p>
            <a:pPr marL="0" algn="l" defTabSz="652048" rtl="0" eaLnBrk="1" latinLnBrk="0" hangingPunct="1">
              <a:defRPr sz="128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de-AT" sz="1284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Line 13">
            <a:extLst>
              <a:ext uri="{FF2B5EF4-FFF2-40B4-BE49-F238E27FC236}">
                <a16:creationId xmlns:a16="http://schemas.microsoft.com/office/drawing/2014/main" id="{E154318D-D3F1-81DF-D858-D881C45F8EC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11963" y="2189646"/>
            <a:ext cx="179993" cy="108675"/>
          </a:xfrm>
          <a:prstGeom prst="line">
            <a:avLst/>
          </a:prstGeom>
          <a:noFill/>
          <a:ln w="9056">
            <a:solidFill>
              <a:srgbClr val="FE84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5205" tIns="32602" rIns="65205" bIns="32602" anchor="ctr">
            <a:noAutofit/>
          </a:bodyPr>
          <a:lstStyle/>
          <a:p>
            <a:pPr marL="0" algn="l" defTabSz="652048" rtl="0" eaLnBrk="1" latinLnBrk="0" hangingPunct="1">
              <a:defRPr sz="128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de-AT" sz="1284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0" name="Grafik 1">
            <a:extLst>
              <a:ext uri="{FF2B5EF4-FFF2-40B4-BE49-F238E27FC236}">
                <a16:creationId xmlns:a16="http://schemas.microsoft.com/office/drawing/2014/main" id="{7B9DCD30-C6E9-466B-BB0C-56C2D0B2A6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732" y="1491033"/>
            <a:ext cx="1746858" cy="2077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00" name="frame-39">
            <a:extLst>
              <a:ext uri="{FF2B5EF4-FFF2-40B4-BE49-F238E27FC236}">
                <a16:creationId xmlns:a16="http://schemas.microsoft.com/office/drawing/2014/main" id="{5720C002-1FA0-4843-A318-24303DAF2B4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用例图概要：参与者之间的关系</a:t>
            </a:r>
          </a:p>
        </p:txBody>
      </p:sp>
      <p:sp>
        <p:nvSpPr>
          <p:cNvPr id="10001" name="frame-40">
            <a:extLst>
              <a:ext uri="{FF2B5EF4-FFF2-40B4-BE49-F238E27FC236}">
                <a16:creationId xmlns:a16="http://schemas.microsoft.com/office/drawing/2014/main" id="{03BAA9A6-99D9-4130-A812-78ADE60DEDBD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41">
            <a:extLst>
              <a:ext uri="{FF2B5EF4-FFF2-40B4-BE49-F238E27FC236}">
                <a16:creationId xmlns:a16="http://schemas.microsoft.com/office/drawing/2014/main" id="{E3FF842B-F841-4DC8-81C2-514D4FB822F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42">
            <a:extLst>
              <a:ext uri="{FF2B5EF4-FFF2-40B4-BE49-F238E27FC236}">
                <a16:creationId xmlns:a16="http://schemas.microsoft.com/office/drawing/2014/main" id="{5BE91755-6220-484E-AB3D-B78F0D0B1CF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43">
            <a:extLst>
              <a:ext uri="{FF2B5EF4-FFF2-40B4-BE49-F238E27FC236}">
                <a16:creationId xmlns:a16="http://schemas.microsoft.com/office/drawing/2014/main" id="{00E18268-6ABF-40CF-A136-B536C4C8AC8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08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324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8B5A14-BF29-3205-6547-CC815E11E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">
            <a:extLst>
              <a:ext uri="{FF2B5EF4-FFF2-40B4-BE49-F238E27FC236}">
                <a16:creationId xmlns:a16="http://schemas.microsoft.com/office/drawing/2014/main" id="{A1B68B23-0059-9810-9FFA-E84E6017DA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33"/>
          <a:stretch>
            <a:fillRect/>
          </a:stretch>
        </p:blipFill>
        <p:spPr bwMode="auto">
          <a:xfrm>
            <a:off x="897813" y="1076325"/>
            <a:ext cx="2770621" cy="25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uppieren 2">
            <a:extLst>
              <a:ext uri="{FF2B5EF4-FFF2-40B4-BE49-F238E27FC236}">
                <a16:creationId xmlns:a16="http://schemas.microsoft.com/office/drawing/2014/main" id="{4D8DAC40-08E8-D828-9B21-08A476DFEB1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121302" y="1240151"/>
            <a:ext cx="3124885" cy="2217660"/>
            <a:chOff x="4597400" y="1684338"/>
            <a:chExt cx="3888369" cy="2759075"/>
          </a:xfrm>
        </p:grpSpPr>
        <p:pic>
          <p:nvPicPr>
            <p:cNvPr id="10" name="Grafik 1">
              <a:extLst>
                <a:ext uri="{FF2B5EF4-FFF2-40B4-BE49-F238E27FC236}">
                  <a16:creationId xmlns:a16="http://schemas.microsoft.com/office/drawing/2014/main" id="{5E0BE099-5A9D-CEAC-C570-A46567A55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13"/>
            <a:stretch>
              <a:fillRect/>
            </a:stretch>
          </p:blipFill>
          <p:spPr bwMode="auto">
            <a:xfrm>
              <a:off x="4644191" y="1684338"/>
              <a:ext cx="3841578" cy="275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hteck 1">
              <a:extLst>
                <a:ext uri="{FF2B5EF4-FFF2-40B4-BE49-F238E27FC236}">
                  <a16:creationId xmlns:a16="http://schemas.microsoft.com/office/drawing/2014/main" id="{121A8C37-23CF-AC8F-582B-243693DAA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400" y="2679032"/>
              <a:ext cx="455863" cy="6015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lIns="72238" tIns="36119" rIns="72238" bIns="36119">
              <a:noAutofit/>
            </a:bodyPr>
            <a:lstStyle/>
            <a:p>
              <a:pPr marL="0" algn="l" defTabSz="722376" rtl="0" eaLnBrk="1" latinLnBrk="0" hangingPunct="1">
                <a:defRPr sz="1264">
                  <a:solidFill>
                    <a:schemeClr val="tx1"/>
                  </a:solidFill>
                  <a:latin typeface="Noto Sans SC" pitchFamily="34" charset="0"/>
                  <a:ea typeface="Noto Sans SC" pitchFamily="34" charset="-128"/>
                </a:defRPr>
              </a:pPr>
              <a:endParaRPr lang="de-AT" altLang="de-DE" sz="1896">
                <a:solidFill>
                  <a:schemeClr val="tx1"/>
                </a:solidFill>
                <a:latin typeface="Noto Sans SC"/>
                <a:ea typeface="Noto Sans SC"/>
                <a:cs typeface="Noto Sans SC"/>
              </a:endParaRPr>
            </a:p>
          </p:txBody>
        </p: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36A0370A-3D77-B6BE-CB50-AA8FCE09E73D}"/>
              </a:ext>
            </a:extLst>
          </p:cNvPr>
          <p:cNvSpPr txBox="1"/>
          <p:nvPr/>
        </p:nvSpPr>
        <p:spPr>
          <a:xfrm>
            <a:off x="4269061" y="1953559"/>
            <a:ext cx="613178" cy="656488"/>
          </a:xfrm>
          <a:prstGeom prst="rect">
            <a:avLst/>
          </a:prstGeom>
          <a:noFill/>
        </p:spPr>
        <p:txBody>
          <a:bodyPr wrap="none" lIns="72238" tIns="36119" rIns="72238" bIns="36119" rtlCol="0">
            <a:noAutofit/>
          </a:bodyPr>
          <a:lstStyle/>
          <a:p>
            <a:pPr marL="0" algn="l" defTabSz="722376" rtl="0" eaLnBrk="1" latinLnBrk="0" hangingPunct="1">
              <a:defRPr sz="142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3792" b="1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=?</a:t>
            </a:r>
            <a:endParaRPr lang="zh-CN" altLang="en-US" sz="3792" b="1" kern="1200" dirty="0">
              <a:solidFill>
                <a:srgbClr val="A41F3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44">
            <a:extLst>
              <a:ext uri="{FF2B5EF4-FFF2-40B4-BE49-F238E27FC236}">
                <a16:creationId xmlns:a16="http://schemas.microsoft.com/office/drawing/2014/main" id="{8A8B5DC6-BDBC-447D-9BE9-48B45D37347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用例图概要：参与者之间的关系</a:t>
            </a:r>
          </a:p>
        </p:txBody>
      </p:sp>
      <p:sp>
        <p:nvSpPr>
          <p:cNvPr id="10001" name="frame-45">
            <a:extLst>
              <a:ext uri="{FF2B5EF4-FFF2-40B4-BE49-F238E27FC236}">
                <a16:creationId xmlns:a16="http://schemas.microsoft.com/office/drawing/2014/main" id="{F95A8CF7-144A-4161-A74C-D53E310E6A6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46">
            <a:extLst>
              <a:ext uri="{FF2B5EF4-FFF2-40B4-BE49-F238E27FC236}">
                <a16:creationId xmlns:a16="http://schemas.microsoft.com/office/drawing/2014/main" id="{C1AAA59A-0DA2-4D30-8621-12368679A04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47">
            <a:extLst>
              <a:ext uri="{FF2B5EF4-FFF2-40B4-BE49-F238E27FC236}">
                <a16:creationId xmlns:a16="http://schemas.microsoft.com/office/drawing/2014/main" id="{A1490AE7-0EE7-44EC-803E-C8FE50409E6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48">
            <a:extLst>
              <a:ext uri="{FF2B5EF4-FFF2-40B4-BE49-F238E27FC236}">
                <a16:creationId xmlns:a16="http://schemas.microsoft.com/office/drawing/2014/main" id="{1F47E423-C6D6-464C-8F97-95F00F34614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09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7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B72F5E-2CE8-F295-C0DE-3EBCB3B7F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1">
            <a:extLst>
              <a:ext uri="{FF2B5EF4-FFF2-40B4-BE49-F238E27FC236}">
                <a16:creationId xmlns:a16="http://schemas.microsoft.com/office/drawing/2014/main" id="{A7D79C17-0EA0-7380-0EF5-2C0588D4E1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33"/>
          <a:stretch>
            <a:fillRect/>
          </a:stretch>
        </p:blipFill>
        <p:spPr bwMode="auto">
          <a:xfrm>
            <a:off x="972891" y="1076325"/>
            <a:ext cx="2417549" cy="2235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uppieren 2">
            <a:extLst>
              <a:ext uri="{FF2B5EF4-FFF2-40B4-BE49-F238E27FC236}">
                <a16:creationId xmlns:a16="http://schemas.microsoft.com/office/drawing/2014/main" id="{4BDD25F1-8E17-7D19-51C5-0039AD3A14D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26272" y="1198995"/>
            <a:ext cx="2683336" cy="1904302"/>
            <a:chOff x="4597400" y="1684338"/>
            <a:chExt cx="3888369" cy="2759075"/>
          </a:xfrm>
        </p:grpSpPr>
        <p:pic>
          <p:nvPicPr>
            <p:cNvPr id="10" name="Grafik 1">
              <a:extLst>
                <a:ext uri="{FF2B5EF4-FFF2-40B4-BE49-F238E27FC236}">
                  <a16:creationId xmlns:a16="http://schemas.microsoft.com/office/drawing/2014/main" id="{E2366156-B6F3-9185-B9FC-52B0BBB1D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513"/>
            <a:stretch>
              <a:fillRect/>
            </a:stretch>
          </p:blipFill>
          <p:spPr bwMode="auto">
            <a:xfrm>
              <a:off x="4644191" y="1684338"/>
              <a:ext cx="3841578" cy="275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hteck 1">
              <a:extLst>
                <a:ext uri="{FF2B5EF4-FFF2-40B4-BE49-F238E27FC236}">
                  <a16:creationId xmlns:a16="http://schemas.microsoft.com/office/drawing/2014/main" id="{32D250A2-60F1-9225-CE4C-93455F88E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7400" y="2679032"/>
              <a:ext cx="455863" cy="60157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lIns="72238" tIns="36119" rIns="72238" bIns="36119">
              <a:noAutofit/>
            </a:bodyPr>
            <a:lstStyle/>
            <a:p>
              <a:pPr marL="0" algn="l" defTabSz="722376" rtl="0" eaLnBrk="1" latinLnBrk="0" hangingPunct="1">
                <a:defRPr sz="1264">
                  <a:solidFill>
                    <a:schemeClr val="tx1"/>
                  </a:solidFill>
                  <a:latin typeface="Noto Sans SC" pitchFamily="34" charset="0"/>
                  <a:ea typeface="Noto Sans SC" pitchFamily="34" charset="-128"/>
                </a:defRPr>
              </a:pPr>
              <a:endParaRPr lang="de-AT" altLang="de-DE" sz="1896">
                <a:solidFill>
                  <a:schemeClr val="tx1"/>
                </a:solidFill>
                <a:latin typeface="Noto Sans SC"/>
                <a:ea typeface="Noto Sans SC"/>
                <a:cs typeface="Noto Sans SC"/>
              </a:endParaRPr>
            </a:p>
          </p:txBody>
        </p:sp>
      </p:grpSp>
      <p:sp>
        <p:nvSpPr>
          <p:cNvPr id="12" name="Text Box 138">
            <a:extLst>
              <a:ext uri="{FF2B5EF4-FFF2-40B4-BE49-F238E27FC236}">
                <a16:creationId xmlns:a16="http://schemas.microsoft.com/office/drawing/2014/main" id="{098A5543-D0F0-BF62-E45C-07AF4736F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850" y="3260651"/>
            <a:ext cx="3368214" cy="559230"/>
          </a:xfrm>
          <a:prstGeom prst="rect">
            <a:avLst/>
          </a:prstGeom>
          <a:noFill/>
          <a:ln>
            <a:noFill/>
          </a:ln>
        </p:spPr>
        <p:txBody>
          <a:bodyPr wrap="square" lIns="72238" tIns="36119" rIns="72238" bIns="36119">
            <a:noAutofit/>
          </a:bodyPr>
          <a:lstStyle/>
          <a:p>
            <a:pPr marL="0" algn="l" defTabSz="722376" rtl="0" eaLnBrk="1" latinLnBrk="0" hangingPunct="1">
              <a:defRPr sz="1422"/>
            </a:pPr>
            <a:r>
              <a:rPr lang="zh-CN" altLang="en-US" sz="1580" b="1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需要 </a:t>
            </a:r>
            <a:r>
              <a:rPr lang="en-US" sz="1580" b="1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Professor</a:t>
            </a:r>
            <a:r>
              <a:rPr 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580" b="1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AND</a:t>
            </a:r>
            <a:r>
              <a:rPr 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580" b="1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Assistant</a:t>
            </a:r>
            <a:r>
              <a:rPr 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 </a:t>
            </a:r>
          </a:p>
          <a:p>
            <a:pPr marL="0" algn="l" defTabSz="722376" rtl="0" eaLnBrk="1" latinLnBrk="0" hangingPunct="1">
              <a:defRPr sz="1422"/>
            </a:pPr>
            <a:r>
              <a:rPr lang="zh-CN" alt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执行</a:t>
            </a:r>
            <a:r>
              <a:rPr 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  </a:t>
            </a:r>
            <a:r>
              <a:rPr lang="en-US" sz="1580" b="1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Query student data</a:t>
            </a:r>
          </a:p>
        </p:txBody>
      </p:sp>
      <p:sp>
        <p:nvSpPr>
          <p:cNvPr id="13" name="Text Box 138">
            <a:extLst>
              <a:ext uri="{FF2B5EF4-FFF2-40B4-BE49-F238E27FC236}">
                <a16:creationId xmlns:a16="http://schemas.microsoft.com/office/drawing/2014/main" id="{10E5F94D-F518-E5B6-4CDE-C984B01E5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708" y="3289060"/>
            <a:ext cx="3288401" cy="559230"/>
          </a:xfrm>
          <a:prstGeom prst="rect">
            <a:avLst/>
          </a:prstGeom>
          <a:noFill/>
          <a:ln>
            <a:noFill/>
          </a:ln>
        </p:spPr>
        <p:txBody>
          <a:bodyPr wrap="square" lIns="72238" tIns="36119" rIns="72238" bIns="36119">
            <a:noAutofit/>
          </a:bodyPr>
          <a:lstStyle/>
          <a:p>
            <a:pPr marL="0" algn="l" defTabSz="722376" rtl="0" eaLnBrk="1" latinLnBrk="0" hangingPunct="1">
              <a:defRPr sz="1422"/>
            </a:pPr>
            <a:r>
              <a:rPr lang="zh-CN" altLang="en-US" sz="1580" b="1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需要</a:t>
            </a:r>
            <a:r>
              <a:rPr lang="en-US" sz="1580" b="1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Professor</a:t>
            </a:r>
            <a:r>
              <a:rPr 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580" b="1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OR</a:t>
            </a:r>
            <a:r>
              <a:rPr 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580" b="1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Assistant</a:t>
            </a:r>
            <a:r>
              <a:rPr 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 </a:t>
            </a:r>
          </a:p>
          <a:p>
            <a:pPr marL="0" algn="l" defTabSz="722376" rtl="0" eaLnBrk="1" latinLnBrk="0" hangingPunct="1">
              <a:defRPr sz="1422"/>
            </a:pPr>
            <a:r>
              <a:rPr lang="zh-CN" alt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执行</a:t>
            </a:r>
            <a:r>
              <a:rPr lang="en-US" sz="1580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sz="1580" b="1" dirty="0">
                <a:solidFill>
                  <a:schemeClr val="tx2"/>
                </a:solidFill>
                <a:latin typeface="Noto Sans SC"/>
                <a:ea typeface="Noto Sans SC"/>
                <a:cs typeface="Noto Sans SC"/>
              </a:rPr>
              <a:t>Query student data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F39695-3E29-1884-413F-F0568647B2BD}"/>
              </a:ext>
            </a:extLst>
          </p:cNvPr>
          <p:cNvSpPr txBox="1"/>
          <p:nvPr/>
        </p:nvSpPr>
        <p:spPr>
          <a:xfrm>
            <a:off x="3999185" y="1795285"/>
            <a:ext cx="387764" cy="656488"/>
          </a:xfrm>
          <a:prstGeom prst="rect">
            <a:avLst/>
          </a:prstGeom>
          <a:noFill/>
        </p:spPr>
        <p:txBody>
          <a:bodyPr wrap="none" lIns="72238" tIns="36119" rIns="72238" bIns="36119" rtlCol="0">
            <a:noAutofit/>
          </a:bodyPr>
          <a:lstStyle/>
          <a:p>
            <a:pPr marL="0" algn="l" defTabSz="722376" rtl="0" eaLnBrk="1" latinLnBrk="0" hangingPunct="1">
              <a:defRPr sz="142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3792" b="1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≠</a:t>
            </a:r>
            <a:endParaRPr lang="zh-CN" altLang="en-US" sz="3792" b="1" kern="1200" dirty="0">
              <a:solidFill>
                <a:srgbClr val="A41F3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49">
            <a:extLst>
              <a:ext uri="{FF2B5EF4-FFF2-40B4-BE49-F238E27FC236}">
                <a16:creationId xmlns:a16="http://schemas.microsoft.com/office/drawing/2014/main" id="{F1A85669-C638-45B4-9E5C-C44427A946A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用例图概要：参与者之间的关系</a:t>
            </a:r>
          </a:p>
        </p:txBody>
      </p:sp>
      <p:sp>
        <p:nvSpPr>
          <p:cNvPr id="10001" name="frame-50">
            <a:extLst>
              <a:ext uri="{FF2B5EF4-FFF2-40B4-BE49-F238E27FC236}">
                <a16:creationId xmlns:a16="http://schemas.microsoft.com/office/drawing/2014/main" id="{CE1F944A-C73B-43A2-A070-1E41D00DB1B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51">
            <a:extLst>
              <a:ext uri="{FF2B5EF4-FFF2-40B4-BE49-F238E27FC236}">
                <a16:creationId xmlns:a16="http://schemas.microsoft.com/office/drawing/2014/main" id="{FDD6B8DF-148D-423F-90F4-D7DB626037B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52">
            <a:extLst>
              <a:ext uri="{FF2B5EF4-FFF2-40B4-BE49-F238E27FC236}">
                <a16:creationId xmlns:a16="http://schemas.microsoft.com/office/drawing/2014/main" id="{3A7B6A95-023E-4D34-837F-1F2408FA1E9B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53">
            <a:extLst>
              <a:ext uri="{FF2B5EF4-FFF2-40B4-BE49-F238E27FC236}">
                <a16:creationId xmlns:a16="http://schemas.microsoft.com/office/drawing/2014/main" id="{87C40785-8E2B-4DD1-8498-3AA2BD40A93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10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98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oup 3">
            <a:extLst>
              <a:ext uri="{FF2B5EF4-FFF2-40B4-BE49-F238E27FC236}">
                <a16:creationId xmlns:a16="http://schemas.microsoft.com/office/drawing/2014/main" id="{8E31E4BE-6F4D-E98D-BFAF-86F10D6AE7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569139"/>
              </p:ext>
            </p:extLst>
          </p:nvPr>
        </p:nvGraphicFramePr>
        <p:xfrm>
          <a:off x="1437473" y="1076325"/>
          <a:ext cx="6269054" cy="3524250"/>
        </p:xfrm>
        <a:graphic>
          <a:graphicData uri="http://schemas.openxmlformats.org/drawingml/2006/table">
            <a:tbl>
              <a:tblPr/>
              <a:tblGrid>
                <a:gridCol w="1609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54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355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marL="71011" marR="71011" marT="34425" marB="34425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de-AT" sz="1355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Notation</a:t>
                      </a:r>
                    </a:p>
                  </a:txBody>
                  <a:tcPr marL="71011" marR="71011" marT="34425" marB="34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55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Description</a:t>
                      </a:r>
                    </a:p>
                  </a:txBody>
                  <a:tcPr marL="71011" marR="71011" marT="34425" marB="34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859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55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System</a:t>
                      </a:r>
                    </a:p>
                  </a:txBody>
                  <a:tcPr marL="71011" marR="71011" marT="34425" marB="3442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355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1011" marR="71011" marT="34425" marB="34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55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Boundaries between the system and the users of the system</a:t>
                      </a:r>
                    </a:p>
                  </a:txBody>
                  <a:tcPr marL="71011" marR="71011" marT="34425" marB="344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21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55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Use case</a:t>
                      </a:r>
                    </a:p>
                  </a:txBody>
                  <a:tcPr marL="71011" marR="71011" marT="34425" marB="3442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355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1011" marR="71011" marT="34425" marB="34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55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Unit of functionality of the system</a:t>
                      </a:r>
                    </a:p>
                  </a:txBody>
                  <a:tcPr marL="71011" marR="71011" marT="34425" marB="344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0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55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Actor</a:t>
                      </a:r>
                    </a:p>
                  </a:txBody>
                  <a:tcPr marL="71011" marR="71011" marT="34425" marB="34425" anchor="ctr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de-AT" sz="1355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itchFamily="34" charset="0"/>
                        <a:ea typeface="Noto Sans SC"/>
                        <a:cs typeface="Noto Sans SC"/>
                      </a:endParaRPr>
                    </a:p>
                  </a:txBody>
                  <a:tcPr marL="71011" marR="71011" marT="34425" marB="3442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355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itchFamily="34" charset="0"/>
                          <a:ea typeface="Noto Sans SC"/>
                          <a:cs typeface="Noto Sans SC"/>
                        </a:rPr>
                        <a:t>Role of the users of the system</a:t>
                      </a:r>
                    </a:p>
                  </a:txBody>
                  <a:tcPr marL="71011" marR="71011" marT="34425" marB="3442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Grafik 1">
            <a:extLst>
              <a:ext uri="{FF2B5EF4-FFF2-40B4-BE49-F238E27FC236}">
                <a16:creationId xmlns:a16="http://schemas.microsoft.com/office/drawing/2014/main" id="{7DBA324E-5DFE-1587-F5D4-EEBF2FFE62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967" y="1483981"/>
            <a:ext cx="1117766" cy="79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2">
            <a:extLst>
              <a:ext uri="{FF2B5EF4-FFF2-40B4-BE49-F238E27FC236}">
                <a16:creationId xmlns:a16="http://schemas.microsoft.com/office/drawing/2014/main" id="{5FF82872-86EE-96FE-0F66-76964AEA93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376" y="2794218"/>
            <a:ext cx="488948" cy="32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Grafik 3">
            <a:extLst>
              <a:ext uri="{FF2B5EF4-FFF2-40B4-BE49-F238E27FC236}">
                <a16:creationId xmlns:a16="http://schemas.microsoft.com/office/drawing/2014/main" id="{AB4C90B3-3FC5-5251-DEF9-BEA62C1E1D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141" y="3683649"/>
            <a:ext cx="259418" cy="77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00" name="frame-54">
            <a:extLst>
              <a:ext uri="{FF2B5EF4-FFF2-40B4-BE49-F238E27FC236}">
                <a16:creationId xmlns:a16="http://schemas.microsoft.com/office/drawing/2014/main" id="{6643B9DB-A2FD-47FD-B511-5EBE502E061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用例图概要：表示法</a:t>
            </a:r>
          </a:p>
        </p:txBody>
      </p:sp>
      <p:sp>
        <p:nvSpPr>
          <p:cNvPr id="10001" name="frame-55">
            <a:extLst>
              <a:ext uri="{FF2B5EF4-FFF2-40B4-BE49-F238E27FC236}">
                <a16:creationId xmlns:a16="http://schemas.microsoft.com/office/drawing/2014/main" id="{09D73885-AD53-4C27-9E10-BD381A9478B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56">
            <a:extLst>
              <a:ext uri="{FF2B5EF4-FFF2-40B4-BE49-F238E27FC236}">
                <a16:creationId xmlns:a16="http://schemas.microsoft.com/office/drawing/2014/main" id="{965C573B-E8C5-488E-B587-634F373072B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57">
            <a:extLst>
              <a:ext uri="{FF2B5EF4-FFF2-40B4-BE49-F238E27FC236}">
                <a16:creationId xmlns:a16="http://schemas.microsoft.com/office/drawing/2014/main" id="{7D92C715-3F03-466E-B816-06D0BA21D9B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58">
            <a:extLst>
              <a:ext uri="{FF2B5EF4-FFF2-40B4-BE49-F238E27FC236}">
                <a16:creationId xmlns:a16="http://schemas.microsoft.com/office/drawing/2014/main" id="{7F524485-03E5-4561-9F83-9F45942CC474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11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61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3">
            <a:extLst>
              <a:ext uri="{FF2B5EF4-FFF2-40B4-BE49-F238E27FC236}">
                <a16:creationId xmlns:a16="http://schemas.microsoft.com/office/drawing/2014/main" id="{0F4E407A-C258-3BFC-C70B-32B8E825F4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7210828"/>
              </p:ext>
            </p:extLst>
          </p:nvPr>
        </p:nvGraphicFramePr>
        <p:xfrm>
          <a:off x="1528065" y="1076325"/>
          <a:ext cx="6087870" cy="3524250"/>
        </p:xfrm>
        <a:graphic>
          <a:graphicData uri="http://schemas.openxmlformats.org/drawingml/2006/table">
            <a:tbl>
              <a:tblPr/>
              <a:tblGrid>
                <a:gridCol w="1609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0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322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Name</a:t>
                      </a:r>
                    </a:p>
                  </a:txBody>
                  <a:tcPr marL="67477" marR="6747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322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Notation</a:t>
                      </a:r>
                    </a:p>
                  </a:txBody>
                  <a:tcPr marL="67477" marR="674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322" b="1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Description</a:t>
                      </a:r>
                    </a:p>
                  </a:txBody>
                  <a:tcPr marL="67477" marR="674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0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322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Association</a:t>
                      </a:r>
                    </a:p>
                  </a:txBody>
                  <a:tcPr marL="67477" marR="674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endParaRPr kumimoji="0" lang="en-US" sz="1322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charset="0"/>
                        <a:ea typeface="Noto Sans SC" charset="0"/>
                        <a:cs typeface="Noto Sans SC"/>
                      </a:endParaRPr>
                    </a:p>
                  </a:txBody>
                  <a:tcPr marL="67477" marR="674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322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Relationship between use cases and actors</a:t>
                      </a:r>
                    </a:p>
                  </a:txBody>
                  <a:tcPr marL="67477" marR="674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4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322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Generalization</a:t>
                      </a:r>
                    </a:p>
                  </a:txBody>
                  <a:tcPr marL="67477" marR="674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endParaRPr kumimoji="0" lang="de-AT" sz="132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charset="0"/>
                        <a:ea typeface="Noto Sans SC" charset="0"/>
                        <a:cs typeface="Noto Sans SC"/>
                      </a:endParaRPr>
                    </a:p>
                  </a:txBody>
                  <a:tcPr marL="67477" marR="674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32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Inheritance relationship between actors or use cases</a:t>
                      </a:r>
                    </a:p>
                  </a:txBody>
                  <a:tcPr marL="67477" marR="674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4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322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Extend relationship</a:t>
                      </a:r>
                    </a:p>
                  </a:txBody>
                  <a:tcPr marL="67477" marR="674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endParaRPr kumimoji="0" lang="de-AT" sz="132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charset="0"/>
                        <a:ea typeface="Noto Sans SC" charset="0"/>
                        <a:cs typeface="Noto Sans SC"/>
                      </a:endParaRPr>
                    </a:p>
                  </a:txBody>
                  <a:tcPr marL="67477" marR="674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32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B extends A: optional use of use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32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case B by use case A</a:t>
                      </a:r>
                      <a:endParaRPr kumimoji="0" lang="de-AT" sz="1322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charset="0"/>
                        <a:ea typeface="Noto Sans SC" charset="0"/>
                        <a:cs typeface="Noto Sans SC"/>
                      </a:endParaRPr>
                    </a:p>
                  </a:txBody>
                  <a:tcPr marL="67477" marR="674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34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de-AT" sz="1322" b="0" i="0" u="none" strike="noStrike" cap="none" normalizeH="0" baseline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Include relationship</a:t>
                      </a:r>
                    </a:p>
                  </a:txBody>
                  <a:tcPr marL="67477" marR="674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endParaRPr kumimoji="0" lang="de-AT" sz="132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charset="0"/>
                        <a:ea typeface="Noto Sans SC" charset="0"/>
                        <a:cs typeface="Noto Sans SC"/>
                      </a:endParaRPr>
                    </a:p>
                  </a:txBody>
                  <a:tcPr marL="67477" marR="6747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32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A includes B: required use of use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9900"/>
                        </a:buClr>
                        <a:buSzPct val="80000"/>
                        <a:buFont typeface="Wingdings" charset="0"/>
                        <a:buNone/>
                        <a:tabLst/>
                      </a:pPr>
                      <a:r>
                        <a:rPr kumimoji="0" lang="en-US" sz="132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charset="0"/>
                          <a:ea typeface="Noto Sans SC" charset="0"/>
                          <a:cs typeface="Noto Sans SC"/>
                        </a:rPr>
                        <a:t>case B by use case A</a:t>
                      </a:r>
                      <a:endParaRPr kumimoji="0" lang="de-AT" sz="1322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charset="0"/>
                        <a:ea typeface="Noto Sans SC" charset="0"/>
                        <a:cs typeface="Noto Sans SC"/>
                      </a:endParaRPr>
                    </a:p>
                  </a:txBody>
                  <a:tcPr marL="67477" marR="674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Grafik 2">
            <a:extLst>
              <a:ext uri="{FF2B5EF4-FFF2-40B4-BE49-F238E27FC236}">
                <a16:creationId xmlns:a16="http://schemas.microsoft.com/office/drawing/2014/main" id="{3D78D22A-5936-D156-5A90-9BEF2C5265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669" y="2535922"/>
            <a:ext cx="1290554" cy="2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rafik 3">
            <a:extLst>
              <a:ext uri="{FF2B5EF4-FFF2-40B4-BE49-F238E27FC236}">
                <a16:creationId xmlns:a16="http://schemas.microsoft.com/office/drawing/2014/main" id="{EAF288CC-1C2C-2E6F-B3ED-EFE0B7D90C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669" y="3305358"/>
            <a:ext cx="1290554" cy="2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rafik 4">
            <a:extLst>
              <a:ext uri="{FF2B5EF4-FFF2-40B4-BE49-F238E27FC236}">
                <a16:creationId xmlns:a16="http://schemas.microsoft.com/office/drawing/2014/main" id="{67B8F616-EC6A-2D76-6F20-56F442AF75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669" y="4091115"/>
            <a:ext cx="1290554" cy="2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Grafik 1">
            <a:extLst>
              <a:ext uri="{FF2B5EF4-FFF2-40B4-BE49-F238E27FC236}">
                <a16:creationId xmlns:a16="http://schemas.microsoft.com/office/drawing/2014/main" id="{B4D03E6C-1570-BA38-4AEA-47B8CEA12A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52" b="-3944"/>
          <a:stretch>
            <a:fillRect/>
          </a:stretch>
        </p:blipFill>
        <p:spPr bwMode="auto">
          <a:xfrm>
            <a:off x="3288441" y="1745865"/>
            <a:ext cx="879309" cy="256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Grafik 3">
            <a:extLst>
              <a:ext uri="{FF2B5EF4-FFF2-40B4-BE49-F238E27FC236}">
                <a16:creationId xmlns:a16="http://schemas.microsoft.com/office/drawing/2014/main" id="{DEC51B66-0B8D-74CA-A099-E632E1E1380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173" y="1554308"/>
            <a:ext cx="221463" cy="65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00" name="frame-59">
            <a:extLst>
              <a:ext uri="{FF2B5EF4-FFF2-40B4-BE49-F238E27FC236}">
                <a16:creationId xmlns:a16="http://schemas.microsoft.com/office/drawing/2014/main" id="{0B4796C9-877C-49BA-95B9-D5A760D6AAF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用例图概要：表示法</a:t>
            </a:r>
          </a:p>
        </p:txBody>
      </p:sp>
      <p:sp>
        <p:nvSpPr>
          <p:cNvPr id="10001" name="frame-60">
            <a:extLst>
              <a:ext uri="{FF2B5EF4-FFF2-40B4-BE49-F238E27FC236}">
                <a16:creationId xmlns:a16="http://schemas.microsoft.com/office/drawing/2014/main" id="{B1FE4C69-59DD-4E4A-A307-B65D098513E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61">
            <a:extLst>
              <a:ext uri="{FF2B5EF4-FFF2-40B4-BE49-F238E27FC236}">
                <a16:creationId xmlns:a16="http://schemas.microsoft.com/office/drawing/2014/main" id="{5FC49FCD-1AEC-4DB9-8C62-2CC161F19B8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62">
            <a:extLst>
              <a:ext uri="{FF2B5EF4-FFF2-40B4-BE49-F238E27FC236}">
                <a16:creationId xmlns:a16="http://schemas.microsoft.com/office/drawing/2014/main" id="{4EFF17E2-EBFC-48AA-8CEF-87B15AED5A6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63">
            <a:extLst>
              <a:ext uri="{FF2B5EF4-FFF2-40B4-BE49-F238E27FC236}">
                <a16:creationId xmlns:a16="http://schemas.microsoft.com/office/drawing/2014/main" id="{56191504-22AD-4CDB-B712-20A0D5C1F6D0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12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397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9D636FE-003F-9686-CBEB-D196C1488CC3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7922372" cy="449135"/>
          </a:xfrm>
        </p:spPr>
        <p:txBody>
          <a:bodyPr lIns="68890" tIns="34445" rIns="68890" bIns="34445">
            <a:noAutofit/>
          </a:bodyPr>
          <a:lstStyle/>
          <a:p>
            <a:pPr marL="172225" indent="-172225" algn="l" defTabSz="688902" rtl="0" eaLnBrk="1" latinLnBrk="0" hangingPunct="1">
              <a:lnSpc>
                <a:spcPct val="117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95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95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用例图展现了一组</a:t>
            </a:r>
            <a:r>
              <a:rPr lang="zh-CN" altLang="en-US" sz="195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用例</a:t>
            </a:r>
            <a:r>
              <a:rPr lang="zh-CN" altLang="en-US" sz="195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lang="zh-CN" altLang="en-US" sz="195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参与者</a:t>
            </a:r>
            <a:r>
              <a:rPr lang="zh-CN" altLang="en-US" sz="195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以及它们之间的</a:t>
            </a:r>
            <a:r>
              <a:rPr lang="zh-CN" altLang="en-US" sz="195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关系</a:t>
            </a:r>
            <a:endParaRPr lang="en-US" altLang="de-DE" sz="1951" kern="1200" dirty="0">
              <a:solidFill>
                <a:schemeClr val="tx2">
                  <a:lumMod val="75000"/>
                  <a:lumOff val="2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172225" indent="-172225" algn="l" defTabSz="688902" rtl="0" eaLnBrk="1" latinLnBrk="0" hangingPunct="1">
              <a:lnSpc>
                <a:spcPct val="117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95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95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7" name="Grafik 1">
            <a:extLst>
              <a:ext uri="{FF2B5EF4-FFF2-40B4-BE49-F238E27FC236}">
                <a16:creationId xmlns:a16="http://schemas.microsoft.com/office/drawing/2014/main" id="{7259C9EF-C6B9-F807-E80A-C71640E27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02" y="1727286"/>
            <a:ext cx="3348460" cy="20132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E5A0C9EC-94E1-47E8-506E-B4A5DCF3B940}"/>
              </a:ext>
            </a:extLst>
          </p:cNvPr>
          <p:cNvGrpSpPr/>
          <p:nvPr/>
        </p:nvGrpSpPr>
        <p:grpSpPr>
          <a:xfrm>
            <a:off x="1668119" y="1581150"/>
            <a:ext cx="6999631" cy="2934312"/>
            <a:chOff x="2117145" y="1896856"/>
            <a:chExt cx="9290819" cy="4143403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BC6D3F7-108A-6026-2B8A-AE0C6068F75B}"/>
                </a:ext>
              </a:extLst>
            </p:cNvPr>
            <p:cNvGrpSpPr/>
            <p:nvPr/>
          </p:nvGrpSpPr>
          <p:grpSpPr>
            <a:xfrm>
              <a:off x="5813235" y="1896856"/>
              <a:ext cx="5594729" cy="4143403"/>
              <a:chOff x="5754053" y="1569129"/>
              <a:chExt cx="6627545" cy="4957878"/>
            </a:xfrm>
          </p:grpSpPr>
          <p:pic>
            <p:nvPicPr>
              <p:cNvPr id="12" name="图片 11" descr="图示, 示意图&#10;&#10;AI 生成的内容可能不正确。">
                <a:extLst>
                  <a:ext uri="{FF2B5EF4-FFF2-40B4-BE49-F238E27FC236}">
                    <a16:creationId xmlns:a16="http://schemas.microsoft.com/office/drawing/2014/main" id="{79844F2F-1907-17F6-6EBA-B83E4DD00B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54053" y="1569129"/>
                <a:ext cx="4573409" cy="4937297"/>
              </a:xfrm>
              <a:prstGeom prst="rect">
                <a:avLst/>
              </a:prstGeom>
            </p:spPr>
          </p:pic>
          <p:sp>
            <p:nvSpPr>
              <p:cNvPr id="13" name="标注: 线形(带强调线) 12">
                <a:extLst>
                  <a:ext uri="{FF2B5EF4-FFF2-40B4-BE49-F238E27FC236}">
                    <a16:creationId xmlns:a16="http://schemas.microsoft.com/office/drawing/2014/main" id="{D57258B2-FC1B-659F-C563-697A4CD556FF}"/>
                  </a:ext>
                </a:extLst>
              </p:cNvPr>
              <p:cNvSpPr/>
              <p:nvPr/>
            </p:nvSpPr>
            <p:spPr>
              <a:xfrm>
                <a:off x="10745809" y="2621544"/>
                <a:ext cx="1522174" cy="492791"/>
              </a:xfrm>
              <a:prstGeom prst="accentCallout1">
                <a:avLst>
                  <a:gd name="adj1" fmla="val 18750"/>
                  <a:gd name="adj2" fmla="val -8333"/>
                  <a:gd name="adj3" fmla="val 41389"/>
                  <a:gd name="adj4" fmla="val -93814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890" tIns="34445" rIns="68890" bIns="34445" rtlCol="0" anchor="ctr">
                <a:noAutofit/>
              </a:bodyPr>
              <a:lstStyle/>
              <a:p>
                <a:pPr marL="0" algn="ctr" defTabSz="688902" rtl="0" eaLnBrk="1" latinLnBrk="0" hangingPunct="1">
                  <a:defRPr sz="1356" kern="1200">
                    <a:solidFill>
                      <a:schemeClr val="tx1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lang="zh-CN" altLang="en-US" sz="1356" b="1" kern="1200" dirty="0">
                    <a:solidFill>
                      <a:schemeClr val="tx1"/>
                    </a:solidFill>
                    <a:latin typeface="Noto Sans SC"/>
                    <a:ea typeface="Noto Sans SC"/>
                    <a:cs typeface="Noto Sans SC"/>
                  </a:rPr>
                  <a:t>需求获取</a:t>
                </a:r>
              </a:p>
            </p:txBody>
          </p:sp>
          <p:sp>
            <p:nvSpPr>
              <p:cNvPr id="14" name="标注: 线形(带强调线) 13">
                <a:extLst>
                  <a:ext uri="{FF2B5EF4-FFF2-40B4-BE49-F238E27FC236}">
                    <a16:creationId xmlns:a16="http://schemas.microsoft.com/office/drawing/2014/main" id="{6EDE2C88-0B9F-392A-6B90-3C0F7A274677}"/>
                  </a:ext>
                </a:extLst>
              </p:cNvPr>
              <p:cNvSpPr/>
              <p:nvPr/>
            </p:nvSpPr>
            <p:spPr>
              <a:xfrm>
                <a:off x="10745809" y="3827512"/>
                <a:ext cx="1522174" cy="492791"/>
              </a:xfrm>
              <a:prstGeom prst="accentCallout1">
                <a:avLst>
                  <a:gd name="adj1" fmla="val 18750"/>
                  <a:gd name="adj2" fmla="val -8333"/>
                  <a:gd name="adj3" fmla="val 105833"/>
                  <a:gd name="adj4" fmla="val -101368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890" tIns="34445" rIns="68890" bIns="34445" rtlCol="0" anchor="ctr">
                <a:noAutofit/>
              </a:bodyPr>
              <a:lstStyle/>
              <a:p>
                <a:pPr marL="0" algn="ctr" defTabSz="688902" rtl="0" eaLnBrk="1" latinLnBrk="0" hangingPunct="1">
                  <a:defRPr sz="1356" kern="1200">
                    <a:solidFill>
                      <a:schemeClr val="tx1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lang="zh-CN" altLang="en-US" sz="1356" b="1" kern="1200" dirty="0">
                    <a:solidFill>
                      <a:schemeClr val="tx1"/>
                    </a:solidFill>
                    <a:latin typeface="Noto Sans SC"/>
                    <a:ea typeface="Noto Sans SC"/>
                    <a:cs typeface="Noto Sans SC"/>
                  </a:rPr>
                  <a:t>需求分析</a:t>
                </a:r>
              </a:p>
            </p:txBody>
          </p:sp>
          <p:sp>
            <p:nvSpPr>
              <p:cNvPr id="15" name="标注: 线形(带强调线) 14">
                <a:extLst>
                  <a:ext uri="{FF2B5EF4-FFF2-40B4-BE49-F238E27FC236}">
                    <a16:creationId xmlns:a16="http://schemas.microsoft.com/office/drawing/2014/main" id="{694EA181-813F-ADD6-6DD2-12BC410B8BA0}"/>
                  </a:ext>
                </a:extLst>
              </p:cNvPr>
              <p:cNvSpPr/>
              <p:nvPr/>
            </p:nvSpPr>
            <p:spPr>
              <a:xfrm>
                <a:off x="10765429" y="5054062"/>
                <a:ext cx="1522174" cy="492791"/>
              </a:xfrm>
              <a:prstGeom prst="accentCallout1">
                <a:avLst>
                  <a:gd name="adj1" fmla="val 18750"/>
                  <a:gd name="adj2" fmla="val -8333"/>
                  <a:gd name="adj3" fmla="val 101388"/>
                  <a:gd name="adj4" fmla="val -87699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890" tIns="34445" rIns="68890" bIns="34445" rtlCol="0" anchor="ctr">
                <a:noAutofit/>
              </a:bodyPr>
              <a:lstStyle/>
              <a:p>
                <a:pPr marL="0" algn="ctr" defTabSz="688902" rtl="0" eaLnBrk="1" latinLnBrk="0" hangingPunct="1">
                  <a:defRPr sz="1356" kern="1200">
                    <a:solidFill>
                      <a:schemeClr val="tx1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lang="zh-CN" altLang="en-US" sz="1356" b="1" kern="1200" dirty="0">
                    <a:solidFill>
                      <a:schemeClr val="tx1"/>
                    </a:solidFill>
                    <a:latin typeface="Noto Sans SC"/>
                    <a:ea typeface="Noto Sans SC"/>
                    <a:cs typeface="Noto Sans SC"/>
                  </a:rPr>
                  <a:t>系统设计</a:t>
                </a:r>
              </a:p>
            </p:txBody>
          </p:sp>
          <p:sp>
            <p:nvSpPr>
              <p:cNvPr id="16" name="标注: 线形(带强调线) 15">
                <a:extLst>
                  <a:ext uri="{FF2B5EF4-FFF2-40B4-BE49-F238E27FC236}">
                    <a16:creationId xmlns:a16="http://schemas.microsoft.com/office/drawing/2014/main" id="{2F4EE77C-9180-A717-7CFE-A4EB90AD4297}"/>
                  </a:ext>
                </a:extLst>
              </p:cNvPr>
              <p:cNvSpPr/>
              <p:nvPr/>
            </p:nvSpPr>
            <p:spPr>
              <a:xfrm>
                <a:off x="10765429" y="6034216"/>
                <a:ext cx="1616169" cy="492791"/>
              </a:xfrm>
              <a:prstGeom prst="accentCallout1">
                <a:avLst>
                  <a:gd name="adj1" fmla="val 18750"/>
                  <a:gd name="adj2" fmla="val -8333"/>
                  <a:gd name="adj3" fmla="val -44166"/>
                  <a:gd name="adj4" fmla="val -41773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68890" tIns="34445" rIns="68890" bIns="34445" rtlCol="0" anchor="ctr">
                <a:noAutofit/>
              </a:bodyPr>
              <a:lstStyle/>
              <a:p>
                <a:pPr marL="0" algn="ctr" defTabSz="688902" rtl="0" eaLnBrk="1" latinLnBrk="0" hangingPunct="1">
                  <a:defRPr sz="1356" kern="1200">
                    <a:solidFill>
                      <a:schemeClr val="tx1"/>
                    </a:solidFill>
                    <a:latin typeface="Noto Sans SC"/>
                    <a:ea typeface="Noto Sans SC"/>
                    <a:cs typeface="Noto Sans SC"/>
                  </a:defRPr>
                </a:pPr>
                <a:r>
                  <a:rPr lang="zh-CN" altLang="en-US" sz="1356" b="1" kern="1200" dirty="0">
                    <a:solidFill>
                      <a:schemeClr val="tx1"/>
                    </a:solidFill>
                    <a:latin typeface="Noto Sans SC"/>
                    <a:ea typeface="Noto Sans SC"/>
                    <a:cs typeface="Noto Sans SC"/>
                  </a:rPr>
                  <a:t>可追溯可验证</a:t>
                </a:r>
              </a:p>
            </p:txBody>
          </p:sp>
        </p:grpSp>
        <p:pic>
          <p:nvPicPr>
            <p:cNvPr id="10" name="Grafik 1">
              <a:extLst>
                <a:ext uri="{FF2B5EF4-FFF2-40B4-BE49-F238E27FC236}">
                  <a16:creationId xmlns:a16="http://schemas.microsoft.com/office/drawing/2014/main" id="{8449C544-A22C-7E42-87E4-393DEEFAE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7145" y="5360818"/>
              <a:ext cx="801833" cy="535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0B60820D-28E7-3384-6823-F28C488551DE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806015" y="2224132"/>
              <a:ext cx="322298" cy="7021493"/>
            </a:xfrm>
            <a:prstGeom prst="bentConnector4">
              <a:avLst>
                <a:gd name="adj1" fmla="val -126715"/>
                <a:gd name="adj2" fmla="val 100045"/>
              </a:avLst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00" name="frame-64">
            <a:extLst>
              <a:ext uri="{FF2B5EF4-FFF2-40B4-BE49-F238E27FC236}">
                <a16:creationId xmlns:a16="http://schemas.microsoft.com/office/drawing/2014/main" id="{B07F9B8E-3CDF-48F6-BB8D-D5777FC84F0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用例图简单？</a:t>
            </a:r>
          </a:p>
        </p:txBody>
      </p:sp>
      <p:sp>
        <p:nvSpPr>
          <p:cNvPr id="10001" name="frame-65">
            <a:extLst>
              <a:ext uri="{FF2B5EF4-FFF2-40B4-BE49-F238E27FC236}">
                <a16:creationId xmlns:a16="http://schemas.microsoft.com/office/drawing/2014/main" id="{FC596F53-5D36-4E5A-9A47-02DBE685728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66">
            <a:extLst>
              <a:ext uri="{FF2B5EF4-FFF2-40B4-BE49-F238E27FC236}">
                <a16:creationId xmlns:a16="http://schemas.microsoft.com/office/drawing/2014/main" id="{807B7DD4-6C87-4625-BAA8-5DC4C97EA78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67">
            <a:extLst>
              <a:ext uri="{FF2B5EF4-FFF2-40B4-BE49-F238E27FC236}">
                <a16:creationId xmlns:a16="http://schemas.microsoft.com/office/drawing/2014/main" id="{48CD95D3-47D0-48B6-A2C9-3B9B427B267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68">
            <a:extLst>
              <a:ext uri="{FF2B5EF4-FFF2-40B4-BE49-F238E27FC236}">
                <a16:creationId xmlns:a16="http://schemas.microsoft.com/office/drawing/2014/main" id="{5D47B086-01EB-49F8-8D8D-C575F414990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13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57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0433905-F176-9913-046D-DBD81C09EF5D}"/>
              </a:ext>
            </a:extLst>
          </p:cNvPr>
          <p:cNvSpPr>
            <a:spLocks noGrp="1"/>
          </p:cNvSpPr>
          <p:nvPr/>
        </p:nvSpPr>
        <p:spPr>
          <a:xfrm>
            <a:off x="616869" y="1076325"/>
            <a:ext cx="7559205" cy="1696449"/>
          </a:xfrm>
        </p:spPr>
        <p:txBody>
          <a:bodyPr lIns="64386" tIns="32193" rIns="64386" bIns="32193">
            <a:noAutofit/>
          </a:bodyPr>
          <a:lstStyle/>
          <a:p>
            <a:pPr marL="160965" indent="-160965" algn="l" defTabSz="643858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52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现实世界的功能性来源于人的愿望，在愿望的驱使下做事并获得结果，一个系统就是各种愿望的集合。</a:t>
            </a:r>
            <a:endParaRPr lang="en-US" altLang="zh-CN" sz="152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0965" indent="-160965" algn="l" defTabSz="643858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52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用例是一种捕获现实世界</a:t>
            </a:r>
            <a:r>
              <a:rPr lang="en-US" altLang="zh-CN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(</a:t>
            </a: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功能性</a:t>
            </a:r>
            <a:r>
              <a:rPr lang="en-US" altLang="zh-CN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)</a:t>
            </a: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需求的方法；</a:t>
            </a:r>
            <a:endParaRPr lang="en-US" altLang="zh-CN" sz="152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0965" indent="-160965" algn="l" defTabSz="643858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52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用例定义了</a:t>
            </a:r>
            <a:r>
              <a:rPr lang="zh-CN" altLang="en-US" sz="1528" kern="120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一组用例实例</a:t>
            </a: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，其中</a:t>
            </a:r>
            <a:r>
              <a:rPr lang="zh-CN" altLang="en-US" sz="1528" kern="120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每个实例</a:t>
            </a: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都是系统所执行的</a:t>
            </a:r>
            <a:r>
              <a:rPr lang="zh-CN" altLang="en-US" sz="1528" kern="120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一系列操作</a:t>
            </a: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，这些操作生成产生对特定的参与者</a:t>
            </a:r>
            <a:r>
              <a:rPr lang="zh-CN" altLang="en-US" sz="1528" kern="120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有价值</a:t>
            </a: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而且</a:t>
            </a:r>
            <a:r>
              <a:rPr lang="zh-CN" altLang="en-US" sz="1528" kern="120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可观测</a:t>
            </a:r>
            <a:r>
              <a:rPr lang="zh-CN" altLang="en-US" sz="152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的结果</a:t>
            </a:r>
          </a:p>
        </p:txBody>
      </p:sp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8FFAA49C-1848-DAF7-6C59-02E86CF69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46" y="2864049"/>
            <a:ext cx="3745842" cy="136967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EE3722B-AF3B-C6D0-D29F-B51DB875A08C}"/>
              </a:ext>
            </a:extLst>
          </p:cNvPr>
          <p:cNvSpPr txBox="1"/>
          <p:nvPr/>
        </p:nvSpPr>
        <p:spPr>
          <a:xfrm>
            <a:off x="1818221" y="4340516"/>
            <a:ext cx="1275686" cy="260059"/>
          </a:xfrm>
          <a:prstGeom prst="rect">
            <a:avLst/>
          </a:prstGeom>
          <a:noFill/>
        </p:spPr>
        <p:txBody>
          <a:bodyPr wrap="none" lIns="64386" tIns="32193" rIns="64386" bIns="32193" rtlCol="0">
            <a:noAutofit/>
          </a:bodyPr>
          <a:lstStyle/>
          <a:p>
            <a:pPr marL="0" algn="l" defTabSz="643858" rtl="0" eaLnBrk="1" latinLnBrk="0" hangingPunct="1">
              <a:defRPr sz="126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67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一个完整的用例</a:t>
            </a:r>
          </a:p>
        </p:txBody>
      </p:sp>
      <p:sp>
        <p:nvSpPr>
          <p:cNvPr id="9" name="爆炸形: 8 pt  8">
            <a:extLst>
              <a:ext uri="{FF2B5EF4-FFF2-40B4-BE49-F238E27FC236}">
                <a16:creationId xmlns:a16="http://schemas.microsoft.com/office/drawing/2014/main" id="{FC920A4A-8B6E-B74A-A149-9FDC2C5DCADE}"/>
              </a:ext>
            </a:extLst>
          </p:cNvPr>
          <p:cNvSpPr/>
          <p:nvPr/>
        </p:nvSpPr>
        <p:spPr>
          <a:xfrm>
            <a:off x="4673791" y="2710119"/>
            <a:ext cx="3853340" cy="1890456"/>
          </a:xfrm>
          <a:prstGeom prst="irregularSeal1">
            <a:avLst/>
          </a:prstGeom>
          <a:noFill/>
          <a:ln w="3577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4386" tIns="32193" rIns="64386" bIns="32193" rtlCol="0" anchor="ctr">
            <a:noAutofit/>
          </a:bodyPr>
          <a:lstStyle/>
          <a:p>
            <a:pPr marL="0" algn="ctr" defTabSz="643858" rtl="0" eaLnBrk="1" latinLnBrk="0" hangingPunct="1">
              <a:defRPr sz="126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12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重要的不是用例图！！而是图里无法表达的内容，是用例的规约！！是各种条件，用例的场景，实现场景的一系列操作及其结果</a:t>
            </a:r>
          </a:p>
        </p:txBody>
      </p:sp>
      <p:sp>
        <p:nvSpPr>
          <p:cNvPr id="10000" name="frame-69">
            <a:extLst>
              <a:ext uri="{FF2B5EF4-FFF2-40B4-BE49-F238E27FC236}">
                <a16:creationId xmlns:a16="http://schemas.microsoft.com/office/drawing/2014/main" id="{4A8839E5-40F8-4046-A8F9-D2E26C884FD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</a:t>
            </a:r>
          </a:p>
        </p:txBody>
      </p:sp>
      <p:sp>
        <p:nvSpPr>
          <p:cNvPr id="10001" name="frame-70">
            <a:extLst>
              <a:ext uri="{FF2B5EF4-FFF2-40B4-BE49-F238E27FC236}">
                <a16:creationId xmlns:a16="http://schemas.microsoft.com/office/drawing/2014/main" id="{1537BF3E-A15F-40DE-9985-34A5B2D70F9E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71">
            <a:extLst>
              <a:ext uri="{FF2B5EF4-FFF2-40B4-BE49-F238E27FC236}">
                <a16:creationId xmlns:a16="http://schemas.microsoft.com/office/drawing/2014/main" id="{C8D60BA2-B10C-4367-9585-F0F8B0169458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72">
            <a:extLst>
              <a:ext uri="{FF2B5EF4-FFF2-40B4-BE49-F238E27FC236}">
                <a16:creationId xmlns:a16="http://schemas.microsoft.com/office/drawing/2014/main" id="{9B5F0E07-B35C-45C7-8A08-36B52D04F65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73">
            <a:extLst>
              <a:ext uri="{FF2B5EF4-FFF2-40B4-BE49-F238E27FC236}">
                <a16:creationId xmlns:a16="http://schemas.microsoft.com/office/drawing/2014/main" id="{7A652318-2E39-4633-B504-7F43F65511C8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14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21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400C8683-27D3-0EAC-79E7-DEE80C9FDBC6}"/>
              </a:ext>
            </a:extLst>
          </p:cNvPr>
          <p:cNvSpPr/>
          <p:nvPr/>
        </p:nvSpPr>
        <p:spPr>
          <a:xfrm>
            <a:off x="837193" y="1076325"/>
            <a:ext cx="7469615" cy="352425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441" tIns="30721" rIns="61441" bIns="30721" rtlCol="0" anchor="ctr">
            <a:noAutofit/>
          </a:bodyPr>
          <a:lstStyle/>
          <a:p>
            <a:pPr marL="0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参与者：我希望这台</a:t>
            </a:r>
            <a:r>
              <a:rPr lang="en-US" altLang="zh-CN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ATM </a:t>
            </a: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能支持跨行业务，我插入卡片输入密码后，可以让我选择是取钱还是存钱；为了方便，可以设置一些默认的存取金额按钮；我可以修改密码，也可以挂失</a:t>
            </a:r>
            <a:r>
              <a:rPr lang="en-US" altLang="zh-CN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:</a:t>
            </a: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还有我希望可以交纳电话费、水费、电费等费用；为了安全起见，</a:t>
            </a:r>
            <a:r>
              <a:rPr lang="en-US" altLang="zh-CN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ATM</a:t>
            </a: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上应当有警示小心骗子的提示条，还有摄像头；如果输入三次密码错误，卡片应当被自动吞没。请问下列（动宾短语）哪些是有效用例？为什么？</a:t>
            </a:r>
            <a:endParaRPr lang="en-US" altLang="zh-CN" sz="1277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支持跨行业务？</a:t>
            </a:r>
            <a:endParaRPr lang="en-US" altLang="zh-CN" sz="1277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插入卡片？</a:t>
            </a: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输入密码？</a:t>
            </a: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选择服务？</a:t>
            </a: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取钱？</a:t>
            </a: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存钱？</a:t>
            </a: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挂失卡片？</a:t>
            </a: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交纳费用？</a:t>
            </a: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警示骗子？</a:t>
            </a:r>
          </a:p>
          <a:p>
            <a:pPr marL="614414" lvl="1" indent="-307207" algn="l" defTabSz="614414" rtl="0" eaLnBrk="1" latinLnBrk="0" hangingPunct="1">
              <a:defRPr sz="120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7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三次错误吞没卡片？</a:t>
            </a:r>
          </a:p>
        </p:txBody>
      </p:sp>
      <p:sp>
        <p:nvSpPr>
          <p:cNvPr id="10000" name="frame-74">
            <a:extLst>
              <a:ext uri="{FF2B5EF4-FFF2-40B4-BE49-F238E27FC236}">
                <a16:creationId xmlns:a16="http://schemas.microsoft.com/office/drawing/2014/main" id="{D74FC0F4-B60C-4040-8DBF-77ABD484812C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课堂练习</a:t>
            </a:r>
          </a:p>
        </p:txBody>
      </p:sp>
      <p:sp>
        <p:nvSpPr>
          <p:cNvPr id="10001" name="frame-75">
            <a:extLst>
              <a:ext uri="{FF2B5EF4-FFF2-40B4-BE49-F238E27FC236}">
                <a16:creationId xmlns:a16="http://schemas.microsoft.com/office/drawing/2014/main" id="{6F1117F3-3102-4CDE-A2D3-98BBF848E43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76">
            <a:extLst>
              <a:ext uri="{FF2B5EF4-FFF2-40B4-BE49-F238E27FC236}">
                <a16:creationId xmlns:a16="http://schemas.microsoft.com/office/drawing/2014/main" id="{966719A8-4B3A-4840-AF9E-AF16D8DAA456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77">
            <a:extLst>
              <a:ext uri="{FF2B5EF4-FFF2-40B4-BE49-F238E27FC236}">
                <a16:creationId xmlns:a16="http://schemas.microsoft.com/office/drawing/2014/main" id="{C9B70DA7-847D-4AA3-9226-65B9399445A7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78">
            <a:extLst>
              <a:ext uri="{FF2B5EF4-FFF2-40B4-BE49-F238E27FC236}">
                <a16:creationId xmlns:a16="http://schemas.microsoft.com/office/drawing/2014/main" id="{5BD191E1-73EA-44D7-9214-364A86AC17B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15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34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8D29409-D1CA-6CB5-BC9E-9A48FADD26C2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8191500" cy="3443571"/>
          </a:xfrm>
        </p:spPr>
        <p:txBody>
          <a:bodyPr lIns="67920" tIns="33960" rIns="67920" bIns="33960">
            <a:noAutofit/>
          </a:bodyPr>
          <a:lstStyle/>
          <a:p>
            <a:pPr marL="169801" indent="-169801" algn="l" defTabSz="67920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08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08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用例的特征 </a:t>
            </a:r>
            <a:r>
              <a:rPr lang="en-US" altLang="zh-CN" sz="208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= </a:t>
            </a:r>
            <a:r>
              <a:rPr lang="zh-CN" altLang="en-US" sz="208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用例的本质</a:t>
            </a:r>
            <a:endParaRPr lang="en-US" altLang="zh-CN" sz="208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9402" lvl="1" indent="-169801" algn="l" defTabSz="67920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78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8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正确地识别用例</a:t>
            </a:r>
            <a:endParaRPr lang="en-US" altLang="zh-CN" sz="178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9402" lvl="1" indent="-169801" algn="l" defTabSz="67920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78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8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判别用例是否准确的依据</a:t>
            </a:r>
            <a:endParaRPr lang="en-US" altLang="zh-CN" sz="178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9801" indent="-169801" algn="l" defTabSz="67920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08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08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用例的特征</a:t>
            </a:r>
            <a:endParaRPr lang="en-US" altLang="zh-CN" sz="208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9402" lvl="1" indent="-169801" algn="l" defTabSz="67920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78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83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独立性</a:t>
            </a:r>
            <a:r>
              <a:rPr lang="zh-CN" altLang="en-US" sz="178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：用例相对独立</a:t>
            </a:r>
            <a:r>
              <a:rPr lang="en-US" altLang="zh-CN" sz="178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,</a:t>
            </a:r>
            <a:r>
              <a:rPr lang="zh-CN" altLang="en-US" sz="178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具备“完备”的功能性，不需要借助与其它用例的交互达到参与者的目的</a:t>
            </a:r>
            <a:r>
              <a:rPr lang="en-US" altLang="zh-CN" sz="178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;</a:t>
            </a:r>
          </a:p>
          <a:p>
            <a:pPr marL="509402" lvl="1" indent="-169801" algn="l" defTabSz="67920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78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83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价值性</a:t>
            </a:r>
            <a:r>
              <a:rPr lang="zh-CN" altLang="en-US" sz="178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：用例的执行结果对参与者来说是可观测和有意的；</a:t>
            </a:r>
            <a:endParaRPr lang="en-US" altLang="zh-CN" sz="178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9402" lvl="1" indent="-169801" algn="l" defTabSz="67920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78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83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被动性</a:t>
            </a:r>
            <a:r>
              <a:rPr lang="zh-CN" altLang="en-US" sz="178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：用例由参与者发起，不存在没有参与者的用例，用例不应该主动启动，也不应该主动启动另一个用例；</a:t>
            </a:r>
          </a:p>
        </p:txBody>
      </p:sp>
      <p:sp>
        <p:nvSpPr>
          <p:cNvPr id="10000" name="frame-79">
            <a:extLst>
              <a:ext uri="{FF2B5EF4-FFF2-40B4-BE49-F238E27FC236}">
                <a16:creationId xmlns:a16="http://schemas.microsoft.com/office/drawing/2014/main" id="{D05F8125-C557-4718-BA27-D951039BE85B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用例的特征</a:t>
            </a:r>
          </a:p>
        </p:txBody>
      </p:sp>
      <p:sp>
        <p:nvSpPr>
          <p:cNvPr id="10001" name="frame-80">
            <a:extLst>
              <a:ext uri="{FF2B5EF4-FFF2-40B4-BE49-F238E27FC236}">
                <a16:creationId xmlns:a16="http://schemas.microsoft.com/office/drawing/2014/main" id="{7C5EA28E-C3D1-405A-9DF7-C9A20DE5E92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81">
            <a:extLst>
              <a:ext uri="{FF2B5EF4-FFF2-40B4-BE49-F238E27FC236}">
                <a16:creationId xmlns:a16="http://schemas.microsoft.com/office/drawing/2014/main" id="{EF5739C9-B44A-43EE-B598-3D98E13DCBA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82">
            <a:extLst>
              <a:ext uri="{FF2B5EF4-FFF2-40B4-BE49-F238E27FC236}">
                <a16:creationId xmlns:a16="http://schemas.microsoft.com/office/drawing/2014/main" id="{E2CD6FE4-4B11-42B2-945D-C1B83DB7D69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83">
            <a:extLst>
              <a:ext uri="{FF2B5EF4-FFF2-40B4-BE49-F238E27FC236}">
                <a16:creationId xmlns:a16="http://schemas.microsoft.com/office/drawing/2014/main" id="{5BFC3201-95A9-465E-A7B9-5BBC879311C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16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818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5D53D06-264D-6739-EBAC-1EBDE00D6FDD}"/>
              </a:ext>
            </a:extLst>
          </p:cNvPr>
          <p:cNvSpPr>
            <a:spLocks noGrp="1"/>
          </p:cNvSpPr>
          <p:nvPr/>
        </p:nvSpPr>
        <p:spPr>
          <a:xfrm>
            <a:off x="575088" y="1076325"/>
            <a:ext cx="7993823" cy="3524250"/>
          </a:xfrm>
        </p:spPr>
        <p:txBody>
          <a:bodyPr lIns="69512" tIns="34756" rIns="69512" bIns="34756">
            <a:noAutofit/>
          </a:bodyPr>
          <a:lstStyle/>
          <a:p>
            <a:pPr marL="173779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从如下角度思考用例</a:t>
            </a:r>
            <a:endParaRPr lang="en-US" altLang="zh-CN" sz="212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参与者对系统的期望是什么</a:t>
            </a:r>
            <a:endParaRPr lang="en-US" altLang="zh-CN" sz="182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参与者打算在这个系统中做些什么事情</a:t>
            </a:r>
            <a:endParaRPr lang="en-US" altLang="zh-CN" sz="182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参与者做这件事情的目的是什么</a:t>
            </a:r>
            <a:endParaRPr lang="en-US" altLang="zh-CN" sz="182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做完这件事情会得到什么结果</a:t>
            </a:r>
          </a:p>
        </p:txBody>
      </p:sp>
      <p:sp>
        <p:nvSpPr>
          <p:cNvPr id="10000" name="frame-84">
            <a:extLst>
              <a:ext uri="{FF2B5EF4-FFF2-40B4-BE49-F238E27FC236}">
                <a16:creationId xmlns:a16="http://schemas.microsoft.com/office/drawing/2014/main" id="{005D9913-BD55-48C4-9B6E-89607BB89749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用例的获取</a:t>
            </a:r>
          </a:p>
        </p:txBody>
      </p:sp>
      <p:sp>
        <p:nvSpPr>
          <p:cNvPr id="10001" name="frame-85">
            <a:extLst>
              <a:ext uri="{FF2B5EF4-FFF2-40B4-BE49-F238E27FC236}">
                <a16:creationId xmlns:a16="http://schemas.microsoft.com/office/drawing/2014/main" id="{9FE3C284-B6C7-4904-81C1-E6AFFFC53272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86">
            <a:extLst>
              <a:ext uri="{FF2B5EF4-FFF2-40B4-BE49-F238E27FC236}">
                <a16:creationId xmlns:a16="http://schemas.microsoft.com/office/drawing/2014/main" id="{C223D5B7-D203-4E03-9886-D1C1C2A32F84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87">
            <a:extLst>
              <a:ext uri="{FF2B5EF4-FFF2-40B4-BE49-F238E27FC236}">
                <a16:creationId xmlns:a16="http://schemas.microsoft.com/office/drawing/2014/main" id="{030C5F18-4115-4C54-8E6D-8D1434F9CCD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88">
            <a:extLst>
              <a:ext uri="{FF2B5EF4-FFF2-40B4-BE49-F238E27FC236}">
                <a16:creationId xmlns:a16="http://schemas.microsoft.com/office/drawing/2014/main" id="{7B8B4738-3874-4E29-8DF9-D7524A38C38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17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089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9929AD5-43A0-9995-C8A4-ABE06B4D68DB}"/>
              </a:ext>
            </a:extLst>
          </p:cNvPr>
          <p:cNvSpPr>
            <a:spLocks noGrp="1"/>
          </p:cNvSpPr>
          <p:nvPr/>
        </p:nvSpPr>
        <p:spPr>
          <a:xfrm>
            <a:off x="575088" y="1076325"/>
            <a:ext cx="7993823" cy="3524250"/>
          </a:xfrm>
        </p:spPr>
        <p:txBody>
          <a:bodyPr lIns="69512" tIns="34756" rIns="69512" bIns="34756">
            <a:noAutofit/>
          </a:bodyPr>
          <a:lstStyle/>
          <a:p>
            <a:pPr marL="173779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用例用来捕获功能性需求，但是</a:t>
            </a:r>
            <a:r>
              <a:rPr lang="zh-CN" altLang="en-US" sz="2129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用例≠功能</a:t>
            </a:r>
            <a:r>
              <a:rPr lang="zh-CN" altLang="en-US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！！</a:t>
            </a:r>
            <a:endParaRPr lang="en-US" altLang="zh-CN" sz="212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功能  </a:t>
            </a:r>
            <a:r>
              <a:rPr lang="en-US" altLang="zh-CN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=  </a:t>
            </a:r>
            <a:r>
              <a:rPr lang="zh-CN" altLang="en-US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输入</a:t>
            </a:r>
            <a:r>
              <a:rPr lang="en-US" altLang="zh-CN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zh-CN" altLang="en-US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计算</a:t>
            </a:r>
            <a:r>
              <a:rPr lang="en-US" altLang="zh-CN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zh-CN" altLang="en-US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输出</a:t>
            </a:r>
            <a:endParaRPr lang="en-US" altLang="zh-CN" sz="212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功能是计算机世界的事物</a:t>
            </a:r>
            <a:endParaRPr lang="en-US" altLang="zh-CN" sz="182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功能可以从用例里分析得到</a:t>
            </a:r>
          </a:p>
          <a:p>
            <a:pPr marL="173779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12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2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打印资料和进纸哪个是用例？哪个是功能？</a:t>
            </a:r>
            <a:endParaRPr lang="en-US" altLang="zh-CN" sz="212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打印资料是一个用例，进纸是一个功能</a:t>
            </a:r>
            <a:endParaRPr lang="en-US" altLang="zh-CN" sz="182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82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82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复印资料的时候也需要进纸</a:t>
            </a:r>
          </a:p>
        </p:txBody>
      </p:sp>
      <p:sp>
        <p:nvSpPr>
          <p:cNvPr id="10000" name="frame-89">
            <a:extLst>
              <a:ext uri="{FF2B5EF4-FFF2-40B4-BE49-F238E27FC236}">
                <a16:creationId xmlns:a16="http://schemas.microsoft.com/office/drawing/2014/main" id="{5F66AAF2-EAA8-438C-8877-8A7440FD075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区别用例和功能</a:t>
            </a:r>
          </a:p>
        </p:txBody>
      </p:sp>
      <p:sp>
        <p:nvSpPr>
          <p:cNvPr id="10001" name="frame-90">
            <a:extLst>
              <a:ext uri="{FF2B5EF4-FFF2-40B4-BE49-F238E27FC236}">
                <a16:creationId xmlns:a16="http://schemas.microsoft.com/office/drawing/2014/main" id="{4DB91ADD-A0F3-485C-AFF4-72548988433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91">
            <a:extLst>
              <a:ext uri="{FF2B5EF4-FFF2-40B4-BE49-F238E27FC236}">
                <a16:creationId xmlns:a16="http://schemas.microsoft.com/office/drawing/2014/main" id="{217E55F8-0BAB-481A-835C-1A8B8BA9EBF0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92">
            <a:extLst>
              <a:ext uri="{FF2B5EF4-FFF2-40B4-BE49-F238E27FC236}">
                <a16:creationId xmlns:a16="http://schemas.microsoft.com/office/drawing/2014/main" id="{007338C4-27DE-4550-B27B-5599F6F0B15E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93">
            <a:extLst>
              <a:ext uri="{FF2B5EF4-FFF2-40B4-BE49-F238E27FC236}">
                <a16:creationId xmlns:a16="http://schemas.microsoft.com/office/drawing/2014/main" id="{15330322-BFF0-4071-8611-739401DEB82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18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0237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AC562-6139-DAB9-23CC-EBD63305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B443FFF-B796-917B-C712-6FBCAF24E43B}"/>
              </a:ext>
            </a:extLst>
          </p:cNvPr>
          <p:cNvSpPr>
            <a:spLocks noGrp="1"/>
          </p:cNvSpPr>
          <p:nvPr/>
        </p:nvSpPr>
        <p:spPr>
          <a:xfrm>
            <a:off x="623340" y="1076325"/>
            <a:ext cx="7897319" cy="3524250"/>
          </a:xfrm>
        </p:spPr>
        <p:txBody>
          <a:bodyPr lIns="67523" tIns="33762" rIns="67523" bIns="33762">
            <a:noAutofit/>
          </a:bodyPr>
          <a:lstStyle/>
          <a:p>
            <a:pPr marL="168808" indent="-168808" algn="l" defTabSz="675233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91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用例用来捕获功能性需求，但是</a:t>
            </a:r>
            <a:r>
              <a:rPr lang="zh-CN" altLang="en-US" sz="1776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用例≠功能</a:t>
            </a:r>
            <a:r>
              <a:rPr lang="zh-CN" altLang="en-US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！！</a:t>
            </a:r>
            <a:endParaRPr lang="en-US" altLang="zh-CN" sz="1776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8808" indent="-168808" algn="l" defTabSz="675233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91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功能  </a:t>
            </a:r>
            <a:r>
              <a:rPr lang="en-US" altLang="zh-CN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=  </a:t>
            </a:r>
            <a:r>
              <a:rPr lang="zh-CN" altLang="en-US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输入</a:t>
            </a:r>
            <a:r>
              <a:rPr lang="en-US" altLang="zh-CN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zh-CN" altLang="en-US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计算</a:t>
            </a:r>
            <a:r>
              <a:rPr lang="en-US" altLang="zh-CN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-</a:t>
            </a:r>
            <a:r>
              <a:rPr lang="zh-CN" altLang="en-US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输出</a:t>
            </a:r>
            <a:endParaRPr lang="en-US" altLang="zh-CN" sz="1776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6425" lvl="1" indent="-168808" algn="l" defTabSz="675233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63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3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功能是计算机世界的事物</a:t>
            </a:r>
            <a:endParaRPr lang="en-US" altLang="zh-CN" sz="163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6425" lvl="1" indent="-168808" algn="l" defTabSz="675233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63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3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功能没有上下文，可以脱离需求独立存在，因此，同样的功能可被用于不同的用例中</a:t>
            </a:r>
            <a:endParaRPr lang="en-US" altLang="zh-CN" sz="163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6425" lvl="1" indent="-168808" algn="l" defTabSz="675233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63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3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问题：打印资料和进纸哪个是用例？哪个是功能？</a:t>
            </a:r>
            <a:endParaRPr lang="en-US" altLang="zh-CN" sz="163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844041" lvl="2" indent="-168808" algn="l" defTabSz="675233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36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打印资料是一个用例，进纸是一个功能</a:t>
            </a:r>
            <a:endParaRPr lang="en-US" altLang="zh-CN" sz="150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844041" lvl="2" indent="-168808" algn="l" defTabSz="675233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36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0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复印资料的时候也需要进纸</a:t>
            </a:r>
            <a:endParaRPr lang="en-US" altLang="zh-CN" sz="150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8808" indent="-168808" algn="l" defTabSz="675233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91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功能可以从用例里分析得到，用例可以认为是为了完成一个目标的一些列功能的集合</a:t>
            </a:r>
            <a:endParaRPr lang="en-US" altLang="zh-CN" sz="1776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6425" lvl="1" indent="-168808" algn="l" defTabSz="675233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63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63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94">
            <a:extLst>
              <a:ext uri="{FF2B5EF4-FFF2-40B4-BE49-F238E27FC236}">
                <a16:creationId xmlns:a16="http://schemas.microsoft.com/office/drawing/2014/main" id="{AA68BFB2-35BF-40E8-BB4A-E025C9F5ACE1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区别用例和功能</a:t>
            </a:r>
          </a:p>
        </p:txBody>
      </p:sp>
      <p:sp>
        <p:nvSpPr>
          <p:cNvPr id="10001" name="frame-95">
            <a:extLst>
              <a:ext uri="{FF2B5EF4-FFF2-40B4-BE49-F238E27FC236}">
                <a16:creationId xmlns:a16="http://schemas.microsoft.com/office/drawing/2014/main" id="{6510B05C-0718-436A-9D05-E717721711AA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96">
            <a:extLst>
              <a:ext uri="{FF2B5EF4-FFF2-40B4-BE49-F238E27FC236}">
                <a16:creationId xmlns:a16="http://schemas.microsoft.com/office/drawing/2014/main" id="{64178BCC-D3DD-411D-93DB-CAE48E831CF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97">
            <a:extLst>
              <a:ext uri="{FF2B5EF4-FFF2-40B4-BE49-F238E27FC236}">
                <a16:creationId xmlns:a16="http://schemas.microsoft.com/office/drawing/2014/main" id="{39A5001F-AEAC-4BC1-8B16-57E197A337D9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98">
            <a:extLst>
              <a:ext uri="{FF2B5EF4-FFF2-40B4-BE49-F238E27FC236}">
                <a16:creationId xmlns:a16="http://schemas.microsoft.com/office/drawing/2014/main" id="{3E9FB23B-0AF2-4D12-A4BA-D1A9EF89A026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19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67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1">
            <a:extLst>
              <a:ext uri="{FF2B5EF4-FFF2-40B4-BE49-F238E27FC236}">
                <a16:creationId xmlns:a16="http://schemas.microsoft.com/office/drawing/2014/main" id="{92FACE8F-7593-7698-A0E1-0BF26D8220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994" y="1076325"/>
            <a:ext cx="6340321" cy="2927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Gerade Verbindung 14">
            <a:extLst>
              <a:ext uri="{FF2B5EF4-FFF2-40B4-BE49-F238E27FC236}">
                <a16:creationId xmlns:a16="http://schemas.microsoft.com/office/drawing/2014/main" id="{01D5871B-9F0E-595B-BD87-CDEA7D34B204}"/>
              </a:ext>
            </a:extLst>
          </p:cNvPr>
          <p:cNvCxnSpPr/>
          <p:nvPr/>
        </p:nvCxnSpPr>
        <p:spPr bwMode="auto">
          <a:xfrm>
            <a:off x="2272622" y="1316897"/>
            <a:ext cx="2634030" cy="2347693"/>
          </a:xfrm>
          <a:prstGeom prst="line">
            <a:avLst/>
          </a:prstGeom>
          <a:solidFill>
            <a:schemeClr val="accent1"/>
          </a:solidFill>
          <a:ln w="200660" cap="flat" cmpd="sng" algn="ctr">
            <a:solidFill>
              <a:srgbClr val="FF3300">
                <a:alpha val="4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feld 16">
            <a:extLst>
              <a:ext uri="{FF2B5EF4-FFF2-40B4-BE49-F238E27FC236}">
                <a16:creationId xmlns:a16="http://schemas.microsoft.com/office/drawing/2014/main" id="{FD726F52-943A-7426-191D-2B92DA38A366}"/>
              </a:ext>
            </a:extLst>
          </p:cNvPr>
          <p:cNvSpPr txBox="1"/>
          <p:nvPr/>
        </p:nvSpPr>
        <p:spPr>
          <a:xfrm>
            <a:off x="7097916" y="2805601"/>
            <a:ext cx="703090" cy="923945"/>
          </a:xfrm>
          <a:prstGeom prst="rect">
            <a:avLst/>
          </a:prstGeom>
          <a:noFill/>
        </p:spPr>
        <p:txBody>
          <a:bodyPr wrap="none" lIns="72238" tIns="36119" rIns="72238" bIns="36119" rtlCol="0">
            <a:noAutofit/>
          </a:bodyPr>
          <a:lstStyle/>
          <a:p>
            <a:pPr marL="0" algn="l" defTabSz="722376" rtl="0" eaLnBrk="1" latinLnBrk="0" hangingPunct="1">
              <a:defRPr sz="495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4950" b="1" kern="1200" dirty="0">
                <a:solidFill>
                  <a:srgbClr val="00B050"/>
                </a:solidFill>
                <a:latin typeface="Noto Sans SC"/>
                <a:ea typeface="Noto Sans SC"/>
                <a:cs typeface="Noto Sans SC"/>
              </a:rPr>
              <a:t>✓</a:t>
            </a:r>
          </a:p>
        </p:txBody>
      </p:sp>
      <p:sp>
        <p:nvSpPr>
          <p:cNvPr id="10000" name="frame-99">
            <a:extLst>
              <a:ext uri="{FF2B5EF4-FFF2-40B4-BE49-F238E27FC236}">
                <a16:creationId xmlns:a16="http://schemas.microsoft.com/office/drawing/2014/main" id="{5D71D09B-78BF-43F9-A0BE-050736779044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哪个用例是正确的</a:t>
            </a:r>
          </a:p>
        </p:txBody>
      </p:sp>
      <p:sp>
        <p:nvSpPr>
          <p:cNvPr id="10001" name="frame-100">
            <a:extLst>
              <a:ext uri="{FF2B5EF4-FFF2-40B4-BE49-F238E27FC236}">
                <a16:creationId xmlns:a16="http://schemas.microsoft.com/office/drawing/2014/main" id="{74376F27-CB9C-4EE2-893A-B154FDF9CC9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01">
            <a:extLst>
              <a:ext uri="{FF2B5EF4-FFF2-40B4-BE49-F238E27FC236}">
                <a16:creationId xmlns:a16="http://schemas.microsoft.com/office/drawing/2014/main" id="{142BC3D7-4BDB-4E8D-BEBE-1BCCB0DB1BFF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02">
            <a:extLst>
              <a:ext uri="{FF2B5EF4-FFF2-40B4-BE49-F238E27FC236}">
                <a16:creationId xmlns:a16="http://schemas.microsoft.com/office/drawing/2014/main" id="{C258F922-C046-4D96-94E5-10401400709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03">
            <a:extLst>
              <a:ext uri="{FF2B5EF4-FFF2-40B4-BE49-F238E27FC236}">
                <a16:creationId xmlns:a16="http://schemas.microsoft.com/office/drawing/2014/main" id="{49E8C3DF-4953-49B5-AF19-5D6CFF0C6D23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20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59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FDD32-5026-1A5E-FEA8-FA02DC4BE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roup 333">
            <a:extLst>
              <a:ext uri="{FF2B5EF4-FFF2-40B4-BE49-F238E27FC236}">
                <a16:creationId xmlns:a16="http://schemas.microsoft.com/office/drawing/2014/main" id="{ED6F9CD7-A230-34BB-550E-9999791355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422550"/>
              </p:ext>
            </p:extLst>
          </p:nvPr>
        </p:nvGraphicFramePr>
        <p:xfrm>
          <a:off x="476250" y="1057275"/>
          <a:ext cx="8191500" cy="2952750"/>
        </p:xfrm>
        <a:graphic>
          <a:graphicData uri="http://schemas.openxmlformats.org/drawingml/2006/table">
            <a:tbl>
              <a:tblPr/>
              <a:tblGrid>
                <a:gridCol w="548058">
                  <a:extLst>
                    <a:ext uri="{9D8B030D-6E8A-4147-A177-3AD203B41FA5}">
                      <a16:colId xmlns:a16="http://schemas.microsoft.com/office/drawing/2014/main" val="3492327641"/>
                    </a:ext>
                  </a:extLst>
                </a:gridCol>
                <a:gridCol w="562736">
                  <a:extLst>
                    <a:ext uri="{9D8B030D-6E8A-4147-A177-3AD203B41FA5}">
                      <a16:colId xmlns:a16="http://schemas.microsoft.com/office/drawing/2014/main" val="466528413"/>
                    </a:ext>
                  </a:extLst>
                </a:gridCol>
                <a:gridCol w="353954">
                  <a:extLst>
                    <a:ext uri="{9D8B030D-6E8A-4147-A177-3AD203B41FA5}">
                      <a16:colId xmlns:a16="http://schemas.microsoft.com/office/drawing/2014/main" val="3261038121"/>
                    </a:ext>
                  </a:extLst>
                </a:gridCol>
                <a:gridCol w="329488">
                  <a:extLst>
                    <a:ext uri="{9D8B030D-6E8A-4147-A177-3AD203B41FA5}">
                      <a16:colId xmlns:a16="http://schemas.microsoft.com/office/drawing/2014/main" val="3424048159"/>
                    </a:ext>
                  </a:extLst>
                </a:gridCol>
                <a:gridCol w="6397264">
                  <a:extLst>
                    <a:ext uri="{9D8B030D-6E8A-4147-A177-3AD203B41FA5}">
                      <a16:colId xmlns:a16="http://schemas.microsoft.com/office/drawing/2014/main" val="1671367425"/>
                    </a:ext>
                  </a:extLst>
                </a:gridCol>
              </a:tblGrid>
              <a:tr h="204190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Use Case UC-#:</a:t>
                      </a:r>
                      <a:endParaRPr kumimoji="0" lang="en-US" altLang="zh-CN" sz="862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Name / Identifier	[verb phrase]</a:t>
                      </a:r>
                      <a:endParaRPr kumimoji="0" lang="en-US" altLang="zh-CN" sz="862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342666"/>
                  </a:ext>
                </a:extLst>
              </a:tr>
              <a:tr h="20419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Related Requirements: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List of the requirements that are addressed by this use case</a:t>
                      </a:r>
                      <a:endParaRPr kumimoji="0" lang="en-US" altLang="zh-CN" sz="862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116035"/>
                  </a:ext>
                </a:extLst>
              </a:tr>
              <a:tr h="21696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Initiating Actor:</a:t>
                      </a:r>
                      <a:endParaRPr kumimoji="0" lang="en-US" altLang="zh-CN" sz="862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Actor who initiates interaction with the system to accomplish a goal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583790"/>
                  </a:ext>
                </a:extLst>
              </a:tr>
              <a:tr h="20419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Actor’s Goal:</a:t>
                      </a:r>
                      <a:endParaRPr kumimoji="0" lang="en-US" altLang="zh-CN" sz="862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Informal description of the initiating actor’s goal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357220"/>
                  </a:ext>
                </a:extLst>
              </a:tr>
              <a:tr h="20419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Participating Actors: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Actors that will help achieve the goal or need to know about the outcome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56121"/>
                  </a:ext>
                </a:extLst>
              </a:tr>
              <a:tr h="204190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Preconditions: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What is assumed about the state of the system before the interaction starts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258332"/>
                  </a:ext>
                </a:extLst>
              </a:tr>
              <a:tr h="208609">
                <a:tc gridSpan="4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Postconditions: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What are the results after the goal is achieved or abandoned; i.e., what must be true about the system at the time the execution of this use case is completed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2492836"/>
                  </a:ext>
                </a:extLst>
              </a:tr>
              <a:tr h="186511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Flow of Events for Main Success Scenario: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583991363"/>
                  </a:ext>
                </a:extLst>
              </a:tr>
              <a:tr h="2086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862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1.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The initiating actor delivers an action or stimulus to the system (the arrow indicates the direction of interaction, to- or from the system)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1437173157"/>
                  </a:ext>
                </a:extLst>
              </a:tr>
              <a:tr h="2086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862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2.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The system’s reaction or response to the stimulus; the system can also send a message to a participating actor, if any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1746093586"/>
                  </a:ext>
                </a:extLst>
              </a:tr>
              <a:tr h="104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862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3.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…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645802306"/>
                  </a:ext>
                </a:extLst>
              </a:tr>
              <a:tr h="274020">
                <a:tc gridSpan="5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Flow of Events for Extensions (Alternate Scenarios):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What could go wrong? List the exceptions to the routine and describe how they are handled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4044419000"/>
                  </a:ext>
                </a:extLst>
              </a:tr>
              <a:tr h="104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endParaRPr kumimoji="0" lang="en-US" altLang="zh-CN" sz="862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1a.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For example, actor enters invalid data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91464853"/>
                  </a:ext>
                </a:extLst>
              </a:tr>
              <a:tr h="104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endParaRPr kumimoji="0" lang="en-US" altLang="zh-CN" sz="862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2a.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For example, power outage, network failure, or requested data unavailable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704339190"/>
                  </a:ext>
                </a:extLst>
              </a:tr>
              <a:tr h="1043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 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 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…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2015088260"/>
                  </a:ext>
                </a:extLst>
              </a:tr>
              <a:tr h="104305">
                <a:tc gridSpan="3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 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 </a:t>
                      </a:r>
                      <a:endParaRPr kumimoji="0" lang="en-US" altLang="zh-CN" sz="862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796194198"/>
                  </a:ext>
                </a:extLst>
              </a:tr>
              <a:tr h="106957">
                <a:tc gridSpan="5">
                  <a:txBody>
                    <a:bodyPr/>
                    <a:lstStyle/>
                    <a:p>
                      <a:pPr marL="117475" marR="0" lvl="0" indent="-117475" algn="just" defTabSz="914400" rtl="0" eaLnBrk="1" fontAlgn="base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86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The arrows on the left indicate the direction of interaction: </a:t>
                      </a:r>
                      <a:r>
                        <a:rPr kumimoji="0" lang="en-US" altLang="zh-CN" sz="862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sym typeface="Symbol" panose="05050102010706020507" pitchFamily="18" charset="2"/>
                        </a:rPr>
                        <a:t></a:t>
                      </a:r>
                      <a:r>
                        <a:rPr kumimoji="0" lang="en-US" altLang="zh-CN" sz="86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 Actor’s action;  </a:t>
                      </a:r>
                      <a:r>
                        <a:rPr kumimoji="0" lang="en-US" altLang="zh-CN" sz="862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sym typeface="Symbol" panose="05050102010706020507" pitchFamily="18" charset="2"/>
                        </a:rPr>
                        <a:t></a:t>
                      </a:r>
                      <a:r>
                        <a:rPr kumimoji="0" lang="en-US" altLang="zh-CN" sz="862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SC" panose="030F0702030302020204" pitchFamily="66" charset="0"/>
                          <a:ea typeface="Noto Sans SC" panose="02010600030101010101" pitchFamily="2" charset="-122"/>
                          <a:cs typeface="Noto Sans SC"/>
                        </a:rPr>
                        <a:t> System’s reaction</a:t>
                      </a:r>
                      <a:endParaRPr kumimoji="0" lang="en-US" altLang="zh-CN" sz="862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SC" panose="02020603050405020304" pitchFamily="18" charset="0"/>
                        <a:ea typeface="Noto Sans SC" panose="02010600030101010101" pitchFamily="2" charset="-122"/>
                        <a:cs typeface="Noto Sans SC" panose="02020603050405020304" pitchFamily="18" charset="0"/>
                      </a:endParaRPr>
                    </a:p>
                  </a:txBody>
                  <a:tcPr marL="38100" marR="3810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tc hMerge="1">
                  <a:txBody>
                    <a:bodyPr/>
                    <a:lstStyle/>
                    <a:p>
                      <a:endParaRPr lang="zh-CN" altLang="en-US" sz="862"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38100" marR="38100" marT="0" marB="0"/>
                </a:tc>
                <a:extLst>
                  <a:ext uri="{0D108BD9-81ED-4DB2-BD59-A6C34878D82A}">
                    <a16:rowId xmlns:a16="http://schemas.microsoft.com/office/drawing/2014/main" val="3888434105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30A64579-5850-40DD-D9DC-BC822BE6455C}"/>
              </a:ext>
            </a:extLst>
          </p:cNvPr>
          <p:cNvSpPr txBox="1"/>
          <p:nvPr/>
        </p:nvSpPr>
        <p:spPr>
          <a:xfrm>
            <a:off x="476250" y="4324350"/>
            <a:ext cx="8191500" cy="333375"/>
          </a:xfrm>
          <a:prstGeom prst="rect">
            <a:avLst/>
          </a:prstGeom>
          <a:noFill/>
        </p:spPr>
        <p:txBody>
          <a:bodyPr wrap="none" lIns="60769" tIns="30385" rIns="60769" bIns="30385" rtlCol="0">
            <a:noAutofit/>
          </a:bodyPr>
          <a:lstStyle/>
          <a:p>
            <a:pPr marL="0" indent="0" algn="l" defTabSz="607693" rtl="0" eaLnBrk="1" latinLnBrk="0" hangingPunct="1">
              <a:defRPr sz="1275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275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常见问题</a:t>
            </a:r>
            <a:endParaRPr lang="en-US" altLang="zh-CN" sz="1275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104">
            <a:extLst>
              <a:ext uri="{FF2B5EF4-FFF2-40B4-BE49-F238E27FC236}">
                <a16:creationId xmlns:a16="http://schemas.microsoft.com/office/drawing/2014/main" id="{25E26D97-5347-4E3B-A127-90C5F51CAE4F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用例规约</a:t>
            </a:r>
          </a:p>
        </p:txBody>
      </p:sp>
      <p:sp>
        <p:nvSpPr>
          <p:cNvPr id="10001" name="frame-105">
            <a:extLst>
              <a:ext uri="{FF2B5EF4-FFF2-40B4-BE49-F238E27FC236}">
                <a16:creationId xmlns:a16="http://schemas.microsoft.com/office/drawing/2014/main" id="{CE405E14-12E7-4CB1-AE87-7F7B3BE6F095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06">
            <a:extLst>
              <a:ext uri="{FF2B5EF4-FFF2-40B4-BE49-F238E27FC236}">
                <a16:creationId xmlns:a16="http://schemas.microsoft.com/office/drawing/2014/main" id="{282946DD-E3D7-474A-930F-93A71466922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07">
            <a:extLst>
              <a:ext uri="{FF2B5EF4-FFF2-40B4-BE49-F238E27FC236}">
                <a16:creationId xmlns:a16="http://schemas.microsoft.com/office/drawing/2014/main" id="{40E8A4E6-E5C2-4DDB-A4F9-BA6BF9474E6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08">
            <a:extLst>
              <a:ext uri="{FF2B5EF4-FFF2-40B4-BE49-F238E27FC236}">
                <a16:creationId xmlns:a16="http://schemas.microsoft.com/office/drawing/2014/main" id="{5B6F69E4-8502-4CB1-8838-4A78BE4E017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21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226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FDBEAF-C0E6-BE64-42D0-2DDA4C70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2DADC75-2CDE-E71B-BA16-77427A1A8BCD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8191500" cy="548382"/>
          </a:xfrm>
        </p:spPr>
        <p:txBody>
          <a:bodyPr lIns="71230" tIns="35615" rIns="71230" bIns="35615">
            <a:noAutofit/>
          </a:bodyPr>
          <a:lstStyle/>
          <a:p>
            <a:pPr marL="178076" indent="-178076" algn="l" defTabSz="712304" rtl="0" eaLnBrk="1" latinLnBrk="0" hangingPunct="1">
              <a:buFont typeface="Noto Sans SC" panose="020B0604020202020204" pitchFamily="34" charset="0"/>
              <a:buChar char="•"/>
              <a:defRPr sz="218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21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[UML </a:t>
            </a:r>
            <a:r>
              <a:rPr lang="zh-CN" altLang="en-US" sz="21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定义</a:t>
            </a:r>
            <a:r>
              <a:rPr lang="en-US" altLang="zh-CN" sz="21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] </a:t>
            </a:r>
            <a:r>
              <a:rPr lang="zh-CN" altLang="en-US" sz="21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参与者是</a:t>
            </a:r>
            <a:r>
              <a:rPr lang="en-US" altLang="zh-CN" sz="21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”</a:t>
            </a:r>
            <a:r>
              <a:rPr lang="zh-CN" altLang="en-US" sz="21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在系统之外与系统交互的某人或某事物</a:t>
            </a:r>
            <a:r>
              <a:rPr lang="en-US" altLang="zh-CN" sz="21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”</a:t>
            </a:r>
          </a:p>
          <a:p>
            <a:pPr marL="534228" lvl="1" indent="-178076" algn="l" defTabSz="712304" rtl="0" eaLnBrk="1" latinLnBrk="0" hangingPunct="1">
              <a:buFont typeface="Noto Sans SC" panose="020B0604020202020204" pitchFamily="34" charset="0"/>
              <a:buChar char="•"/>
              <a:defRPr sz="1870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87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08E2D9A0-5050-ACEE-294D-BEC29E183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481" y="2052889"/>
            <a:ext cx="4134460" cy="1981251"/>
          </a:xfrm>
          <a:prstGeom prst="rect">
            <a:avLst/>
          </a:prstGeom>
        </p:spPr>
      </p:pic>
      <p:sp>
        <p:nvSpPr>
          <p:cNvPr id="10000" name="frame-109">
            <a:extLst>
              <a:ext uri="{FF2B5EF4-FFF2-40B4-BE49-F238E27FC236}">
                <a16:creationId xmlns:a16="http://schemas.microsoft.com/office/drawing/2014/main" id="{B4C80290-4DDB-43CE-B0EF-4A557AA12A56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参与者</a:t>
            </a:r>
          </a:p>
        </p:txBody>
      </p:sp>
      <p:sp>
        <p:nvSpPr>
          <p:cNvPr id="10001" name="frame-110">
            <a:extLst>
              <a:ext uri="{FF2B5EF4-FFF2-40B4-BE49-F238E27FC236}">
                <a16:creationId xmlns:a16="http://schemas.microsoft.com/office/drawing/2014/main" id="{E12506ED-600D-46B0-A0C9-92A39A604B26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11">
            <a:extLst>
              <a:ext uri="{FF2B5EF4-FFF2-40B4-BE49-F238E27FC236}">
                <a16:creationId xmlns:a16="http://schemas.microsoft.com/office/drawing/2014/main" id="{5E688206-FF54-4A07-8E59-245875071E82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12">
            <a:extLst>
              <a:ext uri="{FF2B5EF4-FFF2-40B4-BE49-F238E27FC236}">
                <a16:creationId xmlns:a16="http://schemas.microsoft.com/office/drawing/2014/main" id="{2FC4DBC1-5F67-479E-B5D3-B04899616B8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13">
            <a:extLst>
              <a:ext uri="{FF2B5EF4-FFF2-40B4-BE49-F238E27FC236}">
                <a16:creationId xmlns:a16="http://schemas.microsoft.com/office/drawing/2014/main" id="{3A716F23-AAE4-4762-87A4-45427FC78B7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22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9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58928728-3A65-971F-1393-1052939E44AE}"/>
              </a:ext>
            </a:extLst>
          </p:cNvPr>
          <p:cNvSpPr/>
          <p:nvPr/>
        </p:nvSpPr>
        <p:spPr>
          <a:xfrm>
            <a:off x="980427" y="1076325"/>
            <a:ext cx="7188312" cy="70650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979" tIns="34489" rIns="68979" bIns="34489" rtlCol="0" anchor="ctr">
            <a:noAutofit/>
          </a:bodyPr>
          <a:lstStyle/>
          <a:p>
            <a:pPr marL="0" algn="l" defTabSz="689789" rtl="0" eaLnBrk="1" latinLnBrk="0" hangingPunct="1">
              <a:defRPr sz="135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6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现实中的银行开户场景：小王到银行去开户，向大厅经理询问了办理手续，填写了表单，交给柜台职员，拿到了银行存折。</a:t>
            </a:r>
            <a:r>
              <a:rPr lang="zh-CN" altLang="en-US" sz="1660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谁是参与者？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3ABAAF1-DEE2-D108-A182-EE666014E8DB}"/>
              </a:ext>
            </a:extLst>
          </p:cNvPr>
          <p:cNvSpPr/>
          <p:nvPr/>
        </p:nvSpPr>
        <p:spPr>
          <a:xfrm>
            <a:off x="980426" y="2188568"/>
            <a:ext cx="7188313" cy="83160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979" tIns="34489" rIns="68979" bIns="34489" rtlCol="0" anchor="ctr">
            <a:noAutofit/>
          </a:bodyPr>
          <a:lstStyle/>
          <a:p>
            <a:pPr marL="0" algn="l" defTabSz="689789" rtl="0" eaLnBrk="1" latinLnBrk="0" hangingPunct="1">
              <a:defRPr sz="135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66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1</a:t>
            </a:r>
            <a:r>
              <a:rPr lang="zh-CN" altLang="en-US" sz="166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、谁主动发出动作且对系统有明确目标？</a:t>
            </a:r>
            <a:endParaRPr lang="en-US" altLang="zh-CN" sz="166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0" algn="l" defTabSz="689789" rtl="0" eaLnBrk="1" latinLnBrk="0" hangingPunct="1">
              <a:defRPr sz="135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66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2</a:t>
            </a:r>
            <a:r>
              <a:rPr lang="zh-CN" altLang="en-US" sz="166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、系统为谁服务？</a:t>
            </a: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9587CBB4-95D8-4E9D-8B52-2DD15D9754B0}"/>
              </a:ext>
            </a:extLst>
          </p:cNvPr>
          <p:cNvSpPr/>
          <p:nvPr/>
        </p:nvSpPr>
        <p:spPr>
          <a:xfrm>
            <a:off x="4064885" y="1888606"/>
            <a:ext cx="205386" cy="248014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979" tIns="34489" rIns="68979" bIns="34489" rtlCol="0" anchor="ctr">
            <a:noAutofit/>
          </a:bodyPr>
          <a:lstStyle/>
          <a:p>
            <a:pPr marL="0" algn="ctr" defTabSz="689789" rtl="0" eaLnBrk="1" latinLnBrk="0" hangingPunct="1">
              <a:defRPr sz="135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358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80D1171-3B6E-C8B1-BFFD-DCEBFEF32B92}"/>
              </a:ext>
            </a:extLst>
          </p:cNvPr>
          <p:cNvSpPr txBox="1"/>
          <p:nvPr/>
        </p:nvSpPr>
        <p:spPr>
          <a:xfrm>
            <a:off x="4365859" y="1873308"/>
            <a:ext cx="1570755" cy="278610"/>
          </a:xfrm>
          <a:prstGeom prst="rect">
            <a:avLst/>
          </a:prstGeom>
          <a:noFill/>
        </p:spPr>
        <p:txBody>
          <a:bodyPr wrap="square" lIns="68979" tIns="34489" rIns="68979" bIns="34489">
            <a:noAutofit/>
          </a:bodyPr>
          <a:lstStyle/>
          <a:p>
            <a:pPr marL="0" algn="l" defTabSz="689789" rtl="0" eaLnBrk="1" latinLnBrk="0" hangingPunct="1">
              <a:defRPr sz="135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8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确定系统边界？</a:t>
            </a:r>
            <a:endParaRPr lang="zh-CN" altLang="en-US" sz="135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7A6F8A81-7546-B1C8-C214-4B6F68DE582E}"/>
              </a:ext>
            </a:extLst>
          </p:cNvPr>
          <p:cNvSpPr/>
          <p:nvPr/>
        </p:nvSpPr>
        <p:spPr>
          <a:xfrm>
            <a:off x="2631700" y="3139000"/>
            <a:ext cx="205386" cy="248014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979" tIns="34489" rIns="68979" bIns="34489" rtlCol="0" anchor="ctr">
            <a:noAutofit/>
          </a:bodyPr>
          <a:lstStyle/>
          <a:p>
            <a:pPr marL="0" algn="ctr" defTabSz="689789" rtl="0" eaLnBrk="1" latinLnBrk="0" hangingPunct="1">
              <a:defRPr sz="135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358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CB2C8BD-A21F-F2A1-6440-1F4C90D589F0}"/>
              </a:ext>
            </a:extLst>
          </p:cNvPr>
          <p:cNvSpPr/>
          <p:nvPr/>
        </p:nvSpPr>
        <p:spPr>
          <a:xfrm>
            <a:off x="948134" y="3438961"/>
            <a:ext cx="3283385" cy="83160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979" tIns="34489" rIns="68979" bIns="34489" rtlCol="0" anchor="ctr">
            <a:noAutofit/>
          </a:bodyPr>
          <a:lstStyle/>
          <a:p>
            <a:pPr marL="0" algn="l" defTabSz="689789" rtl="0" eaLnBrk="1" latinLnBrk="0" hangingPunct="1">
              <a:defRPr sz="135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66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1</a:t>
            </a:r>
            <a:r>
              <a:rPr lang="zh-CN" altLang="en-US" sz="166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、小王主动发出动作</a:t>
            </a:r>
            <a:endParaRPr lang="en-US" altLang="zh-CN" sz="166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0" algn="l" defTabSz="689789" rtl="0" eaLnBrk="1" latinLnBrk="0" hangingPunct="1">
              <a:defRPr sz="135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66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2</a:t>
            </a:r>
            <a:r>
              <a:rPr lang="zh-CN" altLang="en-US" sz="166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、系统为小王提供了开户服务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1729D7CB-428A-0895-ECB7-C76EB1EC00F4}"/>
              </a:ext>
            </a:extLst>
          </p:cNvPr>
          <p:cNvSpPr/>
          <p:nvPr/>
        </p:nvSpPr>
        <p:spPr>
          <a:xfrm>
            <a:off x="4365859" y="3790971"/>
            <a:ext cx="244139" cy="213503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979" tIns="34489" rIns="68979" bIns="34489" rtlCol="0" anchor="ctr">
            <a:noAutofit/>
          </a:bodyPr>
          <a:lstStyle/>
          <a:p>
            <a:pPr marL="0" algn="ctr" defTabSz="689789" rtl="0" eaLnBrk="1" latinLnBrk="0" hangingPunct="1">
              <a:defRPr sz="135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358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FA622F1-8212-F66A-217E-4707E31D4DA3}"/>
              </a:ext>
            </a:extLst>
          </p:cNvPr>
          <p:cNvSpPr/>
          <p:nvPr/>
        </p:nvSpPr>
        <p:spPr>
          <a:xfrm>
            <a:off x="4744337" y="3258588"/>
            <a:ext cx="3451529" cy="134198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979" tIns="34489" rIns="68979" bIns="34489" rtlCol="0" anchor="ctr">
            <a:noAutofit/>
          </a:bodyPr>
          <a:lstStyle/>
          <a:p>
            <a:pPr marL="0" algn="l" defTabSz="689789" rtl="0" eaLnBrk="1" latinLnBrk="0" hangingPunct="1">
              <a:defRPr sz="122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1</a:t>
            </a:r>
            <a:r>
              <a:rPr lang="zh-CN" altLang="en-US" sz="135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、小王是参与者，位于系统边界之外</a:t>
            </a:r>
            <a:endParaRPr lang="en-US" altLang="zh-CN" sz="135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0" algn="l" defTabSz="689789" rtl="0" eaLnBrk="1" latinLnBrk="0" hangingPunct="1">
              <a:defRPr sz="1222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5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2</a:t>
            </a:r>
            <a:r>
              <a:rPr lang="zh-CN" altLang="en-US" sz="135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、经理、柜员没有主动发出动作，不是参与者，被动接收小王的请求，在系统边界之内</a:t>
            </a:r>
          </a:p>
        </p:txBody>
      </p:sp>
      <p:sp>
        <p:nvSpPr>
          <p:cNvPr id="10000" name="frame-114">
            <a:extLst>
              <a:ext uri="{FF2B5EF4-FFF2-40B4-BE49-F238E27FC236}">
                <a16:creationId xmlns:a16="http://schemas.microsoft.com/office/drawing/2014/main" id="{E40472FA-E918-498B-8699-F04F60E8CFB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课堂练习</a:t>
            </a:r>
          </a:p>
        </p:txBody>
      </p:sp>
      <p:sp>
        <p:nvSpPr>
          <p:cNvPr id="10001" name="frame-115">
            <a:extLst>
              <a:ext uri="{FF2B5EF4-FFF2-40B4-BE49-F238E27FC236}">
                <a16:creationId xmlns:a16="http://schemas.microsoft.com/office/drawing/2014/main" id="{9A386727-A94E-4909-AA97-243360C5CA1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16">
            <a:extLst>
              <a:ext uri="{FF2B5EF4-FFF2-40B4-BE49-F238E27FC236}">
                <a16:creationId xmlns:a16="http://schemas.microsoft.com/office/drawing/2014/main" id="{FF6604A7-8A0E-4658-A6BC-55D3B04ECB9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17">
            <a:extLst>
              <a:ext uri="{FF2B5EF4-FFF2-40B4-BE49-F238E27FC236}">
                <a16:creationId xmlns:a16="http://schemas.microsoft.com/office/drawing/2014/main" id="{C3B78A23-5C9B-454A-9CDF-F9D7B453BE58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18">
            <a:extLst>
              <a:ext uri="{FF2B5EF4-FFF2-40B4-BE49-F238E27FC236}">
                <a16:creationId xmlns:a16="http://schemas.microsoft.com/office/drawing/2014/main" id="{4B831AEB-8004-4AC2-BDB5-E6776D9D11FE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23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42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99D8F-031A-B565-4C7A-537B1B9A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8CA1111-14B0-C0AD-7909-4F41D5B96EE7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8191500" cy="1467055"/>
          </a:xfrm>
        </p:spPr>
        <p:txBody>
          <a:bodyPr lIns="67572" tIns="33786" rIns="67572" bIns="33786">
            <a:noAutofit/>
          </a:bodyPr>
          <a:lstStyle/>
          <a:p>
            <a:pPr marL="168930" indent="-168930" algn="l" defTabSz="675718" rtl="0" eaLnBrk="1" latinLnBrk="0" hangingPunct="1">
              <a:buFont typeface="Noto Sans SC" panose="020B0604020202020204" pitchFamily="34" charset="0"/>
              <a:buChar char="•"/>
              <a:defRPr sz="20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20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[UML </a:t>
            </a:r>
            <a:r>
              <a:rPr lang="zh-CN" altLang="en-US" sz="20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定义</a:t>
            </a:r>
            <a:r>
              <a:rPr lang="en-US" altLang="zh-CN" sz="20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] </a:t>
            </a:r>
            <a:r>
              <a:rPr lang="zh-CN" altLang="en-US" sz="20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参与者是</a:t>
            </a:r>
            <a:r>
              <a:rPr lang="en-US" altLang="zh-CN" sz="20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”</a:t>
            </a:r>
            <a:r>
              <a:rPr lang="zh-CN" altLang="en-US" sz="20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在</a:t>
            </a:r>
            <a:r>
              <a:rPr lang="zh-CN" altLang="en-US" sz="2069" b="1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系统之外</a:t>
            </a:r>
            <a:r>
              <a:rPr lang="zh-CN" altLang="en-US" sz="2069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与</a:t>
            </a:r>
            <a:r>
              <a:rPr lang="zh-CN" altLang="en-US" sz="2069" b="1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系统交互的某人或某事物</a:t>
            </a:r>
            <a:r>
              <a:rPr lang="en-US" altLang="zh-CN" sz="20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”</a:t>
            </a:r>
          </a:p>
          <a:p>
            <a:pPr marL="506789" lvl="1" indent="-168930" algn="l" defTabSz="675718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参与者必须位于 “系统边界” 之外，确定系统边界是识别参与者的关键点！</a:t>
            </a:r>
            <a:endParaRPr lang="en-US" altLang="zh-CN" sz="177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6789" lvl="1" indent="-168930" algn="l" defTabSz="675718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4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参与者可以 “非人类”</a:t>
            </a:r>
          </a:p>
          <a:p>
            <a:pPr marL="506789" lvl="1" indent="-168930" algn="l" defTabSz="675718" rtl="0" eaLnBrk="1" latinLnBrk="0" hangingPunct="1">
              <a:buFont typeface="Noto Sans SC" panose="020B0604020202020204" pitchFamily="34" charset="0"/>
              <a:buChar char="•"/>
              <a:defRPr sz="177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77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06789" lvl="1" indent="-168930" algn="l" defTabSz="675718" rtl="0" eaLnBrk="1" latinLnBrk="0" hangingPunct="1">
              <a:buFont typeface="Noto Sans SC" panose="020B0604020202020204" pitchFamily="34" charset="0"/>
              <a:buChar char="•"/>
              <a:defRPr sz="1774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774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图片 7" descr="图示&#10;&#10;AI 生成的内容可能不正确。">
            <a:extLst>
              <a:ext uri="{FF2B5EF4-FFF2-40B4-BE49-F238E27FC236}">
                <a16:creationId xmlns:a16="http://schemas.microsoft.com/office/drawing/2014/main" id="{CA86F631-D2F7-8B24-6813-D03B5CE0D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037" y="2494401"/>
            <a:ext cx="4156831" cy="1991971"/>
          </a:xfrm>
          <a:prstGeom prst="rect">
            <a:avLst/>
          </a:prstGeom>
        </p:spPr>
      </p:pic>
      <p:sp>
        <p:nvSpPr>
          <p:cNvPr id="10000" name="frame-119">
            <a:extLst>
              <a:ext uri="{FF2B5EF4-FFF2-40B4-BE49-F238E27FC236}">
                <a16:creationId xmlns:a16="http://schemas.microsoft.com/office/drawing/2014/main" id="{41D91E96-A170-463F-80AA-4647629A5DF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参与者</a:t>
            </a:r>
          </a:p>
        </p:txBody>
      </p:sp>
      <p:sp>
        <p:nvSpPr>
          <p:cNvPr id="10001" name="frame-120">
            <a:extLst>
              <a:ext uri="{FF2B5EF4-FFF2-40B4-BE49-F238E27FC236}">
                <a16:creationId xmlns:a16="http://schemas.microsoft.com/office/drawing/2014/main" id="{12ACCF03-F776-4DFF-97A3-0521725B2791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21">
            <a:extLst>
              <a:ext uri="{FF2B5EF4-FFF2-40B4-BE49-F238E27FC236}">
                <a16:creationId xmlns:a16="http://schemas.microsoft.com/office/drawing/2014/main" id="{BA208A33-7084-47E0-97EE-6EBF2F8E2AFB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22">
            <a:extLst>
              <a:ext uri="{FF2B5EF4-FFF2-40B4-BE49-F238E27FC236}">
                <a16:creationId xmlns:a16="http://schemas.microsoft.com/office/drawing/2014/main" id="{5EB016B6-5DAA-48D7-83EB-EFAA2C9349F1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23">
            <a:extLst>
              <a:ext uri="{FF2B5EF4-FFF2-40B4-BE49-F238E27FC236}">
                <a16:creationId xmlns:a16="http://schemas.microsoft.com/office/drawing/2014/main" id="{31F55B08-60B4-4303-A82E-67EF674CD666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24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047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EDC1DDDB-F219-E04E-2EE6-794D3F63074E}"/>
              </a:ext>
            </a:extLst>
          </p:cNvPr>
          <p:cNvSpPr/>
          <p:nvPr/>
        </p:nvSpPr>
        <p:spPr>
          <a:xfrm>
            <a:off x="774282" y="1076325"/>
            <a:ext cx="7639087" cy="6845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838" tIns="33419" rIns="66838" bIns="33419" rtlCol="0" anchor="ctr">
            <a:noAutofit/>
          </a:bodyPr>
          <a:lstStyle/>
          <a:p>
            <a:pPr marL="0" algn="l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0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需求：每天自动统计网页访问量，生统计报表，并发送至管理员信箱。</a:t>
            </a:r>
            <a:r>
              <a:rPr lang="zh-CN" altLang="en-US" sz="1608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谁是参与者？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0FD94AD-BA2F-3DAD-5F8A-44DE26D1F6E0}"/>
              </a:ext>
            </a:extLst>
          </p:cNvPr>
          <p:cNvSpPr/>
          <p:nvPr/>
        </p:nvSpPr>
        <p:spPr>
          <a:xfrm>
            <a:off x="3569982" y="2254345"/>
            <a:ext cx="967834" cy="4689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838" tIns="33419" rIns="66838" bIns="33419" rtlCol="0" anchor="ctr">
            <a:noAutofit/>
          </a:bodyPr>
          <a:lstStyle/>
          <a:p>
            <a:pPr marL="0" algn="l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0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计时器</a:t>
            </a:r>
            <a:endParaRPr lang="zh-CN" altLang="en-US" sz="1608" b="1" kern="1200" dirty="0">
              <a:solidFill>
                <a:schemeClr val="tx2">
                  <a:lumMod val="75000"/>
                  <a:lumOff val="2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32A99CF5-F96E-E6F9-AAFC-52B4B1B1D2FC}"/>
              </a:ext>
            </a:extLst>
          </p:cNvPr>
          <p:cNvSpPr/>
          <p:nvPr/>
        </p:nvSpPr>
        <p:spPr>
          <a:xfrm>
            <a:off x="3877418" y="1844666"/>
            <a:ext cx="247825" cy="33418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838" tIns="33419" rIns="66838" bIns="33419" rtlCol="0" anchor="ctr">
            <a:noAutofit/>
          </a:bodyPr>
          <a:lstStyle/>
          <a:p>
            <a:pPr marL="0" algn="ctr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316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7715EA-B404-8E5A-15FA-7E5C57655E4F}"/>
              </a:ext>
            </a:extLst>
          </p:cNvPr>
          <p:cNvSpPr txBox="1"/>
          <p:nvPr/>
        </p:nvSpPr>
        <p:spPr>
          <a:xfrm>
            <a:off x="4236638" y="1870765"/>
            <a:ext cx="3046499" cy="269962"/>
          </a:xfrm>
          <a:prstGeom prst="rect">
            <a:avLst/>
          </a:prstGeom>
          <a:noFill/>
        </p:spPr>
        <p:txBody>
          <a:bodyPr wrap="square" lIns="66838" tIns="33419" rIns="66838" bIns="33419">
            <a:noAutofit/>
          </a:bodyPr>
          <a:lstStyle/>
          <a:p>
            <a:pPr marL="0" algn="l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有没有</a:t>
            </a:r>
            <a:r>
              <a:rPr lang="zh-CN" altLang="en-US" sz="1316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启动</a:t>
            </a:r>
            <a:r>
              <a:rPr lang="zh-CN" altLang="en-US" sz="131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这个需求的事物？</a:t>
            </a:r>
            <a:r>
              <a:rPr lang="zh-CN" altLang="en-US" sz="1316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有！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E724FD8-B004-E961-AD0C-FD60B486F473}"/>
              </a:ext>
            </a:extLst>
          </p:cNvPr>
          <p:cNvSpPr/>
          <p:nvPr/>
        </p:nvSpPr>
        <p:spPr>
          <a:xfrm>
            <a:off x="730631" y="2955834"/>
            <a:ext cx="7639087" cy="684576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838" tIns="33419" rIns="66838" bIns="33419" rtlCol="0" anchor="ctr">
            <a:noAutofit/>
          </a:bodyPr>
          <a:lstStyle/>
          <a:p>
            <a:pPr marL="0" algn="l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0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需求：客户提出要建立的系统界面要很友好，在每个页面上都要有操作提示。</a:t>
            </a:r>
            <a:r>
              <a:rPr lang="zh-CN" altLang="en-US" sz="1608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谁是参与者？</a:t>
            </a: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3AC94FF0-7D08-1675-967E-2461AF054293}"/>
              </a:ext>
            </a:extLst>
          </p:cNvPr>
          <p:cNvSpPr/>
          <p:nvPr/>
        </p:nvSpPr>
        <p:spPr>
          <a:xfrm>
            <a:off x="3833766" y="3724175"/>
            <a:ext cx="247825" cy="334188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838" tIns="33419" rIns="66838" bIns="33419" rtlCol="0" anchor="ctr">
            <a:noAutofit/>
          </a:bodyPr>
          <a:lstStyle/>
          <a:p>
            <a:pPr marL="0" algn="ctr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316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1675A88-3457-8103-E061-938B3BF7E04E}"/>
              </a:ext>
            </a:extLst>
          </p:cNvPr>
          <p:cNvSpPr txBox="1"/>
          <p:nvPr/>
        </p:nvSpPr>
        <p:spPr>
          <a:xfrm>
            <a:off x="4192987" y="3750274"/>
            <a:ext cx="3046499" cy="269962"/>
          </a:xfrm>
          <a:prstGeom prst="rect">
            <a:avLst/>
          </a:prstGeom>
          <a:noFill/>
        </p:spPr>
        <p:txBody>
          <a:bodyPr wrap="square" lIns="66838" tIns="33419" rIns="66838" bIns="33419">
            <a:noAutofit/>
          </a:bodyPr>
          <a:lstStyle/>
          <a:p>
            <a:pPr marL="0" algn="l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有没有启动这个需求的事物？</a:t>
            </a:r>
            <a:r>
              <a:rPr lang="zh-CN" altLang="en-US" sz="1316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没有！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19006A4-C24F-4ECB-4F97-A5547ED72016}"/>
              </a:ext>
            </a:extLst>
          </p:cNvPr>
          <p:cNvSpPr/>
          <p:nvPr/>
        </p:nvSpPr>
        <p:spPr>
          <a:xfrm>
            <a:off x="5307261" y="2231299"/>
            <a:ext cx="3106108" cy="46897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838" tIns="33419" rIns="66838" bIns="33419" rtlCol="0" anchor="ctr">
            <a:noAutofit/>
          </a:bodyPr>
          <a:lstStyle/>
          <a:p>
            <a:pPr marL="0" algn="l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0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 计时器是这个用例的参与者</a:t>
            </a:r>
            <a:endParaRPr lang="zh-CN" altLang="en-US" sz="1608" b="1" kern="1200" dirty="0">
              <a:solidFill>
                <a:schemeClr val="tx2">
                  <a:lumMod val="75000"/>
                  <a:lumOff val="25000"/>
                </a:schemeClr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8104B8E8-CD5E-691B-FA83-AADB7EE64048}"/>
              </a:ext>
            </a:extLst>
          </p:cNvPr>
          <p:cNvSpPr/>
          <p:nvPr/>
        </p:nvSpPr>
        <p:spPr>
          <a:xfrm>
            <a:off x="4742537" y="2377844"/>
            <a:ext cx="307904" cy="24287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6838" tIns="33419" rIns="66838" bIns="33419" rtlCol="0" anchor="ctr">
            <a:noAutofit/>
          </a:bodyPr>
          <a:lstStyle/>
          <a:p>
            <a:pPr marL="0" algn="ctr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316" kern="120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10EABC-51DB-8A6E-2387-D4910C5C0C47}"/>
              </a:ext>
            </a:extLst>
          </p:cNvPr>
          <p:cNvSpPr txBox="1"/>
          <p:nvPr/>
        </p:nvSpPr>
        <p:spPr>
          <a:xfrm>
            <a:off x="2023798" y="4128142"/>
            <a:ext cx="5028035" cy="472433"/>
          </a:xfrm>
          <a:prstGeom prst="rect">
            <a:avLst/>
          </a:prstGeom>
          <a:noFill/>
        </p:spPr>
        <p:txBody>
          <a:bodyPr wrap="none" lIns="66838" tIns="33419" rIns="66838" bIns="33419" rtlCol="0">
            <a:noAutofit/>
          </a:bodyPr>
          <a:lstStyle/>
          <a:p>
            <a:pPr marL="0" algn="l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这个需求不是一个功能性需求。如果一个需求找不到参与者的话，</a:t>
            </a:r>
            <a:endParaRPr lang="en-US" altLang="zh-CN" sz="1316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0" algn="l" defTabSz="668377" rtl="0" eaLnBrk="1" latinLnBrk="0" hangingPunct="1">
              <a:defRPr sz="1316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16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就不是一个功能性需求，是补充规约中的一个要求</a:t>
            </a:r>
          </a:p>
        </p:txBody>
      </p:sp>
      <p:sp>
        <p:nvSpPr>
          <p:cNvPr id="10000" name="frame-124">
            <a:extLst>
              <a:ext uri="{FF2B5EF4-FFF2-40B4-BE49-F238E27FC236}">
                <a16:creationId xmlns:a16="http://schemas.microsoft.com/office/drawing/2014/main" id="{01F9E8FB-EB86-479D-89FC-A71A0CA403D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参与者</a:t>
            </a:r>
          </a:p>
        </p:txBody>
      </p:sp>
      <p:sp>
        <p:nvSpPr>
          <p:cNvPr id="10001" name="frame-125">
            <a:extLst>
              <a:ext uri="{FF2B5EF4-FFF2-40B4-BE49-F238E27FC236}">
                <a16:creationId xmlns:a16="http://schemas.microsoft.com/office/drawing/2014/main" id="{BB2F068D-A177-4718-AD8C-565BC0AD9D6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26">
            <a:extLst>
              <a:ext uri="{FF2B5EF4-FFF2-40B4-BE49-F238E27FC236}">
                <a16:creationId xmlns:a16="http://schemas.microsoft.com/office/drawing/2014/main" id="{05704A9D-C4AC-45F1-9061-C63B3452424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27">
            <a:extLst>
              <a:ext uri="{FF2B5EF4-FFF2-40B4-BE49-F238E27FC236}">
                <a16:creationId xmlns:a16="http://schemas.microsoft.com/office/drawing/2014/main" id="{4C5F7954-439A-496C-90D1-6FA9A8F35A8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28">
            <a:extLst>
              <a:ext uri="{FF2B5EF4-FFF2-40B4-BE49-F238E27FC236}">
                <a16:creationId xmlns:a16="http://schemas.microsoft.com/office/drawing/2014/main" id="{7B84B9E2-A55F-41CA-9452-73A9102F1E15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25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30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B24EE-3E23-CBD9-18C3-49C26BFF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D8FC3980-F7F8-7F46-C121-6DA0AD5AF6BE}"/>
              </a:ext>
            </a:extLst>
          </p:cNvPr>
          <p:cNvSpPr>
            <a:spLocks noGrp="1"/>
          </p:cNvSpPr>
          <p:nvPr/>
        </p:nvSpPr>
        <p:spPr>
          <a:xfrm>
            <a:off x="575088" y="1076325"/>
            <a:ext cx="7993823" cy="3524250"/>
          </a:xfrm>
        </p:spPr>
        <p:txBody>
          <a:bodyPr lIns="69512" tIns="34756" rIns="69512" bIns="34756">
            <a:noAutofit/>
          </a:bodyPr>
          <a:lstStyle/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的概念结构</a:t>
            </a:r>
            <a:r>
              <a:rPr lang="en-US" altLang="zh-CN" sz="1969" kern="1200" baseline="300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[1]</a:t>
            </a: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构造块、规则和公共机制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9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96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的用例图</a:t>
            </a:r>
            <a:r>
              <a:rPr lang="en-US" altLang="zh-CN" sz="1969" kern="1200" dirty="0">
                <a:solidFill>
                  <a:srgbClr val="A41F35"/>
                </a:solidFill>
                <a:latin typeface="Noto Sans SC"/>
                <a:ea typeface="Noto Sans SC"/>
                <a:cs typeface="Noto Sans SC"/>
              </a:rPr>
              <a:t>*</a:t>
            </a: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用例图基础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业务用例图、概念用例图、系统用例图</a:t>
            </a:r>
            <a:endParaRPr lang="en-US" altLang="zh-CN" sz="168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的类图</a:t>
            </a:r>
            <a:r>
              <a:rPr lang="en-US" altLang="zh-CN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*</a:t>
            </a: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类图基础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概念层类图、说明层类图、实现层类图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969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的其它图</a:t>
            </a:r>
            <a:endParaRPr lang="en-US" altLang="zh-CN" sz="1969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88" kern="1200" dirty="0">
                <a:solidFill>
                  <a:schemeClr val="bg1">
                    <a:lumMod val="65000"/>
                  </a:schemeClr>
                </a:solidFill>
                <a:latin typeface="Noto Sans SC"/>
                <a:ea typeface="Noto Sans SC"/>
                <a:cs typeface="Noto Sans SC"/>
              </a:rPr>
              <a:t>包图、活动图、顺序图、状态图、协作图、部署图</a:t>
            </a:r>
            <a:endParaRPr lang="en-US" altLang="zh-CN" sz="1688" kern="1200" dirty="0">
              <a:solidFill>
                <a:schemeClr val="bg1">
                  <a:lumMod val="6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68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521336" lvl="1" indent="-173779" algn="l" defTabSz="695115" rtl="0" eaLnBrk="1" latinLnBrk="0" hangingPunct="1">
              <a:buFont typeface="Noto Sans SC" panose="020B0604020202020204" pitchFamily="34" charset="0"/>
              <a:buChar char="•"/>
              <a:defRPr sz="1688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688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96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en-US" altLang="zh-CN" sz="196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3779" indent="-173779" algn="l" defTabSz="695115" rtl="0" eaLnBrk="1" latinLnBrk="0" hangingPunct="1">
              <a:buFont typeface="Noto Sans SC" panose="020B0604020202020204" pitchFamily="34" charset="0"/>
              <a:buChar char="•"/>
              <a:defRPr sz="196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96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FE4C5BF3-A5ED-4B99-1B1D-676E54B4FF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8660" y="3131463"/>
            <a:ext cx="1210251" cy="1141030"/>
          </a:xfrm>
          <a:prstGeom prst="rect">
            <a:avLst/>
          </a:prstGeom>
        </p:spPr>
      </p:pic>
      <p:sp>
        <p:nvSpPr>
          <p:cNvPr id="10000" name="frame-129">
            <a:extLst>
              <a:ext uri="{FF2B5EF4-FFF2-40B4-BE49-F238E27FC236}">
                <a16:creationId xmlns:a16="http://schemas.microsoft.com/office/drawing/2014/main" id="{4A3676CA-1220-4DE3-93B8-3A5652CDFE4E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课程大纲</a:t>
            </a:r>
          </a:p>
        </p:txBody>
      </p:sp>
      <p:sp>
        <p:nvSpPr>
          <p:cNvPr id="10001" name="frame-130">
            <a:extLst>
              <a:ext uri="{FF2B5EF4-FFF2-40B4-BE49-F238E27FC236}">
                <a16:creationId xmlns:a16="http://schemas.microsoft.com/office/drawing/2014/main" id="{703AE4C9-B2E3-4CFA-A36C-F826817F8060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31">
            <a:extLst>
              <a:ext uri="{FF2B5EF4-FFF2-40B4-BE49-F238E27FC236}">
                <a16:creationId xmlns:a16="http://schemas.microsoft.com/office/drawing/2014/main" id="{7E543267-8169-4910-A1A9-2ADAC61F962E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32">
            <a:extLst>
              <a:ext uri="{FF2B5EF4-FFF2-40B4-BE49-F238E27FC236}">
                <a16:creationId xmlns:a16="http://schemas.microsoft.com/office/drawing/2014/main" id="{85D089D3-1D8E-4325-9244-4C540AF3320C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33">
            <a:extLst>
              <a:ext uri="{FF2B5EF4-FFF2-40B4-BE49-F238E27FC236}">
                <a16:creationId xmlns:a16="http://schemas.microsoft.com/office/drawing/2014/main" id="{4686961A-DA27-4F5D-AB90-945B96C531E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26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06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B1C1BA0-D8EF-48E4-DF23-EE646CFBF708}"/>
              </a:ext>
            </a:extLst>
          </p:cNvPr>
          <p:cNvSpPr>
            <a:spLocks noGrp="1"/>
          </p:cNvSpPr>
          <p:nvPr/>
        </p:nvSpPr>
        <p:spPr>
          <a:xfrm>
            <a:off x="718111" y="1076325"/>
            <a:ext cx="7707779" cy="1876136"/>
          </a:xfrm>
        </p:spPr>
        <p:txBody>
          <a:bodyPr lIns="64967" tIns="32483" rIns="64967" bIns="32483">
            <a:noAutofit/>
          </a:bodyPr>
          <a:lstStyle/>
          <a:p>
            <a:pPr marL="162416" indent="-162416" algn="l" defTabSz="649665" rtl="0" eaLnBrk="1" latinLnBrk="0" hangingPunct="1">
              <a:lnSpc>
                <a:spcPct val="104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69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7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业务用例图用于展现现实世界中的业务范围</a:t>
            </a:r>
            <a:endParaRPr lang="en-US" altLang="zh-CN" sz="157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2416" indent="-162416" algn="l" defTabSz="649665" rtl="0" eaLnBrk="1" latinLnBrk="0" hangingPunct="1">
              <a:lnSpc>
                <a:spcPct val="104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69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7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业务范围 ≠ 系统范围</a:t>
            </a:r>
            <a:endParaRPr lang="en-US" altLang="zh-CN" sz="157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2416" indent="-162416" algn="l" defTabSz="649665" rtl="0" eaLnBrk="1" latinLnBrk="0" hangingPunct="1">
              <a:lnSpc>
                <a:spcPct val="104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69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7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业务建模是获取需求的第一步</a:t>
            </a:r>
            <a:endParaRPr lang="en-US" altLang="zh-CN" sz="1570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2416" indent="-162416" algn="l" defTabSz="649665" rtl="0" eaLnBrk="1" latinLnBrk="0" hangingPunct="1">
              <a:lnSpc>
                <a:spcPct val="104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69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7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业务用例图使用</a:t>
            </a:r>
            <a:r>
              <a:rPr lang="zh-CN" altLang="en-US" sz="1570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业务主角</a:t>
            </a:r>
            <a:r>
              <a:rPr lang="zh-CN" altLang="en-US" sz="157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和</a:t>
            </a:r>
            <a:r>
              <a:rPr lang="zh-CN" altLang="en-US" sz="1570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业务用例</a:t>
            </a:r>
            <a:r>
              <a:rPr lang="zh-CN" altLang="en-US" sz="1570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展现</a:t>
            </a:r>
            <a:r>
              <a:rPr lang="zh-CN" altLang="en-US" sz="1570" b="1" kern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</a:rPr>
              <a:t>业务建模的结果</a:t>
            </a:r>
            <a:endParaRPr lang="en-US" altLang="zh-CN" sz="1570" b="1" kern="1200" dirty="0">
              <a:solidFill>
                <a:schemeClr val="tx2">
                  <a:lumMod val="75000"/>
                  <a:lumOff val="25000"/>
                </a:schemeClr>
              </a:solidFill>
              <a:latin typeface="Noto Sans SC"/>
              <a:ea typeface="Noto Sans SC"/>
              <a:cs typeface="Noto Sans SC"/>
            </a:endParaRPr>
          </a:p>
          <a:p>
            <a:pPr marL="487249" lvl="1" indent="-162416" algn="l" defTabSz="649665" rtl="0" eaLnBrk="1" latinLnBrk="0" hangingPunct="1">
              <a:lnSpc>
                <a:spcPct val="104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4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4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业务主角是参与者在业务建模领域的版型</a:t>
            </a:r>
            <a:endParaRPr lang="en-US" altLang="zh-CN" sz="144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87249" lvl="1" indent="-162416" algn="l" defTabSz="649665" rtl="0" eaLnBrk="1" latinLnBrk="0" hangingPunct="1">
              <a:lnSpc>
                <a:spcPct val="104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4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4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业务用例是用例在业务建模领域的版型</a:t>
            </a:r>
            <a:endParaRPr lang="en-US" altLang="zh-CN" sz="144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487249" lvl="1" indent="-162416" algn="l" defTabSz="649665" rtl="0" eaLnBrk="1" latinLnBrk="0" hangingPunct="1">
              <a:lnSpc>
                <a:spcPct val="104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49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49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常常从不同视角描述业务用例图</a:t>
            </a:r>
            <a:endParaRPr lang="en-US" altLang="zh-CN" sz="1449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62416" indent="-162416" algn="l" defTabSz="649665" rtl="0" eaLnBrk="1" latinLnBrk="0" hangingPunct="1">
              <a:lnSpc>
                <a:spcPct val="104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69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69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8" name="图片 7" descr="图示, 示意图&#10;&#10;AI 生成的内容可能不正确。">
            <a:extLst>
              <a:ext uri="{FF2B5EF4-FFF2-40B4-BE49-F238E27FC236}">
                <a16:creationId xmlns:a16="http://schemas.microsoft.com/office/drawing/2014/main" id="{8B54A416-D295-4CF9-A05B-BFBBCC038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148" y="2947442"/>
            <a:ext cx="3235095" cy="1631140"/>
          </a:xfrm>
          <a:prstGeom prst="rect">
            <a:avLst/>
          </a:prstGeom>
        </p:spPr>
      </p:pic>
      <p:pic>
        <p:nvPicPr>
          <p:cNvPr id="11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1DA906DF-562E-0345-5DC8-1F7BB283E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393" y="2943363"/>
            <a:ext cx="3609558" cy="164149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16BB14E-ED62-0602-4D74-CEE7104AAE05}"/>
              </a:ext>
            </a:extLst>
          </p:cNvPr>
          <p:cNvSpPr txBox="1"/>
          <p:nvPr/>
        </p:nvSpPr>
        <p:spPr>
          <a:xfrm>
            <a:off x="779549" y="4317488"/>
            <a:ext cx="1115216" cy="262404"/>
          </a:xfrm>
          <a:prstGeom prst="rect">
            <a:avLst/>
          </a:prstGeom>
          <a:noFill/>
        </p:spPr>
        <p:txBody>
          <a:bodyPr wrap="none" lIns="64967" tIns="32483" rIns="64967" bIns="32483" rtlCol="0">
            <a:noAutofit/>
          </a:bodyPr>
          <a:lstStyle/>
          <a:p>
            <a:pPr marL="0" algn="l" defTabSz="649665" rtl="0" eaLnBrk="1" latinLnBrk="0" hangingPunct="1">
              <a:defRPr sz="1125" kern="120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125" kern="12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业务主角视角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AD4151-F2E6-7DF9-3E4C-4975F5582542}"/>
              </a:ext>
            </a:extLst>
          </p:cNvPr>
          <p:cNvSpPr txBox="1"/>
          <p:nvPr/>
        </p:nvSpPr>
        <p:spPr>
          <a:xfrm>
            <a:off x="4636176" y="4338171"/>
            <a:ext cx="787212" cy="262404"/>
          </a:xfrm>
          <a:prstGeom prst="rect">
            <a:avLst/>
          </a:prstGeom>
          <a:noFill/>
        </p:spPr>
        <p:txBody>
          <a:bodyPr wrap="none" lIns="64967" tIns="32483" rIns="64967" bIns="32483" rtlCol="0">
            <a:noAutofit/>
          </a:bodyPr>
          <a:lstStyle/>
          <a:p>
            <a:pPr marL="0" algn="l" defTabSz="649665" rtl="0" eaLnBrk="1" latinLnBrk="0" hangingPunct="1">
              <a:defRPr sz="1125" kern="120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125" kern="12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业务视角</a:t>
            </a:r>
          </a:p>
        </p:txBody>
      </p:sp>
      <p:sp>
        <p:nvSpPr>
          <p:cNvPr id="10000" name="frame-134">
            <a:extLst>
              <a:ext uri="{FF2B5EF4-FFF2-40B4-BE49-F238E27FC236}">
                <a16:creationId xmlns:a16="http://schemas.microsoft.com/office/drawing/2014/main" id="{7F43EBAB-1C98-40D4-828E-0787755CBC53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业务用例图</a:t>
            </a:r>
          </a:p>
        </p:txBody>
      </p:sp>
      <p:sp>
        <p:nvSpPr>
          <p:cNvPr id="10001" name="frame-135">
            <a:extLst>
              <a:ext uri="{FF2B5EF4-FFF2-40B4-BE49-F238E27FC236}">
                <a16:creationId xmlns:a16="http://schemas.microsoft.com/office/drawing/2014/main" id="{8C8F9CD3-B930-46CB-8481-7C80F4158EFF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36">
            <a:extLst>
              <a:ext uri="{FF2B5EF4-FFF2-40B4-BE49-F238E27FC236}">
                <a16:creationId xmlns:a16="http://schemas.microsoft.com/office/drawing/2014/main" id="{FA4E1AEA-40CE-48D6-8063-4698664AE7B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37">
            <a:extLst>
              <a:ext uri="{FF2B5EF4-FFF2-40B4-BE49-F238E27FC236}">
                <a16:creationId xmlns:a16="http://schemas.microsoft.com/office/drawing/2014/main" id="{80BCBDE9-EB50-42C2-9656-4A9CAEC73110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38">
            <a:extLst>
              <a:ext uri="{FF2B5EF4-FFF2-40B4-BE49-F238E27FC236}">
                <a16:creationId xmlns:a16="http://schemas.microsoft.com/office/drawing/2014/main" id="{36B4CCF7-2527-4A26-A048-17C4C9A573A9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27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266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48BBE03F-0FA1-72D7-E679-3A444AB32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76" y="2195743"/>
            <a:ext cx="3765818" cy="1588842"/>
          </a:xfrm>
          <a:prstGeom prst="rect">
            <a:avLst/>
          </a:prstGeom>
        </p:spPr>
      </p:pic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7760A642-387C-14D9-E1A5-77D7E7B0C525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8191500" cy="828502"/>
          </a:xfrm>
        </p:spPr>
        <p:txBody>
          <a:bodyPr lIns="71230" tIns="35615" rIns="71230" bIns="35615">
            <a:noAutofit/>
          </a:bodyPr>
          <a:lstStyle/>
          <a:p>
            <a:pPr marL="178076" indent="-178076" algn="l" defTabSz="712304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18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8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业务用例实现图展现业务有哪些实现方式</a:t>
            </a:r>
          </a:p>
        </p:txBody>
      </p:sp>
      <p:sp>
        <p:nvSpPr>
          <p:cNvPr id="15" name="标注: 线形(无边框) 14">
            <a:extLst>
              <a:ext uri="{FF2B5EF4-FFF2-40B4-BE49-F238E27FC236}">
                <a16:creationId xmlns:a16="http://schemas.microsoft.com/office/drawing/2014/main" id="{AD42C7E7-4601-8C4C-F532-325C0B1052AB}"/>
              </a:ext>
            </a:extLst>
          </p:cNvPr>
          <p:cNvSpPr/>
          <p:nvPr/>
        </p:nvSpPr>
        <p:spPr>
          <a:xfrm>
            <a:off x="5105561" y="2445058"/>
            <a:ext cx="2853220" cy="664284"/>
          </a:xfrm>
          <a:prstGeom prst="callout1">
            <a:avLst>
              <a:gd name="adj1" fmla="val 65136"/>
              <a:gd name="adj2" fmla="val -278"/>
              <a:gd name="adj3" fmla="val 121536"/>
              <a:gd name="adj4" fmla="val -446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1230" tIns="35615" rIns="71230" bIns="35615" rtlCol="0" anchor="ctr">
            <a:noAutofit/>
          </a:bodyPr>
          <a:lstStyle/>
          <a:p>
            <a:pPr marL="0" algn="l" defTabSz="712304" rtl="0" eaLnBrk="1" latinLnBrk="0" hangingPunct="1">
              <a:defRPr sz="1402" kern="12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58" b="1" kern="120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对应一个业务用例中的场景，</a:t>
            </a:r>
            <a:endParaRPr lang="en-US" altLang="zh-CN" sz="1558" b="1" kern="1200" dirty="0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  <a:p>
            <a:pPr marL="0" algn="l" defTabSz="712304" rtl="0" eaLnBrk="1" latinLnBrk="0" hangingPunct="1">
              <a:defRPr sz="1402" kern="1200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558" b="1" kern="1200" dirty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 可以通过交互图建模</a:t>
            </a:r>
          </a:p>
        </p:txBody>
      </p:sp>
      <p:sp>
        <p:nvSpPr>
          <p:cNvPr id="10000" name="frame-139">
            <a:extLst>
              <a:ext uri="{FF2B5EF4-FFF2-40B4-BE49-F238E27FC236}">
                <a16:creationId xmlns:a16="http://schemas.microsoft.com/office/drawing/2014/main" id="{EB75FCC3-7DFF-4204-8C9F-93BCFDD90975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业务用例实现图</a:t>
            </a:r>
          </a:p>
        </p:txBody>
      </p:sp>
      <p:sp>
        <p:nvSpPr>
          <p:cNvPr id="10001" name="frame-140">
            <a:extLst>
              <a:ext uri="{FF2B5EF4-FFF2-40B4-BE49-F238E27FC236}">
                <a16:creationId xmlns:a16="http://schemas.microsoft.com/office/drawing/2014/main" id="{2780B42B-EBE3-4B07-BC6B-078C362DFCF8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41">
            <a:extLst>
              <a:ext uri="{FF2B5EF4-FFF2-40B4-BE49-F238E27FC236}">
                <a16:creationId xmlns:a16="http://schemas.microsoft.com/office/drawing/2014/main" id="{C3AF4A57-2A8E-4BD6-9AD6-5CF3198CD01A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42">
            <a:extLst>
              <a:ext uri="{FF2B5EF4-FFF2-40B4-BE49-F238E27FC236}">
                <a16:creationId xmlns:a16="http://schemas.microsoft.com/office/drawing/2014/main" id="{1537680B-8EE9-49A0-98E5-85023D6DEA84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43">
            <a:extLst>
              <a:ext uri="{FF2B5EF4-FFF2-40B4-BE49-F238E27FC236}">
                <a16:creationId xmlns:a16="http://schemas.microsoft.com/office/drawing/2014/main" id="{99CAD9C1-43A4-4492-8CDB-9102F48F7227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28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75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 descr="图示, 示意图&#10;&#10;AI 生成的内容可能不正确。">
            <a:extLst>
              <a:ext uri="{FF2B5EF4-FFF2-40B4-BE49-F238E27FC236}">
                <a16:creationId xmlns:a16="http://schemas.microsoft.com/office/drawing/2014/main" id="{CAF9C521-5D21-EB43-3E28-CE83A1D0A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9378" y="2142893"/>
            <a:ext cx="5364071" cy="2457682"/>
          </a:xfrm>
        </p:spPr>
      </p:pic>
      <p:sp>
        <p:nvSpPr>
          <p:cNvPr id="9" name="内容占位符 12">
            <a:extLst>
              <a:ext uri="{FF2B5EF4-FFF2-40B4-BE49-F238E27FC236}">
                <a16:creationId xmlns:a16="http://schemas.microsoft.com/office/drawing/2014/main" id="{A0191307-387C-8679-B64D-A521A67929B1}"/>
              </a:ext>
            </a:extLst>
          </p:cNvPr>
          <p:cNvSpPr txBox="1">
            <a:spLocks/>
          </p:cNvSpPr>
          <p:nvPr/>
        </p:nvSpPr>
        <p:spPr>
          <a:xfrm>
            <a:off x="608346" y="1076325"/>
            <a:ext cx="7927308" cy="917961"/>
          </a:xfrm>
          <a:prstGeom prst="rect">
            <a:avLst/>
          </a:prstGeom>
        </p:spPr>
        <p:txBody>
          <a:bodyPr vert="horz" lIns="68933" tIns="34467" rIns="68933" bIns="34467" rtlCol="0">
            <a:noAutofit/>
          </a:bodyPr>
          <a:lstStyle/>
          <a:p>
            <a:pPr marL="172333" indent="-172333" algn="l" defTabSz="689331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11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业务用例为单元展现业务用例中经过分析得到的关键概念用例</a:t>
            </a:r>
            <a:endParaRPr lang="en-US" altLang="zh-CN" sz="2111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2333" indent="-172333" algn="l" defTabSz="689331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2111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211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不是必须的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9732A9-16C7-A7D4-B691-1FA6A8C94A35}"/>
              </a:ext>
            </a:extLst>
          </p:cNvPr>
          <p:cNvSpPr txBox="1"/>
          <p:nvPr/>
        </p:nvSpPr>
        <p:spPr>
          <a:xfrm>
            <a:off x="1122762" y="4321747"/>
            <a:ext cx="1705354" cy="278425"/>
          </a:xfrm>
          <a:prstGeom prst="rect">
            <a:avLst/>
          </a:prstGeom>
          <a:noFill/>
        </p:spPr>
        <p:txBody>
          <a:bodyPr wrap="none" lIns="68933" tIns="34467" rIns="68933" bIns="34467" rtlCol="0">
            <a:noAutofit/>
          </a:bodyPr>
          <a:lstStyle/>
          <a:p>
            <a:pPr marL="0" algn="l" defTabSz="689331" rtl="0" eaLnBrk="1" latinLnBrk="0" hangingPunct="1">
              <a:defRPr sz="1357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357" b="1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借阅图书概念用例图</a:t>
            </a:r>
          </a:p>
        </p:txBody>
      </p:sp>
      <p:sp>
        <p:nvSpPr>
          <p:cNvPr id="10000" name="frame-144">
            <a:extLst>
              <a:ext uri="{FF2B5EF4-FFF2-40B4-BE49-F238E27FC236}">
                <a16:creationId xmlns:a16="http://schemas.microsoft.com/office/drawing/2014/main" id="{3B4B5D4C-CF2B-4DEB-B0E3-A4D121910E78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概念用例图</a:t>
            </a:r>
          </a:p>
        </p:txBody>
      </p:sp>
      <p:sp>
        <p:nvSpPr>
          <p:cNvPr id="10001" name="frame-145">
            <a:extLst>
              <a:ext uri="{FF2B5EF4-FFF2-40B4-BE49-F238E27FC236}">
                <a16:creationId xmlns:a16="http://schemas.microsoft.com/office/drawing/2014/main" id="{4F12F517-49C6-4EE7-8833-A114AB0F3E8B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46">
            <a:extLst>
              <a:ext uri="{FF2B5EF4-FFF2-40B4-BE49-F238E27FC236}">
                <a16:creationId xmlns:a16="http://schemas.microsoft.com/office/drawing/2014/main" id="{711EBBA5-749D-4DBC-B9AD-B7CB85CCDDF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47">
            <a:extLst>
              <a:ext uri="{FF2B5EF4-FFF2-40B4-BE49-F238E27FC236}">
                <a16:creationId xmlns:a16="http://schemas.microsoft.com/office/drawing/2014/main" id="{9CB76887-7E8B-4823-8A64-AA0336385ECA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48">
            <a:extLst>
              <a:ext uri="{FF2B5EF4-FFF2-40B4-BE49-F238E27FC236}">
                <a16:creationId xmlns:a16="http://schemas.microsoft.com/office/drawing/2014/main" id="{14AFC017-8055-49E8-8124-EC15DE2659BB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29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207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1">
            <a:extLst>
              <a:ext uri="{FF2B5EF4-FFF2-40B4-BE49-F238E27FC236}">
                <a16:creationId xmlns:a16="http://schemas.microsoft.com/office/drawing/2014/main" id="{02A759B3-3F24-4378-2C3E-078204867A37}"/>
              </a:ext>
            </a:extLst>
          </p:cNvPr>
          <p:cNvSpPr>
            <a:spLocks noGrp="1"/>
          </p:cNvSpPr>
          <p:nvPr/>
        </p:nvSpPr>
        <p:spPr>
          <a:xfrm>
            <a:off x="476250" y="1076325"/>
            <a:ext cx="8191500" cy="981075"/>
          </a:xfrm>
        </p:spPr>
        <p:txBody>
          <a:bodyPr lIns="60284" tIns="30142" rIns="60284" bIns="30142">
            <a:noAutofit/>
          </a:bodyPr>
          <a:lstStyle/>
          <a:p>
            <a:pPr marL="150710" indent="-150710" algn="l" defTabSz="60284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25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系统用例图用于展现系统范围</a:t>
            </a:r>
            <a:endParaRPr lang="en-US" altLang="zh-CN" sz="1425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50710" indent="-150710" algn="l" defTabSz="60284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25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系统用例就是开发范围</a:t>
            </a:r>
            <a:endParaRPr lang="en-US" altLang="zh-CN" sz="1425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50710" indent="-150710" algn="l" defTabSz="602842" rtl="0" eaLnBrk="1" latinLnBrk="0" hangingPunct="1">
              <a:lnSpc>
                <a:spcPct val="130000"/>
              </a:lnSpc>
              <a:spcBef>
                <a:spcPts val="0"/>
              </a:spcBef>
              <a:buFont typeface="Noto Sans SC" panose="020B0604020202020204" pitchFamily="34" charset="0"/>
              <a:buChar char="•"/>
              <a:defRPr sz="1425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25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系统用例实现图展示了每个用例的实现方式，以此为起点进行系统功能点分析</a:t>
            </a:r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C85794A5-74C1-7AF9-82A6-4AF71E690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84" y="2143736"/>
            <a:ext cx="3461996" cy="1709851"/>
          </a:xfrm>
          <a:prstGeom prst="rect">
            <a:avLst/>
          </a:prstGeom>
        </p:spPr>
      </p:pic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207B599B-BCA7-635B-BAAD-0E6A4864D4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633" y="2135340"/>
            <a:ext cx="3510297" cy="216646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26493CD-A1BE-78DC-3421-407AF5D15BFA}"/>
              </a:ext>
            </a:extLst>
          </p:cNvPr>
          <p:cNvSpPr txBox="1"/>
          <p:nvPr/>
        </p:nvSpPr>
        <p:spPr>
          <a:xfrm>
            <a:off x="2309527" y="4009377"/>
            <a:ext cx="882657" cy="243492"/>
          </a:xfrm>
          <a:prstGeom prst="rect">
            <a:avLst/>
          </a:prstGeom>
          <a:noFill/>
        </p:spPr>
        <p:txBody>
          <a:bodyPr wrap="none" lIns="60284" tIns="30142" rIns="60284" bIns="30142" rtlCol="0">
            <a:noAutofit/>
          </a:bodyPr>
          <a:lstStyle/>
          <a:p>
            <a:pPr marL="0" algn="l" defTabSz="602842" rtl="0" eaLnBrk="1" latinLnBrk="0" hangingPunct="1">
              <a:defRPr sz="1125" kern="120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125" b="1" kern="12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系统用例图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EA0710-24C2-F60E-FCA8-8D99586EDB1A}"/>
              </a:ext>
            </a:extLst>
          </p:cNvPr>
          <p:cNvSpPr txBox="1"/>
          <p:nvPr/>
        </p:nvSpPr>
        <p:spPr>
          <a:xfrm>
            <a:off x="6006731" y="4357083"/>
            <a:ext cx="1187021" cy="243492"/>
          </a:xfrm>
          <a:prstGeom prst="rect">
            <a:avLst/>
          </a:prstGeom>
          <a:noFill/>
        </p:spPr>
        <p:txBody>
          <a:bodyPr wrap="none" lIns="60284" tIns="30142" rIns="60284" bIns="30142" rtlCol="0">
            <a:noAutofit/>
          </a:bodyPr>
          <a:lstStyle/>
          <a:p>
            <a:pPr marL="0" algn="l" defTabSz="602842" rtl="0" eaLnBrk="1" latinLnBrk="0" hangingPunct="1">
              <a:defRPr sz="1125" kern="120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125" b="1" kern="1200" dirty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系统用例实现图</a:t>
            </a:r>
          </a:p>
        </p:txBody>
      </p:sp>
      <p:sp>
        <p:nvSpPr>
          <p:cNvPr id="10000" name="frame-149">
            <a:extLst>
              <a:ext uri="{FF2B5EF4-FFF2-40B4-BE49-F238E27FC236}">
                <a16:creationId xmlns:a16="http://schemas.microsoft.com/office/drawing/2014/main" id="{0C4C0738-AB8D-461D-B39E-8FB65547571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系统用例图</a:t>
            </a:r>
          </a:p>
        </p:txBody>
      </p:sp>
      <p:sp>
        <p:nvSpPr>
          <p:cNvPr id="10001" name="frame-150">
            <a:extLst>
              <a:ext uri="{FF2B5EF4-FFF2-40B4-BE49-F238E27FC236}">
                <a16:creationId xmlns:a16="http://schemas.microsoft.com/office/drawing/2014/main" id="{3A72FF83-8EAD-4B70-A5C0-4CC8633CA5B4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51">
            <a:extLst>
              <a:ext uri="{FF2B5EF4-FFF2-40B4-BE49-F238E27FC236}">
                <a16:creationId xmlns:a16="http://schemas.microsoft.com/office/drawing/2014/main" id="{A91FBCBF-786E-4AE5-B997-9C2D638F26E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52">
            <a:extLst>
              <a:ext uri="{FF2B5EF4-FFF2-40B4-BE49-F238E27FC236}">
                <a16:creationId xmlns:a16="http://schemas.microsoft.com/office/drawing/2014/main" id="{0207E884-43DA-422A-9BC0-28542926B286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53">
            <a:extLst>
              <a:ext uri="{FF2B5EF4-FFF2-40B4-BE49-F238E27FC236}">
                <a16:creationId xmlns:a16="http://schemas.microsoft.com/office/drawing/2014/main" id="{3FD9BE40-C81E-4B23-A66E-1B2DF1F518D4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30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27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542557-E713-57BD-D998-3C8258368152}"/>
              </a:ext>
            </a:extLst>
          </p:cNvPr>
          <p:cNvSpPr>
            <a:spLocks noGrp="1"/>
          </p:cNvSpPr>
          <p:nvPr/>
        </p:nvSpPr>
        <p:spPr>
          <a:xfrm>
            <a:off x="487350" y="1076325"/>
            <a:ext cx="8169300" cy="3524250"/>
          </a:xfrm>
        </p:spPr>
        <p:txBody>
          <a:bodyPr lIns="68115" tIns="34057" rIns="68115" bIns="34057">
            <a:noAutofit/>
          </a:bodyPr>
          <a:lstStyle/>
          <a:p>
            <a:pPr marL="170287" indent="-170287" algn="l" defTabSz="681147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用例图提供了对系统功能性需求的整体描述</a:t>
            </a:r>
            <a:endParaRPr lang="en-US" altLang="zh-CN" sz="177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0287" indent="-170287" algn="l" defTabSz="681147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用例是</a:t>
            </a:r>
            <a:r>
              <a:rPr lang="en-US" altLang="zh-CN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中用于捕捉功能性需求的建模元素，完整的用例应该给出用例规约</a:t>
            </a:r>
            <a:endParaRPr lang="en-US" altLang="zh-CN" sz="177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0287" indent="-170287" algn="l" defTabSz="681147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用例的本质是独立性、价值性和被动性</a:t>
            </a:r>
            <a:endParaRPr lang="en-US" altLang="zh-CN" sz="177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0287" indent="-170287" algn="l" defTabSz="681147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用例和功能是不同的两个概念</a:t>
            </a:r>
            <a:endParaRPr lang="en-US" altLang="zh-CN" sz="177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0287" indent="-170287" algn="l" defTabSz="681147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参与者位于系统之外，具有主动性，可以是人也可以不是</a:t>
            </a:r>
            <a:endParaRPr lang="en-US" altLang="zh-CN" sz="177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0287" indent="-170287" algn="l" defTabSz="681147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业务用例图说明现实世界中的业务范围，系统用例图则说明了计算机世界中的功能范围</a:t>
            </a:r>
            <a:endParaRPr lang="en-US" altLang="zh-CN" sz="177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170287" indent="-170287" algn="l" defTabSz="681147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业务用例图、概念用例图是利用</a:t>
            </a:r>
            <a:r>
              <a:rPr lang="en-US" altLang="zh-CN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UML</a:t>
            </a:r>
            <a:r>
              <a:rPr lang="zh-CN" altLang="en-US" sz="1773" kern="1200" dirty="0">
                <a:solidFill>
                  <a:schemeClr val="tx1"/>
                </a:solidFill>
                <a:latin typeface="Noto Sans SC"/>
                <a:ea typeface="Noto Sans SC"/>
                <a:cs typeface="Noto Sans SC"/>
              </a:rPr>
              <a:t>扩展机制对用例图的扩展，分别用于对业务范围和关键业务概念进行建模</a:t>
            </a:r>
            <a:endParaRPr lang="en-US" altLang="zh-CN" sz="177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  <a:p>
            <a:pPr marL="0" indent="0" algn="l" defTabSz="681147" rtl="0" eaLnBrk="1" latinLnBrk="0" hangingPunct="1">
              <a:spcBef>
                <a:spcPts val="0"/>
              </a:spcBef>
              <a:buFont typeface="Noto Sans SC" panose="020B0604020202020204" pitchFamily="34" charset="0"/>
              <a:buChar char="•"/>
              <a:defRPr sz="1773" kern="1200">
                <a:solidFill>
                  <a:schemeClr val="tx1"/>
                </a:solidFill>
                <a:latin typeface="Noto Sans SC"/>
                <a:ea typeface="Noto Sans SC"/>
                <a:cs typeface="Noto Sans SC"/>
              </a:defRPr>
            </a:pPr>
            <a:endParaRPr lang="zh-CN" altLang="en-US" sz="1773" kern="1200" dirty="0">
              <a:solidFill>
                <a:schemeClr val="tx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000" name="frame-154">
            <a:extLst>
              <a:ext uri="{FF2B5EF4-FFF2-40B4-BE49-F238E27FC236}">
                <a16:creationId xmlns:a16="http://schemas.microsoft.com/office/drawing/2014/main" id="{9D843A25-E53E-4978-9372-7C19FF0E7A07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课程小结</a:t>
            </a:r>
          </a:p>
        </p:txBody>
      </p:sp>
      <p:sp>
        <p:nvSpPr>
          <p:cNvPr id="10001" name="frame-155">
            <a:extLst>
              <a:ext uri="{FF2B5EF4-FFF2-40B4-BE49-F238E27FC236}">
                <a16:creationId xmlns:a16="http://schemas.microsoft.com/office/drawing/2014/main" id="{5B1BBE55-4EB6-4F05-A4C7-87357F532D43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56">
            <a:extLst>
              <a:ext uri="{FF2B5EF4-FFF2-40B4-BE49-F238E27FC236}">
                <a16:creationId xmlns:a16="http://schemas.microsoft.com/office/drawing/2014/main" id="{DC0CC15A-8EC7-4783-8383-2B3C5EB3BC35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57">
            <a:extLst>
              <a:ext uri="{FF2B5EF4-FFF2-40B4-BE49-F238E27FC236}">
                <a16:creationId xmlns:a16="http://schemas.microsoft.com/office/drawing/2014/main" id="{3150B903-290C-4640-86E6-97B846EBA4A3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58">
            <a:extLst>
              <a:ext uri="{FF2B5EF4-FFF2-40B4-BE49-F238E27FC236}">
                <a16:creationId xmlns:a16="http://schemas.microsoft.com/office/drawing/2014/main" id="{BD933B44-9DBD-40DC-B07F-6AB0390BF7CA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31 / 32</a:t>
            </a:r>
          </a:p>
        </p:txBody>
      </p:sp>
      <p:pic>
        <p:nvPicPr>
          <p:cNvPr id="10005" name="Picture 1000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90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" name="frame-159">
            <a:extLst>
              <a:ext uri="{FF2B5EF4-FFF2-40B4-BE49-F238E27FC236}">
                <a16:creationId xmlns:a16="http://schemas.microsoft.com/office/drawing/2014/main" id="{618505C1-FC21-4E08-9F7C-67D05553F1B2}"/>
              </a:ext>
            </a:extLst>
          </p:cNvPr>
          <p:cNvSpPr>
            <a:spLocks noGrp="1"/>
          </p:cNvSpPr>
          <p:nvPr/>
        </p:nvSpPr>
        <p:spPr>
          <a:xfrm>
            <a:off x="476250" y="257175"/>
            <a:ext cx="6858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defRPr>
            </a:pPr>
            <a:r>
              <a:rPr sz="2325" b="1">
                <a:solidFill>
                  <a:srgbClr val="1A1A1A"/>
                </a:solidFill>
                <a:latin typeface="Noto Serif SC Bold"/>
                <a:ea typeface="Noto Serif SC Bold"/>
                <a:cs typeface="Noto Serif SC Bold"/>
              </a:rPr>
              <a:t>参考资料 / References</a:t>
            </a:r>
          </a:p>
        </p:txBody>
      </p:sp>
      <p:sp>
        <p:nvSpPr>
          <p:cNvPr id="10001" name="frame-160">
            <a:extLst>
              <a:ext uri="{FF2B5EF4-FFF2-40B4-BE49-F238E27FC236}">
                <a16:creationId xmlns:a16="http://schemas.microsoft.com/office/drawing/2014/main" id="{F7BC9E60-03B6-4E2B-AE59-6494F96B96F9}"/>
              </a:ext>
            </a:extLst>
          </p:cNvPr>
          <p:cNvSpPr>
            <a:spLocks noGrp="1"/>
          </p:cNvSpPr>
          <p:nvPr/>
        </p:nvSpPr>
        <p:spPr>
          <a:xfrm>
            <a:off x="476250" y="9048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2" name="frame-161">
            <a:extLst>
              <a:ext uri="{FF2B5EF4-FFF2-40B4-BE49-F238E27FC236}">
                <a16:creationId xmlns:a16="http://schemas.microsoft.com/office/drawing/2014/main" id="{725402AB-D1A1-42FD-99EF-D86B123A6557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3" name="frame-162">
            <a:extLst>
              <a:ext uri="{FF2B5EF4-FFF2-40B4-BE49-F238E27FC236}">
                <a16:creationId xmlns:a16="http://schemas.microsoft.com/office/drawing/2014/main" id="{9BE70C9D-13DD-420C-880E-D8172E53AC9D}"/>
              </a:ext>
            </a:extLst>
          </p:cNvPr>
          <p:cNvSpPr>
            <a:spLocks noGrp="1"/>
          </p:cNvSpPr>
          <p:nvPr/>
        </p:nvSpPr>
        <p:spPr>
          <a:xfrm>
            <a:off x="476250" y="4838700"/>
            <a:ext cx="5334000" cy="1619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软件开发过程与技术</a:t>
            </a:r>
          </a:p>
        </p:txBody>
      </p:sp>
      <p:sp>
        <p:nvSpPr>
          <p:cNvPr id="10004" name="frame-163">
            <a:extLst>
              <a:ext uri="{FF2B5EF4-FFF2-40B4-BE49-F238E27FC236}">
                <a16:creationId xmlns:a16="http://schemas.microsoft.com/office/drawing/2014/main" id="{8F023E02-4BD4-4611-A937-CE91B7CB5EC1}"/>
              </a:ext>
            </a:extLst>
          </p:cNvPr>
          <p:cNvSpPr>
            <a:spLocks noGrp="1"/>
          </p:cNvSpPr>
          <p:nvPr/>
        </p:nvSpPr>
        <p:spPr>
          <a:xfrm>
            <a:off x="6934200" y="4829175"/>
            <a:ext cx="1733550" cy="1809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863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Ch2.2  32 / 32</a:t>
            </a:r>
          </a:p>
        </p:txBody>
      </p:sp>
      <p:sp>
        <p:nvSpPr>
          <p:cNvPr id="10005" name="frame-164">
            <a:extLst>
              <a:ext uri="{FF2B5EF4-FFF2-40B4-BE49-F238E27FC236}">
                <a16:creationId xmlns:a16="http://schemas.microsoft.com/office/drawing/2014/main" id="{A6B78034-4632-4B6E-83EC-51067A4EA931}"/>
              </a:ext>
            </a:extLst>
          </p:cNvPr>
          <p:cNvSpPr>
            <a:spLocks noGrp="1"/>
          </p:cNvSpPr>
          <p:nvPr/>
        </p:nvSpPr>
        <p:spPr>
          <a:xfrm>
            <a:off x="495300" y="1095375"/>
            <a:ext cx="80962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本课件基于孙海英老师、苏亭老师的软件工程课程教学资料整理。</a:t>
            </a:r>
          </a:p>
        </p:txBody>
      </p:sp>
      <p:sp>
        <p:nvSpPr>
          <p:cNvPr id="10006" name="frame-165">
            <a:extLst>
              <a:ext uri="{FF2B5EF4-FFF2-40B4-BE49-F238E27FC236}">
                <a16:creationId xmlns:a16="http://schemas.microsoft.com/office/drawing/2014/main" id="{AE27C991-9CB6-485E-BA16-68F8265E75E8}"/>
              </a:ext>
            </a:extLst>
          </p:cNvPr>
          <p:cNvSpPr>
            <a:spLocks noGrp="1"/>
          </p:cNvSpPr>
          <p:nvPr/>
        </p:nvSpPr>
        <p:spPr>
          <a:xfrm>
            <a:off x="495300" y="1733550"/>
            <a:ext cx="18764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孙海英老师</a:t>
            </a:r>
          </a:p>
        </p:txBody>
      </p:sp>
      <p:sp>
        <p:nvSpPr>
          <p:cNvPr id="10007" name="frame-166">
            <a:extLst>
              <a:ext uri="{FF2B5EF4-FFF2-40B4-BE49-F238E27FC236}">
                <a16:creationId xmlns:a16="http://schemas.microsoft.com/office/drawing/2014/main" id="{9710711B-3905-44BB-AB16-BE6AFBCC3776}"/>
              </a:ext>
            </a:extLst>
          </p:cNvPr>
          <p:cNvSpPr>
            <a:spLocks noGrp="1"/>
          </p:cNvSpPr>
          <p:nvPr/>
        </p:nvSpPr>
        <p:spPr>
          <a:xfrm>
            <a:off x="2476500" y="1733550"/>
            <a:ext cx="6143625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《软件工程实践》课程课件</a:t>
            </a:r>
          </a:p>
          <a:p>
            <a:pPr algn="l">
              <a:def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Ch2.2 UML 基础：用例图（本讲主体内容与图示）</a:t>
            </a:r>
          </a:p>
        </p:txBody>
      </p:sp>
      <p:sp>
        <p:nvSpPr>
          <p:cNvPr id="10008" name="frame-167">
            <a:extLst>
              <a:ext uri="{FF2B5EF4-FFF2-40B4-BE49-F238E27FC236}">
                <a16:creationId xmlns:a16="http://schemas.microsoft.com/office/drawing/2014/main" id="{D7CF18A4-44F8-4055-95F6-F18ABB141F6C}"/>
              </a:ext>
            </a:extLst>
          </p:cNvPr>
          <p:cNvSpPr>
            <a:spLocks noGrp="1"/>
          </p:cNvSpPr>
          <p:nvPr/>
        </p:nvSpPr>
        <p:spPr>
          <a:xfrm>
            <a:off x="476250" y="2400300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09" name="frame-168">
            <a:extLst>
              <a:ext uri="{FF2B5EF4-FFF2-40B4-BE49-F238E27FC236}">
                <a16:creationId xmlns:a16="http://schemas.microsoft.com/office/drawing/2014/main" id="{E7DAEF3A-B40C-489C-8CF5-6E5DCBA4A247}"/>
              </a:ext>
            </a:extLst>
          </p:cNvPr>
          <p:cNvSpPr>
            <a:spLocks noGrp="1"/>
          </p:cNvSpPr>
          <p:nvPr/>
        </p:nvSpPr>
        <p:spPr>
          <a:xfrm>
            <a:off x="495300" y="2600325"/>
            <a:ext cx="18764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苏亭老师</a:t>
            </a:r>
          </a:p>
        </p:txBody>
      </p:sp>
      <p:sp>
        <p:nvSpPr>
          <p:cNvPr id="10010" name="frame-169">
            <a:extLst>
              <a:ext uri="{FF2B5EF4-FFF2-40B4-BE49-F238E27FC236}">
                <a16:creationId xmlns:a16="http://schemas.microsoft.com/office/drawing/2014/main" id="{F2538609-C829-47FF-B1C1-DE247D55678A}"/>
              </a:ext>
            </a:extLst>
          </p:cNvPr>
          <p:cNvSpPr>
            <a:spLocks noGrp="1"/>
          </p:cNvSpPr>
          <p:nvPr/>
        </p:nvSpPr>
        <p:spPr>
          <a:xfrm>
            <a:off x="2476500" y="2600325"/>
            <a:ext cx="6143625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软件工程课程教学资料（本课程共同参考）</a:t>
            </a:r>
          </a:p>
          <a:p>
            <a:pPr algn="l">
              <a:def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Introduction、Software Development Lifecycle</a:t>
            </a:r>
          </a:p>
        </p:txBody>
      </p:sp>
      <p:sp>
        <p:nvSpPr>
          <p:cNvPr id="10011" name="frame-170">
            <a:extLst>
              <a:ext uri="{FF2B5EF4-FFF2-40B4-BE49-F238E27FC236}">
                <a16:creationId xmlns:a16="http://schemas.microsoft.com/office/drawing/2014/main" id="{2B763AFC-6023-4314-A0C8-084115DD5570}"/>
              </a:ext>
            </a:extLst>
          </p:cNvPr>
          <p:cNvSpPr>
            <a:spLocks noGrp="1"/>
          </p:cNvSpPr>
          <p:nvPr/>
        </p:nvSpPr>
        <p:spPr>
          <a:xfrm>
            <a:off x="476250" y="3267075"/>
            <a:ext cx="8191500" cy="7620"/>
          </a:xfrm>
          <a:prstGeom prst="rect">
            <a:avLst/>
          </a:prstGeom>
          <a:solidFill>
            <a:srgbClr val="D9D4CA"/>
          </a:solidFill>
          <a:ln w="0">
            <a:noFill/>
          </a:ln>
        </p:spPr>
      </p:sp>
      <p:sp>
        <p:nvSpPr>
          <p:cNvPr id="10012" name="frame-171">
            <a:extLst>
              <a:ext uri="{FF2B5EF4-FFF2-40B4-BE49-F238E27FC236}">
                <a16:creationId xmlns:a16="http://schemas.microsoft.com/office/drawing/2014/main" id="{D71B3FC6-7164-4BF3-A66D-D08AB9A17BB3}"/>
              </a:ext>
            </a:extLst>
          </p:cNvPr>
          <p:cNvSpPr>
            <a:spLocks noGrp="1"/>
          </p:cNvSpPr>
          <p:nvPr/>
        </p:nvSpPr>
        <p:spPr>
          <a:xfrm>
            <a:off x="495300" y="3467100"/>
            <a:ext cx="1876425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1F2A44"/>
                </a:solidFill>
                <a:latin typeface="Noto Sans SC"/>
                <a:ea typeface="Noto Sans SC"/>
                <a:cs typeface="Noto Sans SC"/>
              </a:rPr>
              <a:t>规范参考</a:t>
            </a:r>
          </a:p>
        </p:txBody>
      </p:sp>
      <p:sp>
        <p:nvSpPr>
          <p:cNvPr id="10013" name="frame-172">
            <a:extLst>
              <a:ext uri="{FF2B5EF4-FFF2-40B4-BE49-F238E27FC236}">
                <a16:creationId xmlns:a16="http://schemas.microsoft.com/office/drawing/2014/main" id="{C5C6C0F2-A6C2-4E82-BE0C-D6C6ECB1EC2A}"/>
              </a:ext>
            </a:extLst>
          </p:cNvPr>
          <p:cNvSpPr>
            <a:spLocks noGrp="1"/>
          </p:cNvSpPr>
          <p:nvPr/>
        </p:nvSpPr>
        <p:spPr>
          <a:xfrm>
            <a:off x="2476500" y="3467100"/>
            <a:ext cx="6143625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OMG Unified Modeling Language 2.5.1</a:t>
            </a:r>
          </a:p>
          <a:p>
            <a:pPr algn="l">
              <a:def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1A1A1A"/>
                </a:solidFill>
                <a:latin typeface="Noto Sans SC"/>
                <a:ea typeface="Noto Sans SC"/>
                <a:cs typeface="Noto Sans SC"/>
              </a:rPr>
              <a:t>第 18 章 UseCases（备注中的语义补充）</a:t>
            </a:r>
          </a:p>
        </p:txBody>
      </p:sp>
      <p:sp>
        <p:nvSpPr>
          <p:cNvPr id="10014" name="frame-173">
            <a:extLst>
              <a:ext uri="{FF2B5EF4-FFF2-40B4-BE49-F238E27FC236}">
                <a16:creationId xmlns:a16="http://schemas.microsoft.com/office/drawing/2014/main" id="{DA789603-4746-4E15-AEC3-6A9C6DFF57DA}"/>
              </a:ext>
            </a:extLst>
          </p:cNvPr>
          <p:cNvSpPr>
            <a:spLocks noGrp="1"/>
          </p:cNvSpPr>
          <p:nvPr/>
        </p:nvSpPr>
        <p:spPr>
          <a:xfrm>
            <a:off x="495300" y="4429125"/>
            <a:ext cx="80962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666666"/>
                </a:solidFill>
                <a:latin typeface="Noto Sans SC"/>
                <a:ea typeface="Noto Sans SC"/>
                <a:cs typeface="Noto Sans SC"/>
              </a:rPr>
              <a:t>感谢两位老师提供的教学资料。</a:t>
            </a:r>
          </a:p>
        </p:txBody>
      </p:sp>
      <p:pic>
        <p:nvPicPr>
          <p:cNvPr id="10015" name="Picture 100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96175" y="347601"/>
            <a:ext cx="1171575" cy="21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9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4239">
        <p:fade/>
      </p:transition>
    </mc:Choice>
    <mc:Fallback xmlns="">
      <p:transition spd="med" advTm="4239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vecto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YPE" val="vector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1A1A1A"/>
      </a:dk1>
      <a:lt1>
        <a:sysClr val="window" lastClr="FFFFFF"/>
      </a:lt1>
      <a:dk2>
        <a:srgbClr val="1F2A44"/>
      </a:dk2>
      <a:lt2>
        <a:srgbClr val="E8E8E8"/>
      </a:lt2>
      <a:accent1>
        <a:srgbClr val="1F2A44"/>
      </a:accent1>
      <a:accent2>
        <a:srgbClr val="A41F35"/>
      </a:accent2>
      <a:accent3>
        <a:srgbClr val="32634F"/>
      </a:accent3>
      <a:accent4>
        <a:srgbClr val="5C7A9C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Noto Sans SC" panose="020F0502020204030204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Noto Sans SC"/>
        <a:font script="Hebr" typeface="Noto Sans SC"/>
        <a:font script="Thai" typeface="Noto Sans SC"/>
        <a:font script="Ethi" typeface="Noto Sans SC"/>
        <a:font script="Beng" typeface="Noto Sans SC"/>
        <a:font script="Gujr" typeface="Noto Sans SC"/>
        <a:font script="Khmr" typeface="Noto Sans SC"/>
        <a:font script="Knda" typeface="Noto Sans SC"/>
        <a:font script="Guru" typeface="Noto Sans SC"/>
        <a:font script="Cans" typeface="Noto Sans SC"/>
        <a:font script="Cher" typeface="Noto Sans SC"/>
        <a:font script="Yiii" typeface="Noto Sans SC"/>
        <a:font script="Tibt" typeface="Noto Sans SC"/>
        <a:font script="Thaa" typeface="Noto Sans SC"/>
        <a:font script="Deva" typeface="Noto Sans SC"/>
        <a:font script="Telu" typeface="Noto Sans SC"/>
        <a:font script="Taml" typeface="Noto Sans SC"/>
        <a:font script="Syrc" typeface="Noto Sans SC"/>
        <a:font script="Orya" typeface="Noto Sans SC"/>
        <a:font script="Mlym" typeface="Noto Sans SC"/>
        <a:font script="Laoo" typeface="Noto Sans SC"/>
        <a:font script="Sinh" typeface="Noto Sans SC"/>
        <a:font script="Mong" typeface="Noto Sans SC"/>
        <a:font script="Viet" typeface="Noto Sans SC"/>
        <a:font script="Uigh" typeface="Noto Sans SC"/>
        <a:font script="Geor" typeface="Noto Sans SC"/>
      </a:majorFont>
      <a:minorFont>
        <a:latin typeface="Noto Sans SC" panose="020F0502020204030204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Noto Sans SC"/>
        <a:font script="Hebr" typeface="Noto Sans SC"/>
        <a:font script="Thai" typeface="Noto Sans SC"/>
        <a:font script="Ethi" typeface="Noto Sans SC"/>
        <a:font script="Beng" typeface="Noto Sans SC"/>
        <a:font script="Gujr" typeface="Noto Sans SC"/>
        <a:font script="Khmr" typeface="Noto Sans SC"/>
        <a:font script="Knda" typeface="Noto Sans SC"/>
        <a:font script="Guru" typeface="Noto Sans SC"/>
        <a:font script="Cans" typeface="Noto Sans SC"/>
        <a:font script="Cher" typeface="Noto Sans SC"/>
        <a:font script="Yiii" typeface="Noto Sans SC"/>
        <a:font script="Tibt" typeface="Noto Sans SC"/>
        <a:font script="Thaa" typeface="Noto Sans SC"/>
        <a:font script="Deva" typeface="Noto Sans SC"/>
        <a:font script="Telu" typeface="Noto Sans SC"/>
        <a:font script="Taml" typeface="Noto Sans SC"/>
        <a:font script="Syrc" typeface="Noto Sans SC"/>
        <a:font script="Orya" typeface="Noto Sans SC"/>
        <a:font script="Mlym" typeface="Noto Sans SC"/>
        <a:font script="Laoo" typeface="Noto Sans SC"/>
        <a:font script="Sinh" typeface="Noto Sans SC"/>
        <a:font script="Mong" typeface="Noto Sans SC"/>
        <a:font script="Viet" typeface="Noto Sans SC"/>
        <a:font script="Uigh" typeface="Noto Sans SC"/>
        <a:font script="Geor" typeface="Noto Sans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1A1A1A"/>
      </a:dk1>
      <a:lt1>
        <a:sysClr val="window" lastClr="FFFFFF"/>
      </a:lt1>
      <a:dk2>
        <a:srgbClr val="1F2A44"/>
      </a:dk2>
      <a:lt2>
        <a:srgbClr val="E8E8E8"/>
      </a:lt2>
      <a:accent1>
        <a:srgbClr val="1F2A44"/>
      </a:accent1>
      <a:accent2>
        <a:srgbClr val="A41F35"/>
      </a:accent2>
      <a:accent3>
        <a:srgbClr val="32634F"/>
      </a:accent3>
      <a:accent4>
        <a:srgbClr val="5C7A9C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Noto Sans SC" panose="02110004020202020204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Noto Sans SC"/>
        <a:font script="Hebr" typeface="Noto Sans SC"/>
        <a:font script="Thai" typeface="Noto Sans SC"/>
        <a:font script="Ethi" typeface="Noto Sans SC"/>
        <a:font script="Beng" typeface="Noto Sans SC"/>
        <a:font script="Gujr" typeface="Noto Sans SC"/>
        <a:font script="Khmr" typeface="Noto Sans SC"/>
        <a:font script="Knda" typeface="Noto Sans SC"/>
        <a:font script="Guru" typeface="Noto Sans SC"/>
        <a:font script="Cans" typeface="Noto Sans SC"/>
        <a:font script="Cher" typeface="Noto Sans SC"/>
        <a:font script="Yiii" typeface="Noto Sans SC"/>
        <a:font script="Tibt" typeface="Noto Sans SC"/>
        <a:font script="Thaa" typeface="Noto Sans SC"/>
        <a:font script="Deva" typeface="Noto Sans SC"/>
        <a:font script="Telu" typeface="Noto Sans SC"/>
        <a:font script="Taml" typeface="Noto Sans SC"/>
        <a:font script="Syrc" typeface="Noto Sans SC"/>
        <a:font script="Orya" typeface="Noto Sans SC"/>
        <a:font script="Mlym" typeface="Noto Sans SC"/>
        <a:font script="Laoo" typeface="Noto Sans SC"/>
        <a:font script="Sinh" typeface="Noto Sans SC"/>
        <a:font script="Mong" typeface="Noto Sans SC"/>
        <a:font script="Viet" typeface="Noto Sans SC"/>
        <a:font script="Uigh" typeface="Noto Sans SC"/>
        <a:font script="Geor" typeface="Noto Sans SC"/>
        <a:font script="Armn" typeface="Noto Sans SC"/>
        <a:font script="Bugi" typeface="Noto Sans SC"/>
        <a:font script="Bopo" typeface="Noto Sans SC"/>
        <a:font script="Java" typeface="Noto Sans SC"/>
        <a:font script="Lisu" typeface="Noto Sans SC"/>
        <a:font script="Mymr" typeface="Noto Sans SC"/>
        <a:font script="Nkoo" typeface="Noto Sans SC"/>
        <a:font script="Olck" typeface="Noto Sans SC"/>
        <a:font script="Osma" typeface="Noto Sans SC"/>
        <a:font script="Phag" typeface="Noto Sans SC"/>
        <a:font script="Syrn" typeface="Noto Sans SC"/>
        <a:font script="Syrj" typeface="Noto Sans SC"/>
        <a:font script="Syre" typeface="Noto Sans SC"/>
        <a:font script="Sora" typeface="Noto Sans SC"/>
        <a:font script="Tale" typeface="Noto Sans SC"/>
        <a:font script="Talu" typeface="Noto Sans SC"/>
        <a:font script="Tfng" typeface="Noto Sans SC"/>
      </a:majorFont>
      <a:minorFont>
        <a:latin typeface="Noto Sans SC" panose="02110004020202020204"/>
        <a:ea typeface="Noto Sans SC"/>
        <a:cs typeface="Noto Sans SC"/>
        <a:font script="Jpan" typeface="Noto Sans SC"/>
        <a:font script="Hang" typeface="Noto Sans SC"/>
        <a:font script="Hans" typeface="Noto Sans SC"/>
        <a:font script="Hant" typeface="Noto Sans SC"/>
        <a:font script="Arab" typeface="Noto Sans SC"/>
        <a:font script="Hebr" typeface="Noto Sans SC"/>
        <a:font script="Thai" typeface="Noto Sans SC"/>
        <a:font script="Ethi" typeface="Noto Sans SC"/>
        <a:font script="Beng" typeface="Noto Sans SC"/>
        <a:font script="Gujr" typeface="Noto Sans SC"/>
        <a:font script="Khmr" typeface="Noto Sans SC"/>
        <a:font script="Knda" typeface="Noto Sans SC"/>
        <a:font script="Guru" typeface="Noto Sans SC"/>
        <a:font script="Cans" typeface="Noto Sans SC"/>
        <a:font script="Cher" typeface="Noto Sans SC"/>
        <a:font script="Yiii" typeface="Noto Sans SC"/>
        <a:font script="Tibt" typeface="Noto Sans SC"/>
        <a:font script="Thaa" typeface="Noto Sans SC"/>
        <a:font script="Deva" typeface="Noto Sans SC"/>
        <a:font script="Telu" typeface="Noto Sans SC"/>
        <a:font script="Taml" typeface="Noto Sans SC"/>
        <a:font script="Syrc" typeface="Noto Sans SC"/>
        <a:font script="Orya" typeface="Noto Sans SC"/>
        <a:font script="Mlym" typeface="Noto Sans SC"/>
        <a:font script="Laoo" typeface="Noto Sans SC"/>
        <a:font script="Sinh" typeface="Noto Sans SC"/>
        <a:font script="Mong" typeface="Noto Sans SC"/>
        <a:font script="Viet" typeface="Noto Sans SC"/>
        <a:font script="Uigh" typeface="Noto Sans SC"/>
        <a:font script="Geor" typeface="Noto Sans SC"/>
        <a:font script="Armn" typeface="Noto Sans SC"/>
        <a:font script="Bugi" typeface="Noto Sans SC"/>
        <a:font script="Bopo" typeface="Noto Sans SC"/>
        <a:font script="Java" typeface="Noto Sans SC"/>
        <a:font script="Lisu" typeface="Noto Sans SC"/>
        <a:font script="Mymr" typeface="Noto Sans SC"/>
        <a:font script="Nkoo" typeface="Noto Sans SC"/>
        <a:font script="Olck" typeface="Noto Sans SC"/>
        <a:font script="Osma" typeface="Noto Sans SC"/>
        <a:font script="Phag" typeface="Noto Sans SC"/>
        <a:font script="Syrn" typeface="Noto Sans SC"/>
        <a:font script="Syrj" typeface="Noto Sans SC"/>
        <a:font script="Syre" typeface="Noto Sans SC"/>
        <a:font script="Sora" typeface="Noto Sans SC"/>
        <a:font script="Tale" typeface="Noto Sans SC"/>
        <a:font script="Talu" typeface="Noto Sans SC"/>
        <a:font script="Tfng" typeface="Noto Sans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10391</TotalTime>
  <Words>3967</Words>
  <Application>Microsoft Macintosh PowerPoint</Application>
  <PresentationFormat>On-screen Show (16:9)</PresentationFormat>
  <Paragraphs>458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Noto Sans SC</vt:lpstr>
      <vt:lpstr>Noto Serif SC Bold</vt:lpstr>
      <vt:lpstr>Arial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海英 孙</dc:creator>
  <cp:lastModifiedBy>宇 肖</cp:lastModifiedBy>
  <cp:revision>707</cp:revision>
  <dcterms:created xsi:type="dcterms:W3CDTF">2025-09-08T08:15:06Z</dcterms:created>
  <dcterms:modified xsi:type="dcterms:W3CDTF">2026-09-23T15:33:34Z</dcterms:modified>
</cp:coreProperties>
</file>